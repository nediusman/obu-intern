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7-1.jpg" ContentType="image/jpg"/>
  <Override PartName="/ppt/media/image-17-2.jpg" ContentType="image/jpg"/>
  <Override PartName="/ppt/media/image-17-3.jpg" ContentType="image/jpg"/>
  <Override PartName="/ppt/media/image-17-4.jpg" ContentType="image/jpg"/>
  <Override PartName="/ppt/media/image-5-1.jpg" ContentType="image/jpg"/>
  <Override PartName="/ppt/media/image-5-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4" r:id="rId25"/>
    <p:sldId id="260" r:id="rId6"/>
    <p:sldId id="275" r:id="rId26"/>
    <p:sldId id="261" r:id="rId7"/>
    <p:sldId id="262" r:id="rId8"/>
    <p:sldId id="263" r:id="rId9"/>
    <p:sldId id="264" r:id="rId10"/>
    <p:sldId id="265" r:id="rId11"/>
    <p:sldId id="266" r:id="rId12"/>
    <p:sldId id="267" r:id="rId13"/>
    <p:sldId id="268" r:id="rId14"/>
    <p:sldId id="276" r:id="rId27"/>
    <p:sldId id="277" r:id="rId28"/>
    <p:sldId id="259" r:id="rId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ntroduction" id="{bdfa1fda-7848-84b1-5213-ebf981f7d14c}">
          <p14:sldIdLst>
            <p14:sldId id="256"/>
            <p14:sldId id="257"/>
            <p14:sldId id="258"/>
            <p14:sldId id="259"/>
          </p14:sldIdLst>
        </p14:section>
        <p14:section name="2. Project" id="{a6e21a9d-63a6-e3be-5cf5-a4ba214f4911}">
          <p14:sldIdLst>
            <p14:sldId id="260"/>
            <p14:sldId id="261"/>
            <p14:sldId id="262"/>
            <p14:sldId id="263"/>
          </p14:sldIdLst>
        </p14:section>
        <p14:section name="3. Development" id="{d2fd0226-d585-d69b-3717-5ec31f703ff6}">
          <p14:sldIdLst>
            <p14:sldId id="264"/>
            <p14:sldId id="265"/>
            <p14:sldId id="266"/>
            <p14:sldId id="267"/>
            <p14:sldId id="268"/>
          </p14:sldIdLst>
        </p14:section>
        <p14:section name="4. Benefit and Conclusion" id="{75a2e5c6-1b79-21a0-346b-e4712101ea05}">
          <p14:sldIdLst>
            <p14:sldId id="269"/>
            <p14:sldId id="270"/>
            <p14:sldId id="271"/>
          </p14:sldIdLst>
        </p14:section>
        <p14:section name="5. Demonstration" id="{22fa4513-abc8-b9fb-dced-d60aef24c05f}">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Nedi Usman Hussen. My industrial practice was at the ICT Directorate of Oda Bultum University, where I designed and built OBU-CMS, a dynamic website with a content management system. I follow the department presentation template: organization background, the project, problem and objectives, literature review, requirements, system model, methodology, benefits of the internship, conclusion and recommendations, and a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 Bultum University is a public university founded in 2015 in Chiro, West Hararghe. I worked in the ICT Directorate because it is the technical owner of the university website. The Directorate works with a ticket system for support and written approval for infrastructure changes, and I met the ICT Director every Monday and Thursday to demonstrate progress. My tasks covered the full life cycle: requirements, database design, backend, frontend, the admin panel, testing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challenges and measures: public reading versus admin writing was solved with Row Level Security; clean and unique URLs with a SQL slug function and unique constraints; image reuse with one central media table; and scope growth with a prioritized Agile backlog. At work I also had to fit review cycles into the Directorate formal approval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 in one slide. OBU-CMS is a dynamic website for Oda Bultum University with a secure Admin CMS. It has 27 database tables, 73 route files (38 public and 35 admin) and 30 functional requirements, built with React, TanStack Start, TypeScript, Tailwind and Supabase. On the right: the new public site and the admin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website was template-based. Content updates needed technical help, content had no structure, there was no media library, roles or audit trail, and some pages were hard to read on phones, with a fixed copyright year of 2023. Justification: registration and exam notices are time-sensitive, many offices must publish on their own, students mostly use phones, and the university needs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objective is a secure, responsive, database-driven website and CMS. Four specific objectives are shown; the report lists eight measurable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work: traditional CMSs such as WordPress and Drupal are mature but depend on plugins and a generic content model. Headless CMSs are API-first but still need a separate website and extra hosting. I chose a custom application on Supabase because the content is structured academic data and I wanted type safety and database-level security. The ideas behind it: role-based access control by Sandhu and colleagues, PostgreSQL Row Level Security, the OWASP Top 10 warning on broken access control, and the Scrum Guide. The full references are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30 functional requirements: 16 for the public website and 14 for the Admin CMS. Non-functional requirements include usability, performance, reliability, security, scalability, responsiveness, maintainability and legal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 case diagram shows actors and what they do with the system. Actors are external users: the public user who only reads, the admin user who manages content, and the system administrator who also manages users, roles and logs. The full diagram with all use cases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 describes a group of similar objects. This is the core domain: User with a Role, ActivityLog entries written by users, and the content classes News, Event, Announcement and Program, each referencing the central Media class. The attributes are the real columns of the database tables. A second class diagram of the application modules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collection: interviews with the ICT Director, the Senior Web and Content Officer, the Communications office and the Registrar, plus study of the existing website. Technologies and tools are listed. The development methodology was Agile Scrum: four sprints over 45 days: authentication and database, public website, admin core modules, and extended modules, then testing, user acceptance testing and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three-tier design: browser interface, TanStack Start server with loaders and server functions, and Supabase for data. The database has 27 tables with one central media table. Security works in layers: Supabase Auth login, Row Level Security so the public reads only published rows, a role check for the System menu, CSRF middleware, upload validation and an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ethics: I followed formal approvals, kept credentials out of shared code, and reported my own weaknesses honestly. Entrepreneurship: I found a real need, built a first version and improved it with users; the system can be adapted for other institutions. Career: the internship fits my goal in software development and made my direction clearer: full-stack web and secure systems. Self-evaluation: strengths are database design, fast learning and security awareness; I want to improve automated testing, time estimates and teamwork in larger teams. The challenges I faced were covered earlier on the challenges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conclusion: OBU-CMS replaces a content process that depended on technical staff with one where each office publishes its own information. Remaining work is listed honestly in the report. Recommendation on the host: I recommend the ICT Directorate for future placements, provided a named supervisor and early server access are arranged. To improve the internship: extend it to 90 days, add a mid-internship review, teach database design earlier, and keep an archive of project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demonstrate the prototype on my machine. If the live demo fails, these screenshots are my backup. Steps: open the public site, log in to the admin, create and publish a news article with an image, refresh the public site to see it, and show the activity log and the role-restricted System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thank my advisor Mr. Kibru, the ICT Directorate, and the Registrar office. I am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Oda Bultum University was founded in 2015 in Chiro. The ICT Directorate is directly attached to the President, and it owns the university website. My users are the content staff of the offices, the Registrar, and of course students and the public.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old site worked, but every update needed technical help, content had no structure, there was no media library, no separation of roles and no audit trail. On the right you can see two screens: a low-contrast, overflowing President message page and a deep drop-down menu with a fixed copyright year of 2023.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works in layers: login with Supabase Auth, a route guard on every admin page, Row Level Security in the database so the public can only read published rows, a role check for the System menu, CSRF middleware, parameterized SQL, upload validation, and an audit log. I also reviewed my own code and listed remaining improvements honestly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had four parts: 45 Postman integration tests, six Row Level Security scenarios with unauthenticated requests, cross-browser and responsive checks at 1280, 768 and 375 pixels, and seven user acceptance scenarios with ICT and Registrar staff. Curl scripts also verify that content created in the admin appears on the public pages.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4C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rtlCol="0"/>
          <a:lstStyle>
            <a:lvl1pPr algn="l" indent="0" marL="0">
              <a:buNone/>
              <a:defRPr lang="en-US" sz="2600" b="1" dirty="0">
                <a:solidFill>
                  <a:srgbClr val="0F4C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4.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3.jpg"/><Relationship Id="rId7" Type="http://schemas.openxmlformats.org/officeDocument/2006/relationships/image" Target="../media/image4.jpg"/><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anel"/>
          <p:cNvSpPr/>
          <p:nvPr/>
        </p:nvSpPr>
        <p:spPr>
          <a:xfrm>
            <a:off x="457200" y="411480"/>
            <a:ext cx="8229600" cy="868680"/>
          </a:xfrm>
          <a:prstGeom prst="roundRect">
            <a:avLst>
              <a:gd name="adj" fmla="val 12632"/>
            </a:avLst>
          </a:prstGeom>
          <a:solidFill>
            <a:srgbClr val="FFFFFF"/>
          </a:solidFill>
          <a:ln w="12700">
            <a:solidFill>
              <a:srgbClr val="FFFFFF"/>
            </a:solidFill>
            <a:prstDash val="solid"/>
          </a:ln>
        </p:spPr>
        <p:txBody>
          <a:bodyPr/>
          <a:p/>
        </p:txBody>
      </p:sp>
      <p:pic>
        <p:nvPicPr>
          <p:cNvPr id="3" name="Image 0" descr="Oda Bultum University logo">    </p:cNvPr>
          <p:cNvPicPr>
            <a:picLocks noChangeAspect="1"/>
          </p:cNvPicPr>
          <p:nvPr/>
        </p:nvPicPr>
        <p:blipFill>
          <a:blip r:embed="rId1"/>
          <a:stretch>
            <a:fillRect/>
          </a:stretch>
        </p:blipFill>
        <p:spPr>
          <a:xfrm>
            <a:off x="640080" y="475488"/>
            <a:ext cx="731520" cy="731520"/>
          </a:xfrm>
          <a:prstGeom prst="rect">
            <a:avLst/>
          </a:prstGeom>
        </p:spPr>
      </p:pic>
      <p:pic>
        <p:nvPicPr>
          <p:cNvPr id="4" name="Image 1" descr="Haramaya University logo">    </p:cNvPr>
          <p:cNvPicPr>
            <a:picLocks noChangeAspect="1"/>
          </p:cNvPicPr>
          <p:nvPr/>
        </p:nvPicPr>
        <p:blipFill>
          <a:blip r:embed="rId2"/>
          <a:stretch>
            <a:fillRect/>
          </a:stretch>
        </p:blipFill>
        <p:spPr>
          <a:xfrm>
            <a:off x="4846320" y="530352"/>
            <a:ext cx="2743200" cy="498584"/>
          </a:xfrm>
          <a:prstGeom prst="rect">
            <a:avLst/>
          </a:prstGeom>
        </p:spPr>
      </p:pic>
      <p:sp>
        <p:nvSpPr>
          <p:cNvPr id="5" name="Text 1"/>
          <p:cNvSpPr txBox="1"/>
          <p:nvPr/>
        </p:nvSpPr>
        <p:spPr>
          <a:xfrm>
            <a:off x="457200" y="1600200"/>
            <a:ext cx="8229600" cy="365760"/>
          </a:xfrm>
          <a:prstGeom prst="rect">
            <a:avLst/>
          </a:prstGeom>
          <a:noFill/>
          <a:ln/>
        </p:spPr>
        <p:txBody>
          <a:bodyPr wrap="square" lIns="0" tIns="0" rIns="0" bIns="0" rtlCol="0" anchor="ctr"/>
          <a:lstStyle/>
          <a:p>
            <a:pPr indent="0" marL="0">
              <a:buNone/>
            </a:pPr>
            <a:r>
              <a:rPr lang="en-US" sz="1600" b="1" dirty="0">
                <a:solidFill>
                  <a:srgbClr val="D4A017"/>
                </a:solidFill>
                <a:latin typeface="Calibri" pitchFamily="34" charset="0"/>
                <a:ea typeface="Calibri" pitchFamily="34" charset="-122"/>
                <a:cs typeface="Calibri" pitchFamily="34" charset="-120"/>
              </a:rPr>
              <a:t>Industrial Practice (CoSc3122) Presentation</a:t>
            </a:r>
            <a:endParaRPr lang="en-US" sz="1600" dirty="0"/>
          </a:p>
        </p:txBody>
      </p:sp>
      <p:sp>
        <p:nvSpPr>
          <p:cNvPr id="6" name="Text 2"/>
          <p:cNvSpPr txBox="1"/>
          <p:nvPr/>
        </p:nvSpPr>
        <p:spPr>
          <a:xfrm>
            <a:off x="457200" y="1965960"/>
            <a:ext cx="8229600" cy="12344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Design and Development of a Dynamic Website and Content Management System for Oda Bultum University (OBU-CMS)</a:t>
            </a:r>
            <a:endParaRPr lang="en-US" sz="2800" dirty="0"/>
          </a:p>
        </p:txBody>
      </p:sp>
      <p:sp>
        <p:nvSpPr>
          <p:cNvPr id="7" name="Text 3"/>
          <p:cNvSpPr txBox="1"/>
          <p:nvPr/>
        </p:nvSpPr>
        <p:spPr>
          <a:xfrm>
            <a:off x="457200" y="3429000"/>
            <a:ext cx="8229600" cy="868680"/>
          </a:xfrm>
          <a:prstGeom prst="rect">
            <a:avLst/>
          </a:prstGeom>
          <a:noFill/>
          <a:ln/>
        </p:spPr>
        <p:txBody>
          <a:bodyPr wrap="square" lIns="0" tIns="0" rIns="0" bIns="0" rtlCol="0" anchor="ctr"/>
          <a:lstStyle/>
          <a:p>
            <a:pPr indent="0" marL="0">
              <a:spcAft>
                <a:spcPts val="400"/>
              </a:spcAft>
              <a:buNone/>
            </a:pPr>
            <a:r>
              <a:rPr lang="en-US" sz="1500" b="1" dirty="0">
                <a:solidFill>
                  <a:srgbClr val="E6F0EA"/>
                </a:solidFill>
                <a:latin typeface="Calibri" pitchFamily="34" charset="0"/>
                <a:ea typeface="Calibri" pitchFamily="34" charset="-122"/>
                <a:cs typeface="Calibri" pitchFamily="34" charset="-120"/>
              </a:rPr>
              <a:t>Nedi Usman Hussen</a:t>
            </a:r>
            <a:endParaRPr lang="en-US" sz="1500" dirty="0"/>
          </a:p>
          <a:p>
            <a:pPr indent="0" marL="0">
              <a:spcAft>
                <a:spcPts val="400"/>
              </a:spcAft>
              <a:buNone/>
            </a:pPr>
            <a:r>
              <a:rPr lang="en-US" sz="1500" dirty="0">
                <a:solidFill>
                  <a:srgbClr val="E6F0EA"/>
                </a:solidFill>
                <a:latin typeface="Calibri" pitchFamily="34" charset="0"/>
                <a:ea typeface="Calibri" pitchFamily="34" charset="-122"/>
                <a:cs typeface="Calibri" pitchFamily="34" charset="-120"/>
              </a:rPr>
              <a:t>Student ID: 2184/16  |  Department of Computer Science, Haramaya University</a:t>
            </a:r>
            <a:endParaRPr lang="en-US" sz="1500" dirty="0"/>
          </a:p>
          <a:p>
            <a:pPr indent="0" marL="0">
              <a:spcAft>
                <a:spcPts val="400"/>
              </a:spcAft>
              <a:buNone/>
            </a:pPr>
            <a:r>
              <a:rPr lang="en-US" sz="1500" dirty="0">
                <a:solidFill>
                  <a:srgbClr val="E6F0EA"/>
                </a:solidFill>
                <a:latin typeface="Calibri" pitchFamily="34" charset="0"/>
                <a:ea typeface="Calibri" pitchFamily="34" charset="-122"/>
                <a:cs typeface="Calibri" pitchFamily="34" charset="-120"/>
              </a:rPr>
              <a:t>Advisor: Mr. Kibru G.  |  Host: ICT Directorate, Oda Bultum University</a:t>
            </a:r>
            <a:endParaRPr lang="en-US" sz="1500" dirty="0"/>
          </a:p>
        </p:txBody>
      </p:sp>
      <p:sp>
        <p:nvSpPr>
          <p:cNvPr id="8" name="Text 4"/>
          <p:cNvSpPr txBox="1"/>
          <p:nvPr/>
        </p:nvSpPr>
        <p:spPr>
          <a:xfrm>
            <a:off x="457200" y="4526280"/>
            <a:ext cx="457200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Monday, October 26,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1.1 Organization Background</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1.1</a:t>
            </a:r>
            <a:endParaRPr lang="en-US" sz="1100" dirty="0"/>
          </a:p>
        </p:txBody>
      </p:sp>
      <p:sp>
        <p:nvSpPr>
          <p:cNvPr id="4" name="QA card 1"/>
          <p:cNvSpPr/>
          <p:nvPr/>
        </p:nvSpPr>
        <p:spPr>
          <a:xfrm>
            <a:off x="457200" y="114300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5" name="QA icon 1 bg"/>
          <p:cNvSpPr/>
          <p:nvPr/>
        </p:nvSpPr>
        <p:spPr>
          <a:xfrm>
            <a:off x="621792" y="1280160"/>
            <a:ext cx="502920" cy="502920"/>
          </a:xfrm>
          <a:prstGeom prst="ellipse">
            <a:avLst/>
          </a:prstGeom>
          <a:solidFill>
            <a:srgbClr val="0F4C3A"/>
          </a:solidFill>
          <a:ln w="12700">
            <a:solidFill>
              <a:srgbClr val="0F4C3A"/>
            </a:solidFill>
            <a:prstDash val="solid"/>
          </a:ln>
        </p:spPr>
        <p:txBody>
          <a:bodyPr/>
          <a:p/>
        </p:txBody>
      </p:sp>
      <p:pic>
        <p:nvPicPr>
          <p:cNvPr id="6" name="Image 0" descr="FaBuilding">    </p:cNvPr>
          <p:cNvPicPr>
            <a:picLocks noChangeAspect="1"/>
          </p:cNvPicPr>
          <p:nvPr/>
        </p:nvPicPr>
        <p:blipFill>
          <a:blip r:embed="rId1"/>
          <a:stretch>
            <a:fillRect/>
          </a:stretch>
        </p:blipFill>
        <p:spPr>
          <a:xfrm>
            <a:off x="742493" y="1400861"/>
            <a:ext cx="261518" cy="261518"/>
          </a:xfrm>
          <a:prstGeom prst="rect">
            <a:avLst/>
          </a:prstGeom>
        </p:spPr>
      </p:pic>
      <p:sp>
        <p:nvSpPr>
          <p:cNvPr id="7" name="Text 4"/>
          <p:cNvSpPr txBox="1"/>
          <p:nvPr/>
        </p:nvSpPr>
        <p:spPr>
          <a:xfrm>
            <a:off x="123444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Host Company</a:t>
            </a:r>
            <a:endParaRPr lang="en-US" sz="1550" dirty="0"/>
          </a:p>
        </p:txBody>
      </p:sp>
      <p:sp>
        <p:nvSpPr>
          <p:cNvPr id="8" name="Text 5"/>
          <p:cNvSpPr txBox="1"/>
          <p:nvPr/>
        </p:nvSpPr>
        <p:spPr>
          <a:xfrm>
            <a:off x="64008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Oda Bultum University: a real client with a real need, a website used daily by staff and students</a:t>
            </a:r>
            <a:endParaRPr lang="en-US" sz="1200" dirty="0"/>
          </a:p>
        </p:txBody>
      </p:sp>
      <p:sp>
        <p:nvSpPr>
          <p:cNvPr id="9" name="QA card 2"/>
          <p:cNvSpPr/>
          <p:nvPr/>
        </p:nvSpPr>
        <p:spPr>
          <a:xfrm>
            <a:off x="4663440" y="114300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10" name="QA icon 2 bg"/>
          <p:cNvSpPr/>
          <p:nvPr/>
        </p:nvSpPr>
        <p:spPr>
          <a:xfrm>
            <a:off x="4828032" y="1280160"/>
            <a:ext cx="502920" cy="502920"/>
          </a:xfrm>
          <a:prstGeom prst="ellipse">
            <a:avLst/>
          </a:prstGeom>
          <a:solidFill>
            <a:srgbClr val="0F4C3A"/>
          </a:solidFill>
          <a:ln w="12700">
            <a:solidFill>
              <a:srgbClr val="0F4C3A"/>
            </a:solidFill>
            <a:prstDash val="solid"/>
          </a:ln>
        </p:spPr>
        <p:txBody>
          <a:bodyPr/>
          <a:p/>
        </p:txBody>
      </p:sp>
      <p:pic>
        <p:nvPicPr>
          <p:cNvPr id="11" name="Image 1" descr="FaSitemap">    </p:cNvPr>
          <p:cNvPicPr>
            <a:picLocks noChangeAspect="1"/>
          </p:cNvPicPr>
          <p:nvPr/>
        </p:nvPicPr>
        <p:blipFill>
          <a:blip r:embed="rId2"/>
          <a:stretch>
            <a:fillRect/>
          </a:stretch>
        </p:blipFill>
        <p:spPr>
          <a:xfrm>
            <a:off x="4948733" y="1400861"/>
            <a:ext cx="261518" cy="261518"/>
          </a:xfrm>
          <a:prstGeom prst="rect">
            <a:avLst/>
          </a:prstGeom>
        </p:spPr>
      </p:pic>
      <p:sp>
        <p:nvSpPr>
          <p:cNvPr id="12" name="Text 8"/>
          <p:cNvSpPr txBox="1"/>
          <p:nvPr/>
        </p:nvSpPr>
        <p:spPr>
          <a:xfrm>
            <a:off x="544068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Section: ICT Directorate</a:t>
            </a:r>
            <a:endParaRPr lang="en-US" sz="1550" dirty="0"/>
          </a:p>
        </p:txBody>
      </p:sp>
      <p:sp>
        <p:nvSpPr>
          <p:cNvPr id="13" name="Text 9"/>
          <p:cNvSpPr txBox="1"/>
          <p:nvPr/>
        </p:nvSpPr>
        <p:spPr>
          <a:xfrm>
            <a:off x="484632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Owns the servers, network and the website, so a web system belongs there</a:t>
            </a:r>
            <a:endParaRPr lang="en-US" sz="1200" dirty="0"/>
          </a:p>
        </p:txBody>
      </p:sp>
      <p:sp>
        <p:nvSpPr>
          <p:cNvPr id="14" name="QA card 3"/>
          <p:cNvSpPr/>
          <p:nvPr/>
        </p:nvSpPr>
        <p:spPr>
          <a:xfrm>
            <a:off x="457200" y="292608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15" name="QA icon 3 bg"/>
          <p:cNvSpPr/>
          <p:nvPr/>
        </p:nvSpPr>
        <p:spPr>
          <a:xfrm>
            <a:off x="621792" y="3063240"/>
            <a:ext cx="502920" cy="502920"/>
          </a:xfrm>
          <a:prstGeom prst="ellipse">
            <a:avLst/>
          </a:prstGeom>
          <a:solidFill>
            <a:srgbClr val="0F4C3A"/>
          </a:solidFill>
          <a:ln w="12700">
            <a:solidFill>
              <a:srgbClr val="0F4C3A"/>
            </a:solidFill>
            <a:prstDash val="solid"/>
          </a:ln>
        </p:spPr>
        <p:txBody>
          <a:bodyPr/>
          <a:p/>
        </p:txBody>
      </p:sp>
      <p:pic>
        <p:nvPicPr>
          <p:cNvPr id="16" name="Image 2" descr="FaProjectDiagram">    </p:cNvPr>
          <p:cNvPicPr>
            <a:picLocks noChangeAspect="1"/>
          </p:cNvPicPr>
          <p:nvPr/>
        </p:nvPicPr>
        <p:blipFill>
          <a:blip r:embed="rId3"/>
          <a:stretch>
            <a:fillRect/>
          </a:stretch>
        </p:blipFill>
        <p:spPr>
          <a:xfrm>
            <a:off x="742493" y="3183941"/>
            <a:ext cx="261518" cy="261518"/>
          </a:xfrm>
          <a:prstGeom prst="rect">
            <a:avLst/>
          </a:prstGeom>
        </p:spPr>
      </p:pic>
      <p:sp>
        <p:nvSpPr>
          <p:cNvPr id="17" name="Text 12"/>
          <p:cNvSpPr txBox="1"/>
          <p:nvPr/>
        </p:nvSpPr>
        <p:spPr>
          <a:xfrm>
            <a:off x="123444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Work Flow of the Section</a:t>
            </a:r>
            <a:endParaRPr lang="en-US" sz="1550" dirty="0"/>
          </a:p>
        </p:txBody>
      </p:sp>
      <p:sp>
        <p:nvSpPr>
          <p:cNvPr id="18" name="Text 13"/>
          <p:cNvSpPr txBox="1"/>
          <p:nvPr/>
        </p:nvSpPr>
        <p:spPr>
          <a:xfrm>
            <a:off x="64008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Support requests by tickets; infrastructure changes need written approval of the ICT Director; progress meetings every Monday and Thursday</a:t>
            </a:r>
            <a:endParaRPr lang="en-US" sz="1200" dirty="0"/>
          </a:p>
        </p:txBody>
      </p:sp>
      <p:sp>
        <p:nvSpPr>
          <p:cNvPr id="19" name="QA card 4"/>
          <p:cNvSpPr/>
          <p:nvPr/>
        </p:nvSpPr>
        <p:spPr>
          <a:xfrm>
            <a:off x="4663440" y="292608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20" name="QA icon 4 bg"/>
          <p:cNvSpPr/>
          <p:nvPr/>
        </p:nvSpPr>
        <p:spPr>
          <a:xfrm>
            <a:off x="4828032" y="3063240"/>
            <a:ext cx="502920" cy="502920"/>
          </a:xfrm>
          <a:prstGeom prst="ellipse">
            <a:avLst/>
          </a:prstGeom>
          <a:solidFill>
            <a:srgbClr val="0F4C3A"/>
          </a:solidFill>
          <a:ln w="12700">
            <a:solidFill>
              <a:srgbClr val="0F4C3A"/>
            </a:solidFill>
            <a:prstDash val="solid"/>
          </a:ln>
        </p:spPr>
        <p:txBody>
          <a:bodyPr/>
          <a:p/>
        </p:txBody>
      </p:sp>
      <p:pic>
        <p:nvPicPr>
          <p:cNvPr id="21" name="Image 3" descr="FaTasks">    </p:cNvPr>
          <p:cNvPicPr>
            <a:picLocks noChangeAspect="1"/>
          </p:cNvPicPr>
          <p:nvPr/>
        </p:nvPicPr>
        <p:blipFill>
          <a:blip r:embed="rId4"/>
          <a:stretch>
            <a:fillRect/>
          </a:stretch>
        </p:blipFill>
        <p:spPr>
          <a:xfrm>
            <a:off x="4948733" y="3183941"/>
            <a:ext cx="261518" cy="261518"/>
          </a:xfrm>
          <a:prstGeom prst="rect">
            <a:avLst/>
          </a:prstGeom>
        </p:spPr>
      </p:pic>
      <p:sp>
        <p:nvSpPr>
          <p:cNvPr id="22" name="Text 16"/>
          <p:cNvSpPr txBox="1"/>
          <p:nvPr/>
        </p:nvSpPr>
        <p:spPr>
          <a:xfrm>
            <a:off x="544068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My Tasks</a:t>
            </a:r>
            <a:endParaRPr lang="en-US" sz="1550" dirty="0"/>
          </a:p>
        </p:txBody>
      </p:sp>
      <p:sp>
        <p:nvSpPr>
          <p:cNvPr id="23" name="Text 17"/>
          <p:cNvSpPr txBox="1"/>
          <p:nvPr/>
        </p:nvSpPr>
        <p:spPr>
          <a:xfrm>
            <a:off x="484632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Requirements, database design, backend and frontend, Admin CMS, testing, documentation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Challenges and Measures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1.1</a:t>
            </a:r>
            <a:endParaRPr lang="en-US" sz="1100" dirty="0"/>
          </a:p>
        </p:txBody>
      </p:sp>
      <p:sp>
        <p:nvSpPr>
          <p:cNvPr id="4" name="Text 2"/>
          <p:cNvSpPr txBox="1"/>
          <p:nvPr/>
        </p:nvSpPr>
        <p:spPr>
          <a:xfrm>
            <a:off x="457200" y="1097280"/>
            <a:ext cx="3291840" cy="274320"/>
          </a:xfrm>
          <a:prstGeom prst="rect">
            <a:avLst/>
          </a:prstGeom>
          <a:noFill/>
          <a:ln/>
        </p:spPr>
        <p:txBody>
          <a:bodyPr wrap="square" lIns="0" tIns="0" rIns="0" bIns="0" rtlCol="0" anchor="ctr"/>
          <a:lstStyle/>
          <a:p>
            <a:pPr indent="0" marL="0">
              <a:buNone/>
            </a:pPr>
            <a:r>
              <a:rPr lang="en-US" sz="1200" b="1" dirty="0">
                <a:solidFill>
                  <a:srgbClr val="B85C38"/>
                </a:solidFill>
                <a:latin typeface="Calibri" pitchFamily="34" charset="0"/>
                <a:ea typeface="Calibri" pitchFamily="34" charset="-122"/>
                <a:cs typeface="Calibri" pitchFamily="34" charset="-120"/>
              </a:rPr>
              <a:t>Challenge</a:t>
            </a:r>
            <a:endParaRPr lang="en-US" sz="1200" dirty="0"/>
          </a:p>
        </p:txBody>
      </p:sp>
      <p:sp>
        <p:nvSpPr>
          <p:cNvPr id="5" name="Text 3"/>
          <p:cNvSpPr txBox="1"/>
          <p:nvPr/>
        </p:nvSpPr>
        <p:spPr>
          <a:xfrm>
            <a:off x="4480560" y="1097280"/>
            <a:ext cx="4206240" cy="274320"/>
          </a:xfrm>
          <a:prstGeom prst="rect">
            <a:avLst/>
          </a:prstGeom>
          <a:noFill/>
          <a:ln/>
        </p:spPr>
        <p:txBody>
          <a:bodyPr wrap="square" lIns="0" tIns="0" rIns="0" bIns="0" rtlCol="0" anchor="ctr"/>
          <a:lstStyle/>
          <a:p>
            <a:pPr indent="0" marL="0">
              <a:buNone/>
            </a:pPr>
            <a:r>
              <a:rPr lang="en-US" sz="1200" b="1" dirty="0">
                <a:solidFill>
                  <a:srgbClr val="287A5D"/>
                </a:solidFill>
                <a:latin typeface="Calibri" pitchFamily="34" charset="0"/>
                <a:ea typeface="Calibri" pitchFamily="34" charset="-122"/>
                <a:cs typeface="Calibri" pitchFamily="34" charset="-120"/>
              </a:rPr>
              <a:t>Measure taken</a:t>
            </a:r>
            <a:endParaRPr lang="en-US" sz="1200" dirty="0"/>
          </a:p>
        </p:txBody>
      </p:sp>
      <p:sp>
        <p:nvSpPr>
          <p:cNvPr id="6" name="Challenge 1"/>
          <p:cNvSpPr/>
          <p:nvPr/>
        </p:nvSpPr>
        <p:spPr>
          <a:xfrm>
            <a:off x="457200" y="1417320"/>
            <a:ext cx="3566160" cy="676656"/>
          </a:xfrm>
          <a:prstGeom prst="roundRect">
            <a:avLst>
              <a:gd name="adj" fmla="val 10811"/>
            </a:avLst>
          </a:prstGeom>
          <a:solidFill>
            <a:srgbClr val="F6E7E0"/>
          </a:solidFill>
          <a:ln w="12700">
            <a:solidFill>
              <a:srgbClr val="F6E7E0"/>
            </a:solidFill>
            <a:prstDash val="solid"/>
          </a:ln>
        </p:spPr>
        <p:txBody>
          <a:bodyPr/>
          <a:p/>
        </p:txBody>
      </p:sp>
      <p:sp>
        <p:nvSpPr>
          <p:cNvPr id="7" name="Text 5"/>
          <p:cNvSpPr txBox="1"/>
          <p:nvPr/>
        </p:nvSpPr>
        <p:spPr>
          <a:xfrm>
            <a:off x="594360" y="1417320"/>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Public reads vs admin writes</a:t>
            </a:r>
            <a:endParaRPr lang="en-US" sz="1400" dirty="0"/>
          </a:p>
        </p:txBody>
      </p:sp>
      <p:sp>
        <p:nvSpPr>
          <p:cNvPr id="8" name="Arrow 1"/>
          <p:cNvSpPr/>
          <p:nvPr/>
        </p:nvSpPr>
        <p:spPr>
          <a:xfrm>
            <a:off x="4114800" y="1572768"/>
            <a:ext cx="274320" cy="365760"/>
          </a:xfrm>
          <a:prstGeom prst="rightArrow">
            <a:avLst/>
          </a:prstGeom>
          <a:solidFill>
            <a:srgbClr val="287A5D"/>
          </a:solidFill>
          <a:ln w="12700">
            <a:solidFill>
              <a:srgbClr val="287A5D"/>
            </a:solidFill>
            <a:prstDash val="solid"/>
          </a:ln>
        </p:spPr>
        <p:txBody>
          <a:bodyPr/>
          <a:p/>
        </p:txBody>
      </p:sp>
      <p:sp>
        <p:nvSpPr>
          <p:cNvPr id="9" name="Measure 1"/>
          <p:cNvSpPr/>
          <p:nvPr/>
        </p:nvSpPr>
        <p:spPr>
          <a:xfrm>
            <a:off x="4480560" y="1417320"/>
            <a:ext cx="4206240" cy="676656"/>
          </a:xfrm>
          <a:prstGeom prst="roundRect">
            <a:avLst>
              <a:gd name="adj" fmla="val 10811"/>
            </a:avLst>
          </a:prstGeom>
          <a:solidFill>
            <a:srgbClr val="EEF5F1"/>
          </a:solidFill>
          <a:ln w="12700">
            <a:solidFill>
              <a:srgbClr val="EEF5F1"/>
            </a:solidFill>
            <a:prstDash val="solid"/>
          </a:ln>
        </p:spPr>
        <p:txBody>
          <a:bodyPr/>
          <a:p/>
        </p:txBody>
      </p:sp>
      <p:sp>
        <p:nvSpPr>
          <p:cNvPr id="10" name="Text 8"/>
          <p:cNvSpPr txBox="1"/>
          <p:nvPr/>
        </p:nvSpPr>
        <p:spPr>
          <a:xfrm>
            <a:off x="4617720" y="1417320"/>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Row Level Security as the main rule; Supabase client for pages, few server functions</a:t>
            </a:r>
            <a:endParaRPr lang="en-US" sz="1250" dirty="0"/>
          </a:p>
        </p:txBody>
      </p:sp>
      <p:sp>
        <p:nvSpPr>
          <p:cNvPr id="11" name="Challenge 2"/>
          <p:cNvSpPr/>
          <p:nvPr/>
        </p:nvSpPr>
        <p:spPr>
          <a:xfrm>
            <a:off x="457200" y="2221992"/>
            <a:ext cx="3566160" cy="676656"/>
          </a:xfrm>
          <a:prstGeom prst="roundRect">
            <a:avLst>
              <a:gd name="adj" fmla="val 10811"/>
            </a:avLst>
          </a:prstGeom>
          <a:solidFill>
            <a:srgbClr val="F6E7E0"/>
          </a:solidFill>
          <a:ln w="12700">
            <a:solidFill>
              <a:srgbClr val="F6E7E0"/>
            </a:solidFill>
            <a:prstDash val="solid"/>
          </a:ln>
        </p:spPr>
        <p:txBody>
          <a:bodyPr/>
          <a:p/>
        </p:txBody>
      </p:sp>
      <p:sp>
        <p:nvSpPr>
          <p:cNvPr id="12" name="Text 10"/>
          <p:cNvSpPr txBox="1"/>
          <p:nvPr/>
        </p:nvSpPr>
        <p:spPr>
          <a:xfrm>
            <a:off x="594360" y="2221992"/>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Clean, unique URLs</a:t>
            </a:r>
            <a:endParaRPr lang="en-US" sz="1400" dirty="0"/>
          </a:p>
        </p:txBody>
      </p:sp>
      <p:sp>
        <p:nvSpPr>
          <p:cNvPr id="13" name="Arrow 2"/>
          <p:cNvSpPr/>
          <p:nvPr/>
        </p:nvSpPr>
        <p:spPr>
          <a:xfrm>
            <a:off x="4114800" y="2377440"/>
            <a:ext cx="274320" cy="365760"/>
          </a:xfrm>
          <a:prstGeom prst="rightArrow">
            <a:avLst/>
          </a:prstGeom>
          <a:solidFill>
            <a:srgbClr val="287A5D"/>
          </a:solidFill>
          <a:ln w="12700">
            <a:solidFill>
              <a:srgbClr val="287A5D"/>
            </a:solidFill>
            <a:prstDash val="solid"/>
          </a:ln>
        </p:spPr>
        <p:txBody>
          <a:bodyPr/>
          <a:p/>
        </p:txBody>
      </p:sp>
      <p:sp>
        <p:nvSpPr>
          <p:cNvPr id="14" name="Measure 2"/>
          <p:cNvSpPr/>
          <p:nvPr/>
        </p:nvSpPr>
        <p:spPr>
          <a:xfrm>
            <a:off x="4480560" y="2221992"/>
            <a:ext cx="4206240" cy="676656"/>
          </a:xfrm>
          <a:prstGeom prst="roundRect">
            <a:avLst>
              <a:gd name="adj" fmla="val 10811"/>
            </a:avLst>
          </a:prstGeom>
          <a:solidFill>
            <a:srgbClr val="EEF5F1"/>
          </a:solidFill>
          <a:ln w="12700">
            <a:solidFill>
              <a:srgbClr val="EEF5F1"/>
            </a:solidFill>
            <a:prstDash val="solid"/>
          </a:ln>
        </p:spPr>
        <p:txBody>
          <a:bodyPr/>
          <a:p/>
        </p:txBody>
      </p:sp>
      <p:sp>
        <p:nvSpPr>
          <p:cNvPr id="15" name="Text 13"/>
          <p:cNvSpPr txBox="1"/>
          <p:nvPr/>
        </p:nvSpPr>
        <p:spPr>
          <a:xfrm>
            <a:off x="4617720" y="2221992"/>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generate_slug() SQL function, unique constraints, -2/-3 check in hooks</a:t>
            </a:r>
            <a:endParaRPr lang="en-US" sz="1250" dirty="0"/>
          </a:p>
        </p:txBody>
      </p:sp>
      <p:sp>
        <p:nvSpPr>
          <p:cNvPr id="16" name="Challenge 3"/>
          <p:cNvSpPr/>
          <p:nvPr/>
        </p:nvSpPr>
        <p:spPr>
          <a:xfrm>
            <a:off x="457200" y="3026664"/>
            <a:ext cx="3566160" cy="676656"/>
          </a:xfrm>
          <a:prstGeom prst="roundRect">
            <a:avLst>
              <a:gd name="adj" fmla="val 10811"/>
            </a:avLst>
          </a:prstGeom>
          <a:solidFill>
            <a:srgbClr val="F6E7E0"/>
          </a:solidFill>
          <a:ln w="12700">
            <a:solidFill>
              <a:srgbClr val="F6E7E0"/>
            </a:solidFill>
            <a:prstDash val="solid"/>
          </a:ln>
        </p:spPr>
        <p:txBody>
          <a:bodyPr/>
          <a:p/>
        </p:txBody>
      </p:sp>
      <p:sp>
        <p:nvSpPr>
          <p:cNvPr id="17" name="Text 15"/>
          <p:cNvSpPr txBox="1"/>
          <p:nvPr/>
        </p:nvSpPr>
        <p:spPr>
          <a:xfrm>
            <a:off x="594360" y="3026664"/>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Images used by many modules</a:t>
            </a:r>
            <a:endParaRPr lang="en-US" sz="1400" dirty="0"/>
          </a:p>
        </p:txBody>
      </p:sp>
      <p:sp>
        <p:nvSpPr>
          <p:cNvPr id="18" name="Arrow 3"/>
          <p:cNvSpPr/>
          <p:nvPr/>
        </p:nvSpPr>
        <p:spPr>
          <a:xfrm>
            <a:off x="4114800" y="3182112"/>
            <a:ext cx="274320" cy="365760"/>
          </a:xfrm>
          <a:prstGeom prst="rightArrow">
            <a:avLst/>
          </a:prstGeom>
          <a:solidFill>
            <a:srgbClr val="287A5D"/>
          </a:solidFill>
          <a:ln w="12700">
            <a:solidFill>
              <a:srgbClr val="287A5D"/>
            </a:solidFill>
            <a:prstDash val="solid"/>
          </a:ln>
        </p:spPr>
        <p:txBody>
          <a:bodyPr/>
          <a:p/>
        </p:txBody>
      </p:sp>
      <p:sp>
        <p:nvSpPr>
          <p:cNvPr id="19" name="Measure 3"/>
          <p:cNvSpPr/>
          <p:nvPr/>
        </p:nvSpPr>
        <p:spPr>
          <a:xfrm>
            <a:off x="4480560" y="3026664"/>
            <a:ext cx="4206240" cy="676656"/>
          </a:xfrm>
          <a:prstGeom prst="roundRect">
            <a:avLst>
              <a:gd name="adj" fmla="val 10811"/>
            </a:avLst>
          </a:prstGeom>
          <a:solidFill>
            <a:srgbClr val="EEF5F1"/>
          </a:solidFill>
          <a:ln w="12700">
            <a:solidFill>
              <a:srgbClr val="EEF5F1"/>
            </a:solidFill>
            <a:prstDash val="solid"/>
          </a:ln>
        </p:spPr>
        <p:txBody>
          <a:bodyPr/>
          <a:p/>
        </p:txBody>
      </p:sp>
      <p:sp>
        <p:nvSpPr>
          <p:cNvPr id="20" name="Text 18"/>
          <p:cNvSpPr txBox="1"/>
          <p:nvPr/>
        </p:nvSpPr>
        <p:spPr>
          <a:xfrm>
            <a:off x="4617720" y="3026664"/>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One central media table and the AdminImageUpload component</a:t>
            </a:r>
            <a:endParaRPr lang="en-US" sz="1250" dirty="0"/>
          </a:p>
        </p:txBody>
      </p:sp>
      <p:sp>
        <p:nvSpPr>
          <p:cNvPr id="21" name="Challenge 4"/>
          <p:cNvSpPr/>
          <p:nvPr/>
        </p:nvSpPr>
        <p:spPr>
          <a:xfrm>
            <a:off x="457200" y="3831336"/>
            <a:ext cx="3566160" cy="676656"/>
          </a:xfrm>
          <a:prstGeom prst="roundRect">
            <a:avLst>
              <a:gd name="adj" fmla="val 10811"/>
            </a:avLst>
          </a:prstGeom>
          <a:solidFill>
            <a:srgbClr val="F6E7E0"/>
          </a:solidFill>
          <a:ln w="12700">
            <a:solidFill>
              <a:srgbClr val="F6E7E0"/>
            </a:solidFill>
            <a:prstDash val="solid"/>
          </a:ln>
        </p:spPr>
        <p:txBody>
          <a:bodyPr/>
          <a:p/>
        </p:txBody>
      </p:sp>
      <p:sp>
        <p:nvSpPr>
          <p:cNvPr id="22" name="Text 20"/>
          <p:cNvSpPr txBox="1"/>
          <p:nvPr/>
        </p:nvSpPr>
        <p:spPr>
          <a:xfrm>
            <a:off x="594360" y="3831336"/>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Scope growth from every office</a:t>
            </a:r>
            <a:endParaRPr lang="en-US" sz="1400" dirty="0"/>
          </a:p>
        </p:txBody>
      </p:sp>
      <p:sp>
        <p:nvSpPr>
          <p:cNvPr id="23" name="Arrow 4"/>
          <p:cNvSpPr/>
          <p:nvPr/>
        </p:nvSpPr>
        <p:spPr>
          <a:xfrm>
            <a:off x="4114800" y="3986784"/>
            <a:ext cx="274320" cy="365760"/>
          </a:xfrm>
          <a:prstGeom prst="rightArrow">
            <a:avLst/>
          </a:prstGeom>
          <a:solidFill>
            <a:srgbClr val="287A5D"/>
          </a:solidFill>
          <a:ln w="12700">
            <a:solidFill>
              <a:srgbClr val="287A5D"/>
            </a:solidFill>
            <a:prstDash val="solid"/>
          </a:ln>
        </p:spPr>
        <p:txBody>
          <a:bodyPr/>
          <a:p/>
        </p:txBody>
      </p:sp>
      <p:sp>
        <p:nvSpPr>
          <p:cNvPr id="24" name="Measure 4"/>
          <p:cNvSpPr/>
          <p:nvPr/>
        </p:nvSpPr>
        <p:spPr>
          <a:xfrm>
            <a:off x="4480560" y="3831336"/>
            <a:ext cx="4206240" cy="676656"/>
          </a:xfrm>
          <a:prstGeom prst="roundRect">
            <a:avLst>
              <a:gd name="adj" fmla="val 10811"/>
            </a:avLst>
          </a:prstGeom>
          <a:solidFill>
            <a:srgbClr val="EEF5F1"/>
          </a:solidFill>
          <a:ln w="12700">
            <a:solidFill>
              <a:srgbClr val="EEF5F1"/>
            </a:solidFill>
            <a:prstDash val="solid"/>
          </a:ln>
        </p:spPr>
        <p:txBody>
          <a:bodyPr/>
          <a:p/>
        </p:txBody>
      </p:sp>
      <p:sp>
        <p:nvSpPr>
          <p:cNvPr id="25" name="Text 23"/>
          <p:cNvSpPr txBox="1"/>
          <p:nvPr/>
        </p:nvSpPr>
        <p:spPr>
          <a:xfrm>
            <a:off x="4617720" y="3831336"/>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Agile backlog: core modules first, extra requests postponed</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1.2 Introduction of the Project</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1.2</a:t>
            </a:r>
            <a:endParaRPr lang="en-US" sz="1100" dirty="0"/>
          </a:p>
        </p:txBody>
      </p:sp>
      <p:sp>
        <p:nvSpPr>
          <p:cNvPr id="4" name="Text 2"/>
          <p:cNvSpPr txBox="1"/>
          <p:nvPr/>
        </p:nvSpPr>
        <p:spPr>
          <a:xfrm>
            <a:off x="457200" y="1097280"/>
            <a:ext cx="4389120" cy="1097280"/>
          </a:xfrm>
          <a:prstGeom prst="rect">
            <a:avLst/>
          </a:prstGeom>
          <a:noFill/>
          <a:ln/>
        </p:spPr>
        <p:txBody>
          <a:bodyPr wrap="square" lIns="0" tIns="0" rIns="0" bIns="0" rtlCol="0" anchor="t"/>
          <a:lstStyle/>
          <a:p>
            <a:pPr indent="0" marL="0">
              <a:buNone/>
            </a:pPr>
            <a:r>
              <a:rPr lang="en-US" sz="1600" dirty="0">
                <a:solidFill>
                  <a:srgbClr val="17251F"/>
                </a:solidFill>
                <a:latin typeface="Calibri" pitchFamily="34" charset="0"/>
                <a:ea typeface="Calibri" pitchFamily="34" charset="-122"/>
                <a:cs typeface="Calibri" pitchFamily="34" charset="-120"/>
              </a:rPr>
              <a:t>OBU-CMS: a dynamic university website with a secure Admin CMS, so that staff publish news, events, programs, research and vacancies without writing code.</a:t>
            </a:r>
            <a:endParaRPr lang="en-US" sz="1600" dirty="0"/>
          </a:p>
        </p:txBody>
      </p:sp>
      <p:sp>
        <p:nvSpPr>
          <p:cNvPr id="5" name="Project stat 1"/>
          <p:cNvSpPr/>
          <p:nvPr/>
        </p:nvSpPr>
        <p:spPr>
          <a:xfrm>
            <a:off x="457200" y="2331720"/>
            <a:ext cx="1371600" cy="1097280"/>
          </a:xfrm>
          <a:prstGeom prst="roundRect">
            <a:avLst>
              <a:gd name="adj" fmla="val 6667"/>
            </a:avLst>
          </a:prstGeom>
          <a:solidFill>
            <a:srgbClr val="0F4C3A"/>
          </a:solidFill>
          <a:ln w="12700">
            <a:solidFill>
              <a:srgbClr val="0F4C3A"/>
            </a:solidFill>
            <a:prstDash val="solid"/>
          </a:ln>
        </p:spPr>
        <p:txBody>
          <a:bodyPr/>
          <a:p/>
        </p:txBody>
      </p:sp>
      <p:sp>
        <p:nvSpPr>
          <p:cNvPr id="6" name="Text 4"/>
          <p:cNvSpPr txBox="1"/>
          <p:nvPr/>
        </p:nvSpPr>
        <p:spPr>
          <a:xfrm>
            <a:off x="457200" y="2331720"/>
            <a:ext cx="1371600" cy="1097280"/>
          </a:xfrm>
          <a:prstGeom prst="rect">
            <a:avLst/>
          </a:prstGeom>
          <a:noFill/>
          <a:ln/>
        </p:spPr>
        <p:txBody>
          <a:bodyPr wrap="square" lIns="635" tIns="635" rIns="635" bIns="635"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27</a:t>
            </a:r>
            <a:endParaRPr lang="en-US" sz="3000" dirty="0"/>
          </a:p>
          <a:p>
            <a:pPr algn="ctr" indent="0" marL="0">
              <a:buNone/>
            </a:pPr>
            <a:r>
              <a:rPr lang="en-US" sz="1100" dirty="0">
                <a:solidFill>
                  <a:srgbClr val="D4A017"/>
                </a:solidFill>
                <a:latin typeface="Calibri" pitchFamily="34" charset="0"/>
                <a:ea typeface="Calibri" pitchFamily="34" charset="-122"/>
                <a:cs typeface="Calibri" pitchFamily="34" charset="-120"/>
              </a:rPr>
              <a:t>database tables</a:t>
            </a:r>
            <a:endParaRPr lang="en-US" sz="3000" dirty="0"/>
          </a:p>
        </p:txBody>
      </p:sp>
      <p:sp>
        <p:nvSpPr>
          <p:cNvPr id="7" name="Project stat 2"/>
          <p:cNvSpPr/>
          <p:nvPr/>
        </p:nvSpPr>
        <p:spPr>
          <a:xfrm>
            <a:off x="1920240" y="2331720"/>
            <a:ext cx="1371600" cy="1097280"/>
          </a:xfrm>
          <a:prstGeom prst="roundRect">
            <a:avLst>
              <a:gd name="adj" fmla="val 6667"/>
            </a:avLst>
          </a:prstGeom>
          <a:solidFill>
            <a:srgbClr val="0F4C3A"/>
          </a:solidFill>
          <a:ln w="12700">
            <a:solidFill>
              <a:srgbClr val="0F4C3A"/>
            </a:solidFill>
            <a:prstDash val="solid"/>
          </a:ln>
        </p:spPr>
        <p:txBody>
          <a:bodyPr/>
          <a:p/>
        </p:txBody>
      </p:sp>
      <p:sp>
        <p:nvSpPr>
          <p:cNvPr id="8" name="Text 6"/>
          <p:cNvSpPr txBox="1"/>
          <p:nvPr/>
        </p:nvSpPr>
        <p:spPr>
          <a:xfrm>
            <a:off x="1920240" y="2331720"/>
            <a:ext cx="1371600" cy="1097280"/>
          </a:xfrm>
          <a:prstGeom prst="rect">
            <a:avLst/>
          </a:prstGeom>
          <a:noFill/>
          <a:ln/>
        </p:spPr>
        <p:txBody>
          <a:bodyPr wrap="square" lIns="635" tIns="635" rIns="635" bIns="635"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73</a:t>
            </a:r>
            <a:endParaRPr lang="en-US" sz="3000" dirty="0"/>
          </a:p>
          <a:p>
            <a:pPr algn="ctr" indent="0" marL="0">
              <a:buNone/>
            </a:pPr>
            <a:r>
              <a:rPr lang="en-US" sz="1100" dirty="0">
                <a:solidFill>
                  <a:srgbClr val="D4A017"/>
                </a:solidFill>
                <a:latin typeface="Calibri" pitchFamily="34" charset="0"/>
                <a:ea typeface="Calibri" pitchFamily="34" charset="-122"/>
                <a:cs typeface="Calibri" pitchFamily="34" charset="-120"/>
              </a:rPr>
              <a:t>route files</a:t>
            </a:r>
            <a:endParaRPr lang="en-US" sz="3000" dirty="0"/>
          </a:p>
        </p:txBody>
      </p:sp>
      <p:sp>
        <p:nvSpPr>
          <p:cNvPr id="9" name="Project stat 3"/>
          <p:cNvSpPr/>
          <p:nvPr/>
        </p:nvSpPr>
        <p:spPr>
          <a:xfrm>
            <a:off x="3383280" y="2331720"/>
            <a:ext cx="1371600" cy="1097280"/>
          </a:xfrm>
          <a:prstGeom prst="roundRect">
            <a:avLst>
              <a:gd name="adj" fmla="val 6667"/>
            </a:avLst>
          </a:prstGeom>
          <a:solidFill>
            <a:srgbClr val="0F4C3A"/>
          </a:solidFill>
          <a:ln w="12700">
            <a:solidFill>
              <a:srgbClr val="0F4C3A"/>
            </a:solidFill>
            <a:prstDash val="solid"/>
          </a:ln>
        </p:spPr>
        <p:txBody>
          <a:bodyPr/>
          <a:p/>
        </p:txBody>
      </p:sp>
      <p:sp>
        <p:nvSpPr>
          <p:cNvPr id="10" name="Text 8"/>
          <p:cNvSpPr txBox="1"/>
          <p:nvPr/>
        </p:nvSpPr>
        <p:spPr>
          <a:xfrm>
            <a:off x="3383280" y="2331720"/>
            <a:ext cx="1371600" cy="1097280"/>
          </a:xfrm>
          <a:prstGeom prst="rect">
            <a:avLst/>
          </a:prstGeom>
          <a:noFill/>
          <a:ln/>
        </p:spPr>
        <p:txBody>
          <a:bodyPr wrap="square" lIns="635" tIns="635" rIns="635" bIns="635"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30</a:t>
            </a:r>
            <a:endParaRPr lang="en-US" sz="3000" dirty="0"/>
          </a:p>
          <a:p>
            <a:pPr algn="ctr" indent="0" marL="0">
              <a:buNone/>
            </a:pPr>
            <a:r>
              <a:rPr lang="en-US" sz="1100" dirty="0">
                <a:solidFill>
                  <a:srgbClr val="D4A017"/>
                </a:solidFill>
                <a:latin typeface="Calibri" pitchFamily="34" charset="0"/>
                <a:ea typeface="Calibri" pitchFamily="34" charset="-122"/>
                <a:cs typeface="Calibri" pitchFamily="34" charset="-120"/>
              </a:rPr>
              <a:t>functional requirements</a:t>
            </a:r>
            <a:endParaRPr lang="en-US" sz="3000" dirty="0"/>
          </a:p>
        </p:txBody>
      </p:sp>
      <p:sp>
        <p:nvSpPr>
          <p:cNvPr id="11" name="Text 9"/>
          <p:cNvSpPr txBox="1"/>
          <p:nvPr/>
        </p:nvSpPr>
        <p:spPr>
          <a:xfrm>
            <a:off x="457200" y="3611880"/>
            <a:ext cx="4389120" cy="82296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React 19 + TanStack Start  |  TypeScript  |  Tailwind CSS  |  Supabase (PostgreSQL, Auth, Storage)</a:t>
            </a:r>
            <a:endParaRPr lang="en-US" sz="1300" dirty="0"/>
          </a:p>
        </p:txBody>
      </p:sp>
      <p:pic>
        <p:nvPicPr>
          <p:cNvPr id="12" name="Image 0" descr="New OBU-CMS home page">    </p:cNvPr>
          <p:cNvPicPr>
            <a:picLocks noChangeAspect="1"/>
          </p:cNvPicPr>
          <p:nvPr/>
        </p:nvPicPr>
        <p:blipFill>
          <a:blip r:embed="rId1"/>
          <a:stretch>
            <a:fillRect/>
          </a:stretch>
        </p:blipFill>
        <p:spPr>
          <a:xfrm>
            <a:off x="5257800" y="1188720"/>
            <a:ext cx="3291840" cy="1589488"/>
          </a:xfrm>
          <a:prstGeom prst="rect">
            <a:avLst/>
          </a:prstGeom>
          <a:effectLst>
            <a:outerShdw sx="100000" sy="100000" kx="0" ky="0" algn="bl" rotWithShape="0" blurRad="76200" dist="25400" dir="5400000">
              <a:srgbClr val="000000">
                <a:alpha val="12000"/>
              </a:srgbClr>
            </a:outerShdw>
          </a:effectLst>
        </p:spPr>
      </p:pic>
      <p:pic>
        <p:nvPicPr>
          <p:cNvPr id="13" name="Image 1" descr="Admin CMS dashboard">    </p:cNvPr>
          <p:cNvPicPr>
            <a:picLocks noChangeAspect="1"/>
          </p:cNvPicPr>
          <p:nvPr/>
        </p:nvPicPr>
        <p:blipFill>
          <a:blip r:embed="rId2"/>
          <a:stretch>
            <a:fillRect/>
          </a:stretch>
        </p:blipFill>
        <p:spPr>
          <a:xfrm>
            <a:off x="5257800" y="2961088"/>
            <a:ext cx="3291840" cy="1589488"/>
          </a:xfrm>
          <a:prstGeom prst="rect">
            <a:avLst/>
          </a:prstGeom>
          <a:effectLst>
            <a:outerShdw sx="100000" sy="100000" kx="0" ky="0" algn="bl" rotWithShape="0" blurRad="76200" dist="25400" dir="5400000">
              <a:srgbClr val="000000">
                <a:alpha val="12000"/>
              </a:srgbClr>
            </a:outerShdw>
          </a:effectLst>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2. Problem and Justification</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2</a:t>
            </a:r>
            <a:endParaRPr lang="en-US" sz="1100" dirty="0"/>
          </a:p>
        </p:txBody>
      </p:sp>
      <p:sp>
        <p:nvSpPr>
          <p:cNvPr id="4" name="Problem icon 1 bg"/>
          <p:cNvSpPr/>
          <p:nvPr/>
        </p:nvSpPr>
        <p:spPr>
          <a:xfrm>
            <a:off x="457200" y="1143000"/>
            <a:ext cx="548640" cy="548640"/>
          </a:xfrm>
          <a:prstGeom prst="ellipse">
            <a:avLst/>
          </a:prstGeom>
          <a:solidFill>
            <a:srgbClr val="B85C38"/>
          </a:solidFill>
          <a:ln w="12700">
            <a:solidFill>
              <a:srgbClr val="B85C38"/>
            </a:solidFill>
            <a:prstDash val="solid"/>
          </a:ln>
        </p:spPr>
        <p:txBody>
          <a:bodyPr/>
          <a:p/>
        </p:txBody>
      </p:sp>
      <p:pic>
        <p:nvPicPr>
          <p:cNvPr id="5" name="Image 0" descr="FaUserCog">    </p:cNvPr>
          <p:cNvPicPr>
            <a:picLocks noChangeAspect="1"/>
          </p:cNvPicPr>
          <p:nvPr/>
        </p:nvPicPr>
        <p:blipFill>
          <a:blip r:embed="rId1"/>
          <a:stretch>
            <a:fillRect/>
          </a:stretch>
        </p:blipFill>
        <p:spPr>
          <a:xfrm>
            <a:off x="588874" y="1274674"/>
            <a:ext cx="285293" cy="285293"/>
          </a:xfrm>
          <a:prstGeom prst="rect">
            <a:avLst/>
          </a:prstGeom>
        </p:spPr>
      </p:pic>
      <p:sp>
        <p:nvSpPr>
          <p:cNvPr id="6" name="Text 3"/>
          <p:cNvSpPr txBox="1"/>
          <p:nvPr/>
        </p:nvSpPr>
        <p:spPr>
          <a:xfrm>
            <a:off x="1188720" y="106984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Content depends on technical staff</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Urgent notices are delayed</a:t>
            </a:r>
            <a:endParaRPr lang="en-US" sz="1450" dirty="0"/>
          </a:p>
        </p:txBody>
      </p:sp>
      <p:sp>
        <p:nvSpPr>
          <p:cNvPr id="7" name="Problem icon 2 bg"/>
          <p:cNvSpPr/>
          <p:nvPr/>
        </p:nvSpPr>
        <p:spPr>
          <a:xfrm>
            <a:off x="457200" y="2011680"/>
            <a:ext cx="548640" cy="548640"/>
          </a:xfrm>
          <a:prstGeom prst="ellipse">
            <a:avLst/>
          </a:prstGeom>
          <a:solidFill>
            <a:srgbClr val="B85C38"/>
          </a:solidFill>
          <a:ln w="12700">
            <a:solidFill>
              <a:srgbClr val="B85C38"/>
            </a:solidFill>
            <a:prstDash val="solid"/>
          </a:ln>
        </p:spPr>
        <p:txBody>
          <a:bodyPr/>
          <a:p/>
        </p:txBody>
      </p:sp>
      <p:pic>
        <p:nvPicPr>
          <p:cNvPr id="8" name="Image 1" descr="FaThList">    </p:cNvPr>
          <p:cNvPicPr>
            <a:picLocks noChangeAspect="1"/>
          </p:cNvPicPr>
          <p:nvPr/>
        </p:nvPicPr>
        <p:blipFill>
          <a:blip r:embed="rId2"/>
          <a:stretch>
            <a:fillRect/>
          </a:stretch>
        </p:blipFill>
        <p:spPr>
          <a:xfrm>
            <a:off x="588874" y="2143354"/>
            <a:ext cx="285293" cy="285293"/>
          </a:xfrm>
          <a:prstGeom prst="rect">
            <a:avLst/>
          </a:prstGeom>
        </p:spPr>
      </p:pic>
      <p:sp>
        <p:nvSpPr>
          <p:cNvPr id="9" name="Text 5"/>
          <p:cNvSpPr txBox="1"/>
          <p:nvPr/>
        </p:nvSpPr>
        <p:spPr>
          <a:xfrm>
            <a:off x="1188720" y="193852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No structured content or clean links</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News, events, vacancies are not managed records</a:t>
            </a:r>
            <a:endParaRPr lang="en-US" sz="1450" dirty="0"/>
          </a:p>
        </p:txBody>
      </p:sp>
      <p:sp>
        <p:nvSpPr>
          <p:cNvPr id="10" name="Problem icon 3 bg"/>
          <p:cNvSpPr/>
          <p:nvPr/>
        </p:nvSpPr>
        <p:spPr>
          <a:xfrm>
            <a:off x="457200" y="2880360"/>
            <a:ext cx="548640" cy="548640"/>
          </a:xfrm>
          <a:prstGeom prst="ellipse">
            <a:avLst/>
          </a:prstGeom>
          <a:solidFill>
            <a:srgbClr val="B85C38"/>
          </a:solidFill>
          <a:ln w="12700">
            <a:solidFill>
              <a:srgbClr val="B85C38"/>
            </a:solidFill>
            <a:prstDash val="solid"/>
          </a:ln>
        </p:spPr>
        <p:txBody>
          <a:bodyPr/>
          <a:p/>
        </p:txBody>
      </p:sp>
      <p:pic>
        <p:nvPicPr>
          <p:cNvPr id="11" name="Image 2" descr="FaImages">    </p:cNvPr>
          <p:cNvPicPr>
            <a:picLocks noChangeAspect="1"/>
          </p:cNvPicPr>
          <p:nvPr/>
        </p:nvPicPr>
        <p:blipFill>
          <a:blip r:embed="rId3"/>
          <a:stretch>
            <a:fillRect/>
          </a:stretch>
        </p:blipFill>
        <p:spPr>
          <a:xfrm>
            <a:off x="588874" y="3012034"/>
            <a:ext cx="285293" cy="285293"/>
          </a:xfrm>
          <a:prstGeom prst="rect">
            <a:avLst/>
          </a:prstGeom>
        </p:spPr>
      </p:pic>
      <p:sp>
        <p:nvSpPr>
          <p:cNvPr id="12" name="Text 7"/>
          <p:cNvSpPr txBox="1"/>
          <p:nvPr/>
        </p:nvSpPr>
        <p:spPr>
          <a:xfrm>
            <a:off x="1188720" y="280720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No media library, roles or audit trail</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Nobody can tell who changed what</a:t>
            </a:r>
            <a:endParaRPr lang="en-US" sz="1450" dirty="0"/>
          </a:p>
        </p:txBody>
      </p:sp>
      <p:sp>
        <p:nvSpPr>
          <p:cNvPr id="13" name="Problem icon 4 bg"/>
          <p:cNvSpPr/>
          <p:nvPr/>
        </p:nvSpPr>
        <p:spPr>
          <a:xfrm>
            <a:off x="457200" y="3749040"/>
            <a:ext cx="548640" cy="548640"/>
          </a:xfrm>
          <a:prstGeom prst="ellipse">
            <a:avLst/>
          </a:prstGeom>
          <a:solidFill>
            <a:srgbClr val="B85C38"/>
          </a:solidFill>
          <a:ln w="12700">
            <a:solidFill>
              <a:srgbClr val="B85C38"/>
            </a:solidFill>
            <a:prstDash val="solid"/>
          </a:ln>
        </p:spPr>
        <p:txBody>
          <a:bodyPr/>
          <a:p/>
        </p:txBody>
      </p:sp>
      <p:pic>
        <p:nvPicPr>
          <p:cNvPr id="14" name="Image 3" descr="FaMobileAlt">    </p:cNvPr>
          <p:cNvPicPr>
            <a:picLocks noChangeAspect="1"/>
          </p:cNvPicPr>
          <p:nvPr/>
        </p:nvPicPr>
        <p:blipFill>
          <a:blip r:embed="rId4"/>
          <a:stretch>
            <a:fillRect/>
          </a:stretch>
        </p:blipFill>
        <p:spPr>
          <a:xfrm>
            <a:off x="588874" y="3880714"/>
            <a:ext cx="285293" cy="285293"/>
          </a:xfrm>
          <a:prstGeom prst="rect">
            <a:avLst/>
          </a:prstGeom>
        </p:spPr>
      </p:pic>
      <p:sp>
        <p:nvSpPr>
          <p:cNvPr id="15" name="Text 9"/>
          <p:cNvSpPr txBox="1"/>
          <p:nvPr/>
        </p:nvSpPr>
        <p:spPr>
          <a:xfrm>
            <a:off x="1188720" y="367588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Hard to read on phones</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Deep menus, low contrast, fixed 2023 footer</a:t>
            </a:r>
            <a:endParaRPr lang="en-US" sz="1450" dirty="0"/>
          </a:p>
        </p:txBody>
      </p:sp>
      <p:sp>
        <p:nvSpPr>
          <p:cNvPr id="16" name="Justification"/>
          <p:cNvSpPr/>
          <p:nvPr/>
        </p:nvSpPr>
        <p:spPr>
          <a:xfrm>
            <a:off x="4663440" y="1143000"/>
            <a:ext cx="4023360" cy="3429000"/>
          </a:xfrm>
          <a:prstGeom prst="roundRect">
            <a:avLst>
              <a:gd name="adj" fmla="val 2133"/>
            </a:avLst>
          </a:prstGeom>
          <a:solidFill>
            <a:srgbClr val="0F4C3A"/>
          </a:solidFill>
          <a:ln w="12700">
            <a:solidFill>
              <a:srgbClr val="0F4C3A"/>
            </a:solidFill>
            <a:prstDash val="solid"/>
          </a:ln>
        </p:spPr>
        <p:txBody>
          <a:bodyPr/>
          <a:p/>
        </p:txBody>
      </p:sp>
      <p:sp>
        <p:nvSpPr>
          <p:cNvPr id="17" name="Text 11"/>
          <p:cNvSpPr txBox="1"/>
          <p:nvPr/>
        </p:nvSpPr>
        <p:spPr>
          <a:xfrm>
            <a:off x="4846320" y="1234440"/>
            <a:ext cx="3657600" cy="411480"/>
          </a:xfrm>
          <a:prstGeom prst="rect">
            <a:avLst/>
          </a:prstGeom>
          <a:noFill/>
          <a:ln/>
        </p:spPr>
        <p:txBody>
          <a:bodyPr wrap="square" lIns="0" tIns="0" rIns="0" bIns="0" rtlCol="0" anchor="ctr"/>
          <a:lstStyle/>
          <a:p>
            <a:pPr indent="0" marL="0">
              <a:buNone/>
            </a:pPr>
            <a:r>
              <a:rPr lang="en-US" sz="1800" b="1" dirty="0">
                <a:solidFill>
                  <a:srgbClr val="D4A017"/>
                </a:solidFill>
                <a:latin typeface="Cambria" pitchFamily="34" charset="0"/>
                <a:ea typeface="Cambria" pitchFamily="34" charset="-122"/>
                <a:cs typeface="Cambria" pitchFamily="34" charset="-120"/>
              </a:rPr>
              <a:t>Why it is justified</a:t>
            </a:r>
            <a:endParaRPr lang="en-US" sz="1800" dirty="0"/>
          </a:p>
        </p:txBody>
      </p:sp>
      <p:sp>
        <p:nvSpPr>
          <p:cNvPr id="18" name="Text 12"/>
          <p:cNvSpPr txBox="1"/>
          <p:nvPr/>
        </p:nvSpPr>
        <p:spPr>
          <a:xfrm>
            <a:off x="4846320" y="1691640"/>
            <a:ext cx="3657600" cy="27432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Registration and exam notices are time-sensitive</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Many offices must publish independently and safely</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Students mostly use phones</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Accountability: who changed what, and when</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One reusable system lowers maintenance work</a:t>
            </a:r>
            <a:endParaRPr lang="en-US" sz="13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3. Objectives of the Project</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3</a:t>
            </a:r>
            <a:endParaRPr lang="en-US" sz="1100" dirty="0"/>
          </a:p>
        </p:txBody>
      </p:sp>
      <p:sp>
        <p:nvSpPr>
          <p:cNvPr id="4" name="General objective"/>
          <p:cNvSpPr/>
          <p:nvPr/>
        </p:nvSpPr>
        <p:spPr>
          <a:xfrm>
            <a:off x="457200" y="1097280"/>
            <a:ext cx="8229600" cy="960120"/>
          </a:xfrm>
          <a:prstGeom prst="roundRect">
            <a:avLst>
              <a:gd name="adj" fmla="val 7619"/>
            </a:avLst>
          </a:prstGeom>
          <a:solidFill>
            <a:srgbClr val="0F4C3A"/>
          </a:solidFill>
          <a:ln w="12700">
            <a:solidFill>
              <a:srgbClr val="0F4C3A"/>
            </a:solidFill>
            <a:prstDash val="solid"/>
          </a:ln>
        </p:spPr>
        <p:txBody>
          <a:bodyPr/>
          <a:p/>
        </p:txBody>
      </p:sp>
      <p:sp>
        <p:nvSpPr>
          <p:cNvPr id="5" name="Text 3"/>
          <p:cNvSpPr txBox="1"/>
          <p:nvPr/>
        </p:nvSpPr>
        <p:spPr>
          <a:xfrm>
            <a:off x="685800" y="1143000"/>
            <a:ext cx="7772400" cy="868680"/>
          </a:xfrm>
          <a:prstGeom prst="rect">
            <a:avLst/>
          </a:prstGeom>
          <a:noFill/>
          <a:ln/>
        </p:spPr>
        <p:txBody>
          <a:bodyPr wrap="square" lIns="0" tIns="0" rIns="0" bIns="0" rtlCol="0" anchor="ctr"/>
          <a:lstStyle/>
          <a:p>
            <a:pPr indent="0" marL="0">
              <a:buNone/>
            </a:pPr>
            <a:r>
              <a:rPr lang="en-US" sz="1600" b="1" dirty="0">
                <a:solidFill>
                  <a:srgbClr val="D4A017"/>
                </a:solidFill>
                <a:latin typeface="Calibri" pitchFamily="34" charset="0"/>
                <a:ea typeface="Calibri" pitchFamily="34" charset="-122"/>
                <a:cs typeface="Calibri" pitchFamily="34" charset="-120"/>
              </a:rPr>
              <a:t>General objective  </a:t>
            </a:r>
            <a:pPr indent="0" marL="0">
              <a:buNone/>
            </a:pPr>
            <a:r>
              <a:rPr lang="en-US" sz="1600" dirty="0">
                <a:solidFill>
                  <a:srgbClr val="FFFFFF"/>
                </a:solidFill>
                <a:latin typeface="Calibri" pitchFamily="34" charset="0"/>
                <a:ea typeface="Calibri" pitchFamily="34" charset="-122"/>
                <a:cs typeface="Calibri" pitchFamily="34" charset="-120"/>
              </a:rPr>
              <a:t>Build a secure, responsive, database-driven website and CMS so that non-technical staff publish university information themselves.</a:t>
            </a:r>
            <a:endParaRPr lang="en-US" sz="1600" dirty="0"/>
          </a:p>
        </p:txBody>
      </p:sp>
      <p:sp>
        <p:nvSpPr>
          <p:cNvPr id="6" name="Objective card 1"/>
          <p:cNvSpPr/>
          <p:nvPr/>
        </p:nvSpPr>
        <p:spPr>
          <a:xfrm>
            <a:off x="457200" y="2331720"/>
            <a:ext cx="1938528" cy="2148840"/>
          </a:xfrm>
          <a:prstGeom prst="roundRect">
            <a:avLst>
              <a:gd name="adj" fmla="val 3774"/>
            </a:avLst>
          </a:prstGeom>
          <a:solidFill>
            <a:srgbClr val="EEF5F1"/>
          </a:solidFill>
          <a:ln w="12700">
            <a:solidFill>
              <a:srgbClr val="EEF5F1"/>
            </a:solidFill>
            <a:prstDash val="solid"/>
          </a:ln>
        </p:spPr>
        <p:txBody>
          <a:bodyPr/>
          <a:p/>
        </p:txBody>
      </p:sp>
      <p:sp>
        <p:nvSpPr>
          <p:cNvPr id="7" name="Objective icon 1 bg"/>
          <p:cNvSpPr/>
          <p:nvPr/>
        </p:nvSpPr>
        <p:spPr>
          <a:xfrm>
            <a:off x="621792" y="2487168"/>
            <a:ext cx="566928" cy="566928"/>
          </a:xfrm>
          <a:prstGeom prst="ellipse">
            <a:avLst/>
          </a:prstGeom>
          <a:solidFill>
            <a:srgbClr val="287A5D"/>
          </a:solidFill>
          <a:ln w="12700">
            <a:solidFill>
              <a:srgbClr val="287A5D"/>
            </a:solidFill>
            <a:prstDash val="solid"/>
          </a:ln>
        </p:spPr>
        <p:txBody>
          <a:bodyPr/>
          <a:p/>
        </p:txBody>
      </p:sp>
      <p:pic>
        <p:nvPicPr>
          <p:cNvPr id="8" name="Image 0" descr="FaGlobe">    </p:cNvPr>
          <p:cNvPicPr>
            <a:picLocks noChangeAspect="1"/>
          </p:cNvPicPr>
          <p:nvPr/>
        </p:nvPicPr>
        <p:blipFill>
          <a:blip r:embed="rId1"/>
          <a:stretch>
            <a:fillRect/>
          </a:stretch>
        </p:blipFill>
        <p:spPr>
          <a:xfrm>
            <a:off x="757855" y="2623231"/>
            <a:ext cx="294803" cy="294803"/>
          </a:xfrm>
          <a:prstGeom prst="rect">
            <a:avLst/>
          </a:prstGeom>
        </p:spPr>
      </p:pic>
      <p:sp>
        <p:nvSpPr>
          <p:cNvPr id="9" name="Text 6"/>
          <p:cNvSpPr txBox="1"/>
          <p:nvPr/>
        </p:nvSpPr>
        <p:spPr>
          <a:xfrm>
            <a:off x="621792"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Dynamic website</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Slug-based pages for news, events, programs, research, leadership</a:t>
            </a:r>
            <a:endParaRPr lang="en-US" sz="1500" dirty="0"/>
          </a:p>
        </p:txBody>
      </p:sp>
      <p:sp>
        <p:nvSpPr>
          <p:cNvPr id="10" name="Objective card 2"/>
          <p:cNvSpPr/>
          <p:nvPr/>
        </p:nvSpPr>
        <p:spPr>
          <a:xfrm>
            <a:off x="2542032" y="2331720"/>
            <a:ext cx="1938528" cy="2148840"/>
          </a:xfrm>
          <a:prstGeom prst="roundRect">
            <a:avLst>
              <a:gd name="adj" fmla="val 3774"/>
            </a:avLst>
          </a:prstGeom>
          <a:solidFill>
            <a:srgbClr val="EEF5F1"/>
          </a:solidFill>
          <a:ln w="12700">
            <a:solidFill>
              <a:srgbClr val="EEF5F1"/>
            </a:solidFill>
            <a:prstDash val="solid"/>
          </a:ln>
        </p:spPr>
        <p:txBody>
          <a:bodyPr/>
          <a:p/>
        </p:txBody>
      </p:sp>
      <p:sp>
        <p:nvSpPr>
          <p:cNvPr id="11" name="Objective icon 2 bg"/>
          <p:cNvSpPr/>
          <p:nvPr/>
        </p:nvSpPr>
        <p:spPr>
          <a:xfrm>
            <a:off x="2706624" y="2487168"/>
            <a:ext cx="566928" cy="566928"/>
          </a:xfrm>
          <a:prstGeom prst="ellipse">
            <a:avLst/>
          </a:prstGeom>
          <a:solidFill>
            <a:srgbClr val="287A5D"/>
          </a:solidFill>
          <a:ln w="12700">
            <a:solidFill>
              <a:srgbClr val="287A5D"/>
            </a:solidFill>
            <a:prstDash val="solid"/>
          </a:ln>
        </p:spPr>
        <p:txBody>
          <a:bodyPr/>
          <a:p/>
        </p:txBody>
      </p:sp>
      <p:pic>
        <p:nvPicPr>
          <p:cNvPr id="12" name="Image 1" descr="FaLock">    </p:cNvPr>
          <p:cNvPicPr>
            <a:picLocks noChangeAspect="1"/>
          </p:cNvPicPr>
          <p:nvPr/>
        </p:nvPicPr>
        <p:blipFill>
          <a:blip r:embed="rId2"/>
          <a:stretch>
            <a:fillRect/>
          </a:stretch>
        </p:blipFill>
        <p:spPr>
          <a:xfrm>
            <a:off x="2842687" y="2623231"/>
            <a:ext cx="294803" cy="294803"/>
          </a:xfrm>
          <a:prstGeom prst="rect">
            <a:avLst/>
          </a:prstGeom>
        </p:spPr>
      </p:pic>
      <p:sp>
        <p:nvSpPr>
          <p:cNvPr id="13" name="Text 9"/>
          <p:cNvSpPr txBox="1"/>
          <p:nvPr/>
        </p:nvSpPr>
        <p:spPr>
          <a:xfrm>
            <a:off x="2706624"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Secure Admin CMS</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Login, Row Level Security, role-based System menu</a:t>
            </a:r>
            <a:endParaRPr lang="en-US" sz="1500" dirty="0"/>
          </a:p>
        </p:txBody>
      </p:sp>
      <p:sp>
        <p:nvSpPr>
          <p:cNvPr id="14" name="Objective card 3"/>
          <p:cNvSpPr/>
          <p:nvPr/>
        </p:nvSpPr>
        <p:spPr>
          <a:xfrm>
            <a:off x="4626864" y="2331720"/>
            <a:ext cx="1938528" cy="2148840"/>
          </a:xfrm>
          <a:prstGeom prst="roundRect">
            <a:avLst>
              <a:gd name="adj" fmla="val 3774"/>
            </a:avLst>
          </a:prstGeom>
          <a:solidFill>
            <a:srgbClr val="EEF5F1"/>
          </a:solidFill>
          <a:ln w="12700">
            <a:solidFill>
              <a:srgbClr val="EEF5F1"/>
            </a:solidFill>
            <a:prstDash val="solid"/>
          </a:ln>
        </p:spPr>
        <p:txBody>
          <a:bodyPr/>
          <a:p/>
        </p:txBody>
      </p:sp>
      <p:sp>
        <p:nvSpPr>
          <p:cNvPr id="15" name="Objective icon 3 bg"/>
          <p:cNvSpPr/>
          <p:nvPr/>
        </p:nvSpPr>
        <p:spPr>
          <a:xfrm>
            <a:off x="4791456" y="2487168"/>
            <a:ext cx="566928" cy="566928"/>
          </a:xfrm>
          <a:prstGeom prst="ellipse">
            <a:avLst/>
          </a:prstGeom>
          <a:solidFill>
            <a:srgbClr val="287A5D"/>
          </a:solidFill>
          <a:ln w="12700">
            <a:solidFill>
              <a:srgbClr val="287A5D"/>
            </a:solidFill>
            <a:prstDash val="solid"/>
          </a:ln>
        </p:spPr>
        <p:txBody>
          <a:bodyPr/>
          <a:p/>
        </p:txBody>
      </p:sp>
      <p:pic>
        <p:nvPicPr>
          <p:cNvPr id="16" name="Image 2" descr="FaImages">    </p:cNvPr>
          <p:cNvPicPr>
            <a:picLocks noChangeAspect="1"/>
          </p:cNvPicPr>
          <p:nvPr/>
        </p:nvPicPr>
        <p:blipFill>
          <a:blip r:embed="rId3"/>
          <a:stretch>
            <a:fillRect/>
          </a:stretch>
        </p:blipFill>
        <p:spPr>
          <a:xfrm>
            <a:off x="4927519" y="2623231"/>
            <a:ext cx="294803" cy="294803"/>
          </a:xfrm>
          <a:prstGeom prst="rect">
            <a:avLst/>
          </a:prstGeom>
        </p:spPr>
      </p:pic>
      <p:sp>
        <p:nvSpPr>
          <p:cNvPr id="17" name="Text 12"/>
          <p:cNvSpPr txBox="1"/>
          <p:nvPr/>
        </p:nvSpPr>
        <p:spPr>
          <a:xfrm>
            <a:off x="4791456"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Media library</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Upload once, reuse everywhere; type and 10 MB checks</a:t>
            </a:r>
            <a:endParaRPr lang="en-US" sz="1500" dirty="0"/>
          </a:p>
        </p:txBody>
      </p:sp>
      <p:sp>
        <p:nvSpPr>
          <p:cNvPr id="18" name="Objective card 4"/>
          <p:cNvSpPr/>
          <p:nvPr/>
        </p:nvSpPr>
        <p:spPr>
          <a:xfrm>
            <a:off x="6711696" y="2331720"/>
            <a:ext cx="1938528" cy="2148840"/>
          </a:xfrm>
          <a:prstGeom prst="roundRect">
            <a:avLst>
              <a:gd name="adj" fmla="val 3774"/>
            </a:avLst>
          </a:prstGeom>
          <a:solidFill>
            <a:srgbClr val="EEF5F1"/>
          </a:solidFill>
          <a:ln w="12700">
            <a:solidFill>
              <a:srgbClr val="EEF5F1"/>
            </a:solidFill>
            <a:prstDash val="solid"/>
          </a:ln>
        </p:spPr>
        <p:txBody>
          <a:bodyPr/>
          <a:p/>
        </p:txBody>
      </p:sp>
      <p:sp>
        <p:nvSpPr>
          <p:cNvPr id="19" name="Objective icon 4 bg"/>
          <p:cNvSpPr/>
          <p:nvPr/>
        </p:nvSpPr>
        <p:spPr>
          <a:xfrm>
            <a:off x="6876288" y="2487168"/>
            <a:ext cx="566928" cy="566928"/>
          </a:xfrm>
          <a:prstGeom prst="ellipse">
            <a:avLst/>
          </a:prstGeom>
          <a:solidFill>
            <a:srgbClr val="287A5D"/>
          </a:solidFill>
          <a:ln w="12700">
            <a:solidFill>
              <a:srgbClr val="287A5D"/>
            </a:solidFill>
            <a:prstDash val="solid"/>
          </a:ln>
        </p:spPr>
        <p:txBody>
          <a:bodyPr/>
          <a:p/>
        </p:txBody>
      </p:sp>
      <p:pic>
        <p:nvPicPr>
          <p:cNvPr id="20" name="Image 3" descr="FaClipboardList">    </p:cNvPr>
          <p:cNvPicPr>
            <a:picLocks noChangeAspect="1"/>
          </p:cNvPicPr>
          <p:nvPr/>
        </p:nvPicPr>
        <p:blipFill>
          <a:blip r:embed="rId4"/>
          <a:stretch>
            <a:fillRect/>
          </a:stretch>
        </p:blipFill>
        <p:spPr>
          <a:xfrm>
            <a:off x="7012351" y="2623231"/>
            <a:ext cx="294803" cy="294803"/>
          </a:xfrm>
          <a:prstGeom prst="rect">
            <a:avLst/>
          </a:prstGeom>
        </p:spPr>
      </p:pic>
      <p:sp>
        <p:nvSpPr>
          <p:cNvPr id="21" name="Text 15"/>
          <p:cNvSpPr txBox="1"/>
          <p:nvPr/>
        </p:nvSpPr>
        <p:spPr>
          <a:xfrm>
            <a:off x="6876288"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Audit log</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Every create, update, delete and upload is recorded</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4. Literature Review</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4</a:t>
            </a:r>
            <a:endParaRPr lang="en-US" sz="1100" dirty="0"/>
          </a:p>
        </p:txBody>
      </p:sp>
      <p:sp>
        <p:nvSpPr>
          <p:cNvPr id="4" name="Text 2"/>
          <p:cNvSpPr txBox="1"/>
          <p:nvPr/>
        </p:nvSpPr>
        <p:spPr>
          <a:xfrm>
            <a:off x="530352" y="1097280"/>
            <a:ext cx="224028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Approach</a:t>
            </a:r>
            <a:endParaRPr lang="en-US" sz="1200" dirty="0"/>
          </a:p>
        </p:txBody>
      </p:sp>
      <p:sp>
        <p:nvSpPr>
          <p:cNvPr id="5" name="Text 3"/>
          <p:cNvSpPr txBox="1"/>
          <p:nvPr/>
        </p:nvSpPr>
        <p:spPr>
          <a:xfrm>
            <a:off x="2816352" y="1097280"/>
            <a:ext cx="224028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Strength</a:t>
            </a:r>
            <a:endParaRPr lang="en-US" sz="1200" dirty="0"/>
          </a:p>
        </p:txBody>
      </p:sp>
      <p:sp>
        <p:nvSpPr>
          <p:cNvPr id="6" name="Text 4"/>
          <p:cNvSpPr txBox="1"/>
          <p:nvPr/>
        </p:nvSpPr>
        <p:spPr>
          <a:xfrm>
            <a:off x="5102352" y="1097280"/>
            <a:ext cx="233172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Limitation</a:t>
            </a:r>
            <a:endParaRPr lang="en-US" sz="1200" dirty="0"/>
          </a:p>
        </p:txBody>
      </p:sp>
      <p:sp>
        <p:nvSpPr>
          <p:cNvPr id="7" name="Text 5"/>
          <p:cNvSpPr txBox="1"/>
          <p:nvPr/>
        </p:nvSpPr>
        <p:spPr>
          <a:xfrm>
            <a:off x="7479792" y="1097280"/>
            <a:ext cx="128016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Decision</a:t>
            </a:r>
            <a:endParaRPr lang="en-US" sz="1200" dirty="0"/>
          </a:p>
        </p:txBody>
      </p:sp>
      <p:sp>
        <p:nvSpPr>
          <p:cNvPr id="8" name="Approach row 1"/>
          <p:cNvSpPr/>
          <p:nvPr/>
        </p:nvSpPr>
        <p:spPr>
          <a:xfrm>
            <a:off x="457200" y="1444752"/>
            <a:ext cx="8229600" cy="658368"/>
          </a:xfrm>
          <a:prstGeom prst="roundRect">
            <a:avLst>
              <a:gd name="adj" fmla="val 11111"/>
            </a:avLst>
          </a:prstGeom>
          <a:solidFill>
            <a:srgbClr val="EEF5F1"/>
          </a:solidFill>
          <a:ln w="12700">
            <a:solidFill>
              <a:srgbClr val="EEF5F1"/>
            </a:solidFill>
            <a:prstDash val="solid"/>
          </a:ln>
        </p:spPr>
        <p:txBody>
          <a:bodyPr/>
          <a:p/>
        </p:txBody>
      </p:sp>
      <p:sp>
        <p:nvSpPr>
          <p:cNvPr id="9" name="Text 7"/>
          <p:cNvSpPr txBox="1"/>
          <p:nvPr/>
        </p:nvSpPr>
        <p:spPr>
          <a:xfrm>
            <a:off x="530352" y="1444752"/>
            <a:ext cx="2148840" cy="658368"/>
          </a:xfrm>
          <a:prstGeom prst="rect">
            <a:avLst/>
          </a:prstGeom>
          <a:noFill/>
          <a:ln/>
        </p:spPr>
        <p:txBody>
          <a:bodyPr wrap="square" lIns="0" tIns="0" rIns="0" bIns="0" rtlCol="0" anchor="ctr"/>
          <a:lstStyle/>
          <a:p>
            <a:pPr indent="0" marL="0">
              <a:buNone/>
            </a:pPr>
            <a:r>
              <a:rPr lang="en-US" sz="1200" b="1" dirty="0">
                <a:solidFill>
                  <a:srgbClr val="17251F"/>
                </a:solidFill>
                <a:latin typeface="Calibri" pitchFamily="34" charset="0"/>
                <a:ea typeface="Calibri" pitchFamily="34" charset="-122"/>
                <a:cs typeface="Calibri" pitchFamily="34" charset="-120"/>
              </a:rPr>
              <a:t>Traditional CMS (e.g. WordPress, Drupal)</a:t>
            </a:r>
            <a:endParaRPr lang="en-US" sz="1200" dirty="0"/>
          </a:p>
        </p:txBody>
      </p:sp>
      <p:sp>
        <p:nvSpPr>
          <p:cNvPr id="10" name="Text 8"/>
          <p:cNvSpPr txBox="1"/>
          <p:nvPr/>
        </p:nvSpPr>
        <p:spPr>
          <a:xfrm>
            <a:off x="2816352" y="1444752"/>
            <a:ext cx="214884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Mature; themes and plugins; fast to start</a:t>
            </a:r>
            <a:endParaRPr lang="en-US" sz="1150" dirty="0"/>
          </a:p>
        </p:txBody>
      </p:sp>
      <p:sp>
        <p:nvSpPr>
          <p:cNvPr id="11" name="Text 9"/>
          <p:cNvSpPr txBox="1"/>
          <p:nvPr/>
        </p:nvSpPr>
        <p:spPr>
          <a:xfrm>
            <a:off x="5102352" y="1444752"/>
            <a:ext cx="224028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Plugin upkeep and security; generic content model</a:t>
            </a:r>
            <a:endParaRPr lang="en-US" sz="1150" dirty="0"/>
          </a:p>
        </p:txBody>
      </p:sp>
      <p:sp>
        <p:nvSpPr>
          <p:cNvPr id="12" name="Text 10"/>
          <p:cNvSpPr txBox="1"/>
          <p:nvPr/>
        </p:nvSpPr>
        <p:spPr>
          <a:xfrm>
            <a:off x="7479792" y="1444752"/>
            <a:ext cx="1188720" cy="658368"/>
          </a:xfrm>
          <a:prstGeom prst="rect">
            <a:avLst/>
          </a:prstGeom>
          <a:noFill/>
          <a:ln/>
        </p:spPr>
        <p:txBody>
          <a:bodyPr wrap="square" lIns="0" tIns="0" rIns="0" bIns="0" rtlCol="0" anchor="ctr"/>
          <a:lstStyle/>
          <a:p>
            <a:pPr indent="0" marL="0">
              <a:buNone/>
            </a:pPr>
            <a:r>
              <a:rPr lang="en-US" sz="1150" b="1" dirty="0">
                <a:solidFill>
                  <a:srgbClr val="17251F"/>
                </a:solidFill>
                <a:latin typeface="Calibri" pitchFamily="34" charset="0"/>
                <a:ea typeface="Calibri" pitchFamily="34" charset="-122"/>
                <a:cs typeface="Calibri" pitchFamily="34" charset="-120"/>
              </a:rPr>
              <a:t>Not chosen</a:t>
            </a:r>
            <a:endParaRPr lang="en-US" sz="1150" dirty="0"/>
          </a:p>
        </p:txBody>
      </p:sp>
      <p:sp>
        <p:nvSpPr>
          <p:cNvPr id="13" name="Approach row 2"/>
          <p:cNvSpPr/>
          <p:nvPr/>
        </p:nvSpPr>
        <p:spPr>
          <a:xfrm>
            <a:off x="457200" y="2194560"/>
            <a:ext cx="8229600" cy="658368"/>
          </a:xfrm>
          <a:prstGeom prst="roundRect">
            <a:avLst>
              <a:gd name="adj" fmla="val 11111"/>
            </a:avLst>
          </a:prstGeom>
          <a:solidFill>
            <a:srgbClr val="EEF5F1"/>
          </a:solidFill>
          <a:ln w="12700">
            <a:solidFill>
              <a:srgbClr val="EEF5F1"/>
            </a:solidFill>
            <a:prstDash val="solid"/>
          </a:ln>
        </p:spPr>
        <p:txBody>
          <a:bodyPr/>
          <a:p/>
        </p:txBody>
      </p:sp>
      <p:sp>
        <p:nvSpPr>
          <p:cNvPr id="14" name="Text 12"/>
          <p:cNvSpPr txBox="1"/>
          <p:nvPr/>
        </p:nvSpPr>
        <p:spPr>
          <a:xfrm>
            <a:off x="530352" y="2194560"/>
            <a:ext cx="2148840" cy="658368"/>
          </a:xfrm>
          <a:prstGeom prst="rect">
            <a:avLst/>
          </a:prstGeom>
          <a:noFill/>
          <a:ln/>
        </p:spPr>
        <p:txBody>
          <a:bodyPr wrap="square" lIns="0" tIns="0" rIns="0" bIns="0" rtlCol="0" anchor="ctr"/>
          <a:lstStyle/>
          <a:p>
            <a:pPr indent="0" marL="0">
              <a:buNone/>
            </a:pPr>
            <a:r>
              <a:rPr lang="en-US" sz="1200" b="1" dirty="0">
                <a:solidFill>
                  <a:srgbClr val="17251F"/>
                </a:solidFill>
                <a:latin typeface="Calibri" pitchFamily="34" charset="0"/>
                <a:ea typeface="Calibri" pitchFamily="34" charset="-122"/>
                <a:cs typeface="Calibri" pitchFamily="34" charset="-120"/>
              </a:rPr>
              <a:t>Headless CMS (e.g. Strapi, Contentful)</a:t>
            </a:r>
            <a:endParaRPr lang="en-US" sz="1200" dirty="0"/>
          </a:p>
        </p:txBody>
      </p:sp>
      <p:sp>
        <p:nvSpPr>
          <p:cNvPr id="15" name="Text 13"/>
          <p:cNvSpPr txBox="1"/>
          <p:nvPr/>
        </p:nvSpPr>
        <p:spPr>
          <a:xfrm>
            <a:off x="2816352" y="2194560"/>
            <a:ext cx="214884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API-first, structured content</a:t>
            </a:r>
            <a:endParaRPr lang="en-US" sz="1150" dirty="0"/>
          </a:p>
        </p:txBody>
      </p:sp>
      <p:sp>
        <p:nvSpPr>
          <p:cNvPr id="16" name="Text 14"/>
          <p:cNvSpPr txBox="1"/>
          <p:nvPr/>
        </p:nvSpPr>
        <p:spPr>
          <a:xfrm>
            <a:off x="5102352" y="2194560"/>
            <a:ext cx="224028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Extra service to host; the website is still to be built</a:t>
            </a:r>
            <a:endParaRPr lang="en-US" sz="1150" dirty="0"/>
          </a:p>
        </p:txBody>
      </p:sp>
      <p:sp>
        <p:nvSpPr>
          <p:cNvPr id="17" name="Text 15"/>
          <p:cNvSpPr txBox="1"/>
          <p:nvPr/>
        </p:nvSpPr>
        <p:spPr>
          <a:xfrm>
            <a:off x="7479792" y="2194560"/>
            <a:ext cx="1188720" cy="658368"/>
          </a:xfrm>
          <a:prstGeom prst="rect">
            <a:avLst/>
          </a:prstGeom>
          <a:noFill/>
          <a:ln/>
        </p:spPr>
        <p:txBody>
          <a:bodyPr wrap="square" lIns="0" tIns="0" rIns="0" bIns="0" rtlCol="0" anchor="ctr"/>
          <a:lstStyle/>
          <a:p>
            <a:pPr indent="0" marL="0">
              <a:buNone/>
            </a:pPr>
            <a:r>
              <a:rPr lang="en-US" sz="1150" b="1" dirty="0">
                <a:solidFill>
                  <a:srgbClr val="17251F"/>
                </a:solidFill>
                <a:latin typeface="Calibri" pitchFamily="34" charset="0"/>
                <a:ea typeface="Calibri" pitchFamily="34" charset="-122"/>
                <a:cs typeface="Calibri" pitchFamily="34" charset="-120"/>
              </a:rPr>
              <a:t>Not chosen</a:t>
            </a:r>
            <a:endParaRPr lang="en-US" sz="1150" dirty="0"/>
          </a:p>
        </p:txBody>
      </p:sp>
      <p:sp>
        <p:nvSpPr>
          <p:cNvPr id="18" name="Approach row 3"/>
          <p:cNvSpPr/>
          <p:nvPr/>
        </p:nvSpPr>
        <p:spPr>
          <a:xfrm>
            <a:off x="457200" y="2944368"/>
            <a:ext cx="8229600" cy="658368"/>
          </a:xfrm>
          <a:prstGeom prst="roundRect">
            <a:avLst>
              <a:gd name="adj" fmla="val 11111"/>
            </a:avLst>
          </a:prstGeom>
          <a:solidFill>
            <a:srgbClr val="0F4C3A"/>
          </a:solidFill>
          <a:ln w="12700">
            <a:solidFill>
              <a:srgbClr val="0F4C3A"/>
            </a:solidFill>
            <a:prstDash val="solid"/>
          </a:ln>
        </p:spPr>
        <p:txBody>
          <a:bodyPr/>
          <a:p/>
        </p:txBody>
      </p:sp>
      <p:sp>
        <p:nvSpPr>
          <p:cNvPr id="19" name="Text 17"/>
          <p:cNvSpPr txBox="1"/>
          <p:nvPr/>
        </p:nvSpPr>
        <p:spPr>
          <a:xfrm>
            <a:off x="530352" y="2944368"/>
            <a:ext cx="214884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Custom app on Supabase (this project)</a:t>
            </a:r>
            <a:endParaRPr lang="en-US" sz="1200" dirty="0"/>
          </a:p>
        </p:txBody>
      </p:sp>
      <p:sp>
        <p:nvSpPr>
          <p:cNvPr id="20" name="Text 18"/>
          <p:cNvSpPr txBox="1"/>
          <p:nvPr/>
        </p:nvSpPr>
        <p:spPr>
          <a:xfrm>
            <a:off x="2816352" y="2944368"/>
            <a:ext cx="214884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Typed code, database-level security, one codebase</a:t>
            </a:r>
            <a:endParaRPr lang="en-US" sz="1150" dirty="0"/>
          </a:p>
        </p:txBody>
      </p:sp>
      <p:sp>
        <p:nvSpPr>
          <p:cNvPr id="21" name="Text 19"/>
          <p:cNvSpPr txBox="1"/>
          <p:nvPr/>
        </p:nvSpPr>
        <p:spPr>
          <a:xfrm>
            <a:off x="5102352" y="2944368"/>
            <a:ext cx="224028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More development effort</a:t>
            </a:r>
            <a:endParaRPr lang="en-US" sz="1150" dirty="0"/>
          </a:p>
        </p:txBody>
      </p:sp>
      <p:sp>
        <p:nvSpPr>
          <p:cNvPr id="22" name="Text 20"/>
          <p:cNvSpPr txBox="1"/>
          <p:nvPr/>
        </p:nvSpPr>
        <p:spPr>
          <a:xfrm>
            <a:off x="7479792" y="2944368"/>
            <a:ext cx="1188720" cy="658368"/>
          </a:xfrm>
          <a:prstGeom prst="rect">
            <a:avLst/>
          </a:prstGeom>
          <a:noFill/>
          <a:ln/>
        </p:spPr>
        <p:txBody>
          <a:bodyPr wrap="square" lIns="0" tIns="0" rIns="0" bIns="0" rtlCol="0" anchor="ctr"/>
          <a:lstStyle/>
          <a:p>
            <a:pPr indent="0" marL="0">
              <a:buNone/>
            </a:pPr>
            <a:r>
              <a:rPr lang="en-US" sz="1150" b="1" dirty="0">
                <a:solidFill>
                  <a:srgbClr val="D4A017"/>
                </a:solidFill>
                <a:latin typeface="Calibri" pitchFamily="34" charset="0"/>
                <a:ea typeface="Calibri" pitchFamily="34" charset="-122"/>
                <a:cs typeface="Calibri" pitchFamily="34" charset="-120"/>
              </a:rPr>
              <a:t>Chosen</a:t>
            </a:r>
            <a:endParaRPr lang="en-US" sz="1150" dirty="0"/>
          </a:p>
        </p:txBody>
      </p:sp>
      <p:sp>
        <p:nvSpPr>
          <p:cNvPr id="23" name="Idea card 1"/>
          <p:cNvSpPr/>
          <p:nvPr/>
        </p:nvSpPr>
        <p:spPr>
          <a:xfrm>
            <a:off x="457200" y="3794760"/>
            <a:ext cx="1938528" cy="914400"/>
          </a:xfrm>
          <a:prstGeom prst="roundRect">
            <a:avLst>
              <a:gd name="adj" fmla="val 8000"/>
            </a:avLst>
          </a:prstGeom>
          <a:solidFill>
            <a:srgbClr val="EEF5F1"/>
          </a:solidFill>
          <a:ln w="12700">
            <a:solidFill>
              <a:srgbClr val="EEF5F1"/>
            </a:solidFill>
            <a:prstDash val="solid"/>
          </a:ln>
        </p:spPr>
        <p:txBody>
          <a:bodyPr/>
          <a:p/>
        </p:txBody>
      </p:sp>
      <p:sp>
        <p:nvSpPr>
          <p:cNvPr id="24" name="Idea accent 1"/>
          <p:cNvSpPr/>
          <p:nvPr/>
        </p:nvSpPr>
        <p:spPr>
          <a:xfrm>
            <a:off x="457200" y="3794760"/>
            <a:ext cx="54864" cy="914400"/>
          </a:xfrm>
          <a:prstGeom prst="rect">
            <a:avLst/>
          </a:prstGeom>
          <a:solidFill>
            <a:srgbClr val="D4A017"/>
          </a:solidFill>
          <a:ln w="12700">
            <a:solidFill>
              <a:srgbClr val="D4A017"/>
            </a:solidFill>
            <a:prstDash val="solid"/>
          </a:ln>
        </p:spPr>
        <p:txBody>
          <a:bodyPr/>
          <a:p/>
        </p:txBody>
      </p:sp>
      <p:sp>
        <p:nvSpPr>
          <p:cNvPr id="25" name="Text 23"/>
          <p:cNvSpPr txBox="1"/>
          <p:nvPr/>
        </p:nvSpPr>
        <p:spPr>
          <a:xfrm>
            <a:off x="594360"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Role-Based Access Control</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Permissions belong to roles (Sandhu et al., 1996)</a:t>
            </a:r>
            <a:endParaRPr lang="en-US" sz="1150" dirty="0"/>
          </a:p>
        </p:txBody>
      </p:sp>
      <p:sp>
        <p:nvSpPr>
          <p:cNvPr id="26" name="Idea card 2"/>
          <p:cNvSpPr/>
          <p:nvPr/>
        </p:nvSpPr>
        <p:spPr>
          <a:xfrm>
            <a:off x="2542032" y="3794760"/>
            <a:ext cx="1938528" cy="914400"/>
          </a:xfrm>
          <a:prstGeom prst="roundRect">
            <a:avLst>
              <a:gd name="adj" fmla="val 8000"/>
            </a:avLst>
          </a:prstGeom>
          <a:solidFill>
            <a:srgbClr val="EEF5F1"/>
          </a:solidFill>
          <a:ln w="12700">
            <a:solidFill>
              <a:srgbClr val="EEF5F1"/>
            </a:solidFill>
            <a:prstDash val="solid"/>
          </a:ln>
        </p:spPr>
        <p:txBody>
          <a:bodyPr/>
          <a:p/>
        </p:txBody>
      </p:sp>
      <p:sp>
        <p:nvSpPr>
          <p:cNvPr id="27" name="Idea accent 2"/>
          <p:cNvSpPr/>
          <p:nvPr/>
        </p:nvSpPr>
        <p:spPr>
          <a:xfrm>
            <a:off x="2542032" y="3794760"/>
            <a:ext cx="54864" cy="914400"/>
          </a:xfrm>
          <a:prstGeom prst="rect">
            <a:avLst/>
          </a:prstGeom>
          <a:solidFill>
            <a:srgbClr val="D4A017"/>
          </a:solidFill>
          <a:ln w="12700">
            <a:solidFill>
              <a:srgbClr val="D4A017"/>
            </a:solidFill>
            <a:prstDash val="solid"/>
          </a:ln>
        </p:spPr>
        <p:txBody>
          <a:bodyPr/>
          <a:p/>
        </p:txBody>
      </p:sp>
      <p:sp>
        <p:nvSpPr>
          <p:cNvPr id="28" name="Text 26"/>
          <p:cNvSpPr txBox="1"/>
          <p:nvPr/>
        </p:nvSpPr>
        <p:spPr>
          <a:xfrm>
            <a:off x="2679192"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PostgreSQL Row Level Security</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The database applies per-row policies</a:t>
            </a:r>
            <a:endParaRPr lang="en-US" sz="1150" dirty="0"/>
          </a:p>
        </p:txBody>
      </p:sp>
      <p:sp>
        <p:nvSpPr>
          <p:cNvPr id="29" name="Idea card 3"/>
          <p:cNvSpPr/>
          <p:nvPr/>
        </p:nvSpPr>
        <p:spPr>
          <a:xfrm>
            <a:off x="4626864" y="3794760"/>
            <a:ext cx="1938528" cy="914400"/>
          </a:xfrm>
          <a:prstGeom prst="roundRect">
            <a:avLst>
              <a:gd name="adj" fmla="val 8000"/>
            </a:avLst>
          </a:prstGeom>
          <a:solidFill>
            <a:srgbClr val="EEF5F1"/>
          </a:solidFill>
          <a:ln w="12700">
            <a:solidFill>
              <a:srgbClr val="EEF5F1"/>
            </a:solidFill>
            <a:prstDash val="solid"/>
          </a:ln>
        </p:spPr>
        <p:txBody>
          <a:bodyPr/>
          <a:p/>
        </p:txBody>
      </p:sp>
      <p:sp>
        <p:nvSpPr>
          <p:cNvPr id="30" name="Idea accent 3"/>
          <p:cNvSpPr/>
          <p:nvPr/>
        </p:nvSpPr>
        <p:spPr>
          <a:xfrm>
            <a:off x="4626864" y="3794760"/>
            <a:ext cx="54864" cy="914400"/>
          </a:xfrm>
          <a:prstGeom prst="rect">
            <a:avLst/>
          </a:prstGeom>
          <a:solidFill>
            <a:srgbClr val="D4A017"/>
          </a:solidFill>
          <a:ln w="12700">
            <a:solidFill>
              <a:srgbClr val="D4A017"/>
            </a:solidFill>
            <a:prstDash val="solid"/>
          </a:ln>
        </p:spPr>
        <p:txBody>
          <a:bodyPr/>
          <a:p/>
        </p:txBody>
      </p:sp>
      <p:sp>
        <p:nvSpPr>
          <p:cNvPr id="31" name="Text 29"/>
          <p:cNvSpPr txBox="1"/>
          <p:nvPr/>
        </p:nvSpPr>
        <p:spPr>
          <a:xfrm>
            <a:off x="4764024"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OWASP Top 10</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Broken access control is a top web risk</a:t>
            </a:r>
            <a:endParaRPr lang="en-US" sz="1150" dirty="0"/>
          </a:p>
        </p:txBody>
      </p:sp>
      <p:sp>
        <p:nvSpPr>
          <p:cNvPr id="32" name="Idea card 4"/>
          <p:cNvSpPr/>
          <p:nvPr/>
        </p:nvSpPr>
        <p:spPr>
          <a:xfrm>
            <a:off x="6711696" y="3794760"/>
            <a:ext cx="1938528" cy="914400"/>
          </a:xfrm>
          <a:prstGeom prst="roundRect">
            <a:avLst>
              <a:gd name="adj" fmla="val 8000"/>
            </a:avLst>
          </a:prstGeom>
          <a:solidFill>
            <a:srgbClr val="EEF5F1"/>
          </a:solidFill>
          <a:ln w="12700">
            <a:solidFill>
              <a:srgbClr val="EEF5F1"/>
            </a:solidFill>
            <a:prstDash val="solid"/>
          </a:ln>
        </p:spPr>
        <p:txBody>
          <a:bodyPr/>
          <a:p/>
        </p:txBody>
      </p:sp>
      <p:sp>
        <p:nvSpPr>
          <p:cNvPr id="33" name="Idea accent 4"/>
          <p:cNvSpPr/>
          <p:nvPr/>
        </p:nvSpPr>
        <p:spPr>
          <a:xfrm>
            <a:off x="6711696" y="3794760"/>
            <a:ext cx="54864" cy="914400"/>
          </a:xfrm>
          <a:prstGeom prst="rect">
            <a:avLst/>
          </a:prstGeom>
          <a:solidFill>
            <a:srgbClr val="D4A017"/>
          </a:solidFill>
          <a:ln w="12700">
            <a:solidFill>
              <a:srgbClr val="D4A017"/>
            </a:solidFill>
            <a:prstDash val="solid"/>
          </a:ln>
        </p:spPr>
        <p:txBody>
          <a:bodyPr/>
          <a:p/>
        </p:txBody>
      </p:sp>
      <p:sp>
        <p:nvSpPr>
          <p:cNvPr id="34" name="Text 32"/>
          <p:cNvSpPr txBox="1"/>
          <p:nvPr/>
        </p:nvSpPr>
        <p:spPr>
          <a:xfrm>
            <a:off x="6848856"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Scrum Guide (2020)</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Short sprints with reviews</a:t>
            </a:r>
            <a:endParaRPr lang="en-US" sz="11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5. Functional Requirements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5</a:t>
            </a:r>
            <a:endParaRPr lang="en-US" sz="1100" dirty="0"/>
          </a:p>
        </p:txBody>
      </p:sp>
      <p:sp>
        <p:nvSpPr>
          <p:cNvPr id="4" name="FR card 1"/>
          <p:cNvSpPr/>
          <p:nvPr/>
        </p:nvSpPr>
        <p:spPr>
          <a:xfrm>
            <a:off x="457200" y="1143000"/>
            <a:ext cx="4023360" cy="3246120"/>
          </a:xfrm>
          <a:prstGeom prst="roundRect">
            <a:avLst>
              <a:gd name="adj" fmla="val 2254"/>
            </a:avLst>
          </a:prstGeom>
          <a:solidFill>
            <a:srgbClr val="EEF5F1"/>
          </a:solidFill>
          <a:ln w="12700">
            <a:solidFill>
              <a:srgbClr val="EEF5F1"/>
            </a:solidFill>
            <a:prstDash val="solid"/>
          </a:ln>
        </p:spPr>
        <p:txBody>
          <a:bodyPr/>
          <a:p/>
        </p:txBody>
      </p:sp>
      <p:sp>
        <p:nvSpPr>
          <p:cNvPr id="5" name="FR header 1"/>
          <p:cNvSpPr/>
          <p:nvPr/>
        </p:nvSpPr>
        <p:spPr>
          <a:xfrm>
            <a:off x="457200" y="1143000"/>
            <a:ext cx="4023360" cy="502920"/>
          </a:xfrm>
          <a:prstGeom prst="rect">
            <a:avLst/>
          </a:prstGeom>
          <a:solidFill>
            <a:srgbClr val="287A5D"/>
          </a:solidFill>
          <a:ln w="12700">
            <a:solidFill>
              <a:srgbClr val="287A5D"/>
            </a:solidFill>
            <a:prstDash val="solid"/>
          </a:ln>
        </p:spPr>
        <p:txBody>
          <a:bodyPr/>
          <a:p/>
        </p:txBody>
      </p:sp>
      <p:sp>
        <p:nvSpPr>
          <p:cNvPr id="6" name="Text 4"/>
          <p:cNvSpPr txBox="1"/>
          <p:nvPr/>
        </p:nvSpPr>
        <p:spPr>
          <a:xfrm>
            <a:off x="640080" y="1143000"/>
            <a:ext cx="365760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Public website (16)</a:t>
            </a:r>
            <a:endParaRPr lang="en-US" sz="1700" dirty="0"/>
          </a:p>
        </p:txBody>
      </p:sp>
      <p:sp>
        <p:nvSpPr>
          <p:cNvPr id="7" name="Text 5"/>
          <p:cNvSpPr txBox="1"/>
          <p:nvPr/>
        </p:nvSpPr>
        <p:spPr>
          <a:xfrm>
            <a:off x="640080" y="1783080"/>
            <a:ext cx="365760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Dynamic home page with hero slides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News, events, announcements with slugs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Colleges, departments, programs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Leadership, services, vacancies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Registrar documents and notices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Contact form, galleries, pages</a:t>
            </a:r>
            <a:endParaRPr lang="en-US" sz="1500" dirty="0"/>
          </a:p>
        </p:txBody>
      </p:sp>
      <p:sp>
        <p:nvSpPr>
          <p:cNvPr id="8" name="FR card 2"/>
          <p:cNvSpPr/>
          <p:nvPr/>
        </p:nvSpPr>
        <p:spPr>
          <a:xfrm>
            <a:off x="4663440" y="1143000"/>
            <a:ext cx="4023360" cy="3246120"/>
          </a:xfrm>
          <a:prstGeom prst="roundRect">
            <a:avLst>
              <a:gd name="adj" fmla="val 2254"/>
            </a:avLst>
          </a:prstGeom>
          <a:solidFill>
            <a:srgbClr val="EEF5F1"/>
          </a:solidFill>
          <a:ln w="12700">
            <a:solidFill>
              <a:srgbClr val="EEF5F1"/>
            </a:solidFill>
            <a:prstDash val="solid"/>
          </a:ln>
        </p:spPr>
        <p:txBody>
          <a:bodyPr/>
          <a:p/>
        </p:txBody>
      </p:sp>
      <p:sp>
        <p:nvSpPr>
          <p:cNvPr id="9" name="FR header 2"/>
          <p:cNvSpPr/>
          <p:nvPr/>
        </p:nvSpPr>
        <p:spPr>
          <a:xfrm>
            <a:off x="4663440" y="1143000"/>
            <a:ext cx="4023360" cy="502920"/>
          </a:xfrm>
          <a:prstGeom prst="rect">
            <a:avLst/>
          </a:prstGeom>
          <a:solidFill>
            <a:srgbClr val="0F4C3A"/>
          </a:solidFill>
          <a:ln w="12700">
            <a:solidFill>
              <a:srgbClr val="0F4C3A"/>
            </a:solidFill>
            <a:prstDash val="solid"/>
          </a:ln>
        </p:spPr>
        <p:txBody>
          <a:bodyPr/>
          <a:p/>
        </p:txBody>
      </p:sp>
      <p:sp>
        <p:nvSpPr>
          <p:cNvPr id="10" name="Text 8"/>
          <p:cNvSpPr txBox="1"/>
          <p:nvPr/>
        </p:nvSpPr>
        <p:spPr>
          <a:xfrm>
            <a:off x="4846320" y="1143000"/>
            <a:ext cx="365760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Admin CMS (14)</a:t>
            </a:r>
            <a:endParaRPr lang="en-US" sz="1700" dirty="0"/>
          </a:p>
        </p:txBody>
      </p:sp>
      <p:sp>
        <p:nvSpPr>
          <p:cNvPr id="11" name="Text 9"/>
          <p:cNvSpPr txBox="1"/>
          <p:nvPr/>
        </p:nvSpPr>
        <p:spPr>
          <a:xfrm>
            <a:off x="4846320" y="1783080"/>
            <a:ext cx="365760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Secure login and route guard</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Dashboard with live statistics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CRUD for the content modules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Media library and unique slugs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Users, roles, navigation, settings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Activity log and contact messages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6.i System Model: Use Cases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6</a:t>
            </a:r>
            <a:endParaRPr lang="en-US" sz="1100" dirty="0"/>
          </a:p>
        </p:txBody>
      </p:sp>
      <p:sp>
        <p:nvSpPr>
          <p:cNvPr id="4" name="Actor icon 1 bg"/>
          <p:cNvSpPr/>
          <p:nvPr/>
        </p:nvSpPr>
        <p:spPr>
          <a:xfrm>
            <a:off x="457200" y="1143000"/>
            <a:ext cx="594360" cy="594360"/>
          </a:xfrm>
          <a:prstGeom prst="ellipse">
            <a:avLst/>
          </a:prstGeom>
          <a:solidFill>
            <a:srgbClr val="0F4C3A"/>
          </a:solidFill>
          <a:ln w="12700">
            <a:solidFill>
              <a:srgbClr val="0F4C3A"/>
            </a:solidFill>
            <a:prstDash val="solid"/>
          </a:ln>
        </p:spPr>
        <p:txBody>
          <a:bodyPr/>
          <a:p/>
        </p:txBody>
      </p:sp>
      <p:pic>
        <p:nvPicPr>
          <p:cNvPr id="5" name="Image 0" descr="FaUser">    </p:cNvPr>
          <p:cNvPicPr>
            <a:picLocks noChangeAspect="1"/>
          </p:cNvPicPr>
          <p:nvPr/>
        </p:nvPicPr>
        <p:blipFill>
          <a:blip r:embed="rId1"/>
          <a:stretch>
            <a:fillRect/>
          </a:stretch>
        </p:blipFill>
        <p:spPr>
          <a:xfrm>
            <a:off x="599846" y="1285646"/>
            <a:ext cx="309067" cy="309067"/>
          </a:xfrm>
          <a:prstGeom prst="rect">
            <a:avLst/>
          </a:prstGeom>
        </p:spPr>
      </p:pic>
      <p:sp>
        <p:nvSpPr>
          <p:cNvPr id="6" name="Text 3"/>
          <p:cNvSpPr txBox="1"/>
          <p:nvPr/>
        </p:nvSpPr>
        <p:spPr>
          <a:xfrm>
            <a:off x="1234440" y="105156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Public User</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Reads published content, downloads Registrar documents, sends a contact message</a:t>
            </a:r>
            <a:endParaRPr lang="en-US" sz="1600" dirty="0"/>
          </a:p>
        </p:txBody>
      </p:sp>
      <p:sp>
        <p:nvSpPr>
          <p:cNvPr id="7" name="Actor icon 2 bg"/>
          <p:cNvSpPr/>
          <p:nvPr/>
        </p:nvSpPr>
        <p:spPr>
          <a:xfrm>
            <a:off x="457200" y="2240280"/>
            <a:ext cx="594360" cy="594360"/>
          </a:xfrm>
          <a:prstGeom prst="ellipse">
            <a:avLst/>
          </a:prstGeom>
          <a:solidFill>
            <a:srgbClr val="0F4C3A"/>
          </a:solidFill>
          <a:ln w="12700">
            <a:solidFill>
              <a:srgbClr val="0F4C3A"/>
            </a:solidFill>
            <a:prstDash val="solid"/>
          </a:ln>
        </p:spPr>
        <p:txBody>
          <a:bodyPr/>
          <a:p/>
        </p:txBody>
      </p:sp>
      <p:pic>
        <p:nvPicPr>
          <p:cNvPr id="8" name="Image 1" descr="FaUserEdit">    </p:cNvPr>
          <p:cNvPicPr>
            <a:picLocks noChangeAspect="1"/>
          </p:cNvPicPr>
          <p:nvPr/>
        </p:nvPicPr>
        <p:blipFill>
          <a:blip r:embed="rId2"/>
          <a:stretch>
            <a:fillRect/>
          </a:stretch>
        </p:blipFill>
        <p:spPr>
          <a:xfrm>
            <a:off x="599846" y="2382926"/>
            <a:ext cx="309067" cy="309067"/>
          </a:xfrm>
          <a:prstGeom prst="rect">
            <a:avLst/>
          </a:prstGeom>
        </p:spPr>
      </p:pic>
      <p:sp>
        <p:nvSpPr>
          <p:cNvPr id="9" name="Text 5"/>
          <p:cNvSpPr txBox="1"/>
          <p:nvPr/>
        </p:nvSpPr>
        <p:spPr>
          <a:xfrm>
            <a:off x="1234440" y="214884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Admin User</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Logs in; manages content, media, pages and navigation</a:t>
            </a:r>
            <a:endParaRPr lang="en-US" sz="1600" dirty="0"/>
          </a:p>
        </p:txBody>
      </p:sp>
      <p:sp>
        <p:nvSpPr>
          <p:cNvPr id="10" name="Actor icon 3 bg"/>
          <p:cNvSpPr/>
          <p:nvPr/>
        </p:nvSpPr>
        <p:spPr>
          <a:xfrm>
            <a:off x="457200" y="3337560"/>
            <a:ext cx="594360" cy="594360"/>
          </a:xfrm>
          <a:prstGeom prst="ellipse">
            <a:avLst/>
          </a:prstGeom>
          <a:solidFill>
            <a:srgbClr val="0F4C3A"/>
          </a:solidFill>
          <a:ln w="12700">
            <a:solidFill>
              <a:srgbClr val="0F4C3A"/>
            </a:solidFill>
            <a:prstDash val="solid"/>
          </a:ln>
        </p:spPr>
        <p:txBody>
          <a:bodyPr/>
          <a:p/>
        </p:txBody>
      </p:sp>
      <p:pic>
        <p:nvPicPr>
          <p:cNvPr id="11" name="Image 2" descr="FaUserShield">    </p:cNvPr>
          <p:cNvPicPr>
            <a:picLocks noChangeAspect="1"/>
          </p:cNvPicPr>
          <p:nvPr/>
        </p:nvPicPr>
        <p:blipFill>
          <a:blip r:embed="rId3"/>
          <a:stretch>
            <a:fillRect/>
          </a:stretch>
        </p:blipFill>
        <p:spPr>
          <a:xfrm>
            <a:off x="599846" y="3480206"/>
            <a:ext cx="309067" cy="309067"/>
          </a:xfrm>
          <a:prstGeom prst="rect">
            <a:avLst/>
          </a:prstGeom>
        </p:spPr>
      </p:pic>
      <p:sp>
        <p:nvSpPr>
          <p:cNvPr id="12" name="Text 7"/>
          <p:cNvSpPr txBox="1"/>
          <p:nvPr/>
        </p:nvSpPr>
        <p:spPr>
          <a:xfrm>
            <a:off x="1234440" y="324612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System Admin</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Also manages users, roles, activity logs and settings</a:t>
            </a:r>
            <a:endParaRPr lang="en-US" sz="1600" dirty="0"/>
          </a:p>
        </p:txBody>
      </p:sp>
      <p:sp>
        <p:nvSpPr>
          <p:cNvPr id="13" name="Use case panel"/>
          <p:cNvSpPr/>
          <p:nvPr/>
        </p:nvSpPr>
        <p:spPr>
          <a:xfrm>
            <a:off x="4892040" y="1051560"/>
            <a:ext cx="3840480" cy="3657600"/>
          </a:xfrm>
          <a:prstGeom prst="roundRect">
            <a:avLst>
              <a:gd name="adj" fmla="val 1500"/>
            </a:avLst>
          </a:prstGeom>
          <a:solidFill>
            <a:srgbClr val="FFFFFF"/>
          </a:solidFill>
          <a:ln w="12700">
            <a:solidFill>
              <a:srgbClr val="CFE3D8"/>
            </a:solidFill>
            <a:prstDash val="solid"/>
          </a:ln>
        </p:spPr>
        <p:txBody>
          <a:bodyPr/>
          <a:p/>
        </p:txBody>
      </p:sp>
      <p:pic>
        <p:nvPicPr>
          <p:cNvPr id="14" name="Image 3" descr="Use case diagram with Public User, Admin User and System Admin">    </p:cNvPr>
          <p:cNvPicPr>
            <a:picLocks noChangeAspect="1"/>
          </p:cNvPicPr>
          <p:nvPr/>
        </p:nvPicPr>
        <p:blipFill>
          <a:blip r:embed="rId4"/>
          <a:stretch>
            <a:fillRect/>
          </a:stretch>
        </p:blipFill>
        <p:spPr>
          <a:xfrm>
            <a:off x="5228746" y="1074420"/>
            <a:ext cx="3167067" cy="361188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6.ii System Model: Class Diagram</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6</a:t>
            </a:r>
            <a:endParaRPr lang="en-US" sz="1100" dirty="0"/>
          </a:p>
        </p:txBody>
      </p:sp>
      <p:sp>
        <p:nvSpPr>
          <p:cNvPr id="4" name="Class diagram panel"/>
          <p:cNvSpPr/>
          <p:nvPr/>
        </p:nvSpPr>
        <p:spPr>
          <a:xfrm>
            <a:off x="457200" y="1097280"/>
            <a:ext cx="8229600" cy="3611880"/>
          </a:xfrm>
          <a:prstGeom prst="roundRect">
            <a:avLst>
              <a:gd name="adj" fmla="val 1519"/>
            </a:avLst>
          </a:prstGeom>
          <a:solidFill>
            <a:srgbClr val="FFFFFF"/>
          </a:solidFill>
          <a:ln w="12700">
            <a:solidFill>
              <a:srgbClr val="CFE3D8"/>
            </a:solidFill>
            <a:prstDash val="solid"/>
          </a:ln>
        </p:spPr>
        <p:txBody>
          <a:bodyPr/>
          <a:p/>
        </p:txBody>
      </p:sp>
      <p:pic>
        <p:nvPicPr>
          <p:cNvPr id="5" name="Image 0" descr="Class diagram of the core domain: User, Role, Media, ActivityLog, News, Event, Announcement, Program">    </p:cNvPr>
          <p:cNvPicPr>
            <a:picLocks noChangeAspect="1"/>
          </p:cNvPicPr>
          <p:nvPr/>
        </p:nvPicPr>
        <p:blipFill>
          <a:blip r:embed="rId1"/>
          <a:stretch>
            <a:fillRect/>
          </a:stretch>
        </p:blipFill>
        <p:spPr>
          <a:xfrm>
            <a:off x="1170551" y="1165860"/>
            <a:ext cx="6802899" cy="347472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7. Methodology</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7</a:t>
            </a:r>
            <a:endParaRPr lang="en-US" sz="1100" dirty="0"/>
          </a:p>
        </p:txBody>
      </p:sp>
      <p:sp>
        <p:nvSpPr>
          <p:cNvPr id="4" name="Method card 1"/>
          <p:cNvSpPr/>
          <p:nvPr/>
        </p:nvSpPr>
        <p:spPr>
          <a:xfrm>
            <a:off x="457200" y="114300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5" name="Method icon 1 bg"/>
          <p:cNvSpPr/>
          <p:nvPr/>
        </p:nvSpPr>
        <p:spPr>
          <a:xfrm>
            <a:off x="621792" y="1280160"/>
            <a:ext cx="502920" cy="502920"/>
          </a:xfrm>
          <a:prstGeom prst="ellipse">
            <a:avLst/>
          </a:prstGeom>
          <a:solidFill>
            <a:srgbClr val="0F4C3A"/>
          </a:solidFill>
          <a:ln w="12700">
            <a:solidFill>
              <a:srgbClr val="0F4C3A"/>
            </a:solidFill>
            <a:prstDash val="solid"/>
          </a:ln>
        </p:spPr>
        <p:txBody>
          <a:bodyPr/>
          <a:p/>
        </p:txBody>
      </p:sp>
      <p:pic>
        <p:nvPicPr>
          <p:cNvPr id="6" name="Image 0" descr="FaComments">    </p:cNvPr>
          <p:cNvPicPr>
            <a:picLocks noChangeAspect="1"/>
          </p:cNvPicPr>
          <p:nvPr/>
        </p:nvPicPr>
        <p:blipFill>
          <a:blip r:embed="rId1"/>
          <a:stretch>
            <a:fillRect/>
          </a:stretch>
        </p:blipFill>
        <p:spPr>
          <a:xfrm>
            <a:off x="742493" y="1400861"/>
            <a:ext cx="261518" cy="261518"/>
          </a:xfrm>
          <a:prstGeom prst="rect">
            <a:avLst/>
          </a:prstGeom>
        </p:spPr>
      </p:pic>
      <p:sp>
        <p:nvSpPr>
          <p:cNvPr id="7" name="Text 4"/>
          <p:cNvSpPr txBox="1"/>
          <p:nvPr/>
        </p:nvSpPr>
        <p:spPr>
          <a:xfrm>
            <a:off x="123444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Data collection</a:t>
            </a:r>
            <a:endParaRPr lang="en-US" sz="1550" dirty="0"/>
          </a:p>
        </p:txBody>
      </p:sp>
      <p:sp>
        <p:nvSpPr>
          <p:cNvPr id="8" name="Text 5"/>
          <p:cNvSpPr txBox="1"/>
          <p:nvPr/>
        </p:nvSpPr>
        <p:spPr>
          <a:xfrm>
            <a:off x="64008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Interviews with the ICT Director, Content Officer, Communications and Registrar staff; study of the old website obu.edu.et</a:t>
            </a:r>
            <a:endParaRPr lang="en-US" sz="1200" dirty="0"/>
          </a:p>
        </p:txBody>
      </p:sp>
      <p:sp>
        <p:nvSpPr>
          <p:cNvPr id="9" name="Method card 2"/>
          <p:cNvSpPr/>
          <p:nvPr/>
        </p:nvSpPr>
        <p:spPr>
          <a:xfrm>
            <a:off x="4663440" y="114300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10" name="Method icon 2 bg"/>
          <p:cNvSpPr/>
          <p:nvPr/>
        </p:nvSpPr>
        <p:spPr>
          <a:xfrm>
            <a:off x="4828032" y="1280160"/>
            <a:ext cx="502920" cy="502920"/>
          </a:xfrm>
          <a:prstGeom prst="ellipse">
            <a:avLst/>
          </a:prstGeom>
          <a:solidFill>
            <a:srgbClr val="0F4C3A"/>
          </a:solidFill>
          <a:ln w="12700">
            <a:solidFill>
              <a:srgbClr val="0F4C3A"/>
            </a:solidFill>
            <a:prstDash val="solid"/>
          </a:ln>
        </p:spPr>
        <p:txBody>
          <a:bodyPr/>
          <a:p/>
        </p:txBody>
      </p:sp>
      <p:pic>
        <p:nvPicPr>
          <p:cNvPr id="11" name="Image 1" descr="FaLayerGroup">    </p:cNvPr>
          <p:cNvPicPr>
            <a:picLocks noChangeAspect="1"/>
          </p:cNvPicPr>
          <p:nvPr/>
        </p:nvPicPr>
        <p:blipFill>
          <a:blip r:embed="rId2"/>
          <a:stretch>
            <a:fillRect/>
          </a:stretch>
        </p:blipFill>
        <p:spPr>
          <a:xfrm>
            <a:off x="4948733" y="1400861"/>
            <a:ext cx="261518" cy="261518"/>
          </a:xfrm>
          <a:prstGeom prst="rect">
            <a:avLst/>
          </a:prstGeom>
        </p:spPr>
      </p:pic>
      <p:sp>
        <p:nvSpPr>
          <p:cNvPr id="12" name="Text 8"/>
          <p:cNvSpPr txBox="1"/>
          <p:nvPr/>
        </p:nvSpPr>
        <p:spPr>
          <a:xfrm>
            <a:off x="544068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Technologies</a:t>
            </a:r>
            <a:endParaRPr lang="en-US" sz="1550" dirty="0"/>
          </a:p>
        </p:txBody>
      </p:sp>
      <p:sp>
        <p:nvSpPr>
          <p:cNvPr id="13" name="Text 9"/>
          <p:cNvSpPr txBox="1"/>
          <p:nvPr/>
        </p:nvSpPr>
        <p:spPr>
          <a:xfrm>
            <a:off x="484632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React 19, TanStack Start, Tailwind CSS v4, Radix UI, Supabase (PostgreSQL, Auth, Storage), Vite</a:t>
            </a:r>
            <a:endParaRPr lang="en-US" sz="1200" dirty="0"/>
          </a:p>
        </p:txBody>
      </p:sp>
      <p:sp>
        <p:nvSpPr>
          <p:cNvPr id="14" name="Method card 3"/>
          <p:cNvSpPr/>
          <p:nvPr/>
        </p:nvSpPr>
        <p:spPr>
          <a:xfrm>
            <a:off x="457200" y="292608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15" name="Method icon 3 bg"/>
          <p:cNvSpPr/>
          <p:nvPr/>
        </p:nvSpPr>
        <p:spPr>
          <a:xfrm>
            <a:off x="621792" y="3063240"/>
            <a:ext cx="502920" cy="502920"/>
          </a:xfrm>
          <a:prstGeom prst="ellipse">
            <a:avLst/>
          </a:prstGeom>
          <a:solidFill>
            <a:srgbClr val="0F4C3A"/>
          </a:solidFill>
          <a:ln w="12700">
            <a:solidFill>
              <a:srgbClr val="0F4C3A"/>
            </a:solidFill>
            <a:prstDash val="solid"/>
          </a:ln>
        </p:spPr>
        <p:txBody>
          <a:bodyPr/>
          <a:p/>
        </p:txBody>
      </p:sp>
      <p:pic>
        <p:nvPicPr>
          <p:cNvPr id="16" name="Image 2" descr="FaCode">    </p:cNvPr>
          <p:cNvPicPr>
            <a:picLocks noChangeAspect="1"/>
          </p:cNvPicPr>
          <p:nvPr/>
        </p:nvPicPr>
        <p:blipFill>
          <a:blip r:embed="rId3"/>
          <a:stretch>
            <a:fillRect/>
          </a:stretch>
        </p:blipFill>
        <p:spPr>
          <a:xfrm>
            <a:off x="742493" y="3183941"/>
            <a:ext cx="261518" cy="261518"/>
          </a:xfrm>
          <a:prstGeom prst="rect">
            <a:avLst/>
          </a:prstGeom>
        </p:spPr>
      </p:pic>
      <p:sp>
        <p:nvSpPr>
          <p:cNvPr id="17" name="Text 12"/>
          <p:cNvSpPr txBox="1"/>
          <p:nvPr/>
        </p:nvSpPr>
        <p:spPr>
          <a:xfrm>
            <a:off x="123444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Languages, tools, techniques</a:t>
            </a:r>
            <a:endParaRPr lang="en-US" sz="1550" dirty="0"/>
          </a:p>
        </p:txBody>
      </p:sp>
      <p:sp>
        <p:nvSpPr>
          <p:cNvPr id="18" name="Text 13"/>
          <p:cNvSpPr txBox="1"/>
          <p:nvPr/>
        </p:nvSpPr>
        <p:spPr>
          <a:xfrm>
            <a:off x="64008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TypeScript, SQL; Git, VS Code, Postman; UML, ER design, migrations, Row Level Security</a:t>
            </a:r>
            <a:endParaRPr lang="en-US" sz="1200" dirty="0"/>
          </a:p>
        </p:txBody>
      </p:sp>
      <p:sp>
        <p:nvSpPr>
          <p:cNvPr id="19" name="Method card 4"/>
          <p:cNvSpPr/>
          <p:nvPr/>
        </p:nvSpPr>
        <p:spPr>
          <a:xfrm>
            <a:off x="4663440" y="292608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20" name="Method icon 4 bg"/>
          <p:cNvSpPr/>
          <p:nvPr/>
        </p:nvSpPr>
        <p:spPr>
          <a:xfrm>
            <a:off x="4828032" y="3063240"/>
            <a:ext cx="502920" cy="502920"/>
          </a:xfrm>
          <a:prstGeom prst="ellipse">
            <a:avLst/>
          </a:prstGeom>
          <a:solidFill>
            <a:srgbClr val="0F4C3A"/>
          </a:solidFill>
          <a:ln w="12700">
            <a:solidFill>
              <a:srgbClr val="0F4C3A"/>
            </a:solidFill>
            <a:prstDash val="solid"/>
          </a:ln>
        </p:spPr>
        <p:txBody>
          <a:bodyPr/>
          <a:p/>
        </p:txBody>
      </p:sp>
      <p:pic>
        <p:nvPicPr>
          <p:cNvPr id="21" name="Image 3" descr="FaSyncAlt">    </p:cNvPr>
          <p:cNvPicPr>
            <a:picLocks noChangeAspect="1"/>
          </p:cNvPicPr>
          <p:nvPr/>
        </p:nvPicPr>
        <p:blipFill>
          <a:blip r:embed="rId4"/>
          <a:stretch>
            <a:fillRect/>
          </a:stretch>
        </p:blipFill>
        <p:spPr>
          <a:xfrm>
            <a:off x="4948733" y="3183941"/>
            <a:ext cx="261518" cy="261518"/>
          </a:xfrm>
          <a:prstGeom prst="rect">
            <a:avLst/>
          </a:prstGeom>
        </p:spPr>
      </p:pic>
      <p:sp>
        <p:nvSpPr>
          <p:cNvPr id="22" name="Text 16"/>
          <p:cNvSpPr txBox="1"/>
          <p:nvPr/>
        </p:nvSpPr>
        <p:spPr>
          <a:xfrm>
            <a:off x="544068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Development methodology</a:t>
            </a:r>
            <a:endParaRPr lang="en-US" sz="1550" dirty="0"/>
          </a:p>
        </p:txBody>
      </p:sp>
      <p:sp>
        <p:nvSpPr>
          <p:cNvPr id="23" name="Text 17"/>
          <p:cNvSpPr txBox="1"/>
          <p:nvPr/>
        </p:nvSpPr>
        <p:spPr>
          <a:xfrm>
            <a:off x="484632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Agile Scrum: 4 sprints in 45 days, each ending with a demo to the ICT Director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System Design Overview</a:t>
            </a:r>
            <a:endParaRPr lang="en-US" sz="2600" dirty="0"/>
          </a:p>
        </p:txBody>
      </p:sp>
      <p:sp>
        <p:nvSpPr>
          <p:cNvPr id="3" name="Architecture panel"/>
          <p:cNvSpPr/>
          <p:nvPr/>
        </p:nvSpPr>
        <p:spPr>
          <a:xfrm>
            <a:off x="457200" y="1097280"/>
            <a:ext cx="5303520" cy="3520440"/>
          </a:xfrm>
          <a:prstGeom prst="roundRect">
            <a:avLst>
              <a:gd name="adj" fmla="val 2078"/>
            </a:avLst>
          </a:prstGeom>
          <a:solidFill>
            <a:srgbClr val="EEF5F1"/>
          </a:solidFill>
          <a:ln w="12700">
            <a:solidFill>
              <a:srgbClr val="EEF5F1"/>
            </a:solidFill>
            <a:prstDash val="solid"/>
          </a:ln>
        </p:spPr>
        <p:txBody>
          <a:bodyPr/>
          <a:p/>
        </p:txBody>
      </p:sp>
      <p:pic>
        <p:nvPicPr>
          <p:cNvPr id="4" name="Image 0" descr="Three-tier architecture: presentation, application and data tiers">    </p:cNvPr>
          <p:cNvPicPr>
            <a:picLocks noChangeAspect="1"/>
          </p:cNvPicPr>
          <p:nvPr/>
        </p:nvPicPr>
        <p:blipFill>
          <a:blip r:embed="rId1"/>
          <a:stretch>
            <a:fillRect/>
          </a:stretch>
        </p:blipFill>
        <p:spPr>
          <a:xfrm>
            <a:off x="502920" y="1160472"/>
            <a:ext cx="5212080" cy="3394057"/>
          </a:xfrm>
          <a:prstGeom prst="rect">
            <a:avLst/>
          </a:prstGeom>
        </p:spPr>
      </p:pic>
      <p:sp>
        <p:nvSpPr>
          <p:cNvPr id="5" name="Design card 1"/>
          <p:cNvSpPr/>
          <p:nvPr/>
        </p:nvSpPr>
        <p:spPr>
          <a:xfrm>
            <a:off x="5989320" y="1097280"/>
            <a:ext cx="2743200" cy="1051560"/>
          </a:xfrm>
          <a:prstGeom prst="roundRect">
            <a:avLst>
              <a:gd name="adj" fmla="val 6957"/>
            </a:avLst>
          </a:prstGeom>
          <a:solidFill>
            <a:srgbClr val="0F4C3A"/>
          </a:solidFill>
          <a:ln w="12700">
            <a:solidFill>
              <a:srgbClr val="0F4C3A"/>
            </a:solidFill>
            <a:prstDash val="solid"/>
          </a:ln>
        </p:spPr>
        <p:txBody>
          <a:bodyPr/>
          <a:p/>
        </p:txBody>
      </p:sp>
      <p:sp>
        <p:nvSpPr>
          <p:cNvPr id="6" name="Text 3"/>
          <p:cNvSpPr txBox="1"/>
          <p:nvPr/>
        </p:nvSpPr>
        <p:spPr>
          <a:xfrm>
            <a:off x="6126480" y="1143000"/>
            <a:ext cx="251460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Three tiers</a:t>
            </a:r>
            <a:endParaRPr lang="en-US" sz="1500" dirty="0"/>
          </a:p>
          <a:p>
            <a:pPr indent="0" marL="0">
              <a:buNone/>
            </a:pPr>
            <a:r>
              <a:rPr lang="en-US" sz="1150" dirty="0">
                <a:solidFill>
                  <a:srgbClr val="E6F0EA"/>
                </a:solidFill>
                <a:latin typeface="Calibri" pitchFamily="34" charset="0"/>
                <a:ea typeface="Calibri" pitchFamily="34" charset="-122"/>
                <a:cs typeface="Calibri" pitchFamily="34" charset="-120"/>
              </a:rPr>
              <a:t>Browser UI, TanStack Start server, Supabase data tier</a:t>
            </a:r>
            <a:endParaRPr lang="en-US" sz="1500" dirty="0"/>
          </a:p>
        </p:txBody>
      </p:sp>
      <p:sp>
        <p:nvSpPr>
          <p:cNvPr id="7" name="Design card 2"/>
          <p:cNvSpPr/>
          <p:nvPr/>
        </p:nvSpPr>
        <p:spPr>
          <a:xfrm>
            <a:off x="5989320" y="2286000"/>
            <a:ext cx="2743200" cy="1051560"/>
          </a:xfrm>
          <a:prstGeom prst="roundRect">
            <a:avLst>
              <a:gd name="adj" fmla="val 6957"/>
            </a:avLst>
          </a:prstGeom>
          <a:solidFill>
            <a:srgbClr val="287A5D"/>
          </a:solidFill>
          <a:ln w="12700">
            <a:solidFill>
              <a:srgbClr val="287A5D"/>
            </a:solidFill>
            <a:prstDash val="solid"/>
          </a:ln>
        </p:spPr>
        <p:txBody>
          <a:bodyPr/>
          <a:p/>
        </p:txBody>
      </p:sp>
      <p:sp>
        <p:nvSpPr>
          <p:cNvPr id="8" name="Text 5"/>
          <p:cNvSpPr txBox="1"/>
          <p:nvPr/>
        </p:nvSpPr>
        <p:spPr>
          <a:xfrm>
            <a:off x="6126480" y="2331720"/>
            <a:ext cx="251460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27 tables</a:t>
            </a:r>
            <a:endParaRPr lang="en-US" sz="1500" dirty="0"/>
          </a:p>
          <a:p>
            <a:pPr indent="0" marL="0">
              <a:buNone/>
            </a:pPr>
            <a:r>
              <a:rPr lang="en-US" sz="1150" dirty="0">
                <a:solidFill>
                  <a:srgbClr val="E6F0EA"/>
                </a:solidFill>
                <a:latin typeface="Calibri" pitchFamily="34" charset="0"/>
                <a:ea typeface="Calibri" pitchFamily="34" charset="-122"/>
                <a:cs typeface="Calibri" pitchFamily="34" charset="-120"/>
              </a:rPr>
              <a:t>One central media table; slugs, status, foreign keys</a:t>
            </a:r>
            <a:endParaRPr lang="en-US" sz="1500" dirty="0"/>
          </a:p>
        </p:txBody>
      </p:sp>
      <p:sp>
        <p:nvSpPr>
          <p:cNvPr id="9" name="Design card 3"/>
          <p:cNvSpPr/>
          <p:nvPr/>
        </p:nvSpPr>
        <p:spPr>
          <a:xfrm>
            <a:off x="5989320" y="3474720"/>
            <a:ext cx="2743200" cy="1051560"/>
          </a:xfrm>
          <a:prstGeom prst="roundRect">
            <a:avLst>
              <a:gd name="adj" fmla="val 6957"/>
            </a:avLst>
          </a:prstGeom>
          <a:solidFill>
            <a:srgbClr val="D4A017"/>
          </a:solidFill>
          <a:ln w="12700">
            <a:solidFill>
              <a:srgbClr val="D4A017"/>
            </a:solidFill>
            <a:prstDash val="solid"/>
          </a:ln>
        </p:spPr>
        <p:txBody>
          <a:bodyPr/>
          <a:p/>
        </p:txBody>
      </p:sp>
      <p:sp>
        <p:nvSpPr>
          <p:cNvPr id="10" name="Text 7"/>
          <p:cNvSpPr txBox="1"/>
          <p:nvPr/>
        </p:nvSpPr>
        <p:spPr>
          <a:xfrm>
            <a:off x="6126480" y="3520440"/>
            <a:ext cx="2514600" cy="9601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Layered security</a:t>
            </a:r>
            <a:endParaRPr lang="en-US" sz="1500" dirty="0"/>
          </a:p>
          <a:p>
            <a:pPr indent="0" marL="0">
              <a:buNone/>
            </a:pPr>
            <a:r>
              <a:rPr lang="en-US" sz="1150" dirty="0">
                <a:solidFill>
                  <a:srgbClr val="17251F"/>
                </a:solidFill>
                <a:latin typeface="Calibri" pitchFamily="34" charset="0"/>
                <a:ea typeface="Calibri" pitchFamily="34" charset="-122"/>
                <a:cs typeface="Calibri" pitchFamily="34" charset="-120"/>
              </a:rPr>
              <a:t>Supabase Auth, Row Level Security, CSRF, upload checks, audit log</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8. Benefit: Growth and Career</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8</a:t>
            </a:r>
            <a:endParaRPr lang="en-US" sz="1100" dirty="0"/>
          </a:p>
        </p:txBody>
      </p:sp>
      <p:sp>
        <p:nvSpPr>
          <p:cNvPr id="4" name="Growth card 1"/>
          <p:cNvSpPr/>
          <p:nvPr/>
        </p:nvSpPr>
        <p:spPr>
          <a:xfrm>
            <a:off x="457200" y="114300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5" name="Growth icon 1 bg"/>
          <p:cNvSpPr/>
          <p:nvPr/>
        </p:nvSpPr>
        <p:spPr>
          <a:xfrm>
            <a:off x="621792" y="1280160"/>
            <a:ext cx="457200" cy="457200"/>
          </a:xfrm>
          <a:prstGeom prst="ellipse">
            <a:avLst/>
          </a:prstGeom>
          <a:solidFill>
            <a:srgbClr val="0F4C3A"/>
          </a:solidFill>
          <a:ln w="12700">
            <a:solidFill>
              <a:srgbClr val="0F4C3A"/>
            </a:solidFill>
            <a:prstDash val="solid"/>
          </a:ln>
        </p:spPr>
        <p:txBody>
          <a:bodyPr/>
          <a:p/>
        </p:txBody>
      </p:sp>
      <p:pic>
        <p:nvPicPr>
          <p:cNvPr id="6" name="Image 0" descr="FaBalanceScale">    </p:cNvPr>
          <p:cNvPicPr>
            <a:picLocks noChangeAspect="1"/>
          </p:cNvPicPr>
          <p:nvPr/>
        </p:nvPicPr>
        <p:blipFill>
          <a:blip r:embed="rId1"/>
          <a:stretch>
            <a:fillRect/>
          </a:stretch>
        </p:blipFill>
        <p:spPr>
          <a:xfrm>
            <a:off x="731520" y="1389888"/>
            <a:ext cx="237744" cy="237744"/>
          </a:xfrm>
          <a:prstGeom prst="rect">
            <a:avLst/>
          </a:prstGeom>
        </p:spPr>
      </p:pic>
      <p:sp>
        <p:nvSpPr>
          <p:cNvPr id="7" name="Text 4"/>
          <p:cNvSpPr txBox="1"/>
          <p:nvPr/>
        </p:nvSpPr>
        <p:spPr>
          <a:xfrm>
            <a:off x="123444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Work Ethics and Psychology</a:t>
            </a:r>
            <a:endParaRPr lang="en-US" sz="1550" dirty="0"/>
          </a:p>
        </p:txBody>
      </p:sp>
      <p:sp>
        <p:nvSpPr>
          <p:cNvPr id="8" name="Text 5"/>
          <p:cNvSpPr txBox="1"/>
          <p:nvPr/>
        </p:nvSpPr>
        <p:spPr>
          <a:xfrm>
            <a:off x="64008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Formal approvals, no credentials in shared code, honest reporting of my own weaknesses; stakeholders need patience and clear words</a:t>
            </a:r>
            <a:endParaRPr lang="en-US" sz="1200" dirty="0"/>
          </a:p>
        </p:txBody>
      </p:sp>
      <p:sp>
        <p:nvSpPr>
          <p:cNvPr id="9" name="Growth card 2"/>
          <p:cNvSpPr/>
          <p:nvPr/>
        </p:nvSpPr>
        <p:spPr>
          <a:xfrm>
            <a:off x="4663440" y="114300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10" name="Growth icon 2 bg"/>
          <p:cNvSpPr/>
          <p:nvPr/>
        </p:nvSpPr>
        <p:spPr>
          <a:xfrm>
            <a:off x="4828032" y="1280160"/>
            <a:ext cx="457200" cy="457200"/>
          </a:xfrm>
          <a:prstGeom prst="ellipse">
            <a:avLst/>
          </a:prstGeom>
          <a:solidFill>
            <a:srgbClr val="0F4C3A"/>
          </a:solidFill>
          <a:ln w="12700">
            <a:solidFill>
              <a:srgbClr val="0F4C3A"/>
            </a:solidFill>
            <a:prstDash val="solid"/>
          </a:ln>
        </p:spPr>
        <p:txBody>
          <a:bodyPr/>
          <a:p/>
        </p:txBody>
      </p:sp>
      <p:pic>
        <p:nvPicPr>
          <p:cNvPr id="11" name="Image 1" descr="FaLightbulb">    </p:cNvPr>
          <p:cNvPicPr>
            <a:picLocks noChangeAspect="1"/>
          </p:cNvPicPr>
          <p:nvPr/>
        </p:nvPicPr>
        <p:blipFill>
          <a:blip r:embed="rId2"/>
          <a:stretch>
            <a:fillRect/>
          </a:stretch>
        </p:blipFill>
        <p:spPr>
          <a:xfrm>
            <a:off x="4937760" y="1389888"/>
            <a:ext cx="237744" cy="237744"/>
          </a:xfrm>
          <a:prstGeom prst="rect">
            <a:avLst/>
          </a:prstGeom>
        </p:spPr>
      </p:pic>
      <p:sp>
        <p:nvSpPr>
          <p:cNvPr id="12" name="Text 8"/>
          <p:cNvSpPr txBox="1"/>
          <p:nvPr/>
        </p:nvSpPr>
        <p:spPr>
          <a:xfrm>
            <a:off x="544068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Entrepreneurship</a:t>
            </a:r>
            <a:endParaRPr lang="en-US" sz="1550" dirty="0"/>
          </a:p>
        </p:txBody>
      </p:sp>
      <p:sp>
        <p:nvSpPr>
          <p:cNvPr id="13" name="Text 9"/>
          <p:cNvSpPr txBox="1"/>
          <p:nvPr/>
        </p:nvSpPr>
        <p:spPr>
          <a:xfrm>
            <a:off x="484632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Find a real need, build a first version, improve it with users; OBU-CMS can be adapted for other institutions</a:t>
            </a:r>
            <a:endParaRPr lang="en-US" sz="1200" dirty="0"/>
          </a:p>
        </p:txBody>
      </p:sp>
      <p:sp>
        <p:nvSpPr>
          <p:cNvPr id="14" name="Growth card 3"/>
          <p:cNvSpPr/>
          <p:nvPr/>
        </p:nvSpPr>
        <p:spPr>
          <a:xfrm>
            <a:off x="457200" y="292608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15" name="Growth icon 3 bg"/>
          <p:cNvSpPr/>
          <p:nvPr/>
        </p:nvSpPr>
        <p:spPr>
          <a:xfrm>
            <a:off x="621792" y="3063240"/>
            <a:ext cx="457200" cy="457200"/>
          </a:xfrm>
          <a:prstGeom prst="ellipse">
            <a:avLst/>
          </a:prstGeom>
          <a:solidFill>
            <a:srgbClr val="0F4C3A"/>
          </a:solidFill>
          <a:ln w="12700">
            <a:solidFill>
              <a:srgbClr val="0F4C3A"/>
            </a:solidFill>
            <a:prstDash val="solid"/>
          </a:ln>
        </p:spPr>
        <p:txBody>
          <a:bodyPr/>
          <a:p/>
        </p:txBody>
      </p:sp>
      <p:pic>
        <p:nvPicPr>
          <p:cNvPr id="16" name="Image 2" descr="FaRoute">    </p:cNvPr>
          <p:cNvPicPr>
            <a:picLocks noChangeAspect="1"/>
          </p:cNvPicPr>
          <p:nvPr/>
        </p:nvPicPr>
        <p:blipFill>
          <a:blip r:embed="rId3"/>
          <a:stretch>
            <a:fillRect/>
          </a:stretch>
        </p:blipFill>
        <p:spPr>
          <a:xfrm>
            <a:off x="731520" y="3172968"/>
            <a:ext cx="237744" cy="237744"/>
          </a:xfrm>
          <a:prstGeom prst="rect">
            <a:avLst/>
          </a:prstGeom>
        </p:spPr>
      </p:pic>
      <p:sp>
        <p:nvSpPr>
          <p:cNvPr id="17" name="Text 12"/>
          <p:cNvSpPr txBox="1"/>
          <p:nvPr/>
        </p:nvSpPr>
        <p:spPr>
          <a:xfrm>
            <a:off x="123444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Career Goals and Value</a:t>
            </a:r>
            <a:endParaRPr lang="en-US" sz="1550" dirty="0"/>
          </a:p>
        </p:txBody>
      </p:sp>
      <p:sp>
        <p:nvSpPr>
          <p:cNvPr id="18" name="Text 13"/>
          <p:cNvSpPr txBox="1"/>
          <p:nvPr/>
        </p:nvSpPr>
        <p:spPr>
          <a:xfrm>
            <a:off x="64008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Fits my goal in software development; direction is now clearer: full-stack web and secure systems; value of the internship is very high</a:t>
            </a:r>
            <a:endParaRPr lang="en-US" sz="1200" dirty="0"/>
          </a:p>
        </p:txBody>
      </p:sp>
      <p:sp>
        <p:nvSpPr>
          <p:cNvPr id="19" name="Growth card 4"/>
          <p:cNvSpPr/>
          <p:nvPr/>
        </p:nvSpPr>
        <p:spPr>
          <a:xfrm>
            <a:off x="4663440" y="2926080"/>
            <a:ext cx="4023360" cy="1645920"/>
          </a:xfrm>
          <a:prstGeom prst="roundRect">
            <a:avLst>
              <a:gd name="adj" fmla="val 4444"/>
            </a:avLst>
          </a:prstGeom>
          <a:solidFill>
            <a:srgbClr val="EEF5F1"/>
          </a:solidFill>
          <a:ln w="12700">
            <a:solidFill>
              <a:srgbClr val="EEF5F1"/>
            </a:solidFill>
            <a:prstDash val="solid"/>
          </a:ln>
        </p:spPr>
        <p:txBody>
          <a:bodyPr/>
          <a:p/>
        </p:txBody>
      </p:sp>
      <p:sp>
        <p:nvSpPr>
          <p:cNvPr id="20" name="Growth icon 4 bg"/>
          <p:cNvSpPr/>
          <p:nvPr/>
        </p:nvSpPr>
        <p:spPr>
          <a:xfrm>
            <a:off x="4828032" y="3063240"/>
            <a:ext cx="457200" cy="457200"/>
          </a:xfrm>
          <a:prstGeom prst="ellipse">
            <a:avLst/>
          </a:prstGeom>
          <a:solidFill>
            <a:srgbClr val="0F4C3A"/>
          </a:solidFill>
          <a:ln w="12700">
            <a:solidFill>
              <a:srgbClr val="0F4C3A"/>
            </a:solidFill>
            <a:prstDash val="solid"/>
          </a:ln>
        </p:spPr>
        <p:txBody>
          <a:bodyPr/>
          <a:p/>
        </p:txBody>
      </p:sp>
      <p:pic>
        <p:nvPicPr>
          <p:cNvPr id="21" name="Image 3" descr="FaChartLine">    </p:cNvPr>
          <p:cNvPicPr>
            <a:picLocks noChangeAspect="1"/>
          </p:cNvPicPr>
          <p:nvPr/>
        </p:nvPicPr>
        <p:blipFill>
          <a:blip r:embed="rId4"/>
          <a:stretch>
            <a:fillRect/>
          </a:stretch>
        </p:blipFill>
        <p:spPr>
          <a:xfrm>
            <a:off x="4937760" y="3172968"/>
            <a:ext cx="237744" cy="237744"/>
          </a:xfrm>
          <a:prstGeom prst="rect">
            <a:avLst/>
          </a:prstGeom>
        </p:spPr>
      </p:pic>
      <p:sp>
        <p:nvSpPr>
          <p:cNvPr id="22" name="Text 16"/>
          <p:cNvSpPr txBox="1"/>
          <p:nvPr/>
        </p:nvSpPr>
        <p:spPr>
          <a:xfrm>
            <a:off x="544068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Self-Evaluation</a:t>
            </a:r>
            <a:endParaRPr lang="en-US" sz="1550" dirty="0"/>
          </a:p>
        </p:txBody>
      </p:sp>
      <p:sp>
        <p:nvSpPr>
          <p:cNvPr id="23" name="Text 17"/>
          <p:cNvSpPr txBox="1"/>
          <p:nvPr/>
        </p:nvSpPr>
        <p:spPr>
          <a:xfrm>
            <a:off x="484632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Strengths: database design, fast learning, security awareness. To improve: automated testing, time estimates, larger-team work</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9. Conclusion and Recommendations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9</a:t>
            </a:r>
            <a:endParaRPr lang="en-US" sz="1100" dirty="0"/>
          </a:p>
        </p:txBody>
      </p:sp>
      <p:sp>
        <p:nvSpPr>
          <p:cNvPr id="4" name="Conclusion card 1"/>
          <p:cNvSpPr/>
          <p:nvPr/>
        </p:nvSpPr>
        <p:spPr>
          <a:xfrm>
            <a:off x="457200" y="1143000"/>
            <a:ext cx="2651760" cy="3383280"/>
          </a:xfrm>
          <a:prstGeom prst="roundRect">
            <a:avLst>
              <a:gd name="adj" fmla="val 2759"/>
            </a:avLst>
          </a:prstGeom>
          <a:solidFill>
            <a:srgbClr val="0F4C3A"/>
          </a:solidFill>
          <a:ln w="12700">
            <a:solidFill>
              <a:srgbClr val="0F4C3A"/>
            </a:solidFill>
            <a:prstDash val="solid"/>
          </a:ln>
        </p:spPr>
        <p:txBody>
          <a:bodyPr/>
          <a:p/>
        </p:txBody>
      </p:sp>
      <p:sp>
        <p:nvSpPr>
          <p:cNvPr id="5" name="Text 3"/>
          <p:cNvSpPr txBox="1"/>
          <p:nvPr/>
        </p:nvSpPr>
        <p:spPr>
          <a:xfrm>
            <a:off x="640080" y="1234440"/>
            <a:ext cx="2286000" cy="502920"/>
          </a:xfrm>
          <a:prstGeom prst="rect">
            <a:avLst/>
          </a:prstGeom>
          <a:noFill/>
          <a:ln/>
        </p:spPr>
        <p:txBody>
          <a:bodyPr wrap="square" lIns="0" tIns="0" rIns="0" bIns="0" rtlCol="0" anchor="ctr"/>
          <a:lstStyle/>
          <a:p>
            <a:pPr indent="0" marL="0">
              <a:buNone/>
            </a:pPr>
            <a:r>
              <a:rPr lang="en-US" sz="1600" b="1" dirty="0">
                <a:solidFill>
                  <a:srgbClr val="D4A017"/>
                </a:solidFill>
                <a:latin typeface="Cambria" pitchFamily="34" charset="0"/>
                <a:ea typeface="Cambria" pitchFamily="34" charset="-122"/>
                <a:cs typeface="Cambria" pitchFamily="34" charset="-120"/>
              </a:rPr>
              <a:t>Overall conclusion</a:t>
            </a:r>
            <a:endParaRPr lang="en-US" sz="1600" dirty="0"/>
          </a:p>
        </p:txBody>
      </p:sp>
      <p:sp>
        <p:nvSpPr>
          <p:cNvPr id="6" name="Text 4"/>
          <p:cNvSpPr txBox="1"/>
          <p:nvPr/>
        </p:nvSpPr>
        <p:spPr>
          <a:xfrm>
            <a:off x="640080" y="1828800"/>
            <a:ext cx="233172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OBU-CMS replaces a content process that depended on technical staff</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27 tables, 73 routes, RLS, media library, audit log</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Remaining work is listed: legacy functions, role-aware policies, Zod</a:t>
            </a:r>
            <a:endParaRPr lang="en-US" sz="1250" dirty="0"/>
          </a:p>
        </p:txBody>
      </p:sp>
      <p:sp>
        <p:nvSpPr>
          <p:cNvPr id="7" name="Conclusion card 2"/>
          <p:cNvSpPr/>
          <p:nvPr/>
        </p:nvSpPr>
        <p:spPr>
          <a:xfrm>
            <a:off x="3246120" y="1143000"/>
            <a:ext cx="2651760" cy="3383280"/>
          </a:xfrm>
          <a:prstGeom prst="roundRect">
            <a:avLst>
              <a:gd name="adj" fmla="val 2759"/>
            </a:avLst>
          </a:prstGeom>
          <a:solidFill>
            <a:srgbClr val="287A5D"/>
          </a:solidFill>
          <a:ln w="12700">
            <a:solidFill>
              <a:srgbClr val="287A5D"/>
            </a:solidFill>
            <a:prstDash val="solid"/>
          </a:ln>
        </p:spPr>
        <p:txBody>
          <a:bodyPr/>
          <a:p/>
        </p:txBody>
      </p:sp>
      <p:sp>
        <p:nvSpPr>
          <p:cNvPr id="8" name="Text 6"/>
          <p:cNvSpPr txBox="1"/>
          <p:nvPr/>
        </p:nvSpPr>
        <p:spPr>
          <a:xfrm>
            <a:off x="3429000" y="1234440"/>
            <a:ext cx="2286000" cy="5029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host company</a:t>
            </a:r>
            <a:endParaRPr lang="en-US" sz="1600" dirty="0"/>
          </a:p>
        </p:txBody>
      </p:sp>
      <p:sp>
        <p:nvSpPr>
          <p:cNvPr id="9" name="Text 7"/>
          <p:cNvSpPr txBox="1"/>
          <p:nvPr/>
        </p:nvSpPr>
        <p:spPr>
          <a:xfrm>
            <a:off x="3429000" y="1828800"/>
            <a:ext cx="233172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Recommended for future placement</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Real projects and supportive staff</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Needs a named supervisor and early server access</a:t>
            </a:r>
            <a:endParaRPr lang="en-US" sz="1250" dirty="0"/>
          </a:p>
        </p:txBody>
      </p:sp>
      <p:sp>
        <p:nvSpPr>
          <p:cNvPr id="10" name="Conclusion card 3"/>
          <p:cNvSpPr/>
          <p:nvPr/>
        </p:nvSpPr>
        <p:spPr>
          <a:xfrm>
            <a:off x="6035040" y="1143000"/>
            <a:ext cx="2651760" cy="3383280"/>
          </a:xfrm>
          <a:prstGeom prst="roundRect">
            <a:avLst>
              <a:gd name="adj" fmla="val 2759"/>
            </a:avLst>
          </a:prstGeom>
          <a:solidFill>
            <a:srgbClr val="EEF5F1"/>
          </a:solidFill>
          <a:ln w="12700">
            <a:solidFill>
              <a:srgbClr val="EEF5F1"/>
            </a:solidFill>
            <a:prstDash val="solid"/>
          </a:ln>
        </p:spPr>
        <p:txBody>
          <a:bodyPr/>
          <a:p/>
        </p:txBody>
      </p:sp>
      <p:sp>
        <p:nvSpPr>
          <p:cNvPr id="11" name="Text 9"/>
          <p:cNvSpPr txBox="1"/>
          <p:nvPr/>
        </p:nvSpPr>
        <p:spPr>
          <a:xfrm>
            <a:off x="6217920" y="1234440"/>
            <a:ext cx="2286000" cy="50292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Improving the internship</a:t>
            </a:r>
            <a:endParaRPr lang="en-US" sz="1600" dirty="0"/>
          </a:p>
        </p:txBody>
      </p:sp>
      <p:sp>
        <p:nvSpPr>
          <p:cNvPr id="12" name="Text 10"/>
          <p:cNvSpPr txBox="1"/>
          <p:nvPr/>
        </p:nvSpPr>
        <p:spPr>
          <a:xfrm>
            <a:off x="6217920" y="1828800"/>
            <a:ext cx="233172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Extend from 45 to 90 days</a:t>
            </a:r>
            <a:endParaRPr lang="en-US" sz="1250" dirty="0"/>
          </a:p>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Mid-internship review with advisor and host</a:t>
            </a:r>
            <a:endParaRPr lang="en-US" sz="1250" dirty="0"/>
          </a:p>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Database design unit before the internship</a:t>
            </a:r>
            <a:endParaRPr lang="en-US" sz="1250" dirty="0"/>
          </a:p>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Keep an archive of project repositories</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10. Prototype Demonstration</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10</a:t>
            </a:r>
            <a:endParaRPr lang="en-US" sz="1100" dirty="0"/>
          </a:p>
        </p:txBody>
      </p:sp>
      <p:pic>
        <p:nvPicPr>
          <p:cNvPr id="4" name="Image 0" descr="Public site screen">    </p:cNvPr>
          <p:cNvPicPr>
            <a:picLocks noChangeAspect="1"/>
          </p:cNvPicPr>
          <p:nvPr/>
        </p:nvPicPr>
        <p:blipFill>
          <a:blip r:embed="rId1"/>
          <a:stretch>
            <a:fillRect/>
          </a:stretch>
        </p:blipFill>
        <p:spPr>
          <a:xfrm>
            <a:off x="457200" y="1097280"/>
            <a:ext cx="1938528" cy="936032"/>
          </a:xfrm>
          <a:prstGeom prst="rect">
            <a:avLst/>
          </a:prstGeom>
          <a:effectLst>
            <a:outerShdw sx="100000" sy="100000" kx="0" ky="0" algn="bl" rotWithShape="0" blurRad="76200" dist="25400" dir="5400000">
              <a:srgbClr val="000000">
                <a:alpha val="12000"/>
              </a:srgbClr>
            </a:outerShdw>
          </a:effectLst>
        </p:spPr>
      </p:pic>
      <p:sp>
        <p:nvSpPr>
          <p:cNvPr id="5" name="Text 2"/>
          <p:cNvSpPr txBox="1"/>
          <p:nvPr/>
        </p:nvSpPr>
        <p:spPr>
          <a:xfrm>
            <a:off x="457200"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Public site</a:t>
            </a:r>
            <a:endParaRPr lang="en-US" sz="1150" dirty="0"/>
          </a:p>
        </p:txBody>
      </p:sp>
      <p:pic>
        <p:nvPicPr>
          <p:cNvPr id="6" name="Image 1" descr="Admin login screen">    </p:cNvPr>
          <p:cNvPicPr>
            <a:picLocks noChangeAspect="1"/>
          </p:cNvPicPr>
          <p:nvPr/>
        </p:nvPicPr>
        <p:blipFill>
          <a:blip r:embed="rId2"/>
          <a:stretch>
            <a:fillRect/>
          </a:stretch>
        </p:blipFill>
        <p:spPr>
          <a:xfrm>
            <a:off x="2542032" y="1097280"/>
            <a:ext cx="1938528" cy="936032"/>
          </a:xfrm>
          <a:prstGeom prst="rect">
            <a:avLst/>
          </a:prstGeom>
          <a:effectLst>
            <a:outerShdw sx="100000" sy="100000" kx="0" ky="0" algn="bl" rotWithShape="0" blurRad="76200" dist="25400" dir="5400000">
              <a:srgbClr val="000000">
                <a:alpha val="12000"/>
              </a:srgbClr>
            </a:outerShdw>
          </a:effectLst>
        </p:spPr>
      </p:pic>
      <p:sp>
        <p:nvSpPr>
          <p:cNvPr id="7" name="Text 3"/>
          <p:cNvSpPr txBox="1"/>
          <p:nvPr/>
        </p:nvSpPr>
        <p:spPr>
          <a:xfrm>
            <a:off x="2542032"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Admin login</a:t>
            </a:r>
            <a:endParaRPr lang="en-US" sz="1150" dirty="0"/>
          </a:p>
        </p:txBody>
      </p:sp>
      <p:pic>
        <p:nvPicPr>
          <p:cNvPr id="8" name="Image 2" descr="Dashboard screen">    </p:cNvPr>
          <p:cNvPicPr>
            <a:picLocks noChangeAspect="1"/>
          </p:cNvPicPr>
          <p:nvPr/>
        </p:nvPicPr>
        <p:blipFill>
          <a:blip r:embed="rId3"/>
          <a:stretch>
            <a:fillRect/>
          </a:stretch>
        </p:blipFill>
        <p:spPr>
          <a:xfrm>
            <a:off x="4626864" y="1097280"/>
            <a:ext cx="1938528" cy="936032"/>
          </a:xfrm>
          <a:prstGeom prst="rect">
            <a:avLst/>
          </a:prstGeom>
          <a:effectLst>
            <a:outerShdw sx="100000" sy="100000" kx="0" ky="0" algn="bl" rotWithShape="0" blurRad="76200" dist="25400" dir="5400000">
              <a:srgbClr val="000000">
                <a:alpha val="12000"/>
              </a:srgbClr>
            </a:outerShdw>
          </a:effectLst>
        </p:spPr>
      </p:pic>
      <p:sp>
        <p:nvSpPr>
          <p:cNvPr id="9" name="Text 4"/>
          <p:cNvSpPr txBox="1"/>
          <p:nvPr/>
        </p:nvSpPr>
        <p:spPr>
          <a:xfrm>
            <a:off x="4626864"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Dashboard</a:t>
            </a:r>
            <a:endParaRPr lang="en-US" sz="1150" dirty="0"/>
          </a:p>
        </p:txBody>
      </p:sp>
      <p:pic>
        <p:nvPicPr>
          <p:cNvPr id="10" name="Image 3" descr="Homepage manager screen">    </p:cNvPr>
          <p:cNvPicPr>
            <a:picLocks noChangeAspect="1"/>
          </p:cNvPicPr>
          <p:nvPr/>
        </p:nvPicPr>
        <p:blipFill>
          <a:blip r:embed="rId4"/>
          <a:stretch>
            <a:fillRect/>
          </a:stretch>
        </p:blipFill>
        <p:spPr>
          <a:xfrm>
            <a:off x="6711696" y="1097280"/>
            <a:ext cx="1938528" cy="936032"/>
          </a:xfrm>
          <a:prstGeom prst="rect">
            <a:avLst/>
          </a:prstGeom>
          <a:effectLst>
            <a:outerShdw sx="100000" sy="100000" kx="0" ky="0" algn="bl" rotWithShape="0" blurRad="76200" dist="25400" dir="5400000">
              <a:srgbClr val="000000">
                <a:alpha val="12000"/>
              </a:srgbClr>
            </a:outerShdw>
          </a:effectLst>
        </p:spPr>
      </p:pic>
      <p:sp>
        <p:nvSpPr>
          <p:cNvPr id="11" name="Text 5"/>
          <p:cNvSpPr txBox="1"/>
          <p:nvPr/>
        </p:nvSpPr>
        <p:spPr>
          <a:xfrm>
            <a:off x="6711696"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Homepage manager</a:t>
            </a:r>
            <a:endParaRPr lang="en-US" sz="1150" dirty="0"/>
          </a:p>
        </p:txBody>
      </p:sp>
      <p:sp>
        <p:nvSpPr>
          <p:cNvPr id="12" name="Demo script"/>
          <p:cNvSpPr/>
          <p:nvPr/>
        </p:nvSpPr>
        <p:spPr>
          <a:xfrm>
            <a:off x="457200" y="2651760"/>
            <a:ext cx="8229600" cy="2011680"/>
          </a:xfrm>
          <a:prstGeom prst="roundRect">
            <a:avLst>
              <a:gd name="adj" fmla="val 3636"/>
            </a:avLst>
          </a:prstGeom>
          <a:solidFill>
            <a:srgbClr val="0F4C3A"/>
          </a:solidFill>
          <a:ln w="12700">
            <a:solidFill>
              <a:srgbClr val="0F4C3A"/>
            </a:solidFill>
            <a:prstDash val="solid"/>
          </a:ln>
        </p:spPr>
        <p:txBody>
          <a:bodyPr/>
          <a:p/>
        </p:txBody>
      </p:sp>
      <p:sp>
        <p:nvSpPr>
          <p:cNvPr id="13" name="Text 7"/>
          <p:cNvSpPr txBox="1"/>
          <p:nvPr/>
        </p:nvSpPr>
        <p:spPr>
          <a:xfrm>
            <a:off x="685800" y="2715768"/>
            <a:ext cx="7772400" cy="411480"/>
          </a:xfrm>
          <a:prstGeom prst="rect">
            <a:avLst/>
          </a:prstGeom>
          <a:noFill/>
          <a:ln/>
        </p:spPr>
        <p:txBody>
          <a:bodyPr wrap="square" lIns="0" tIns="0" rIns="0" bIns="0" rtlCol="0" anchor="ctr"/>
          <a:lstStyle/>
          <a:p>
            <a:pPr indent="0" marL="0">
              <a:buNone/>
            </a:pPr>
            <a:r>
              <a:rPr lang="en-US" sz="1800" b="1" dirty="0">
                <a:solidFill>
                  <a:srgbClr val="D4A017"/>
                </a:solidFill>
                <a:latin typeface="Cambria" pitchFamily="34" charset="0"/>
                <a:ea typeface="Cambria" pitchFamily="34" charset="-122"/>
                <a:cs typeface="Cambria" pitchFamily="34" charset="-120"/>
              </a:rPr>
              <a:t>Live demo on my machine</a:t>
            </a:r>
            <a:endParaRPr lang="en-US" sz="1800" dirty="0"/>
          </a:p>
        </p:txBody>
      </p:sp>
      <p:sp>
        <p:nvSpPr>
          <p:cNvPr id="14" name="Text 8"/>
          <p:cNvSpPr txBox="1"/>
          <p:nvPr/>
        </p:nvSpPr>
        <p:spPr>
          <a:xfrm>
            <a:off x="685800" y="3154680"/>
            <a:ext cx="7772400" cy="1417320"/>
          </a:xfrm>
          <a:prstGeom prst="rect">
            <a:avLst/>
          </a:prstGeom>
          <a:noFill/>
          <a:ln/>
        </p:spPr>
        <p:txBody>
          <a:bodyPr wrap="square" lIns="0" tIns="0" rIns="0" bIns="0" rtlCol="0" anchor="t"/>
          <a:lstStyle/>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1. Open the public site and show the news page</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2. Log in to /admin as an administrator</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3. Create a news article with a cover image and publish it</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4. Refresh the public site and show the new article</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5. Show the activity log and the role-restricted System menu</a:t>
            </a:r>
            <a:endParaRPr lang="en-US" sz="13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132588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457200" y="2377440"/>
            <a:ext cx="8229600" cy="548640"/>
          </a:xfrm>
          <a:prstGeom prst="rect">
            <a:avLst/>
          </a:prstGeom>
          <a:noFill/>
          <a:ln/>
        </p:spPr>
        <p:txBody>
          <a:bodyPr wrap="square" lIns="0" tIns="0" rIns="0" bIns="0" rtlCol="0" anchor="ctr"/>
          <a:lstStyle/>
          <a:p>
            <a:pPr indent="0" marL="0">
              <a:buNone/>
            </a:pPr>
            <a:r>
              <a:rPr lang="en-US" sz="2600" dirty="0">
                <a:solidFill>
                  <a:srgbClr val="D4A017"/>
                </a:solidFill>
                <a:latin typeface="Cambria" pitchFamily="34" charset="0"/>
                <a:ea typeface="Cambria" pitchFamily="34" charset="-122"/>
                <a:cs typeface="Cambria" pitchFamily="34" charset="-120"/>
              </a:rPr>
              <a:t>Questions and discussion</a:t>
            </a:r>
            <a:endParaRPr lang="en-US" sz="2600" dirty="0"/>
          </a:p>
        </p:txBody>
      </p:sp>
      <p:sp>
        <p:nvSpPr>
          <p:cNvPr id="4" name="Text 2"/>
          <p:cNvSpPr txBox="1"/>
          <p:nvPr/>
        </p:nvSpPr>
        <p:spPr>
          <a:xfrm>
            <a:off x="457200" y="3474720"/>
            <a:ext cx="8229600" cy="731520"/>
          </a:xfrm>
          <a:prstGeom prst="rect">
            <a:avLst/>
          </a:prstGeom>
          <a:noFill/>
          <a:ln/>
        </p:spPr>
        <p:txBody>
          <a:bodyPr wrap="square" lIns="0" tIns="0" rIns="0" bIns="0" rtlCol="0" anchor="ctr"/>
          <a:lstStyle/>
          <a:p>
            <a:pPr indent="0" marL="0">
              <a:spcAft>
                <a:spcPts val="400"/>
              </a:spcAft>
              <a:buNone/>
            </a:pPr>
            <a:r>
              <a:rPr lang="en-US" sz="1600" b="1" dirty="0">
                <a:solidFill>
                  <a:srgbClr val="E6F0EA"/>
                </a:solidFill>
                <a:latin typeface="Calibri" pitchFamily="34" charset="0"/>
                <a:ea typeface="Calibri" pitchFamily="34" charset="-122"/>
                <a:cs typeface="Calibri" pitchFamily="34" charset="-120"/>
              </a:rPr>
              <a:t>Nedi Usman Hussen  |  2184/16</a:t>
            </a:r>
            <a:endParaRPr lang="en-US" sz="1600" dirty="0"/>
          </a:p>
          <a:p>
            <a:pPr indent="0" marL="0">
              <a:spcAft>
                <a:spcPts val="400"/>
              </a:spcAft>
              <a:buNone/>
            </a:pPr>
            <a:r>
              <a:rPr lang="en-US" sz="1600" dirty="0">
                <a:solidFill>
                  <a:srgbClr val="E6F0EA"/>
                </a:solidFill>
                <a:latin typeface="Calibri" pitchFamily="34" charset="0"/>
                <a:ea typeface="Calibri" pitchFamily="34" charset="-122"/>
                <a:cs typeface="Calibri" pitchFamily="34" charset="-120"/>
              </a:rPr>
              <a:t>Advisor: Mr. Kibru G.  |  ICT Directorate, Oda Bultum University</a:t>
            </a:r>
            <a:endParaRPr lang="en-US" sz="16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1.1 Host Organization Structure</a:t>
            </a:r>
            <a:endParaRPr lang="en-US" sz="3200" dirty="0"/>
          </a:p>
        </p:txBody>
      </p:sp>
      <p:sp>
        <p:nvSpPr>
          <p:cNvPr id="3" name="Fact icon 1 bg"/>
          <p:cNvSpPr/>
          <p:nvPr/>
        </p:nvSpPr>
        <p:spPr>
          <a:xfrm>
            <a:off x="457200" y="1188720"/>
            <a:ext cx="640080" cy="640080"/>
          </a:xfrm>
          <a:prstGeom prst="ellipse">
            <a:avLst/>
          </a:prstGeom>
          <a:solidFill>
            <a:srgbClr val="0F4C3A"/>
          </a:solidFill>
          <a:ln w="12700">
            <a:solidFill>
              <a:srgbClr val="0F4C3A"/>
            </a:solidFill>
            <a:prstDash val="solid"/>
          </a:ln>
        </p:spPr>
        <p:txBody>
          <a:bodyPr/>
          <a:p/>
        </p:txBody>
      </p:sp>
      <p:pic>
        <p:nvPicPr>
          <p:cNvPr id="4" name="Image 0" descr="FaUniversity">    </p:cNvPr>
          <p:cNvPicPr>
            <a:picLocks noChangeAspect="1"/>
          </p:cNvPicPr>
          <p:nvPr/>
        </p:nvPicPr>
        <p:blipFill>
          <a:blip r:embed="rId2"/>
          <a:stretch>
            <a:fillRect/>
          </a:stretch>
        </p:blipFill>
        <p:spPr>
          <a:xfrm>
            <a:off x="610819" y="1342339"/>
            <a:ext cx="332842" cy="332842"/>
          </a:xfrm>
          <a:prstGeom prst="rect">
            <a:avLst/>
          </a:prstGeom>
        </p:spPr>
      </p:pic>
      <p:sp>
        <p:nvSpPr>
          <p:cNvPr id="5" name="Text 2"/>
          <p:cNvSpPr txBox="1"/>
          <p:nvPr/>
        </p:nvSpPr>
        <p:spPr>
          <a:xfrm>
            <a:off x="1280160" y="1143000"/>
            <a:ext cx="3017520" cy="914400"/>
          </a:xfrm>
          <a:prstGeom prst="rect">
            <a:avLst/>
          </a:prstGeom>
          <a:noFill/>
          <a:ln/>
        </p:spPr>
        <p:txBody>
          <a:bodyPr wrap="square" lIns="0" tIns="0" rIns="0" bIns="0" rtlCol="0" anchor="ctr"/>
          <a:lstStyle/>
          <a:p>
            <a:pPr indent="0" marL="0">
              <a:buNone/>
            </a:pPr>
            <a:r>
              <a:rPr lang="en-US" sz="1700" b="1" dirty="0">
                <a:solidFill>
                  <a:srgbClr val="0F4C3A"/>
                </a:solidFill>
                <a:latin typeface="Calibri" pitchFamily="34" charset="0"/>
                <a:ea typeface="Calibri" pitchFamily="34" charset="-122"/>
                <a:cs typeface="Calibri" pitchFamily="34" charset="-120"/>
              </a:rPr>
              <a:t>Oda Bultum University</a:t>
            </a:r>
            <a:endParaRPr lang="en-US" sz="1700" dirty="0"/>
          </a:p>
          <a:p>
            <a:pPr indent="0" marL="0">
              <a:buNone/>
            </a:pPr>
            <a:r>
              <a:rPr lang="en-US" sz="1300" dirty="0">
                <a:solidFill>
                  <a:srgbClr val="17251F"/>
                </a:solidFill>
                <a:latin typeface="Calibri" pitchFamily="34" charset="0"/>
                <a:ea typeface="Calibri" pitchFamily="34" charset="-122"/>
                <a:cs typeface="Calibri" pitchFamily="34" charset="-120"/>
              </a:rPr>
              <a:t>Public university founded in 2015, in Chiro, West Hararghe, Oromia</a:t>
            </a:r>
            <a:endParaRPr lang="en-US" sz="1700" dirty="0"/>
          </a:p>
        </p:txBody>
      </p:sp>
      <p:sp>
        <p:nvSpPr>
          <p:cNvPr id="6" name="Fact icon 2 bg"/>
          <p:cNvSpPr/>
          <p:nvPr/>
        </p:nvSpPr>
        <p:spPr>
          <a:xfrm>
            <a:off x="457200" y="2331720"/>
            <a:ext cx="640080" cy="640080"/>
          </a:xfrm>
          <a:prstGeom prst="ellipse">
            <a:avLst/>
          </a:prstGeom>
          <a:solidFill>
            <a:srgbClr val="0F4C3A"/>
          </a:solidFill>
          <a:ln w="12700">
            <a:solidFill>
              <a:srgbClr val="0F4C3A"/>
            </a:solidFill>
            <a:prstDash val="solid"/>
          </a:ln>
        </p:spPr>
        <p:txBody>
          <a:bodyPr/>
          <a:p/>
        </p:txBody>
      </p:sp>
      <p:pic>
        <p:nvPicPr>
          <p:cNvPr id="7" name="Image 1" descr="FaServer">    </p:cNvPr>
          <p:cNvPicPr>
            <a:picLocks noChangeAspect="1"/>
          </p:cNvPicPr>
          <p:nvPr/>
        </p:nvPicPr>
        <p:blipFill>
          <a:blip r:embed="rId3"/>
          <a:stretch>
            <a:fillRect/>
          </a:stretch>
        </p:blipFill>
        <p:spPr>
          <a:xfrm>
            <a:off x="610819" y="2485339"/>
            <a:ext cx="332842" cy="332842"/>
          </a:xfrm>
          <a:prstGeom prst="rect">
            <a:avLst/>
          </a:prstGeom>
        </p:spPr>
      </p:pic>
      <p:sp>
        <p:nvSpPr>
          <p:cNvPr id="8" name="Text 4"/>
          <p:cNvSpPr txBox="1"/>
          <p:nvPr/>
        </p:nvSpPr>
        <p:spPr>
          <a:xfrm>
            <a:off x="1280160" y="2286000"/>
            <a:ext cx="3017520" cy="914400"/>
          </a:xfrm>
          <a:prstGeom prst="rect">
            <a:avLst/>
          </a:prstGeom>
          <a:noFill/>
          <a:ln/>
        </p:spPr>
        <p:txBody>
          <a:bodyPr wrap="square" lIns="0" tIns="0" rIns="0" bIns="0" rtlCol="0" anchor="ctr"/>
          <a:lstStyle/>
          <a:p>
            <a:pPr indent="0" marL="0">
              <a:buNone/>
            </a:pPr>
            <a:r>
              <a:rPr lang="en-US" sz="1700" b="1" dirty="0">
                <a:solidFill>
                  <a:srgbClr val="0F4C3A"/>
                </a:solidFill>
                <a:latin typeface="Calibri" pitchFamily="34" charset="0"/>
                <a:ea typeface="Calibri" pitchFamily="34" charset="-122"/>
                <a:cs typeface="Calibri" pitchFamily="34" charset="-120"/>
              </a:rPr>
              <a:t>ICT Directorate</a:t>
            </a:r>
            <a:endParaRPr lang="en-US" sz="1700" dirty="0"/>
          </a:p>
          <a:p>
            <a:pPr indent="0" marL="0">
              <a:buNone/>
            </a:pPr>
            <a:r>
              <a:rPr lang="en-US" sz="1300" dirty="0">
                <a:solidFill>
                  <a:srgbClr val="17251F"/>
                </a:solidFill>
                <a:latin typeface="Calibri" pitchFamily="34" charset="0"/>
                <a:ea typeface="Calibri" pitchFamily="34" charset="-122"/>
                <a:cs typeface="Calibri" pitchFamily="34" charset="-120"/>
              </a:rPr>
              <a:t>Manages servers, network and systems; technical owner of OBU-CMS</a:t>
            </a:r>
            <a:endParaRPr lang="en-US" sz="1700" dirty="0"/>
          </a:p>
        </p:txBody>
      </p:sp>
      <p:sp>
        <p:nvSpPr>
          <p:cNvPr id="9" name="Fact icon 3 bg"/>
          <p:cNvSpPr/>
          <p:nvPr/>
        </p:nvSpPr>
        <p:spPr>
          <a:xfrm>
            <a:off x="457200" y="3474720"/>
            <a:ext cx="640080" cy="640080"/>
          </a:xfrm>
          <a:prstGeom prst="ellipse">
            <a:avLst/>
          </a:prstGeom>
          <a:solidFill>
            <a:srgbClr val="0F4C3A"/>
          </a:solidFill>
          <a:ln w="12700">
            <a:solidFill>
              <a:srgbClr val="0F4C3A"/>
            </a:solidFill>
            <a:prstDash val="solid"/>
          </a:ln>
        </p:spPr>
        <p:txBody>
          <a:bodyPr/>
          <a:p/>
        </p:txBody>
      </p:sp>
      <p:pic>
        <p:nvPicPr>
          <p:cNvPr id="10" name="Image 2" descr="FaUsers">    </p:cNvPr>
          <p:cNvPicPr>
            <a:picLocks noChangeAspect="1"/>
          </p:cNvPicPr>
          <p:nvPr/>
        </p:nvPicPr>
        <p:blipFill>
          <a:blip r:embed="rId4"/>
          <a:stretch>
            <a:fillRect/>
          </a:stretch>
        </p:blipFill>
        <p:spPr>
          <a:xfrm>
            <a:off x="610819" y="3628339"/>
            <a:ext cx="332842" cy="332842"/>
          </a:xfrm>
          <a:prstGeom prst="rect">
            <a:avLst/>
          </a:prstGeom>
        </p:spPr>
      </p:pic>
      <p:sp>
        <p:nvSpPr>
          <p:cNvPr id="11" name="Text 6"/>
          <p:cNvSpPr txBox="1"/>
          <p:nvPr/>
        </p:nvSpPr>
        <p:spPr>
          <a:xfrm>
            <a:off x="1280160" y="3429000"/>
            <a:ext cx="3017520" cy="914400"/>
          </a:xfrm>
          <a:prstGeom prst="rect">
            <a:avLst/>
          </a:prstGeom>
          <a:noFill/>
          <a:ln/>
        </p:spPr>
        <p:txBody>
          <a:bodyPr wrap="square" lIns="0" tIns="0" rIns="0" bIns="0" rtlCol="0" anchor="ctr"/>
          <a:lstStyle/>
          <a:p>
            <a:pPr indent="0" marL="0">
              <a:buNone/>
            </a:pPr>
            <a:r>
              <a:rPr lang="en-US" sz="1700" b="1" dirty="0">
                <a:solidFill>
                  <a:srgbClr val="0F4C3A"/>
                </a:solidFill>
                <a:latin typeface="Calibri" pitchFamily="34" charset="0"/>
                <a:ea typeface="Calibri" pitchFamily="34" charset="-122"/>
                <a:cs typeface="Calibri" pitchFamily="34" charset="-120"/>
              </a:rPr>
              <a:t>Who uses the website</a:t>
            </a:r>
            <a:endParaRPr lang="en-US" sz="1700" dirty="0"/>
          </a:p>
          <a:p>
            <a:pPr indent="0" marL="0">
              <a:buNone/>
            </a:pPr>
            <a:r>
              <a:rPr lang="en-US" sz="1300" dirty="0">
                <a:solidFill>
                  <a:srgbClr val="17251F"/>
                </a:solidFill>
                <a:latin typeface="Calibri" pitchFamily="34" charset="0"/>
                <a:ea typeface="Calibri" pitchFamily="34" charset="-122"/>
                <a:cs typeface="Calibri" pitchFamily="34" charset="-120"/>
              </a:rPr>
              <a:t>Students, applicants, staff, Registrar, communications office, the public</a:t>
            </a:r>
            <a:endParaRPr lang="en-US" sz="1700" dirty="0"/>
          </a:p>
        </p:txBody>
      </p:sp>
      <p:sp>
        <p:nvSpPr>
          <p:cNvPr id="12" name="Org chart panel"/>
          <p:cNvSpPr/>
          <p:nvPr/>
        </p:nvSpPr>
        <p:spPr>
          <a:xfrm>
            <a:off x="4526280" y="1097280"/>
            <a:ext cx="4206240" cy="3520440"/>
          </a:xfrm>
          <a:prstGeom prst="roundRect">
            <a:avLst>
              <a:gd name="adj" fmla="val 2078"/>
            </a:avLst>
          </a:prstGeom>
          <a:solidFill>
            <a:srgbClr val="EEF5F1"/>
          </a:solidFill>
          <a:ln w="12700">
            <a:solidFill>
              <a:srgbClr val="EEF5F1"/>
            </a:solidFill>
            <a:prstDash val="solid"/>
          </a:ln>
        </p:spPr>
        <p:txBody>
          <a:bodyPr/>
          <a:p/>
        </p:txBody>
      </p:sp>
      <p:sp>
        <p:nvSpPr>
          <p:cNvPr id="13" name="President"/>
          <p:cNvSpPr/>
          <p:nvPr/>
        </p:nvSpPr>
        <p:spPr>
          <a:xfrm>
            <a:off x="5806440" y="1234440"/>
            <a:ext cx="1645920" cy="411480"/>
          </a:xfrm>
          <a:prstGeom prst="roundRect">
            <a:avLst>
              <a:gd name="adj" fmla="val 13333"/>
            </a:avLst>
          </a:prstGeom>
          <a:solidFill>
            <a:srgbClr val="0F4C3A"/>
          </a:solidFill>
          <a:ln w="12700">
            <a:solidFill>
              <a:srgbClr val="0F4C3A"/>
            </a:solidFill>
            <a:prstDash val="solid"/>
          </a:ln>
        </p:spPr>
        <p:txBody>
          <a:bodyPr/>
          <a:p/>
        </p:txBody>
      </p:sp>
      <p:sp>
        <p:nvSpPr>
          <p:cNvPr id="14" name="Text 9"/>
          <p:cNvSpPr txBox="1"/>
          <p:nvPr/>
        </p:nvSpPr>
        <p:spPr>
          <a:xfrm>
            <a:off x="5806440" y="1234440"/>
            <a:ext cx="1645920" cy="411480"/>
          </a:xfrm>
          <a:prstGeom prst="rect">
            <a:avLst/>
          </a:prstGeom>
          <a:noFill/>
          <a:ln/>
        </p:spPr>
        <p:txBody>
          <a:bodyPr wrap="square" lIns="508" tIns="508" rIns="508"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University President</a:t>
            </a:r>
            <a:endParaRPr lang="en-US" sz="1300" dirty="0"/>
          </a:p>
        </p:txBody>
      </p:sp>
      <p:sp>
        <p:nvSpPr>
          <p:cNvPr id="15" name="Org connector"/>
          <p:cNvSpPr/>
          <p:nvPr/>
        </p:nvSpPr>
        <p:spPr>
          <a:xfrm>
            <a:off x="6629400" y="1645920"/>
            <a:ext cx="0" cy="228600"/>
          </a:xfrm>
          <a:prstGeom prst="line">
            <a:avLst/>
          </a:prstGeom>
          <a:noFill/>
          <a:ln w="19050">
            <a:solidFill>
              <a:srgbClr val="287A5D"/>
            </a:solidFill>
            <a:prstDash val="solid"/>
          </a:ln>
        </p:spPr>
        <p:txBody>
          <a:bodyPr/>
          <a:p/>
        </p:txBody>
      </p:sp>
      <p:sp>
        <p:nvSpPr>
          <p:cNvPr id="16" name="Org connector"/>
          <p:cNvSpPr/>
          <p:nvPr/>
        </p:nvSpPr>
        <p:spPr>
          <a:xfrm>
            <a:off x="5212080" y="1874520"/>
            <a:ext cx="2834640" cy="0"/>
          </a:xfrm>
          <a:prstGeom prst="line">
            <a:avLst/>
          </a:prstGeom>
          <a:noFill/>
          <a:ln w="19050">
            <a:solidFill>
              <a:srgbClr val="287A5D"/>
            </a:solidFill>
            <a:prstDash val="solid"/>
          </a:ln>
        </p:spPr>
        <p:txBody>
          <a:bodyPr/>
          <a:p/>
        </p:txBody>
      </p:sp>
      <p:sp>
        <p:nvSpPr>
          <p:cNvPr id="17" name="Org connector"/>
          <p:cNvSpPr/>
          <p:nvPr/>
        </p:nvSpPr>
        <p:spPr>
          <a:xfrm>
            <a:off x="5212080" y="1874520"/>
            <a:ext cx="0" cy="182880"/>
          </a:xfrm>
          <a:prstGeom prst="line">
            <a:avLst/>
          </a:prstGeom>
          <a:noFill/>
          <a:ln w="19050">
            <a:solidFill>
              <a:srgbClr val="287A5D"/>
            </a:solidFill>
            <a:prstDash val="solid"/>
          </a:ln>
        </p:spPr>
        <p:txBody>
          <a:bodyPr/>
          <a:p/>
        </p:txBody>
      </p:sp>
      <p:sp>
        <p:nvSpPr>
          <p:cNvPr id="18" name="Org connector"/>
          <p:cNvSpPr/>
          <p:nvPr/>
        </p:nvSpPr>
        <p:spPr>
          <a:xfrm>
            <a:off x="6629400" y="1874520"/>
            <a:ext cx="0" cy="182880"/>
          </a:xfrm>
          <a:prstGeom prst="line">
            <a:avLst/>
          </a:prstGeom>
          <a:noFill/>
          <a:ln w="19050">
            <a:solidFill>
              <a:srgbClr val="287A5D"/>
            </a:solidFill>
            <a:prstDash val="solid"/>
          </a:ln>
        </p:spPr>
        <p:txBody>
          <a:bodyPr/>
          <a:p/>
        </p:txBody>
      </p:sp>
      <p:sp>
        <p:nvSpPr>
          <p:cNvPr id="19" name="Org connector"/>
          <p:cNvSpPr/>
          <p:nvPr/>
        </p:nvSpPr>
        <p:spPr>
          <a:xfrm>
            <a:off x="8046720" y="1874520"/>
            <a:ext cx="0" cy="182880"/>
          </a:xfrm>
          <a:prstGeom prst="line">
            <a:avLst/>
          </a:prstGeom>
          <a:noFill/>
          <a:ln w="19050">
            <a:solidFill>
              <a:srgbClr val="287A5D"/>
            </a:solidFill>
            <a:prstDash val="solid"/>
          </a:ln>
        </p:spPr>
        <p:txBody>
          <a:bodyPr/>
          <a:p/>
        </p:txBody>
      </p:sp>
      <p:sp>
        <p:nvSpPr>
          <p:cNvPr id="20" name="President Offices"/>
          <p:cNvSpPr/>
          <p:nvPr/>
        </p:nvSpPr>
        <p:spPr>
          <a:xfrm>
            <a:off x="4572000" y="2057400"/>
            <a:ext cx="1280160" cy="822960"/>
          </a:xfrm>
          <a:prstGeom prst="roundRect">
            <a:avLst>
              <a:gd name="adj" fmla="val 6667"/>
            </a:avLst>
          </a:prstGeom>
          <a:solidFill>
            <a:srgbClr val="287A5D"/>
          </a:solidFill>
          <a:ln w="12700">
            <a:solidFill>
              <a:srgbClr val="287A5D"/>
            </a:solidFill>
            <a:prstDash val="solid"/>
          </a:ln>
        </p:spPr>
        <p:txBody>
          <a:bodyPr/>
          <a:p/>
        </p:txBody>
      </p:sp>
      <p:sp>
        <p:nvSpPr>
          <p:cNvPr id="21" name="Text 16"/>
          <p:cNvSpPr txBox="1"/>
          <p:nvPr/>
        </p:nvSpPr>
        <p:spPr>
          <a:xfrm>
            <a:off x="4572000" y="2057400"/>
            <a:ext cx="1280160" cy="822960"/>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President Offices</a:t>
            </a:r>
            <a:endParaRPr lang="en-US" sz="1200" dirty="0"/>
          </a:p>
        </p:txBody>
      </p:sp>
      <p:sp>
        <p:nvSpPr>
          <p:cNvPr id="22" name="Admin VP"/>
          <p:cNvSpPr/>
          <p:nvPr/>
        </p:nvSpPr>
        <p:spPr>
          <a:xfrm>
            <a:off x="5989320" y="2057400"/>
            <a:ext cx="1280160" cy="822960"/>
          </a:xfrm>
          <a:prstGeom prst="roundRect">
            <a:avLst>
              <a:gd name="adj" fmla="val 6667"/>
            </a:avLst>
          </a:prstGeom>
          <a:solidFill>
            <a:srgbClr val="287A5D"/>
          </a:solidFill>
          <a:ln w="12700">
            <a:solidFill>
              <a:srgbClr val="287A5D"/>
            </a:solidFill>
            <a:prstDash val="solid"/>
          </a:ln>
        </p:spPr>
        <p:txBody>
          <a:bodyPr/>
          <a:p/>
        </p:txBody>
      </p:sp>
      <p:sp>
        <p:nvSpPr>
          <p:cNvPr id="23" name="Text 18"/>
          <p:cNvSpPr txBox="1"/>
          <p:nvPr/>
        </p:nvSpPr>
        <p:spPr>
          <a:xfrm>
            <a:off x="5989320" y="2057400"/>
            <a:ext cx="1280160" cy="82296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Administrative and Development VP</a:t>
            </a:r>
            <a:endParaRPr lang="en-US" sz="1100" dirty="0"/>
          </a:p>
        </p:txBody>
      </p:sp>
      <p:sp>
        <p:nvSpPr>
          <p:cNvPr id="24" name="Academic VP"/>
          <p:cNvSpPr/>
          <p:nvPr/>
        </p:nvSpPr>
        <p:spPr>
          <a:xfrm>
            <a:off x="7406640" y="2057400"/>
            <a:ext cx="1280160" cy="822960"/>
          </a:xfrm>
          <a:prstGeom prst="roundRect">
            <a:avLst>
              <a:gd name="adj" fmla="val 6667"/>
            </a:avLst>
          </a:prstGeom>
          <a:solidFill>
            <a:srgbClr val="287A5D"/>
          </a:solidFill>
          <a:ln w="12700">
            <a:solidFill>
              <a:srgbClr val="287A5D"/>
            </a:solidFill>
            <a:prstDash val="solid"/>
          </a:ln>
        </p:spPr>
        <p:txBody>
          <a:bodyPr/>
          <a:p/>
        </p:txBody>
      </p:sp>
      <p:sp>
        <p:nvSpPr>
          <p:cNvPr id="25" name="Text 20"/>
          <p:cNvSpPr txBox="1"/>
          <p:nvPr/>
        </p:nvSpPr>
        <p:spPr>
          <a:xfrm>
            <a:off x="7406640" y="2057400"/>
            <a:ext cx="1280160" cy="822960"/>
          </a:xfrm>
          <a:prstGeom prst="rect">
            <a:avLst/>
          </a:prstGeom>
          <a:noFill/>
          <a:ln/>
        </p:spPr>
        <p:txBody>
          <a:bodyPr wrap="square" lIns="508" tIns="508" rIns="508" bIns="508"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Academic, Research and Community Service VP</a:t>
            </a:r>
            <a:endParaRPr lang="en-US" sz="1050" dirty="0"/>
          </a:p>
        </p:txBody>
      </p:sp>
      <p:sp>
        <p:nvSpPr>
          <p:cNvPr id="26" name="Org connector"/>
          <p:cNvSpPr/>
          <p:nvPr/>
        </p:nvSpPr>
        <p:spPr>
          <a:xfrm>
            <a:off x="5212080" y="2880360"/>
            <a:ext cx="0" cy="228600"/>
          </a:xfrm>
          <a:prstGeom prst="line">
            <a:avLst/>
          </a:prstGeom>
          <a:noFill/>
          <a:ln w="19050">
            <a:solidFill>
              <a:srgbClr val="287A5D"/>
            </a:solidFill>
            <a:prstDash val="solid"/>
          </a:ln>
        </p:spPr>
        <p:txBody>
          <a:bodyPr/>
          <a:p/>
        </p:txBody>
      </p:sp>
      <p:sp>
        <p:nvSpPr>
          <p:cNvPr id="27" name="ICT Directorate"/>
          <p:cNvSpPr/>
          <p:nvPr/>
        </p:nvSpPr>
        <p:spPr>
          <a:xfrm>
            <a:off x="4572000" y="3108960"/>
            <a:ext cx="1280160" cy="685800"/>
          </a:xfrm>
          <a:prstGeom prst="roundRect">
            <a:avLst>
              <a:gd name="adj" fmla="val 8000"/>
            </a:avLst>
          </a:prstGeom>
          <a:solidFill>
            <a:srgbClr val="D4A017"/>
          </a:solidFill>
          <a:ln w="12700">
            <a:solidFill>
              <a:srgbClr val="D4A017"/>
            </a:solidFill>
            <a:prstDash val="solid"/>
          </a:ln>
        </p:spPr>
        <p:txBody>
          <a:bodyPr/>
          <a:p/>
        </p:txBody>
      </p:sp>
      <p:sp>
        <p:nvSpPr>
          <p:cNvPr id="28" name="Text 23"/>
          <p:cNvSpPr txBox="1"/>
          <p:nvPr/>
        </p:nvSpPr>
        <p:spPr>
          <a:xfrm>
            <a:off x="4572000" y="3108960"/>
            <a:ext cx="1280160" cy="685800"/>
          </a:xfrm>
          <a:prstGeom prst="rect">
            <a:avLst/>
          </a:prstGeom>
          <a:noFill/>
          <a:ln/>
        </p:spPr>
        <p:txBody>
          <a:bodyPr wrap="square" lIns="508" tIns="508" rIns="508" bIns="508" rtlCol="0" anchor="ctr"/>
          <a:lstStyle/>
          <a:p>
            <a:pPr algn="ctr" indent="0" marL="0">
              <a:buNone/>
            </a:pPr>
            <a:r>
              <a:rPr lang="en-US" sz="1200" b="1" dirty="0">
                <a:solidFill>
                  <a:srgbClr val="17251F"/>
                </a:solidFill>
                <a:latin typeface="Calibri" pitchFamily="34" charset="0"/>
                <a:ea typeface="Calibri" pitchFamily="34" charset="-122"/>
                <a:cs typeface="Calibri" pitchFamily="34" charset="-120"/>
              </a:rPr>
              <a:t>ICT Directorate (host)</a:t>
            </a:r>
            <a:endParaRPr lang="en-US" sz="1200" dirty="0"/>
          </a:p>
        </p:txBody>
      </p:sp>
      <p:sp>
        <p:nvSpPr>
          <p:cNvPr id="29" name="Org connector"/>
          <p:cNvSpPr/>
          <p:nvPr/>
        </p:nvSpPr>
        <p:spPr>
          <a:xfrm>
            <a:off x="8046720" y="2880360"/>
            <a:ext cx="0" cy="228600"/>
          </a:xfrm>
          <a:prstGeom prst="line">
            <a:avLst/>
          </a:prstGeom>
          <a:noFill/>
          <a:ln w="19050">
            <a:solidFill>
              <a:srgbClr val="287A5D"/>
            </a:solidFill>
            <a:prstDash val="solid"/>
          </a:ln>
        </p:spPr>
        <p:txBody>
          <a:bodyPr/>
          <a:p/>
        </p:txBody>
      </p:sp>
      <p:sp>
        <p:nvSpPr>
          <p:cNvPr id="30" name="Academic units"/>
          <p:cNvSpPr/>
          <p:nvPr/>
        </p:nvSpPr>
        <p:spPr>
          <a:xfrm>
            <a:off x="7406640" y="3108960"/>
            <a:ext cx="1280160" cy="685800"/>
          </a:xfrm>
          <a:prstGeom prst="roundRect">
            <a:avLst>
              <a:gd name="adj" fmla="val 8000"/>
            </a:avLst>
          </a:prstGeom>
          <a:solidFill>
            <a:srgbClr val="FFFFFF"/>
          </a:solidFill>
          <a:ln w="12700">
            <a:solidFill>
              <a:srgbClr val="FFFFFF"/>
            </a:solidFill>
            <a:prstDash val="solid"/>
          </a:ln>
        </p:spPr>
        <p:txBody>
          <a:bodyPr/>
          <a:p/>
        </p:txBody>
      </p:sp>
      <p:sp>
        <p:nvSpPr>
          <p:cNvPr id="31" name="Text 26"/>
          <p:cNvSpPr txBox="1"/>
          <p:nvPr/>
        </p:nvSpPr>
        <p:spPr>
          <a:xfrm>
            <a:off x="7406640" y="3108960"/>
            <a:ext cx="1280160" cy="685800"/>
          </a:xfrm>
          <a:prstGeom prst="rect">
            <a:avLst/>
          </a:prstGeom>
          <a:noFill/>
          <a:ln/>
        </p:spPr>
        <p:txBody>
          <a:bodyPr wrap="square" lIns="508" tIns="508" rIns="508" bIns="508" rtlCol="0" anchor="ctr"/>
          <a:lstStyle/>
          <a:p>
            <a:pPr algn="ctr" indent="0" marL="0">
              <a:buNone/>
            </a:pPr>
            <a:r>
              <a:rPr lang="en-US" sz="1100" dirty="0">
                <a:solidFill>
                  <a:srgbClr val="17251F"/>
                </a:solidFill>
                <a:latin typeface="Calibri" pitchFamily="34" charset="0"/>
                <a:ea typeface="Calibri" pitchFamily="34" charset="-122"/>
                <a:cs typeface="Calibri" pitchFamily="34" charset="-120"/>
              </a:rPr>
              <a:t>Registrar, Colleges, Research</a:t>
            </a:r>
            <a:endParaRPr lang="en-US" sz="1100" dirty="0"/>
          </a:p>
        </p:txBody>
      </p:sp>
      <p:sp>
        <p:nvSpPr>
          <p:cNvPr id="32" name="Org connector"/>
          <p:cNvSpPr/>
          <p:nvPr/>
        </p:nvSpPr>
        <p:spPr>
          <a:xfrm>
            <a:off x="5212080" y="3794760"/>
            <a:ext cx="0" cy="228600"/>
          </a:xfrm>
          <a:prstGeom prst="line">
            <a:avLst/>
          </a:prstGeom>
          <a:noFill/>
          <a:ln w="19050">
            <a:solidFill>
              <a:srgbClr val="287A5D"/>
            </a:solidFill>
            <a:prstDash val="solid"/>
          </a:ln>
        </p:spPr>
        <p:txBody>
          <a:bodyPr/>
          <a:p/>
        </p:txBody>
      </p:sp>
      <p:sp>
        <p:nvSpPr>
          <p:cNvPr id="33" name="OBU-CMS box"/>
          <p:cNvSpPr/>
          <p:nvPr/>
        </p:nvSpPr>
        <p:spPr>
          <a:xfrm>
            <a:off x="4572000" y="4023360"/>
            <a:ext cx="1280160" cy="457200"/>
          </a:xfrm>
          <a:prstGeom prst="roundRect">
            <a:avLst>
              <a:gd name="adj" fmla="val 12000"/>
            </a:avLst>
          </a:prstGeom>
          <a:solidFill>
            <a:srgbClr val="0F4C3A"/>
          </a:solidFill>
          <a:ln w="12700">
            <a:solidFill>
              <a:srgbClr val="0F4C3A"/>
            </a:solidFill>
            <a:prstDash val="solid"/>
          </a:ln>
        </p:spPr>
        <p:txBody>
          <a:bodyPr/>
          <a:p/>
        </p:txBody>
      </p:sp>
      <p:sp>
        <p:nvSpPr>
          <p:cNvPr id="34" name="Text 29"/>
          <p:cNvSpPr txBox="1"/>
          <p:nvPr/>
        </p:nvSpPr>
        <p:spPr>
          <a:xfrm>
            <a:off x="4572000" y="4023360"/>
            <a:ext cx="1280160" cy="457200"/>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OBU-CMS</a:t>
            </a:r>
            <a:endParaRPr lang="en-US" sz="1200" dirty="0"/>
          </a:p>
        </p:txBody>
      </p:sp>
      <p:sp>
        <p:nvSpPr>
          <p:cNvPr id="35" name="Text 30"/>
          <p:cNvSpPr txBox="1"/>
          <p:nvPr/>
        </p:nvSpPr>
        <p:spPr>
          <a:xfrm>
            <a:off x="5989320" y="3108960"/>
            <a:ext cx="1280160" cy="1371600"/>
          </a:xfrm>
          <a:prstGeom prst="rect">
            <a:avLst/>
          </a:prstGeom>
          <a:noFill/>
          <a:ln/>
        </p:spPr>
        <p:txBody>
          <a:bodyPr wrap="square" lIns="0" tIns="0" rIns="0" bIns="0" rtlCol="0" anchor="t"/>
          <a:lstStyle/>
          <a:p>
            <a:pPr indent="0" marL="0">
              <a:buNone/>
            </a:pPr>
            <a:r>
              <a:rPr lang="en-US" sz="1050" i="1" dirty="0">
                <a:solidFill>
                  <a:srgbClr val="5B6B64"/>
                </a:solidFill>
                <a:latin typeface="Calibri" pitchFamily="34" charset="0"/>
                <a:ea typeface="Calibri" pitchFamily="34" charset="-122"/>
                <a:cs typeface="Calibri" pitchFamily="34" charset="-120"/>
              </a:rPr>
              <a:t>Other President Offices: Audit, Planning, Legal, Public Relations, Security</a:t>
            </a:r>
            <a:endParaRPr lang="en-US" sz="1050" dirty="0"/>
          </a:p>
        </p:txBody>
      </p:sp>
      <p:sp>
        <p:nvSpPr>
          <p:cNvPr id="36" name="Text 31"/>
          <p:cNvSpPr txBox="1"/>
          <p:nvPr/>
        </p:nvSpPr>
        <p:spPr>
          <a:xfrm>
            <a:off x="4526280" y="4645152"/>
            <a:ext cx="4206240" cy="228600"/>
          </a:xfrm>
          <a:prstGeom prst="rect">
            <a:avLst/>
          </a:prstGeom>
          <a:noFill/>
          <a:ln/>
        </p:spPr>
        <p:txBody>
          <a:bodyPr wrap="square" lIns="0" tIns="0" rIns="0" bIns="0" rtlCol="0" anchor="ctr"/>
          <a:lstStyle/>
          <a:p>
            <a:pPr algn="ctr" indent="0" marL="0">
              <a:buNone/>
            </a:pPr>
            <a:r>
              <a:rPr lang="en-US" sz="1050" i="1" dirty="0">
                <a:solidFill>
                  <a:srgbClr val="5B6B64"/>
                </a:solidFill>
                <a:latin typeface="Calibri" pitchFamily="34" charset="0"/>
                <a:ea typeface="Calibri" pitchFamily="34" charset="-122"/>
                <a:cs typeface="Calibri" pitchFamily="34" charset="-120"/>
              </a:rPr>
              <a:t>Simplified from the university hierarchy (report Figure 1.1)</a:t>
            </a:r>
            <a:endParaRPr lang="en-US" sz="10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2. The Old Website: Problems</a:t>
            </a:r>
            <a:endParaRPr lang="en-US" sz="3200" dirty="0"/>
          </a:p>
        </p:txBody>
      </p:sp>
      <p:sp>
        <p:nvSpPr>
          <p:cNvPr id="3" name="Problem icon 1 bg"/>
          <p:cNvSpPr/>
          <p:nvPr/>
        </p:nvSpPr>
        <p:spPr>
          <a:xfrm>
            <a:off x="457200" y="1143000"/>
            <a:ext cx="548640" cy="548640"/>
          </a:xfrm>
          <a:prstGeom prst="ellipse">
            <a:avLst/>
          </a:prstGeom>
          <a:solidFill>
            <a:srgbClr val="B85C38"/>
          </a:solidFill>
          <a:ln w="12700">
            <a:solidFill>
              <a:srgbClr val="B85C38"/>
            </a:solidFill>
            <a:prstDash val="solid"/>
          </a:ln>
        </p:spPr>
        <p:txBody>
          <a:bodyPr/>
          <a:p/>
        </p:txBody>
      </p:sp>
      <p:pic>
        <p:nvPicPr>
          <p:cNvPr id="4" name="Image 0" descr="FaUserCog">    </p:cNvPr>
          <p:cNvPicPr>
            <a:picLocks noChangeAspect="1"/>
          </p:cNvPicPr>
          <p:nvPr/>
        </p:nvPicPr>
        <p:blipFill>
          <a:blip r:embed="rId2"/>
          <a:stretch>
            <a:fillRect/>
          </a:stretch>
        </p:blipFill>
        <p:spPr>
          <a:xfrm>
            <a:off x="588874" y="1274674"/>
            <a:ext cx="285293" cy="285293"/>
          </a:xfrm>
          <a:prstGeom prst="rect">
            <a:avLst/>
          </a:prstGeom>
        </p:spPr>
      </p:pic>
      <p:sp>
        <p:nvSpPr>
          <p:cNvPr id="5" name="Text 2"/>
          <p:cNvSpPr txBox="1"/>
          <p:nvPr/>
        </p:nvSpPr>
        <p:spPr>
          <a:xfrm>
            <a:off x="1188720" y="1069848"/>
            <a:ext cx="3566160" cy="7315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Content depends on technical staff</a:t>
            </a:r>
            <a:endParaRPr lang="en-US" sz="1500" dirty="0"/>
          </a:p>
          <a:p>
            <a:pPr indent="0" marL="0">
              <a:buNone/>
            </a:pPr>
            <a:r>
              <a:rPr lang="en-US" sz="1250" dirty="0">
                <a:solidFill>
                  <a:srgbClr val="5B6B64"/>
                </a:solidFill>
                <a:latin typeface="Calibri" pitchFamily="34" charset="0"/>
                <a:ea typeface="Calibri" pitchFamily="34" charset="-122"/>
                <a:cs typeface="Calibri" pitchFamily="34" charset="-120"/>
              </a:rPr>
              <a:t>Urgent notices (registration, exams) are delayed</a:t>
            </a:r>
            <a:endParaRPr lang="en-US" sz="1500" dirty="0"/>
          </a:p>
        </p:txBody>
      </p:sp>
      <p:sp>
        <p:nvSpPr>
          <p:cNvPr id="6" name="Problem icon 2 bg"/>
          <p:cNvSpPr/>
          <p:nvPr/>
        </p:nvSpPr>
        <p:spPr>
          <a:xfrm>
            <a:off x="457200" y="2039112"/>
            <a:ext cx="548640" cy="548640"/>
          </a:xfrm>
          <a:prstGeom prst="ellipse">
            <a:avLst/>
          </a:prstGeom>
          <a:solidFill>
            <a:srgbClr val="B85C38"/>
          </a:solidFill>
          <a:ln w="12700">
            <a:solidFill>
              <a:srgbClr val="B85C38"/>
            </a:solidFill>
            <a:prstDash val="solid"/>
          </a:ln>
        </p:spPr>
        <p:txBody>
          <a:bodyPr/>
          <a:p/>
        </p:txBody>
      </p:sp>
      <p:pic>
        <p:nvPicPr>
          <p:cNvPr id="7" name="Image 1" descr="FaThList">    </p:cNvPr>
          <p:cNvPicPr>
            <a:picLocks noChangeAspect="1"/>
          </p:cNvPicPr>
          <p:nvPr/>
        </p:nvPicPr>
        <p:blipFill>
          <a:blip r:embed="rId3"/>
          <a:stretch>
            <a:fillRect/>
          </a:stretch>
        </p:blipFill>
        <p:spPr>
          <a:xfrm>
            <a:off x="588874" y="2170786"/>
            <a:ext cx="285293" cy="285293"/>
          </a:xfrm>
          <a:prstGeom prst="rect">
            <a:avLst/>
          </a:prstGeom>
        </p:spPr>
      </p:pic>
      <p:sp>
        <p:nvSpPr>
          <p:cNvPr id="8" name="Text 4"/>
          <p:cNvSpPr txBox="1"/>
          <p:nvPr/>
        </p:nvSpPr>
        <p:spPr>
          <a:xfrm>
            <a:off x="1188720" y="1965960"/>
            <a:ext cx="3566160" cy="7315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No structured content</a:t>
            </a:r>
            <a:endParaRPr lang="en-US" sz="1500" dirty="0"/>
          </a:p>
          <a:p>
            <a:pPr indent="0" marL="0">
              <a:buNone/>
            </a:pPr>
            <a:r>
              <a:rPr lang="en-US" sz="1250" dirty="0">
                <a:solidFill>
                  <a:srgbClr val="5B6B64"/>
                </a:solidFill>
                <a:latin typeface="Calibri" pitchFamily="34" charset="0"/>
                <a:ea typeface="Calibri" pitchFamily="34" charset="-122"/>
                <a:cs typeface="Calibri" pitchFamily="34" charset="-120"/>
              </a:rPr>
              <a:t>News, events, vacancies have no managed records or clean links</a:t>
            </a:r>
            <a:endParaRPr lang="en-US" sz="1500" dirty="0"/>
          </a:p>
        </p:txBody>
      </p:sp>
      <p:sp>
        <p:nvSpPr>
          <p:cNvPr id="9" name="Problem icon 3 bg"/>
          <p:cNvSpPr/>
          <p:nvPr/>
        </p:nvSpPr>
        <p:spPr>
          <a:xfrm>
            <a:off x="457200" y="2935224"/>
            <a:ext cx="548640" cy="548640"/>
          </a:xfrm>
          <a:prstGeom prst="ellipse">
            <a:avLst/>
          </a:prstGeom>
          <a:solidFill>
            <a:srgbClr val="B85C38"/>
          </a:solidFill>
          <a:ln w="12700">
            <a:solidFill>
              <a:srgbClr val="B85C38"/>
            </a:solidFill>
            <a:prstDash val="solid"/>
          </a:ln>
        </p:spPr>
        <p:txBody>
          <a:bodyPr/>
          <a:p/>
        </p:txBody>
      </p:sp>
      <p:pic>
        <p:nvPicPr>
          <p:cNvPr id="10" name="Image 2" descr="FaImages">    </p:cNvPr>
          <p:cNvPicPr>
            <a:picLocks noChangeAspect="1"/>
          </p:cNvPicPr>
          <p:nvPr/>
        </p:nvPicPr>
        <p:blipFill>
          <a:blip r:embed="rId4"/>
          <a:stretch>
            <a:fillRect/>
          </a:stretch>
        </p:blipFill>
        <p:spPr>
          <a:xfrm>
            <a:off x="588874" y="3066898"/>
            <a:ext cx="285293" cy="285293"/>
          </a:xfrm>
          <a:prstGeom prst="rect">
            <a:avLst/>
          </a:prstGeom>
        </p:spPr>
      </p:pic>
      <p:sp>
        <p:nvSpPr>
          <p:cNvPr id="11" name="Text 6"/>
          <p:cNvSpPr txBox="1"/>
          <p:nvPr/>
        </p:nvSpPr>
        <p:spPr>
          <a:xfrm>
            <a:off x="1188720" y="2862072"/>
            <a:ext cx="3566160" cy="7315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No media library, no roles, no audit trail</a:t>
            </a:r>
            <a:endParaRPr lang="en-US" sz="1500" dirty="0"/>
          </a:p>
          <a:p>
            <a:pPr indent="0" marL="0">
              <a:buNone/>
            </a:pPr>
            <a:r>
              <a:rPr lang="en-US" sz="1250" dirty="0">
                <a:solidFill>
                  <a:srgbClr val="5B6B64"/>
                </a:solidFill>
                <a:latin typeface="Calibri" pitchFamily="34" charset="0"/>
                <a:ea typeface="Calibri" pitchFamily="34" charset="-122"/>
                <a:cs typeface="Calibri" pitchFamily="34" charset="-120"/>
              </a:rPr>
              <a:t>Nobody can tell who changed what</a:t>
            </a:r>
            <a:endParaRPr lang="en-US" sz="1500" dirty="0"/>
          </a:p>
        </p:txBody>
      </p:sp>
      <p:sp>
        <p:nvSpPr>
          <p:cNvPr id="12" name="Problem icon 4 bg"/>
          <p:cNvSpPr/>
          <p:nvPr/>
        </p:nvSpPr>
        <p:spPr>
          <a:xfrm>
            <a:off x="457200" y="3831336"/>
            <a:ext cx="548640" cy="548640"/>
          </a:xfrm>
          <a:prstGeom prst="ellipse">
            <a:avLst/>
          </a:prstGeom>
          <a:solidFill>
            <a:srgbClr val="B85C38"/>
          </a:solidFill>
          <a:ln w="12700">
            <a:solidFill>
              <a:srgbClr val="B85C38"/>
            </a:solidFill>
            <a:prstDash val="solid"/>
          </a:ln>
        </p:spPr>
        <p:txBody>
          <a:bodyPr/>
          <a:p/>
        </p:txBody>
      </p:sp>
      <p:pic>
        <p:nvPicPr>
          <p:cNvPr id="13" name="Image 3" descr="FaMobileAlt">    </p:cNvPr>
          <p:cNvPicPr>
            <a:picLocks noChangeAspect="1"/>
          </p:cNvPicPr>
          <p:nvPr/>
        </p:nvPicPr>
        <p:blipFill>
          <a:blip r:embed="rId5"/>
          <a:stretch>
            <a:fillRect/>
          </a:stretch>
        </p:blipFill>
        <p:spPr>
          <a:xfrm>
            <a:off x="588874" y="3963010"/>
            <a:ext cx="285293" cy="285293"/>
          </a:xfrm>
          <a:prstGeom prst="rect">
            <a:avLst/>
          </a:prstGeom>
        </p:spPr>
      </p:pic>
      <p:sp>
        <p:nvSpPr>
          <p:cNvPr id="14" name="Text 8"/>
          <p:cNvSpPr txBox="1"/>
          <p:nvPr/>
        </p:nvSpPr>
        <p:spPr>
          <a:xfrm>
            <a:off x="1188720" y="3758184"/>
            <a:ext cx="3566160" cy="7315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Hard to read and use on phones</a:t>
            </a:r>
            <a:endParaRPr lang="en-US" sz="1500" dirty="0"/>
          </a:p>
          <a:p>
            <a:pPr indent="0" marL="0">
              <a:buNone/>
            </a:pPr>
            <a:r>
              <a:rPr lang="en-US" sz="1250" dirty="0">
                <a:solidFill>
                  <a:srgbClr val="5B6B64"/>
                </a:solidFill>
                <a:latin typeface="Calibri" pitchFamily="34" charset="0"/>
                <a:ea typeface="Calibri" pitchFamily="34" charset="-122"/>
                <a:cs typeface="Calibri" pitchFamily="34" charset="-120"/>
              </a:rPr>
              <a:t>Deep menus, low-contrast pages, fixed 2023 footer</a:t>
            </a:r>
            <a:endParaRPr lang="en-US" sz="1500" dirty="0"/>
          </a:p>
        </p:txBody>
      </p:sp>
      <p:pic>
        <p:nvPicPr>
          <p:cNvPr id="15" name="Image 4" descr="Old website President message page with low contrast text">    </p:cNvPr>
          <p:cNvPicPr>
            <a:picLocks noChangeAspect="1"/>
          </p:cNvPicPr>
          <p:nvPr/>
        </p:nvPicPr>
        <p:blipFill>
          <a:blip r:embed="rId6"/>
          <a:stretch>
            <a:fillRect/>
          </a:stretch>
        </p:blipFill>
        <p:spPr>
          <a:xfrm>
            <a:off x="5120640" y="1143000"/>
            <a:ext cx="3108960" cy="1501184"/>
          </a:xfrm>
          <a:prstGeom prst="rect">
            <a:avLst/>
          </a:prstGeom>
          <a:effectLst>
            <a:outerShdw sx="100000" sy="100000" kx="0" ky="0" algn="bl" rotWithShape="0" blurRad="76200" dist="25400" dir="5400000">
              <a:srgbClr val="000000">
                <a:alpha val="12000"/>
              </a:srgbClr>
            </a:outerShdw>
          </a:effectLst>
        </p:spPr>
      </p:pic>
      <p:pic>
        <p:nvPicPr>
          <p:cNvPr id="16" name="Image 5" descr="Old website footer and drop-down menu over a map">    </p:cNvPr>
          <p:cNvPicPr>
            <a:picLocks noChangeAspect="1"/>
          </p:cNvPicPr>
          <p:nvPr/>
        </p:nvPicPr>
        <p:blipFill>
          <a:blip r:embed="rId7"/>
          <a:stretch>
            <a:fillRect/>
          </a:stretch>
        </p:blipFill>
        <p:spPr>
          <a:xfrm>
            <a:off x="5120640" y="2872784"/>
            <a:ext cx="3108960" cy="1501184"/>
          </a:xfrm>
          <a:prstGeom prst="rect">
            <a:avLst/>
          </a:prstGeom>
          <a:effectLst>
            <a:outerShdw sx="100000" sy="100000" kx="0" ky="0" algn="bl" rotWithShape="0" blurRad="76200" dist="25400" dir="5400000">
              <a:srgbClr val="000000">
                <a:alpha val="12000"/>
              </a:srgbClr>
            </a:outerShdw>
          </a:effectLst>
        </p:spPr>
      </p:pic>
      <p:sp>
        <p:nvSpPr>
          <p:cNvPr id="17" name="Text 9"/>
          <p:cNvSpPr txBox="1"/>
          <p:nvPr/>
        </p:nvSpPr>
        <p:spPr>
          <a:xfrm>
            <a:off x="5120640" y="4507992"/>
            <a:ext cx="3566160" cy="256032"/>
          </a:xfrm>
          <a:prstGeom prst="rect">
            <a:avLst/>
          </a:prstGeom>
          <a:noFill/>
          <a:ln/>
        </p:spPr>
        <p:txBody>
          <a:bodyPr wrap="square" lIns="0" tIns="0" rIns="0" bIns="0" rtlCol="0" anchor="ctr"/>
          <a:lstStyle/>
          <a:p>
            <a:pPr indent="0" marL="0">
              <a:buNone/>
            </a:pPr>
            <a:r>
              <a:rPr lang="en-US" sz="1100" i="1" dirty="0">
                <a:solidFill>
                  <a:srgbClr val="5B6B64"/>
                </a:solidFill>
                <a:latin typeface="Calibri" pitchFamily="34" charset="0"/>
                <a:ea typeface="Calibri" pitchFamily="34" charset="-122"/>
                <a:cs typeface="Calibri" pitchFamily="34" charset="-120"/>
              </a:rPr>
              <a:t>Existing website obu.edu.et</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Security and Access Control</a:t>
            </a:r>
            <a:endParaRPr lang="en-US" sz="3200" dirty="0"/>
          </a:p>
        </p:txBody>
      </p:sp>
      <p:sp>
        <p:nvSpPr>
          <p:cNvPr id="3" name="Security card 1"/>
          <p:cNvSpPr/>
          <p:nvPr/>
        </p:nvSpPr>
        <p:spPr>
          <a:xfrm>
            <a:off x="457200" y="1188720"/>
            <a:ext cx="1554480" cy="2560320"/>
          </a:xfrm>
          <a:prstGeom prst="roundRect">
            <a:avLst>
              <a:gd name="adj" fmla="val 4706"/>
            </a:avLst>
          </a:prstGeom>
          <a:solidFill>
            <a:srgbClr val="EEF5F1"/>
          </a:solidFill>
          <a:ln w="12700">
            <a:solidFill>
              <a:srgbClr val="EEF5F1"/>
            </a:solidFill>
            <a:prstDash val="solid"/>
          </a:ln>
        </p:spPr>
        <p:txBody>
          <a:bodyPr/>
          <a:p/>
        </p:txBody>
      </p:sp>
      <p:sp>
        <p:nvSpPr>
          <p:cNvPr id="4" name="Security icon 1 bg"/>
          <p:cNvSpPr/>
          <p:nvPr/>
        </p:nvSpPr>
        <p:spPr>
          <a:xfrm>
            <a:off x="868680" y="1371600"/>
            <a:ext cx="731520" cy="731520"/>
          </a:xfrm>
          <a:prstGeom prst="ellipse">
            <a:avLst/>
          </a:prstGeom>
          <a:solidFill>
            <a:srgbClr val="0F4C3A"/>
          </a:solidFill>
          <a:ln w="12700">
            <a:solidFill>
              <a:srgbClr val="0F4C3A"/>
            </a:solidFill>
            <a:prstDash val="solid"/>
          </a:ln>
        </p:spPr>
        <p:txBody>
          <a:bodyPr/>
          <a:p/>
        </p:txBody>
      </p:sp>
      <p:pic>
        <p:nvPicPr>
          <p:cNvPr id="5" name="Image 0" descr="FaKey">    </p:cNvPr>
          <p:cNvPicPr>
            <a:picLocks noChangeAspect="1"/>
          </p:cNvPicPr>
          <p:nvPr/>
        </p:nvPicPr>
        <p:blipFill>
          <a:blip r:embed="rId2"/>
          <a:stretch>
            <a:fillRect/>
          </a:stretch>
        </p:blipFill>
        <p:spPr>
          <a:xfrm>
            <a:off x="1044245" y="1547165"/>
            <a:ext cx="380390" cy="380390"/>
          </a:xfrm>
          <a:prstGeom prst="rect">
            <a:avLst/>
          </a:prstGeom>
        </p:spPr>
      </p:pic>
      <p:sp>
        <p:nvSpPr>
          <p:cNvPr id="6" name="Text 3"/>
          <p:cNvSpPr txBox="1"/>
          <p:nvPr/>
        </p:nvSpPr>
        <p:spPr>
          <a:xfrm>
            <a:off x="594360" y="2286000"/>
            <a:ext cx="1298448" cy="1645920"/>
          </a:xfrm>
          <a:prstGeom prst="rect">
            <a:avLst/>
          </a:prstGeom>
          <a:noFill/>
          <a:ln/>
        </p:spPr>
        <p:txBody>
          <a:bodyPr wrap="square" lIns="0" tIns="0" rIns="0" bIns="0" rtlCol="0" anchor="t"/>
          <a:lstStyle/>
          <a:p>
            <a:pPr algn="l" indent="0" marL="0">
              <a:spcAft>
                <a:spcPts val="500"/>
              </a:spcAft>
              <a:buNone/>
            </a:pPr>
            <a:r>
              <a:rPr lang="en-US" sz="1400" b="1" dirty="0">
                <a:solidFill>
                  <a:srgbClr val="0F4C3A"/>
                </a:solidFill>
                <a:latin typeface="Calibri" pitchFamily="34" charset="0"/>
                <a:ea typeface="Calibri" pitchFamily="34" charset="-122"/>
                <a:cs typeface="Calibri" pitchFamily="34" charset="-120"/>
              </a:rPr>
              <a:t>Authentication</a:t>
            </a:r>
            <a:endParaRPr lang="en-US" sz="1400" dirty="0"/>
          </a:p>
          <a:p>
            <a:pPr algn="l" indent="0" marL="0">
              <a:spcAft>
                <a:spcPts val="500"/>
              </a:spcAft>
              <a:buNone/>
            </a:pPr>
            <a:r>
              <a:rPr lang="en-US" sz="1150" dirty="0">
                <a:solidFill>
                  <a:srgbClr val="17251F"/>
                </a:solidFill>
                <a:latin typeface="Calibri" pitchFamily="34" charset="0"/>
                <a:ea typeface="Calibri" pitchFamily="34" charset="-122"/>
                <a:cs typeface="Calibri" pitchFamily="34" charset="-120"/>
              </a:rPr>
              <a:t>Supabase Auth, JWT session, /admin route guard</a:t>
            </a:r>
            <a:endParaRPr lang="en-US" sz="1400" dirty="0"/>
          </a:p>
        </p:txBody>
      </p:sp>
      <p:sp>
        <p:nvSpPr>
          <p:cNvPr id="7" name="Security card 2"/>
          <p:cNvSpPr/>
          <p:nvPr/>
        </p:nvSpPr>
        <p:spPr>
          <a:xfrm>
            <a:off x="2121408" y="1188720"/>
            <a:ext cx="1554480" cy="2560320"/>
          </a:xfrm>
          <a:prstGeom prst="roundRect">
            <a:avLst>
              <a:gd name="adj" fmla="val 4706"/>
            </a:avLst>
          </a:prstGeom>
          <a:solidFill>
            <a:srgbClr val="EEF5F1"/>
          </a:solidFill>
          <a:ln w="12700">
            <a:solidFill>
              <a:srgbClr val="EEF5F1"/>
            </a:solidFill>
            <a:prstDash val="solid"/>
          </a:ln>
        </p:spPr>
        <p:txBody>
          <a:bodyPr/>
          <a:p/>
        </p:txBody>
      </p:sp>
      <p:sp>
        <p:nvSpPr>
          <p:cNvPr id="8" name="Security icon 2 bg"/>
          <p:cNvSpPr/>
          <p:nvPr/>
        </p:nvSpPr>
        <p:spPr>
          <a:xfrm>
            <a:off x="2532888" y="1371600"/>
            <a:ext cx="731520" cy="731520"/>
          </a:xfrm>
          <a:prstGeom prst="ellipse">
            <a:avLst/>
          </a:prstGeom>
          <a:solidFill>
            <a:srgbClr val="0F4C3A"/>
          </a:solidFill>
          <a:ln w="12700">
            <a:solidFill>
              <a:srgbClr val="0F4C3A"/>
            </a:solidFill>
            <a:prstDash val="solid"/>
          </a:ln>
        </p:spPr>
        <p:txBody>
          <a:bodyPr/>
          <a:p/>
        </p:txBody>
      </p:sp>
      <p:pic>
        <p:nvPicPr>
          <p:cNvPr id="9" name="Image 1" descr="FaDatabase">    </p:cNvPr>
          <p:cNvPicPr>
            <a:picLocks noChangeAspect="1"/>
          </p:cNvPicPr>
          <p:nvPr/>
        </p:nvPicPr>
        <p:blipFill>
          <a:blip r:embed="rId3"/>
          <a:stretch>
            <a:fillRect/>
          </a:stretch>
        </p:blipFill>
        <p:spPr>
          <a:xfrm>
            <a:off x="2708453" y="1547165"/>
            <a:ext cx="380390" cy="380390"/>
          </a:xfrm>
          <a:prstGeom prst="rect">
            <a:avLst/>
          </a:prstGeom>
        </p:spPr>
      </p:pic>
      <p:sp>
        <p:nvSpPr>
          <p:cNvPr id="10" name="Text 6"/>
          <p:cNvSpPr txBox="1"/>
          <p:nvPr/>
        </p:nvSpPr>
        <p:spPr>
          <a:xfrm>
            <a:off x="2258568" y="2286000"/>
            <a:ext cx="1298448" cy="1645920"/>
          </a:xfrm>
          <a:prstGeom prst="rect">
            <a:avLst/>
          </a:prstGeom>
          <a:noFill/>
          <a:ln/>
        </p:spPr>
        <p:txBody>
          <a:bodyPr wrap="square" lIns="0" tIns="0" rIns="0" bIns="0" rtlCol="0" anchor="t"/>
          <a:lstStyle/>
          <a:p>
            <a:pPr algn="l" indent="0" marL="0">
              <a:spcAft>
                <a:spcPts val="500"/>
              </a:spcAft>
              <a:buNone/>
            </a:pPr>
            <a:r>
              <a:rPr lang="en-US" sz="1400" b="1" dirty="0">
                <a:solidFill>
                  <a:srgbClr val="0F4C3A"/>
                </a:solidFill>
                <a:latin typeface="Calibri" pitchFamily="34" charset="0"/>
                <a:ea typeface="Calibri" pitchFamily="34" charset="-122"/>
                <a:cs typeface="Calibri" pitchFamily="34" charset="-120"/>
              </a:rPr>
              <a:t>Row Level Security</a:t>
            </a:r>
            <a:endParaRPr lang="en-US" sz="1400" dirty="0"/>
          </a:p>
          <a:p>
            <a:pPr algn="l" indent="0" marL="0">
              <a:spcAft>
                <a:spcPts val="500"/>
              </a:spcAft>
              <a:buNone/>
            </a:pPr>
            <a:r>
              <a:rPr lang="en-US" sz="1150" dirty="0">
                <a:solidFill>
                  <a:srgbClr val="17251F"/>
                </a:solidFill>
                <a:latin typeface="Calibri" pitchFamily="34" charset="0"/>
                <a:ea typeface="Calibri" pitchFamily="34" charset="-122"/>
                <a:cs typeface="Calibri" pitchFamily="34" charset="-120"/>
              </a:rPr>
              <a:t>Public reads only published rows; writes need a registered admin</a:t>
            </a:r>
            <a:endParaRPr lang="en-US" sz="1400" dirty="0"/>
          </a:p>
        </p:txBody>
      </p:sp>
      <p:sp>
        <p:nvSpPr>
          <p:cNvPr id="11" name="Security card 3"/>
          <p:cNvSpPr/>
          <p:nvPr/>
        </p:nvSpPr>
        <p:spPr>
          <a:xfrm>
            <a:off x="3785616" y="1188720"/>
            <a:ext cx="1554480" cy="2560320"/>
          </a:xfrm>
          <a:prstGeom prst="roundRect">
            <a:avLst>
              <a:gd name="adj" fmla="val 4706"/>
            </a:avLst>
          </a:prstGeom>
          <a:solidFill>
            <a:srgbClr val="EEF5F1"/>
          </a:solidFill>
          <a:ln w="12700">
            <a:solidFill>
              <a:srgbClr val="EEF5F1"/>
            </a:solidFill>
            <a:prstDash val="solid"/>
          </a:ln>
        </p:spPr>
        <p:txBody>
          <a:bodyPr/>
          <a:p/>
        </p:txBody>
      </p:sp>
      <p:sp>
        <p:nvSpPr>
          <p:cNvPr id="12" name="Security icon 3 bg"/>
          <p:cNvSpPr/>
          <p:nvPr/>
        </p:nvSpPr>
        <p:spPr>
          <a:xfrm>
            <a:off x="4197096" y="1371600"/>
            <a:ext cx="731520" cy="731520"/>
          </a:xfrm>
          <a:prstGeom prst="ellipse">
            <a:avLst/>
          </a:prstGeom>
          <a:solidFill>
            <a:srgbClr val="0F4C3A"/>
          </a:solidFill>
          <a:ln w="12700">
            <a:solidFill>
              <a:srgbClr val="0F4C3A"/>
            </a:solidFill>
            <a:prstDash val="solid"/>
          </a:ln>
        </p:spPr>
        <p:txBody>
          <a:bodyPr/>
          <a:p/>
        </p:txBody>
      </p:sp>
      <p:pic>
        <p:nvPicPr>
          <p:cNvPr id="13" name="Image 2" descr="FaUserLock">    </p:cNvPr>
          <p:cNvPicPr>
            <a:picLocks noChangeAspect="1"/>
          </p:cNvPicPr>
          <p:nvPr/>
        </p:nvPicPr>
        <p:blipFill>
          <a:blip r:embed="rId4"/>
          <a:stretch>
            <a:fillRect/>
          </a:stretch>
        </p:blipFill>
        <p:spPr>
          <a:xfrm>
            <a:off x="4372661" y="1547165"/>
            <a:ext cx="380390" cy="380390"/>
          </a:xfrm>
          <a:prstGeom prst="rect">
            <a:avLst/>
          </a:prstGeom>
        </p:spPr>
      </p:pic>
      <p:sp>
        <p:nvSpPr>
          <p:cNvPr id="14" name="Text 9"/>
          <p:cNvSpPr txBox="1"/>
          <p:nvPr/>
        </p:nvSpPr>
        <p:spPr>
          <a:xfrm>
            <a:off x="3922776" y="2286000"/>
            <a:ext cx="1298448" cy="1645920"/>
          </a:xfrm>
          <a:prstGeom prst="rect">
            <a:avLst/>
          </a:prstGeom>
          <a:noFill/>
          <a:ln/>
        </p:spPr>
        <p:txBody>
          <a:bodyPr wrap="square" lIns="0" tIns="0" rIns="0" bIns="0" rtlCol="0" anchor="t"/>
          <a:lstStyle/>
          <a:p>
            <a:pPr algn="l" indent="0" marL="0">
              <a:spcAft>
                <a:spcPts val="500"/>
              </a:spcAft>
              <a:buNone/>
            </a:pPr>
            <a:r>
              <a:rPr lang="en-US" sz="1400" b="1" dirty="0">
                <a:solidFill>
                  <a:srgbClr val="0F4C3A"/>
                </a:solidFill>
                <a:latin typeface="Calibri" pitchFamily="34" charset="0"/>
                <a:ea typeface="Calibri" pitchFamily="34" charset="-122"/>
                <a:cs typeface="Calibri" pitchFamily="34" charset="-120"/>
              </a:rPr>
              <a:t>Role check</a:t>
            </a:r>
            <a:endParaRPr lang="en-US" sz="1400" dirty="0"/>
          </a:p>
          <a:p>
            <a:pPr algn="l" indent="0" marL="0">
              <a:spcAft>
                <a:spcPts val="500"/>
              </a:spcAft>
              <a:buNone/>
            </a:pPr>
            <a:r>
              <a:rPr lang="en-US" sz="1150" dirty="0">
                <a:solidFill>
                  <a:srgbClr val="17251F"/>
                </a:solidFill>
                <a:latin typeface="Calibri" pitchFamily="34" charset="0"/>
                <a:ea typeface="Calibri" pitchFamily="34" charset="-122"/>
                <a:cs typeface="Calibri" pitchFamily="34" charset="-120"/>
              </a:rPr>
              <a:t>System menu only for Super Admin</a:t>
            </a:r>
            <a:endParaRPr lang="en-US" sz="1400" dirty="0"/>
          </a:p>
        </p:txBody>
      </p:sp>
      <p:sp>
        <p:nvSpPr>
          <p:cNvPr id="15" name="Security card 4"/>
          <p:cNvSpPr/>
          <p:nvPr/>
        </p:nvSpPr>
        <p:spPr>
          <a:xfrm>
            <a:off x="5449824" y="1188720"/>
            <a:ext cx="1554480" cy="2560320"/>
          </a:xfrm>
          <a:prstGeom prst="roundRect">
            <a:avLst>
              <a:gd name="adj" fmla="val 4706"/>
            </a:avLst>
          </a:prstGeom>
          <a:solidFill>
            <a:srgbClr val="EEF5F1"/>
          </a:solidFill>
          <a:ln w="12700">
            <a:solidFill>
              <a:srgbClr val="EEF5F1"/>
            </a:solidFill>
            <a:prstDash val="solid"/>
          </a:ln>
        </p:spPr>
        <p:txBody>
          <a:bodyPr/>
          <a:p/>
        </p:txBody>
      </p:sp>
      <p:sp>
        <p:nvSpPr>
          <p:cNvPr id="16" name="Security icon 4 bg"/>
          <p:cNvSpPr/>
          <p:nvPr/>
        </p:nvSpPr>
        <p:spPr>
          <a:xfrm>
            <a:off x="5861304" y="1371600"/>
            <a:ext cx="731520" cy="731520"/>
          </a:xfrm>
          <a:prstGeom prst="ellipse">
            <a:avLst/>
          </a:prstGeom>
          <a:solidFill>
            <a:srgbClr val="0F4C3A"/>
          </a:solidFill>
          <a:ln w="12700">
            <a:solidFill>
              <a:srgbClr val="0F4C3A"/>
            </a:solidFill>
            <a:prstDash val="solid"/>
          </a:ln>
        </p:spPr>
        <p:txBody>
          <a:bodyPr/>
          <a:p/>
        </p:txBody>
      </p:sp>
      <p:pic>
        <p:nvPicPr>
          <p:cNvPr id="17" name="Image 3" descr="FaShieldAlt">    </p:cNvPr>
          <p:cNvPicPr>
            <a:picLocks noChangeAspect="1"/>
          </p:cNvPicPr>
          <p:nvPr/>
        </p:nvPicPr>
        <p:blipFill>
          <a:blip r:embed="rId5"/>
          <a:stretch>
            <a:fillRect/>
          </a:stretch>
        </p:blipFill>
        <p:spPr>
          <a:xfrm>
            <a:off x="6036869" y="1547165"/>
            <a:ext cx="380390" cy="380390"/>
          </a:xfrm>
          <a:prstGeom prst="rect">
            <a:avLst/>
          </a:prstGeom>
        </p:spPr>
      </p:pic>
      <p:sp>
        <p:nvSpPr>
          <p:cNvPr id="18" name="Text 12"/>
          <p:cNvSpPr txBox="1"/>
          <p:nvPr/>
        </p:nvSpPr>
        <p:spPr>
          <a:xfrm>
            <a:off x="5586984" y="2286000"/>
            <a:ext cx="1298448" cy="1645920"/>
          </a:xfrm>
          <a:prstGeom prst="rect">
            <a:avLst/>
          </a:prstGeom>
          <a:noFill/>
          <a:ln/>
        </p:spPr>
        <p:txBody>
          <a:bodyPr wrap="square" lIns="0" tIns="0" rIns="0" bIns="0" rtlCol="0" anchor="t"/>
          <a:lstStyle/>
          <a:p>
            <a:pPr algn="l" indent="0" marL="0">
              <a:spcAft>
                <a:spcPts val="500"/>
              </a:spcAft>
              <a:buNone/>
            </a:pPr>
            <a:r>
              <a:rPr lang="en-US" sz="1400" b="1" dirty="0">
                <a:solidFill>
                  <a:srgbClr val="0F4C3A"/>
                </a:solidFill>
                <a:latin typeface="Calibri" pitchFamily="34" charset="0"/>
                <a:ea typeface="Calibri" pitchFamily="34" charset="-122"/>
                <a:cs typeface="Calibri" pitchFamily="34" charset="-120"/>
              </a:rPr>
              <a:t>CSRF and SQL safety</a:t>
            </a:r>
            <a:endParaRPr lang="en-US" sz="1400" dirty="0"/>
          </a:p>
          <a:p>
            <a:pPr algn="l" indent="0" marL="0">
              <a:spcAft>
                <a:spcPts val="500"/>
              </a:spcAft>
              <a:buNone/>
            </a:pPr>
            <a:r>
              <a:rPr lang="en-US" sz="1150" dirty="0">
                <a:solidFill>
                  <a:srgbClr val="17251F"/>
                </a:solidFill>
                <a:latin typeface="Calibri" pitchFamily="34" charset="0"/>
                <a:ea typeface="Calibri" pitchFamily="34" charset="-122"/>
                <a:cs typeface="Calibri" pitchFamily="34" charset="-120"/>
              </a:rPr>
              <a:t>CSRF middleware, parameterized queries, upload limits</a:t>
            </a:r>
            <a:endParaRPr lang="en-US" sz="1400" dirty="0"/>
          </a:p>
        </p:txBody>
      </p:sp>
      <p:sp>
        <p:nvSpPr>
          <p:cNvPr id="19" name="Security card 5"/>
          <p:cNvSpPr/>
          <p:nvPr/>
        </p:nvSpPr>
        <p:spPr>
          <a:xfrm>
            <a:off x="7114032" y="1188720"/>
            <a:ext cx="1554480" cy="2560320"/>
          </a:xfrm>
          <a:prstGeom prst="roundRect">
            <a:avLst>
              <a:gd name="adj" fmla="val 4706"/>
            </a:avLst>
          </a:prstGeom>
          <a:solidFill>
            <a:srgbClr val="EEF5F1"/>
          </a:solidFill>
          <a:ln w="12700">
            <a:solidFill>
              <a:srgbClr val="EEF5F1"/>
            </a:solidFill>
            <a:prstDash val="solid"/>
          </a:ln>
        </p:spPr>
        <p:txBody>
          <a:bodyPr/>
          <a:p/>
        </p:txBody>
      </p:sp>
      <p:sp>
        <p:nvSpPr>
          <p:cNvPr id="20" name="Security icon 5 bg"/>
          <p:cNvSpPr/>
          <p:nvPr/>
        </p:nvSpPr>
        <p:spPr>
          <a:xfrm>
            <a:off x="7525512" y="1371600"/>
            <a:ext cx="731520" cy="731520"/>
          </a:xfrm>
          <a:prstGeom prst="ellipse">
            <a:avLst/>
          </a:prstGeom>
          <a:solidFill>
            <a:srgbClr val="0F4C3A"/>
          </a:solidFill>
          <a:ln w="12700">
            <a:solidFill>
              <a:srgbClr val="0F4C3A"/>
            </a:solidFill>
            <a:prstDash val="solid"/>
          </a:ln>
        </p:spPr>
        <p:txBody>
          <a:bodyPr/>
          <a:p/>
        </p:txBody>
      </p:sp>
      <p:pic>
        <p:nvPicPr>
          <p:cNvPr id="21" name="Image 4" descr="FaHistory">    </p:cNvPr>
          <p:cNvPicPr>
            <a:picLocks noChangeAspect="1"/>
          </p:cNvPicPr>
          <p:nvPr/>
        </p:nvPicPr>
        <p:blipFill>
          <a:blip r:embed="rId6"/>
          <a:stretch>
            <a:fillRect/>
          </a:stretch>
        </p:blipFill>
        <p:spPr>
          <a:xfrm>
            <a:off x="7701077" y="1547165"/>
            <a:ext cx="380390" cy="380390"/>
          </a:xfrm>
          <a:prstGeom prst="rect">
            <a:avLst/>
          </a:prstGeom>
        </p:spPr>
      </p:pic>
      <p:sp>
        <p:nvSpPr>
          <p:cNvPr id="22" name="Text 15"/>
          <p:cNvSpPr txBox="1"/>
          <p:nvPr/>
        </p:nvSpPr>
        <p:spPr>
          <a:xfrm>
            <a:off x="7251192" y="2286000"/>
            <a:ext cx="1298448" cy="1645920"/>
          </a:xfrm>
          <a:prstGeom prst="rect">
            <a:avLst/>
          </a:prstGeom>
          <a:noFill/>
          <a:ln/>
        </p:spPr>
        <p:txBody>
          <a:bodyPr wrap="square" lIns="0" tIns="0" rIns="0" bIns="0" rtlCol="0" anchor="t"/>
          <a:lstStyle/>
          <a:p>
            <a:pPr algn="l" indent="0" marL="0">
              <a:spcAft>
                <a:spcPts val="500"/>
              </a:spcAft>
              <a:buNone/>
            </a:pPr>
            <a:r>
              <a:rPr lang="en-US" sz="1400" b="1" dirty="0">
                <a:solidFill>
                  <a:srgbClr val="0F4C3A"/>
                </a:solidFill>
                <a:latin typeface="Calibri" pitchFamily="34" charset="0"/>
                <a:ea typeface="Calibri" pitchFamily="34" charset="-122"/>
                <a:cs typeface="Calibri" pitchFamily="34" charset="-120"/>
              </a:rPr>
              <a:t>Audit trail</a:t>
            </a:r>
            <a:endParaRPr lang="en-US" sz="1400" dirty="0"/>
          </a:p>
          <a:p>
            <a:pPr algn="l" indent="0" marL="0">
              <a:spcAft>
                <a:spcPts val="500"/>
              </a:spcAft>
              <a:buNone/>
            </a:pPr>
            <a:r>
              <a:rPr lang="en-US" sz="1150" dirty="0">
                <a:solidFill>
                  <a:srgbClr val="17251F"/>
                </a:solidFill>
                <a:latin typeface="Calibri" pitchFamily="34" charset="0"/>
                <a:ea typeface="Calibri" pitchFamily="34" charset="-122"/>
                <a:cs typeface="Calibri" pitchFamily="34" charset="-120"/>
              </a:rPr>
              <a:t>activity_logs for every admin action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Testing and Results</a:t>
            </a:r>
            <a:endParaRPr lang="en-US" sz="3200" dirty="0"/>
          </a:p>
        </p:txBody>
      </p:sp>
      <p:sp>
        <p:nvSpPr>
          <p:cNvPr id="3" name="Test stat card 1"/>
          <p:cNvSpPr/>
          <p:nvPr/>
        </p:nvSpPr>
        <p:spPr>
          <a:xfrm>
            <a:off x="457200" y="1143000"/>
            <a:ext cx="4023360" cy="1508760"/>
          </a:xfrm>
          <a:prstGeom prst="roundRect">
            <a:avLst>
              <a:gd name="adj" fmla="val 4848"/>
            </a:avLst>
          </a:prstGeom>
          <a:solidFill>
            <a:srgbClr val="EEF5F1"/>
          </a:solidFill>
          <a:ln w="12700">
            <a:solidFill>
              <a:srgbClr val="EEF5F1"/>
            </a:solidFill>
            <a:prstDash val="solid"/>
          </a:ln>
        </p:spPr>
        <p:txBody>
          <a:bodyPr/>
          <a:p/>
        </p:txBody>
      </p:sp>
      <p:sp>
        <p:nvSpPr>
          <p:cNvPr id="4" name="Text 2"/>
          <p:cNvSpPr txBox="1"/>
          <p:nvPr/>
        </p:nvSpPr>
        <p:spPr>
          <a:xfrm>
            <a:off x="594360" y="1234440"/>
            <a:ext cx="1783080" cy="1325880"/>
          </a:xfrm>
          <a:prstGeom prst="rect">
            <a:avLst/>
          </a:prstGeom>
          <a:noFill/>
          <a:ln/>
        </p:spPr>
        <p:txBody>
          <a:bodyPr wrap="square" lIns="0" tIns="0" rIns="0" bIns="0" rtlCol="0" anchor="ctr"/>
          <a:lstStyle/>
          <a:p>
            <a:pPr algn="ctr" indent="0" marL="0">
              <a:buNone/>
            </a:pPr>
            <a:r>
              <a:rPr lang="en-US" sz="3400" b="1" dirty="0">
                <a:solidFill>
                  <a:srgbClr val="0F4C3A"/>
                </a:solidFill>
                <a:latin typeface="Cambria" pitchFamily="34" charset="0"/>
                <a:ea typeface="Cambria" pitchFamily="34" charset="-122"/>
                <a:cs typeface="Cambria" pitchFamily="34" charset="-120"/>
              </a:rPr>
              <a:t>45 / 45</a:t>
            </a:r>
            <a:endParaRPr lang="en-US" sz="3400" dirty="0"/>
          </a:p>
        </p:txBody>
      </p:sp>
      <p:sp>
        <p:nvSpPr>
          <p:cNvPr id="5" name="Text 3"/>
          <p:cNvSpPr txBox="1"/>
          <p:nvPr/>
        </p:nvSpPr>
        <p:spPr>
          <a:xfrm>
            <a:off x="2423160" y="1234440"/>
            <a:ext cx="1965960" cy="132588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Postman integration tests</a:t>
            </a:r>
            <a:endParaRPr lang="en-US" sz="1400" dirty="0"/>
          </a:p>
          <a:p>
            <a:pPr indent="0" marL="0">
              <a:buNone/>
            </a:pPr>
            <a:r>
              <a:rPr lang="en-US" sz="1150" dirty="0">
                <a:solidFill>
                  <a:srgbClr val="5B6B64"/>
                </a:solidFill>
                <a:latin typeface="Calibri" pitchFamily="34" charset="0"/>
                <a:ea typeface="Calibri" pitchFamily="34" charset="-122"/>
                <a:cs typeface="Calibri" pitchFamily="34" charset="-120"/>
              </a:rPr>
              <a:t>News, events, programs, media, auth, settings</a:t>
            </a:r>
            <a:endParaRPr lang="en-US" sz="1400" dirty="0"/>
          </a:p>
        </p:txBody>
      </p:sp>
      <p:sp>
        <p:nvSpPr>
          <p:cNvPr id="6" name="Test stat card 2"/>
          <p:cNvSpPr/>
          <p:nvPr/>
        </p:nvSpPr>
        <p:spPr>
          <a:xfrm>
            <a:off x="4663440" y="1143000"/>
            <a:ext cx="4023360" cy="1508760"/>
          </a:xfrm>
          <a:prstGeom prst="roundRect">
            <a:avLst>
              <a:gd name="adj" fmla="val 4848"/>
            </a:avLst>
          </a:prstGeom>
          <a:solidFill>
            <a:srgbClr val="EEF5F1"/>
          </a:solidFill>
          <a:ln w="12700">
            <a:solidFill>
              <a:srgbClr val="EEF5F1"/>
            </a:solidFill>
            <a:prstDash val="solid"/>
          </a:ln>
        </p:spPr>
        <p:txBody>
          <a:bodyPr/>
          <a:p/>
        </p:txBody>
      </p:sp>
      <p:sp>
        <p:nvSpPr>
          <p:cNvPr id="7" name="Text 5"/>
          <p:cNvSpPr txBox="1"/>
          <p:nvPr/>
        </p:nvSpPr>
        <p:spPr>
          <a:xfrm>
            <a:off x="4800600" y="1234440"/>
            <a:ext cx="1783080" cy="1325880"/>
          </a:xfrm>
          <a:prstGeom prst="rect">
            <a:avLst/>
          </a:prstGeom>
          <a:noFill/>
          <a:ln/>
        </p:spPr>
        <p:txBody>
          <a:bodyPr wrap="square" lIns="0" tIns="0" rIns="0" bIns="0" rtlCol="0" anchor="ctr"/>
          <a:lstStyle/>
          <a:p>
            <a:pPr algn="ctr" indent="0" marL="0">
              <a:buNone/>
            </a:pPr>
            <a:r>
              <a:rPr lang="en-US" sz="3400" b="1" dirty="0">
                <a:solidFill>
                  <a:srgbClr val="0F4C3A"/>
                </a:solidFill>
                <a:latin typeface="Cambria" pitchFamily="34" charset="0"/>
                <a:ea typeface="Cambria" pitchFamily="34" charset="-122"/>
                <a:cs typeface="Cambria" pitchFamily="34" charset="-120"/>
              </a:rPr>
              <a:t>6 / 6</a:t>
            </a:r>
            <a:endParaRPr lang="en-US" sz="3400" dirty="0"/>
          </a:p>
        </p:txBody>
      </p:sp>
      <p:sp>
        <p:nvSpPr>
          <p:cNvPr id="8" name="Text 6"/>
          <p:cNvSpPr txBox="1"/>
          <p:nvPr/>
        </p:nvSpPr>
        <p:spPr>
          <a:xfrm>
            <a:off x="6629400" y="1234440"/>
            <a:ext cx="1965960" cy="132588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RLS security scenarios</a:t>
            </a:r>
            <a:endParaRPr lang="en-US" sz="1400" dirty="0"/>
          </a:p>
          <a:p>
            <a:pPr indent="0" marL="0">
              <a:buNone/>
            </a:pPr>
            <a:r>
              <a:rPr lang="en-US" sz="1150" dirty="0">
                <a:solidFill>
                  <a:srgbClr val="5B6B64"/>
                </a:solidFill>
                <a:latin typeface="Calibri" pitchFamily="34" charset="0"/>
                <a:ea typeface="Calibri" pitchFamily="34" charset="-122"/>
                <a:cs typeface="Calibri" pitchFamily="34" charset="-120"/>
              </a:rPr>
              <a:t>Unauthenticated access denied; published rows visible</a:t>
            </a:r>
            <a:endParaRPr lang="en-US" sz="1400" dirty="0"/>
          </a:p>
        </p:txBody>
      </p:sp>
      <p:sp>
        <p:nvSpPr>
          <p:cNvPr id="9" name="Test stat card 3"/>
          <p:cNvSpPr/>
          <p:nvPr/>
        </p:nvSpPr>
        <p:spPr>
          <a:xfrm>
            <a:off x="457200" y="2834640"/>
            <a:ext cx="4023360" cy="1508760"/>
          </a:xfrm>
          <a:prstGeom prst="roundRect">
            <a:avLst>
              <a:gd name="adj" fmla="val 4848"/>
            </a:avLst>
          </a:prstGeom>
          <a:solidFill>
            <a:srgbClr val="EEF5F1"/>
          </a:solidFill>
          <a:ln w="12700">
            <a:solidFill>
              <a:srgbClr val="EEF5F1"/>
            </a:solidFill>
            <a:prstDash val="solid"/>
          </a:ln>
        </p:spPr>
        <p:txBody>
          <a:bodyPr/>
          <a:p/>
        </p:txBody>
      </p:sp>
      <p:sp>
        <p:nvSpPr>
          <p:cNvPr id="10" name="Text 8"/>
          <p:cNvSpPr txBox="1"/>
          <p:nvPr/>
        </p:nvSpPr>
        <p:spPr>
          <a:xfrm>
            <a:off x="594360" y="2926080"/>
            <a:ext cx="1783080" cy="1325880"/>
          </a:xfrm>
          <a:prstGeom prst="rect">
            <a:avLst/>
          </a:prstGeom>
          <a:noFill/>
          <a:ln/>
        </p:spPr>
        <p:txBody>
          <a:bodyPr wrap="square" lIns="0" tIns="0" rIns="0" bIns="0" rtlCol="0" anchor="ctr"/>
          <a:lstStyle/>
          <a:p>
            <a:pPr algn="ctr" indent="0" marL="0">
              <a:buNone/>
            </a:pPr>
            <a:r>
              <a:rPr lang="en-US" sz="3400" b="1" dirty="0">
                <a:solidFill>
                  <a:srgbClr val="0F4C3A"/>
                </a:solidFill>
                <a:latin typeface="Cambria" pitchFamily="34" charset="0"/>
                <a:ea typeface="Cambria" pitchFamily="34" charset="-122"/>
                <a:cs typeface="Cambria" pitchFamily="34" charset="-120"/>
              </a:rPr>
              <a:t>6 / 6</a:t>
            </a:r>
            <a:endParaRPr lang="en-US" sz="3400" dirty="0"/>
          </a:p>
        </p:txBody>
      </p:sp>
      <p:sp>
        <p:nvSpPr>
          <p:cNvPr id="11" name="Text 9"/>
          <p:cNvSpPr txBox="1"/>
          <p:nvPr/>
        </p:nvSpPr>
        <p:spPr>
          <a:xfrm>
            <a:off x="2423160" y="2926080"/>
            <a:ext cx="1965960" cy="132588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browser and device checks</a:t>
            </a:r>
            <a:endParaRPr lang="en-US" sz="1400" dirty="0"/>
          </a:p>
          <a:p>
            <a:pPr indent="0" marL="0">
              <a:buNone/>
            </a:pPr>
            <a:r>
              <a:rPr lang="en-US" sz="1150" dirty="0">
                <a:solidFill>
                  <a:srgbClr val="5B6B64"/>
                </a:solidFill>
                <a:latin typeface="Calibri" pitchFamily="34" charset="0"/>
                <a:ea typeface="Calibri" pitchFamily="34" charset="-122"/>
                <a:cs typeface="Calibri" pitchFamily="34" charset="-120"/>
              </a:rPr>
              <a:t>Chrome, Firefox, Safari: 1280, 768 and 375 px</a:t>
            </a:r>
            <a:endParaRPr lang="en-US" sz="1400" dirty="0"/>
          </a:p>
        </p:txBody>
      </p:sp>
      <p:sp>
        <p:nvSpPr>
          <p:cNvPr id="12" name="Test stat card 4"/>
          <p:cNvSpPr/>
          <p:nvPr/>
        </p:nvSpPr>
        <p:spPr>
          <a:xfrm>
            <a:off x="4663440" y="2834640"/>
            <a:ext cx="4023360" cy="1508760"/>
          </a:xfrm>
          <a:prstGeom prst="roundRect">
            <a:avLst>
              <a:gd name="adj" fmla="val 4848"/>
            </a:avLst>
          </a:prstGeom>
          <a:solidFill>
            <a:srgbClr val="EEF5F1"/>
          </a:solidFill>
          <a:ln w="12700">
            <a:solidFill>
              <a:srgbClr val="EEF5F1"/>
            </a:solidFill>
            <a:prstDash val="solid"/>
          </a:ln>
        </p:spPr>
        <p:txBody>
          <a:bodyPr/>
          <a:p/>
        </p:txBody>
      </p:sp>
      <p:sp>
        <p:nvSpPr>
          <p:cNvPr id="13" name="Text 11"/>
          <p:cNvSpPr txBox="1"/>
          <p:nvPr/>
        </p:nvSpPr>
        <p:spPr>
          <a:xfrm>
            <a:off x="4800600" y="2926080"/>
            <a:ext cx="1783080" cy="1325880"/>
          </a:xfrm>
          <a:prstGeom prst="rect">
            <a:avLst/>
          </a:prstGeom>
          <a:noFill/>
          <a:ln/>
        </p:spPr>
        <p:txBody>
          <a:bodyPr wrap="square" lIns="0" tIns="0" rIns="0" bIns="0" rtlCol="0" anchor="ctr"/>
          <a:lstStyle/>
          <a:p>
            <a:pPr algn="ctr" indent="0" marL="0">
              <a:buNone/>
            </a:pPr>
            <a:r>
              <a:rPr lang="en-US" sz="3400" b="1" dirty="0">
                <a:solidFill>
                  <a:srgbClr val="0F4C3A"/>
                </a:solidFill>
                <a:latin typeface="Cambria" pitchFamily="34" charset="0"/>
                <a:ea typeface="Cambria" pitchFamily="34" charset="-122"/>
                <a:cs typeface="Cambria" pitchFamily="34" charset="-120"/>
              </a:rPr>
              <a:t>7 / 7</a:t>
            </a:r>
            <a:endParaRPr lang="en-US" sz="3400" dirty="0"/>
          </a:p>
        </p:txBody>
      </p:sp>
      <p:sp>
        <p:nvSpPr>
          <p:cNvPr id="14" name="Text 12"/>
          <p:cNvSpPr txBox="1"/>
          <p:nvPr/>
        </p:nvSpPr>
        <p:spPr>
          <a:xfrm>
            <a:off x="6629400" y="2926080"/>
            <a:ext cx="1965960" cy="132588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UAT scenarios passed</a:t>
            </a:r>
            <a:endParaRPr lang="en-US" sz="1400" dirty="0"/>
          </a:p>
          <a:p>
            <a:pPr indent="0" marL="0">
              <a:buNone/>
            </a:pPr>
            <a:r>
              <a:rPr lang="en-US" sz="1150" dirty="0">
                <a:solidFill>
                  <a:srgbClr val="5B6B64"/>
                </a:solidFill>
                <a:latin typeface="Calibri" pitchFamily="34" charset="0"/>
                <a:ea typeface="Calibri" pitchFamily="34" charset="-122"/>
                <a:cs typeface="Calibri" pitchFamily="34" charset="-120"/>
              </a:rPr>
              <a:t>ICT Directorate and Registrar's Office users</a:t>
            </a:r>
            <a:endParaRPr lang="en-US" sz="1400" dirty="0"/>
          </a:p>
        </p:txBody>
      </p:sp>
      <p:sp>
        <p:nvSpPr>
          <p:cNvPr id="15" name="Text 13"/>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200" i="1" dirty="0">
                <a:solidFill>
                  <a:srgbClr val="5B6B64"/>
                </a:solidFill>
                <a:latin typeface="Calibri" pitchFamily="34" charset="0"/>
                <a:ea typeface="Calibri" pitchFamily="34" charset="-122"/>
                <a:cs typeface="Calibri" pitchFamily="34" charset="-120"/>
              </a:rPr>
              <a:t>Scripts also check that data created in the Admin CMS appears on the public college, department and program pages.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BU Green">
  <a:themeElements>
    <a:clrScheme name="OBU Green">
      <a:dk1>
        <a:srgbClr val="17251F"/>
      </a:dk1>
      <a:lt1>
        <a:srgbClr val="FFFFFF"/>
      </a:lt1>
      <a:dk2>
        <a:srgbClr val="0F4C3A"/>
      </a:dk2>
      <a:lt2>
        <a:srgbClr val="EEF5F1"/>
      </a:lt2>
      <a:accent1>
        <a:srgbClr val="0F4C3A"/>
      </a:accent1>
      <a:accent2>
        <a:srgbClr val="D4A017"/>
      </a:accent2>
      <a:accent3>
        <a:srgbClr val="287A5D"/>
      </a:accent3>
      <a:accent4>
        <a:srgbClr val="1B6B50"/>
      </a:accent4>
      <a:accent5>
        <a:srgbClr val="B85C38"/>
      </a:accent5>
      <a:accent6>
        <a:srgbClr val="5B7F95"/>
      </a:accent6>
      <a:hlink>
        <a:srgbClr val="1B6B50"/>
      </a:hlink>
      <a:folHlink>
        <a:srgbClr val="5B7F95"/>
      </a:folHlink>
    </a:clrScheme>
    <a:fontScheme name="OBU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OBU-CMS - Industrial Practice Presentation</dc:title>
  <dc:subject>PptxGenJS Presentation</dc:subject>
  <dc:creator>Nedi Usman Hussen</dc:creator>
  <cp:lastModifiedBy>Nedi Usman Hussen</cp:lastModifiedBy>
  <cp:revision>1</cp:revision>
  <dcterms:created xsi:type="dcterms:W3CDTF">2026-10-25T21:27:20Z</dcterms:created>
  <dcterms:modified xsi:type="dcterms:W3CDTF">2026-10-25T21:27:20Z</dcterms:modified>
</cp:coreProperties>
</file>