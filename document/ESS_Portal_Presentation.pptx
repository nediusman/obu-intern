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advisor and evaluators. My name is Rediet Belay, ID 2282/16, from the Department of Computer Science, College of CCI, Haramaya University. Today I will present my industrial internship project: the ESS Internal News and Announcement Portal. I carried out this work at the Ethiopian Statistical Service, in the Software Development Unit of the IT Directorate. In this presentation I will take you from the problem, through the design, to what was built and what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presentation is organized. I start with the organization and the problem. Then I explain the objectives, the plan and the requirements. The middle part covers the analysis and design: actors, workflows, architecture, database, user interface and security. After that I describe the implementation, the challenges and the testing, and I finish with my learning outcomes, recommendations and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Ethiopian Statistical Service, or ESS, is the federal authority responsible for collecting, analyzing and publishing official statistics in Ethiopia. It began in 1963 as the Central Statistical Office, became the Central Statistical Agency in 1989, and was renamed ESS in August 2021 under Proclamation 1263 of 2021. Its mandate includes national surveys, the population and housing census, and coordinating the national statistical system. The headquarters is on Churchill Road in Addis Ababa, and the work is spread over 25 regional branch offices. That geography is the root of our problem: staff are scattered, so communication has to reach everyone equally.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structure. The Director General leads, the Deputy Director Generals oversee the directorates, and two of them matter for this project. The IT Directorate hosts and develops the systems, and the Public Relations and Communications Directorate creates the content: news, announcements and circulars. The consumers are the employees in the 25 regional branches. My project connects these three groups. I worked inside the Software Development Unit, as part of a team of intern developers, using Git and GitHub with separate feature branches and review before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problem. Today ESS shares internal news through physical memos on bulletin boards, scattered email lists and word of mouth. For regional offices this creates a delay of seven to fourteen days. Updates arrive late or not at all, there is no central archive, and staff in the regions are at a structural disadvantage compared with headquarters. HR and communication staff also spend time formatting, photocopying and distributing paper. The result is an information gap that lowers engagement, trust and organizational agility.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objective is to design and develop a web-based internal news portal so that ESS can publish, manage and distribute announcements centrally, with equal access for all employees. The specific objectives are: a responsive, read-only public interface with search; a secure administrator dashboard with encrypted login; full create, read, update and delete for news; image upload, for example event posters; and correct display of both English and Amharic text. The scope is deliberately focused. The portal does not include external internet access, comment sections or individual employee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ran over a four to five week plan: week one for requirements and database design, week two for the React frontend, weeks three and four for the Express backend, middleware and uploads, and week five for quality assurance and documentation. We used an Agile prototyping approach rather than Waterfall, because requirements around search and filtering needed to change with feedback. We also identified three main risks, and each had a mitigation: Amharic sorting problems, solved with utf8mb4 unicode collation; malicious file uploads, solved with file type validation in Multer; and unauthorized access to admin URLs, solved with route protection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old and new situation. In the existing system, information moves by memo, email and word of mouth, so it is inconsistent. There is no central archive, so past notices cannot be found. Transparency is weak because staff cannot be sure every opportunity was advertised equally. And regional staff are the last to know. The proposed portal replaces this with one official, searchable, always-available channel, which is accessible without login for reading, and managed only by authorized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are grouped in two parts. The functional requirements are: public viewing of announcements without login, a search bar, a password-protected administrator dashboard, create, read, update and delete of news with title, content and expiry date, image upload through a secure backend, and a responsive interface. The non-functional requirements are usability, reliability, performance, security, maintainability and legal compliance. For security specifically, the requirements say passwords must be hashed, database access must use parameterized queries, uploads must be type-restricted, and the system should be reachable only through the internal ESS intranet.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two actors. The Public User, which is any ESS employee, can view Home, About, the News list and News Details, without authentication. The Administrator can log in, view the dashboard, manage news by creating, updating and deleting, manage the profile, change the password and log out. This use case diagram shows exactly that. One point I want to be precise about: the database has a role field with values such as ADMIN and CONTENT_MANAGER, but the active routes currently use general authentication, not role-specific permissions. So roles are prepared for future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workflows show how the system behaves. First, login: the administrator enters credentials, the React page sends them to the login endpoint, the backend finds the user in MySQL, compares the password with the stored bcrypt hash, and returns a signed JWT. The frontend stores it and opens the dashboard. Second, creating news: after authentication the administrator fills the form and attaches an image. The request goes as multipart form data, the server verifies the token, validates the input and the file, stores the file, inserts the record, and returns success. Invalid input is returned to the form with an error before anything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uses a layered full-stack architecture with four responsibilities. The presentation layer is React 18 with React Router and context. The application layer is Node.js and Express with routes, middleware, controllers and services. The data layer is MySQL 8. And the file storage holds uploaded images separately, with only the path saved in the database. Communication is HTTP with JSON and multipart. This separation helps maintainability: changing a page does not touch database code, and database queries stay inside backend models. Administrator pages are also lazy-loaded in React for faster initial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API has two groups. Authentication endpoints handle login, logout, profile and password change. News endpoints are public for reading: list with search and pagination, latest news, and single article; and protected for writing: create, update and delete. The database is relational, MySQL with InnoDB and utf8mb4. It has unique username and email, indexes for lookup and sorting, full-text indexes prepared for search, and a foreign key from news to the administrator who posted it. Image paths are stored as JSON in the news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public interface. Employees see a hero page with the portal name, then the latest news cards, with the newest first. The News page has a search bar, pagination and article cards with image, date, author and expiry. Here you can see Amharic and English articles displayed correctly side by side, which was one of our objectives. The About page explains the purpose of the portal. The path is short, Home to News to News Details, so a user finds information quickly. The colors come from the ESS brand: navy and cream.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area is separate from the public site. After login, the admin sees a dashboard with a greeting, the total number of news articles and the recent news with their status. The sidebar has Dashboard, News and Profile, and it collapses on mobile. In News Management, the administrator sees a table with preview, image, publish date and Edit and Delete buttons, plus search and an Add New button. Deleting asks for confirmation first. Profile lets the administrator update their information and change their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 layers. Authentication uses a JWT after the password is checked against a bcrypt hash; we use cost factor 12 when changing passwords, and passwords must have at least eight characters with upper case, lower case and numbers. Authorization uses a middleware on every protected route, checking the Bearer token or the cookie. All database access uses parameterized queries to prevent SQL injection. Uploads are restricted by type, sanitized and kept outside the public web root. In addition, we use CORS restrictions, rate limiting and Helmet security headers, and the frontend has a ProtectedRoute, though the real protection is always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implementation, we used React with Vite, Axios for requests, Node.js and Express, mysql2, Multer for uploads, bcrypt and JWT, MySQL Workbench for the database, and Git with GitHub. Four challenges stand out. First, keeping frontend and backend in agreement, solved by defining the API contract early. Second, safe file upload, solved by validating type and size and sanitizing filenames. Third, responsive design, checked in different screen sizes with Chrome DevTools. Fourth, SQL injection, handled with a rule that every query with user input uses prepared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was planned at several levels: unit, integration, end-to-end, cross-browser and security testing. For integration, the focus was on whether the API returns the right data and whether authentication blocks unauthenticated requests. For security, we tried to bypass login, inject SQL and upload dangerous files. I want to be honest about one point: a formal executed test-results report was not part of the submitted materials, so I present the testing as a plan with the checks we carried out, not as a table of pass or fail results. Also, the architecture here is the development setup, localhost ports 3000 and 5000, not a production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learning outcomes are practical and professional. I saw how frontend, backend, database and security work together in a real system, and I learned to trace a problem step by step through the layers. I applied web programming, database and software engineering theory, and I learned to describe a project honestly, separating what is designed from what is implemented and what is tested. My recommendations for ESS are: complete promotion management if it stays in scope, enforce role-based authorization, set up backups, monitoring and logging, and add automated tests. For future interns: clear scope at the start, weekly notes, and exposure to testing, deployment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ESS Internal News and Announcement Portal gives ESS a central, secure and searchable channel that reaches all 25 regional offices at the same time, replacing slow paper and scattered email. It also gave me real experience of building a full-stack system. I thank my academic advisor, Mr. Kibru G, my supervisors at ESS, and the evaluators for your time. I am now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BE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ESS Internal News &amp; Announcement Portal</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2498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1"/>
          <p:cNvSpPr txBox="1"/>
          <p:nvPr/>
        </p:nvSpPr>
        <p:spPr>
          <a:xfrm>
            <a:off x="548640" y="640080"/>
            <a:ext cx="5486400" cy="274320"/>
          </a:xfrm>
          <a:prstGeom prst="rect">
            <a:avLst/>
          </a:prstGeom>
          <a:noFill/>
          <a:ln/>
        </p:spPr>
        <p:txBody>
          <a:bodyPr wrap="square" lIns="0" tIns="0" rIns="0" bIns="0" rtlCol="0" anchor="t"/>
          <a:lstStyle/>
          <a:p>
            <a:pPr indent="0" marL="0">
              <a:buNone/>
            </a:pPr>
            <a:r>
              <a:rPr lang="en-US" sz="1400" b="1" spc="300" kern="0" dirty="0">
                <a:solidFill>
                  <a:schemeClr val="accent2"/>
                </a:solidFill>
              </a:rPr>
              <a:t>INDUSTRIAL INTERNSHIP PROJECT</a:t>
            </a:r>
            <a:endParaRPr lang="en-US" sz="1400" dirty="0"/>
          </a:p>
        </p:txBody>
      </p:sp>
      <p:sp>
        <p:nvSpPr>
          <p:cNvPr id="4" name="text-2"/>
          <p:cNvSpPr txBox="1"/>
          <p:nvPr/>
        </p:nvSpPr>
        <p:spPr>
          <a:xfrm>
            <a:off x="548640" y="1051560"/>
            <a:ext cx="5669280" cy="137160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ESS Internal News &amp;</a:t>
            </a:r>
            <a:endParaRPr lang="en-US" sz="3800" dirty="0"/>
          </a:p>
          <a:p>
            <a:pPr indent="0" marL="0">
              <a:buNone/>
            </a:pPr>
            <a:r>
              <a:rPr lang="en-US" sz="3800" b="1" dirty="0">
                <a:solidFill>
                  <a:schemeClr val="bg1"/>
                </a:solidFill>
                <a:latin typeface="Cambria" pitchFamily="34" charset="0"/>
                <a:ea typeface="Cambria" pitchFamily="34" charset="-122"/>
                <a:cs typeface="Cambria" pitchFamily="34" charset="-120"/>
              </a:rPr>
              <a:t>Announcement Portal</a:t>
            </a:r>
            <a:endParaRPr lang="en-US" sz="3800" dirty="0"/>
          </a:p>
        </p:txBody>
      </p:sp>
      <p:sp>
        <p:nvSpPr>
          <p:cNvPr id="5" name="text-3"/>
          <p:cNvSpPr txBox="1"/>
          <p:nvPr/>
        </p:nvSpPr>
        <p:spPr>
          <a:xfrm>
            <a:off x="548640" y="2377440"/>
            <a:ext cx="5669280" cy="868680"/>
          </a:xfrm>
          <a:prstGeom prst="rect">
            <a:avLst/>
          </a:prstGeom>
          <a:noFill/>
          <a:ln/>
        </p:spPr>
        <p:txBody>
          <a:bodyPr wrap="square" lIns="0" tIns="0" rIns="0" bIns="0" rtlCol="0" anchor="t"/>
          <a:lstStyle/>
          <a:p>
            <a:pPr indent="0" marL="0">
              <a:buNone/>
            </a:pPr>
            <a:r>
              <a:rPr lang="en-US" sz="1800" b="1" dirty="0">
                <a:solidFill>
                  <a:schemeClr val="accent2"/>
                </a:solidFill>
              </a:rPr>
              <a:t>Haramaya University</a:t>
            </a:r>
            <a:endParaRPr lang="en-US" sz="1600" dirty="0"/>
          </a:p>
          <a:p>
            <a:pPr indent="0" marL="0">
              <a:buNone/>
            </a:pPr>
            <a:r>
              <a:rPr lang="en-US" sz="1600" dirty="0">
                <a:solidFill>
                  <a:schemeClr val="bg1"/>
                </a:solidFill>
              </a:rPr>
              <a:t>College of CCI</a:t>
            </a:r>
            <a:endParaRPr lang="en-US" sz="1600" dirty="0"/>
          </a:p>
          <a:p>
            <a:pPr indent="0" marL="0">
              <a:buNone/>
            </a:pPr>
            <a:r>
              <a:rPr lang="en-US" sz="1600" dirty="0">
                <a:solidFill>
                  <a:schemeClr val="bg1"/>
                </a:solidFill>
              </a:rPr>
              <a:t>Department of Computer Science</a:t>
            </a:r>
            <a:endParaRPr lang="en-US" sz="1600" dirty="0"/>
          </a:p>
        </p:txBody>
      </p:sp>
      <p:sp>
        <p:nvSpPr>
          <p:cNvPr id="6" name="text-4"/>
          <p:cNvSpPr txBox="1"/>
          <p:nvPr/>
        </p:nvSpPr>
        <p:spPr>
          <a:xfrm>
            <a:off x="548640" y="4114800"/>
            <a:ext cx="5669280" cy="640080"/>
          </a:xfrm>
          <a:prstGeom prst="rect">
            <a:avLst/>
          </a:prstGeom>
          <a:noFill/>
          <a:ln/>
        </p:spPr>
        <p:txBody>
          <a:bodyPr wrap="square" lIns="0" tIns="0" rIns="0" bIns="0" rtlCol="0" anchor="t"/>
          <a:lstStyle/>
          <a:p>
            <a:pPr indent="0" marL="0">
              <a:buNone/>
            </a:pPr>
            <a:r>
              <a:rPr lang="en-US" sz="1400" b="1" dirty="0">
                <a:solidFill>
                  <a:schemeClr val="bg1"/>
                </a:solidFill>
              </a:rPr>
              <a:t>Rediet Belay  ·  ID 2282/16</a:t>
            </a:r>
            <a:endParaRPr lang="en-US" sz="1400" dirty="0"/>
          </a:p>
          <a:p>
            <a:pPr indent="0" marL="0">
              <a:buNone/>
            </a:pPr>
            <a:r>
              <a:rPr lang="en-US" sz="1400" dirty="0">
                <a:solidFill>
                  <a:schemeClr val="bg1"/>
                </a:solidFill>
              </a:rPr>
              <a:t>Academic Advisor: Mr. Kibru G</a:t>
            </a:r>
            <a:endParaRPr lang="en-US" sz="1400" dirty="0"/>
          </a:p>
        </p:txBody>
      </p:sp>
      <p:sp>
        <p:nvSpPr>
          <p:cNvPr id="7" name="logo-bg-5"/>
          <p:cNvSpPr/>
          <p:nvPr/>
        </p:nvSpPr>
        <p:spPr>
          <a:xfrm>
            <a:off x="7223760" y="365760"/>
            <a:ext cx="1554480" cy="1554480"/>
          </a:xfrm>
          <a:prstGeom prst="ellipse">
            <a:avLst/>
          </a:prstGeom>
          <a:solidFill>
            <a:schemeClr val="bg1"/>
          </a:solidFill>
          <a:ln w="12700">
            <a:solidFill>
              <a:schemeClr val="bg1"/>
            </a:solidFill>
            <a:prstDash val="solid"/>
          </a:ln>
        </p:spPr>
      </p:sp>
      <p:pic>
        <p:nvPicPr>
          <p:cNvPr id="8" name="logo" descr="/home/claude/work/img/logo_circle.png">    </p:cNvPr>
          <p:cNvPicPr>
            <a:picLocks noChangeAspect="1"/>
          </p:cNvPicPr>
          <p:nvPr/>
        </p:nvPicPr>
        <p:blipFill>
          <a:blip r:embed="rId2"/>
          <a:stretch>
            <a:fillRect/>
          </a:stretch>
        </p:blipFill>
        <p:spPr>
          <a:xfrm>
            <a:off x="7269480" y="41148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Presentation outline</a:t>
            </a:r>
            <a:endParaRPr lang="en-US" sz="3000" dirty="0"/>
          </a:p>
        </p:txBody>
      </p:sp>
      <p:sp>
        <p:nvSpPr>
          <p:cNvPr id="4" name="card-6"/>
          <p:cNvSpPr/>
          <p:nvPr/>
        </p:nvSpPr>
        <p:spPr>
          <a:xfrm>
            <a:off x="457200" y="1188720"/>
            <a:ext cx="402336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badge-7"/>
          <p:cNvSpPr/>
          <p:nvPr/>
        </p:nvSpPr>
        <p:spPr>
          <a:xfrm>
            <a:off x="640080" y="1389888"/>
            <a:ext cx="548640" cy="548640"/>
          </a:xfrm>
          <a:prstGeom prst="ellipse">
            <a:avLst/>
          </a:prstGeom>
          <a:solidFill>
            <a:schemeClr val="accent1"/>
          </a:solidFill>
          <a:ln w="12700">
            <a:solidFill>
              <a:schemeClr val="accent1"/>
            </a:solidFill>
            <a:prstDash val="solid"/>
          </a:ln>
        </p:spPr>
      </p:sp>
      <p:pic>
        <p:nvPicPr>
          <p:cNvPr id="6" name="icon-8" descr="preencoded.png">    </p:cNvPr>
          <p:cNvPicPr>
            <a:picLocks noChangeAspect="1"/>
          </p:cNvPicPr>
          <p:nvPr/>
        </p:nvPicPr>
        <p:blipFill>
          <a:blip r:embed="rId1"/>
          <a:stretch>
            <a:fillRect/>
          </a:stretch>
        </p:blipFill>
        <p:spPr>
          <a:xfrm>
            <a:off x="782726" y="1532534"/>
            <a:ext cx="263347" cy="263347"/>
          </a:xfrm>
          <a:prstGeom prst="rect">
            <a:avLst/>
          </a:prstGeom>
        </p:spPr>
      </p:pic>
      <p:sp>
        <p:nvSpPr>
          <p:cNvPr id="7" name="text-9"/>
          <p:cNvSpPr txBox="1"/>
          <p:nvPr/>
        </p:nvSpPr>
        <p:spPr>
          <a:xfrm>
            <a:off x="1371600" y="1344168"/>
            <a:ext cx="3017520" cy="320040"/>
          </a:xfrm>
          <a:prstGeom prst="rect">
            <a:avLst/>
          </a:prstGeom>
          <a:noFill/>
          <a:ln/>
        </p:spPr>
        <p:txBody>
          <a:bodyPr wrap="square" lIns="0" tIns="0" rIns="0" bIns="0" rtlCol="0" anchor="t"/>
          <a:lstStyle/>
          <a:p>
            <a:pPr indent="0" marL="0">
              <a:buNone/>
            </a:pPr>
            <a:r>
              <a:rPr lang="en-US" sz="1600" b="1" dirty="0">
                <a:solidFill>
                  <a:schemeClr val="tx2"/>
                </a:solidFill>
              </a:rPr>
              <a:t>Context &amp; problem</a:t>
            </a:r>
            <a:endParaRPr lang="en-US" sz="1600" dirty="0"/>
          </a:p>
        </p:txBody>
      </p:sp>
      <p:sp>
        <p:nvSpPr>
          <p:cNvPr id="8" name="text-10"/>
          <p:cNvSpPr txBox="1"/>
          <p:nvPr/>
        </p:nvSpPr>
        <p:spPr>
          <a:xfrm>
            <a:off x="1371600" y="1691640"/>
            <a:ext cx="3017520" cy="365760"/>
          </a:xfrm>
          <a:prstGeom prst="rect">
            <a:avLst/>
          </a:prstGeom>
          <a:noFill/>
          <a:ln/>
        </p:spPr>
        <p:txBody>
          <a:bodyPr wrap="square" lIns="0" tIns="0" rIns="0" bIns="0" rtlCol="0" anchor="t"/>
          <a:lstStyle/>
          <a:p>
            <a:pPr indent="0" marL="0">
              <a:buNone/>
            </a:pPr>
            <a:r>
              <a:rPr lang="en-US" sz="1400" dirty="0">
                <a:solidFill>
                  <a:schemeClr val="tx1"/>
                </a:solidFill>
              </a:rPr>
              <a:t>Organization, structure, why this project</a:t>
            </a:r>
            <a:endParaRPr lang="en-US" sz="1400" dirty="0"/>
          </a:p>
        </p:txBody>
      </p:sp>
      <p:sp>
        <p:nvSpPr>
          <p:cNvPr id="9" name="card-11"/>
          <p:cNvSpPr/>
          <p:nvPr/>
        </p:nvSpPr>
        <p:spPr>
          <a:xfrm>
            <a:off x="4663440" y="1188720"/>
            <a:ext cx="402336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0" name="badge-12"/>
          <p:cNvSpPr/>
          <p:nvPr/>
        </p:nvSpPr>
        <p:spPr>
          <a:xfrm>
            <a:off x="4846320" y="1389888"/>
            <a:ext cx="548640" cy="548640"/>
          </a:xfrm>
          <a:prstGeom prst="ellipse">
            <a:avLst/>
          </a:prstGeom>
          <a:solidFill>
            <a:schemeClr val="accent1"/>
          </a:solidFill>
          <a:ln w="12700">
            <a:solidFill>
              <a:schemeClr val="accent1"/>
            </a:solidFill>
            <a:prstDash val="solid"/>
          </a:ln>
        </p:spPr>
      </p:sp>
      <p:pic>
        <p:nvPicPr>
          <p:cNvPr id="11" name="icon-13" descr="preencoded.png">    </p:cNvPr>
          <p:cNvPicPr>
            <a:picLocks noChangeAspect="1"/>
          </p:cNvPicPr>
          <p:nvPr/>
        </p:nvPicPr>
        <p:blipFill>
          <a:blip r:embed="rId2"/>
          <a:stretch>
            <a:fillRect/>
          </a:stretch>
        </p:blipFill>
        <p:spPr>
          <a:xfrm>
            <a:off x="4988966" y="1532534"/>
            <a:ext cx="263347" cy="263347"/>
          </a:xfrm>
          <a:prstGeom prst="rect">
            <a:avLst/>
          </a:prstGeom>
        </p:spPr>
      </p:pic>
      <p:sp>
        <p:nvSpPr>
          <p:cNvPr id="12" name="text-14"/>
          <p:cNvSpPr txBox="1"/>
          <p:nvPr/>
        </p:nvSpPr>
        <p:spPr>
          <a:xfrm>
            <a:off x="5577840" y="1344168"/>
            <a:ext cx="3017520" cy="320040"/>
          </a:xfrm>
          <a:prstGeom prst="rect">
            <a:avLst/>
          </a:prstGeom>
          <a:noFill/>
          <a:ln/>
        </p:spPr>
        <p:txBody>
          <a:bodyPr wrap="square" lIns="0" tIns="0" rIns="0" bIns="0" rtlCol="0" anchor="t"/>
          <a:lstStyle/>
          <a:p>
            <a:pPr indent="0" marL="0">
              <a:buNone/>
            </a:pPr>
            <a:r>
              <a:rPr lang="en-US" sz="1600" b="1" dirty="0">
                <a:solidFill>
                  <a:schemeClr val="tx2"/>
                </a:solidFill>
              </a:rPr>
              <a:t>Objectives &amp; plan</a:t>
            </a:r>
            <a:endParaRPr lang="en-US" sz="1600" dirty="0"/>
          </a:p>
        </p:txBody>
      </p:sp>
      <p:sp>
        <p:nvSpPr>
          <p:cNvPr id="13" name="text-15"/>
          <p:cNvSpPr txBox="1"/>
          <p:nvPr/>
        </p:nvSpPr>
        <p:spPr>
          <a:xfrm>
            <a:off x="5577840" y="1691640"/>
            <a:ext cx="3017520" cy="365760"/>
          </a:xfrm>
          <a:prstGeom prst="rect">
            <a:avLst/>
          </a:prstGeom>
          <a:noFill/>
          <a:ln/>
        </p:spPr>
        <p:txBody>
          <a:bodyPr wrap="square" lIns="0" tIns="0" rIns="0" bIns="0" rtlCol="0" anchor="t"/>
          <a:lstStyle/>
          <a:p>
            <a:pPr indent="0" marL="0">
              <a:buNone/>
            </a:pPr>
            <a:r>
              <a:rPr lang="en-US" sz="1400" dirty="0">
                <a:solidFill>
                  <a:schemeClr val="tx1"/>
                </a:solidFill>
              </a:rPr>
              <a:t>Scope, schedule, methodology, risks</a:t>
            </a:r>
            <a:endParaRPr lang="en-US" sz="1400" dirty="0"/>
          </a:p>
        </p:txBody>
      </p:sp>
      <p:sp>
        <p:nvSpPr>
          <p:cNvPr id="14" name="card-16"/>
          <p:cNvSpPr/>
          <p:nvPr/>
        </p:nvSpPr>
        <p:spPr>
          <a:xfrm>
            <a:off x="457200" y="2331720"/>
            <a:ext cx="402336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badge-17"/>
          <p:cNvSpPr/>
          <p:nvPr/>
        </p:nvSpPr>
        <p:spPr>
          <a:xfrm>
            <a:off x="640080" y="2532888"/>
            <a:ext cx="548640" cy="548640"/>
          </a:xfrm>
          <a:prstGeom prst="ellipse">
            <a:avLst/>
          </a:prstGeom>
          <a:solidFill>
            <a:schemeClr val="accent1"/>
          </a:solidFill>
          <a:ln w="12700">
            <a:solidFill>
              <a:schemeClr val="accent1"/>
            </a:solidFill>
            <a:prstDash val="solid"/>
          </a:ln>
        </p:spPr>
      </p:sp>
      <p:pic>
        <p:nvPicPr>
          <p:cNvPr id="16" name="icon-18" descr="preencoded.png">    </p:cNvPr>
          <p:cNvPicPr>
            <a:picLocks noChangeAspect="1"/>
          </p:cNvPicPr>
          <p:nvPr/>
        </p:nvPicPr>
        <p:blipFill>
          <a:blip r:embed="rId3"/>
          <a:stretch>
            <a:fillRect/>
          </a:stretch>
        </p:blipFill>
        <p:spPr>
          <a:xfrm>
            <a:off x="782726" y="2675534"/>
            <a:ext cx="263347" cy="263347"/>
          </a:xfrm>
          <a:prstGeom prst="rect">
            <a:avLst/>
          </a:prstGeom>
        </p:spPr>
      </p:pic>
      <p:sp>
        <p:nvSpPr>
          <p:cNvPr id="17" name="text-19"/>
          <p:cNvSpPr txBox="1"/>
          <p:nvPr/>
        </p:nvSpPr>
        <p:spPr>
          <a:xfrm>
            <a:off x="1371600" y="2487168"/>
            <a:ext cx="3017520" cy="320040"/>
          </a:xfrm>
          <a:prstGeom prst="rect">
            <a:avLst/>
          </a:prstGeom>
          <a:noFill/>
          <a:ln/>
        </p:spPr>
        <p:txBody>
          <a:bodyPr wrap="square" lIns="0" tIns="0" rIns="0" bIns="0" rtlCol="0" anchor="t"/>
          <a:lstStyle/>
          <a:p>
            <a:pPr indent="0" marL="0">
              <a:buNone/>
            </a:pPr>
            <a:r>
              <a:rPr lang="en-US" sz="1600" b="1" dirty="0">
                <a:solidFill>
                  <a:schemeClr val="tx2"/>
                </a:solidFill>
              </a:rPr>
              <a:t>Requirements</a:t>
            </a:r>
            <a:endParaRPr lang="en-US" sz="1600" dirty="0"/>
          </a:p>
        </p:txBody>
      </p:sp>
      <p:sp>
        <p:nvSpPr>
          <p:cNvPr id="18" name="text-20"/>
          <p:cNvSpPr txBox="1"/>
          <p:nvPr/>
        </p:nvSpPr>
        <p:spPr>
          <a:xfrm>
            <a:off x="1371600" y="2834640"/>
            <a:ext cx="3017520" cy="365760"/>
          </a:xfrm>
          <a:prstGeom prst="rect">
            <a:avLst/>
          </a:prstGeom>
          <a:noFill/>
          <a:ln/>
        </p:spPr>
        <p:txBody>
          <a:bodyPr wrap="square" lIns="0" tIns="0" rIns="0" bIns="0" rtlCol="0" anchor="t"/>
          <a:lstStyle/>
          <a:p>
            <a:pPr indent="0" marL="0">
              <a:buNone/>
            </a:pPr>
            <a:r>
              <a:rPr lang="en-US" sz="1400" dirty="0">
                <a:solidFill>
                  <a:schemeClr val="tx1"/>
                </a:solidFill>
              </a:rPr>
              <a:t>Existing vs proposed system</a:t>
            </a:r>
            <a:endParaRPr lang="en-US" sz="1400" dirty="0"/>
          </a:p>
        </p:txBody>
      </p:sp>
      <p:sp>
        <p:nvSpPr>
          <p:cNvPr id="19" name="card-21"/>
          <p:cNvSpPr/>
          <p:nvPr/>
        </p:nvSpPr>
        <p:spPr>
          <a:xfrm>
            <a:off x="4663440" y="2331720"/>
            <a:ext cx="402336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badge-22"/>
          <p:cNvSpPr/>
          <p:nvPr/>
        </p:nvSpPr>
        <p:spPr>
          <a:xfrm>
            <a:off x="4846320" y="2532888"/>
            <a:ext cx="548640" cy="548640"/>
          </a:xfrm>
          <a:prstGeom prst="ellipse">
            <a:avLst/>
          </a:prstGeom>
          <a:solidFill>
            <a:schemeClr val="accent1"/>
          </a:solidFill>
          <a:ln w="12700">
            <a:solidFill>
              <a:schemeClr val="accent1"/>
            </a:solidFill>
            <a:prstDash val="solid"/>
          </a:ln>
        </p:spPr>
      </p:sp>
      <p:pic>
        <p:nvPicPr>
          <p:cNvPr id="21" name="icon-23" descr="preencoded.png">    </p:cNvPr>
          <p:cNvPicPr>
            <a:picLocks noChangeAspect="1"/>
          </p:cNvPicPr>
          <p:nvPr/>
        </p:nvPicPr>
        <p:blipFill>
          <a:blip r:embed="rId4"/>
          <a:stretch>
            <a:fillRect/>
          </a:stretch>
        </p:blipFill>
        <p:spPr>
          <a:xfrm>
            <a:off x="4988966" y="2675534"/>
            <a:ext cx="263347" cy="263347"/>
          </a:xfrm>
          <a:prstGeom prst="rect">
            <a:avLst/>
          </a:prstGeom>
        </p:spPr>
      </p:pic>
      <p:sp>
        <p:nvSpPr>
          <p:cNvPr id="22" name="text-24"/>
          <p:cNvSpPr txBox="1"/>
          <p:nvPr/>
        </p:nvSpPr>
        <p:spPr>
          <a:xfrm>
            <a:off x="5577840" y="2487168"/>
            <a:ext cx="3017520" cy="320040"/>
          </a:xfrm>
          <a:prstGeom prst="rect">
            <a:avLst/>
          </a:prstGeom>
          <a:noFill/>
          <a:ln/>
        </p:spPr>
        <p:txBody>
          <a:bodyPr wrap="square" lIns="0" tIns="0" rIns="0" bIns="0" rtlCol="0" anchor="t"/>
          <a:lstStyle/>
          <a:p>
            <a:pPr indent="0" marL="0">
              <a:buNone/>
            </a:pPr>
            <a:r>
              <a:rPr lang="en-US" sz="1600" b="1" dirty="0">
                <a:solidFill>
                  <a:schemeClr val="tx2"/>
                </a:solidFill>
              </a:rPr>
              <a:t>Analysis &amp; design</a:t>
            </a:r>
            <a:endParaRPr lang="en-US" sz="1600" dirty="0"/>
          </a:p>
        </p:txBody>
      </p:sp>
      <p:sp>
        <p:nvSpPr>
          <p:cNvPr id="23" name="text-25"/>
          <p:cNvSpPr txBox="1"/>
          <p:nvPr/>
        </p:nvSpPr>
        <p:spPr>
          <a:xfrm>
            <a:off x="5577840" y="2834640"/>
            <a:ext cx="3017520" cy="365760"/>
          </a:xfrm>
          <a:prstGeom prst="rect">
            <a:avLst/>
          </a:prstGeom>
          <a:noFill/>
          <a:ln/>
        </p:spPr>
        <p:txBody>
          <a:bodyPr wrap="square" lIns="0" tIns="0" rIns="0" bIns="0" rtlCol="0" anchor="t"/>
          <a:lstStyle/>
          <a:p>
            <a:pPr indent="0" marL="0">
              <a:buNone/>
            </a:pPr>
            <a:r>
              <a:rPr lang="en-US" sz="1400" dirty="0">
                <a:solidFill>
                  <a:schemeClr val="tx1"/>
                </a:solidFill>
              </a:rPr>
              <a:t>Actors, workflows, architecture, UI, security</a:t>
            </a:r>
            <a:endParaRPr lang="en-US" sz="1400" dirty="0"/>
          </a:p>
        </p:txBody>
      </p:sp>
      <p:sp>
        <p:nvSpPr>
          <p:cNvPr id="24" name="card-26"/>
          <p:cNvSpPr/>
          <p:nvPr/>
        </p:nvSpPr>
        <p:spPr>
          <a:xfrm>
            <a:off x="457200" y="3474720"/>
            <a:ext cx="402336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5" name="badge-27"/>
          <p:cNvSpPr/>
          <p:nvPr/>
        </p:nvSpPr>
        <p:spPr>
          <a:xfrm>
            <a:off x="640080" y="3675888"/>
            <a:ext cx="548640" cy="548640"/>
          </a:xfrm>
          <a:prstGeom prst="ellipse">
            <a:avLst/>
          </a:prstGeom>
          <a:solidFill>
            <a:schemeClr val="accent1"/>
          </a:solidFill>
          <a:ln w="12700">
            <a:solidFill>
              <a:schemeClr val="accent1"/>
            </a:solidFill>
            <a:prstDash val="solid"/>
          </a:ln>
        </p:spPr>
      </p:sp>
      <p:pic>
        <p:nvPicPr>
          <p:cNvPr id="26" name="icon-28" descr="preencoded.png">    </p:cNvPr>
          <p:cNvPicPr>
            <a:picLocks noChangeAspect="1"/>
          </p:cNvPicPr>
          <p:nvPr/>
        </p:nvPicPr>
        <p:blipFill>
          <a:blip r:embed="rId5"/>
          <a:stretch>
            <a:fillRect/>
          </a:stretch>
        </p:blipFill>
        <p:spPr>
          <a:xfrm>
            <a:off x="782726" y="3818534"/>
            <a:ext cx="263347" cy="263347"/>
          </a:xfrm>
          <a:prstGeom prst="rect">
            <a:avLst/>
          </a:prstGeom>
        </p:spPr>
      </p:pic>
      <p:sp>
        <p:nvSpPr>
          <p:cNvPr id="27" name="text-29"/>
          <p:cNvSpPr txBox="1"/>
          <p:nvPr/>
        </p:nvSpPr>
        <p:spPr>
          <a:xfrm>
            <a:off x="1371600" y="3630168"/>
            <a:ext cx="3017520" cy="320040"/>
          </a:xfrm>
          <a:prstGeom prst="rect">
            <a:avLst/>
          </a:prstGeom>
          <a:noFill/>
          <a:ln/>
        </p:spPr>
        <p:txBody>
          <a:bodyPr wrap="square" lIns="0" tIns="0" rIns="0" bIns="0" rtlCol="0" anchor="t"/>
          <a:lstStyle/>
          <a:p>
            <a:pPr indent="0" marL="0">
              <a:buNone/>
            </a:pPr>
            <a:r>
              <a:rPr lang="en-US" sz="1600" b="1" dirty="0">
                <a:solidFill>
                  <a:schemeClr val="tx2"/>
                </a:solidFill>
              </a:rPr>
              <a:t>Implementation &amp; testing</a:t>
            </a:r>
            <a:endParaRPr lang="en-US" sz="1600" dirty="0"/>
          </a:p>
        </p:txBody>
      </p:sp>
      <p:sp>
        <p:nvSpPr>
          <p:cNvPr id="28" name="text-30"/>
          <p:cNvSpPr txBox="1"/>
          <p:nvPr/>
        </p:nvSpPr>
        <p:spPr>
          <a:xfrm>
            <a:off x="1371600" y="3977640"/>
            <a:ext cx="3017520" cy="365760"/>
          </a:xfrm>
          <a:prstGeom prst="rect">
            <a:avLst/>
          </a:prstGeom>
          <a:noFill/>
          <a:ln/>
        </p:spPr>
        <p:txBody>
          <a:bodyPr wrap="square" lIns="0" tIns="0" rIns="0" bIns="0" rtlCol="0" anchor="t"/>
          <a:lstStyle/>
          <a:p>
            <a:pPr indent="0" marL="0">
              <a:buNone/>
            </a:pPr>
            <a:r>
              <a:rPr lang="en-US" sz="1400" dirty="0">
                <a:solidFill>
                  <a:schemeClr val="tx1"/>
                </a:solidFill>
              </a:rPr>
              <a:t>Tools, challenges, honest status</a:t>
            </a:r>
            <a:endParaRPr lang="en-US" sz="1400" dirty="0"/>
          </a:p>
        </p:txBody>
      </p:sp>
      <p:sp>
        <p:nvSpPr>
          <p:cNvPr id="29" name="card-31"/>
          <p:cNvSpPr/>
          <p:nvPr/>
        </p:nvSpPr>
        <p:spPr>
          <a:xfrm>
            <a:off x="4663440" y="3474720"/>
            <a:ext cx="402336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0" name="badge-32"/>
          <p:cNvSpPr/>
          <p:nvPr/>
        </p:nvSpPr>
        <p:spPr>
          <a:xfrm>
            <a:off x="4846320" y="3675888"/>
            <a:ext cx="548640" cy="548640"/>
          </a:xfrm>
          <a:prstGeom prst="ellipse">
            <a:avLst/>
          </a:prstGeom>
          <a:solidFill>
            <a:schemeClr val="accent1"/>
          </a:solidFill>
          <a:ln w="12700">
            <a:solidFill>
              <a:schemeClr val="accent1"/>
            </a:solidFill>
            <a:prstDash val="solid"/>
          </a:ln>
        </p:spPr>
      </p:sp>
      <p:pic>
        <p:nvPicPr>
          <p:cNvPr id="31" name="icon-33" descr="preencoded.png">    </p:cNvPr>
          <p:cNvPicPr>
            <a:picLocks noChangeAspect="1"/>
          </p:cNvPicPr>
          <p:nvPr/>
        </p:nvPicPr>
        <p:blipFill>
          <a:blip r:embed="rId6"/>
          <a:stretch>
            <a:fillRect/>
          </a:stretch>
        </p:blipFill>
        <p:spPr>
          <a:xfrm>
            <a:off x="4988966" y="3818534"/>
            <a:ext cx="263347" cy="263347"/>
          </a:xfrm>
          <a:prstGeom prst="rect">
            <a:avLst/>
          </a:prstGeom>
        </p:spPr>
      </p:pic>
      <p:sp>
        <p:nvSpPr>
          <p:cNvPr id="32" name="text-34"/>
          <p:cNvSpPr txBox="1"/>
          <p:nvPr/>
        </p:nvSpPr>
        <p:spPr>
          <a:xfrm>
            <a:off x="5577840" y="3630168"/>
            <a:ext cx="3017520" cy="320040"/>
          </a:xfrm>
          <a:prstGeom prst="rect">
            <a:avLst/>
          </a:prstGeom>
          <a:noFill/>
          <a:ln/>
        </p:spPr>
        <p:txBody>
          <a:bodyPr wrap="square" lIns="0" tIns="0" rIns="0" bIns="0" rtlCol="0" anchor="t"/>
          <a:lstStyle/>
          <a:p>
            <a:pPr indent="0" marL="0">
              <a:buNone/>
            </a:pPr>
            <a:r>
              <a:rPr lang="en-US" sz="1600" b="1" dirty="0">
                <a:solidFill>
                  <a:schemeClr val="tx2"/>
                </a:solidFill>
              </a:rPr>
              <a:t>Reflection &amp; Q&amp;A</a:t>
            </a:r>
            <a:endParaRPr lang="en-US" sz="1600" dirty="0"/>
          </a:p>
        </p:txBody>
      </p:sp>
      <p:sp>
        <p:nvSpPr>
          <p:cNvPr id="33" name="text-35"/>
          <p:cNvSpPr txBox="1"/>
          <p:nvPr/>
        </p:nvSpPr>
        <p:spPr>
          <a:xfrm>
            <a:off x="5577840" y="3977640"/>
            <a:ext cx="3017520" cy="365760"/>
          </a:xfrm>
          <a:prstGeom prst="rect">
            <a:avLst/>
          </a:prstGeom>
          <a:noFill/>
          <a:ln/>
        </p:spPr>
        <p:txBody>
          <a:bodyPr wrap="square" lIns="0" tIns="0" rIns="0" bIns="0" rtlCol="0" anchor="t"/>
          <a:lstStyle/>
          <a:p>
            <a:pPr indent="0" marL="0">
              <a:buNone/>
            </a:pPr>
            <a:r>
              <a:rPr lang="en-US" sz="1400" dirty="0">
                <a:solidFill>
                  <a:schemeClr val="tx1"/>
                </a:solidFill>
              </a:rPr>
              <a:t>Learning, recommendations, conclusion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The organization: Ethiopian Statistical Service</a:t>
            </a:r>
            <a:endParaRPr lang="en-US" sz="3000" dirty="0"/>
          </a:p>
        </p:txBody>
      </p:sp>
      <p:sp>
        <p:nvSpPr>
          <p:cNvPr id="4" name="card-36"/>
          <p:cNvSpPr/>
          <p:nvPr/>
        </p:nvSpPr>
        <p:spPr>
          <a:xfrm>
            <a:off x="457200" y="1143000"/>
            <a:ext cx="2560320" cy="118872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text-37"/>
          <p:cNvSpPr txBox="1"/>
          <p:nvPr/>
        </p:nvSpPr>
        <p:spPr>
          <a:xfrm>
            <a:off x="640080" y="1216152"/>
            <a:ext cx="219456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1963</a:t>
            </a:r>
            <a:endParaRPr lang="en-US" sz="2800" dirty="0"/>
          </a:p>
        </p:txBody>
      </p:sp>
      <p:sp>
        <p:nvSpPr>
          <p:cNvPr id="6" name="text-38"/>
          <p:cNvSpPr txBox="1"/>
          <p:nvPr/>
        </p:nvSpPr>
        <p:spPr>
          <a:xfrm>
            <a:off x="640080" y="1737360"/>
            <a:ext cx="2240280" cy="548640"/>
          </a:xfrm>
          <a:prstGeom prst="rect">
            <a:avLst/>
          </a:prstGeom>
          <a:noFill/>
          <a:ln/>
        </p:spPr>
        <p:txBody>
          <a:bodyPr wrap="square" lIns="0" tIns="0" rIns="0" bIns="0" rtlCol="0" anchor="t"/>
          <a:lstStyle/>
          <a:p>
            <a:pPr indent="0" marL="0">
              <a:buNone/>
            </a:pPr>
            <a:r>
              <a:rPr lang="en-US" sz="1400" dirty="0">
                <a:solidFill>
                  <a:schemeClr val="tx1"/>
                </a:solidFill>
              </a:rPr>
              <a:t>Central Statistical Office (CSO)</a:t>
            </a:r>
            <a:endParaRPr lang="en-US" sz="1400" dirty="0"/>
          </a:p>
        </p:txBody>
      </p:sp>
      <p:sp>
        <p:nvSpPr>
          <p:cNvPr id="7" name="arrow-39"/>
          <p:cNvSpPr/>
          <p:nvPr/>
        </p:nvSpPr>
        <p:spPr>
          <a:xfrm>
            <a:off x="3035808" y="1600200"/>
            <a:ext cx="237744" cy="237744"/>
          </a:xfrm>
          <a:prstGeom prst="rightArrow">
            <a:avLst/>
          </a:prstGeom>
          <a:solidFill>
            <a:schemeClr val="accent2"/>
          </a:solidFill>
          <a:ln w="12700">
            <a:solidFill>
              <a:schemeClr val="accent2"/>
            </a:solidFill>
            <a:prstDash val="solid"/>
          </a:ln>
        </p:spPr>
      </p:sp>
      <p:sp>
        <p:nvSpPr>
          <p:cNvPr id="8" name="card-40"/>
          <p:cNvSpPr/>
          <p:nvPr/>
        </p:nvSpPr>
        <p:spPr>
          <a:xfrm>
            <a:off x="3291840" y="1143000"/>
            <a:ext cx="2560320" cy="118872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text-41"/>
          <p:cNvSpPr txBox="1"/>
          <p:nvPr/>
        </p:nvSpPr>
        <p:spPr>
          <a:xfrm>
            <a:off x="3474720" y="1216152"/>
            <a:ext cx="219456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1989</a:t>
            </a:r>
            <a:endParaRPr lang="en-US" sz="2800" dirty="0"/>
          </a:p>
        </p:txBody>
      </p:sp>
      <p:sp>
        <p:nvSpPr>
          <p:cNvPr id="10" name="text-42"/>
          <p:cNvSpPr txBox="1"/>
          <p:nvPr/>
        </p:nvSpPr>
        <p:spPr>
          <a:xfrm>
            <a:off x="3474720" y="1737360"/>
            <a:ext cx="2240280" cy="548640"/>
          </a:xfrm>
          <a:prstGeom prst="rect">
            <a:avLst/>
          </a:prstGeom>
          <a:noFill/>
          <a:ln/>
        </p:spPr>
        <p:txBody>
          <a:bodyPr wrap="square" lIns="0" tIns="0" rIns="0" bIns="0" rtlCol="0" anchor="t"/>
          <a:lstStyle/>
          <a:p>
            <a:pPr indent="0" marL="0">
              <a:buNone/>
            </a:pPr>
            <a:r>
              <a:rPr lang="en-US" sz="1400" dirty="0">
                <a:solidFill>
                  <a:schemeClr val="tx1"/>
                </a:solidFill>
              </a:rPr>
              <a:t>Central Statistical Agency (CSA)</a:t>
            </a:r>
            <a:endParaRPr lang="en-US" sz="1400" dirty="0"/>
          </a:p>
        </p:txBody>
      </p:sp>
      <p:sp>
        <p:nvSpPr>
          <p:cNvPr id="11" name="arrow-43"/>
          <p:cNvSpPr/>
          <p:nvPr/>
        </p:nvSpPr>
        <p:spPr>
          <a:xfrm>
            <a:off x="5870448" y="1600200"/>
            <a:ext cx="237744" cy="237744"/>
          </a:xfrm>
          <a:prstGeom prst="rightArrow">
            <a:avLst/>
          </a:prstGeom>
          <a:solidFill>
            <a:schemeClr val="accent2"/>
          </a:solidFill>
          <a:ln w="12700">
            <a:solidFill>
              <a:schemeClr val="accent2"/>
            </a:solidFill>
            <a:prstDash val="solid"/>
          </a:ln>
        </p:spPr>
      </p:sp>
      <p:sp>
        <p:nvSpPr>
          <p:cNvPr id="12" name="card-44"/>
          <p:cNvSpPr/>
          <p:nvPr/>
        </p:nvSpPr>
        <p:spPr>
          <a:xfrm>
            <a:off x="6126480" y="1143000"/>
            <a:ext cx="2560320" cy="1188720"/>
          </a:xfrm>
          <a:prstGeom prst="roundRect">
            <a:avLst>
              <a:gd name="adj" fmla="val 6154"/>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3" name="text-45"/>
          <p:cNvSpPr txBox="1"/>
          <p:nvPr/>
        </p:nvSpPr>
        <p:spPr>
          <a:xfrm>
            <a:off x="6309360" y="1216152"/>
            <a:ext cx="2194560" cy="50292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2021</a:t>
            </a:r>
            <a:endParaRPr lang="en-US" sz="2800" dirty="0"/>
          </a:p>
        </p:txBody>
      </p:sp>
      <p:sp>
        <p:nvSpPr>
          <p:cNvPr id="14" name="text-46"/>
          <p:cNvSpPr txBox="1"/>
          <p:nvPr/>
        </p:nvSpPr>
        <p:spPr>
          <a:xfrm>
            <a:off x="6309360" y="1737360"/>
            <a:ext cx="2240280" cy="548640"/>
          </a:xfrm>
          <a:prstGeom prst="rect">
            <a:avLst/>
          </a:prstGeom>
          <a:noFill/>
          <a:ln/>
        </p:spPr>
        <p:txBody>
          <a:bodyPr wrap="square" lIns="0" tIns="0" rIns="0" bIns="0" rtlCol="0" anchor="t"/>
          <a:lstStyle/>
          <a:p>
            <a:pPr indent="0" marL="0">
              <a:buNone/>
            </a:pPr>
            <a:r>
              <a:rPr lang="en-US" sz="1400" dirty="0">
                <a:solidFill>
                  <a:schemeClr val="bg1"/>
                </a:solidFill>
              </a:rPr>
              <a:t>Renamed ESS · Proclamation 1263/2021</a:t>
            </a:r>
            <a:endParaRPr lang="en-US" sz="1400" dirty="0"/>
          </a:p>
        </p:txBody>
      </p:sp>
      <p:sp>
        <p:nvSpPr>
          <p:cNvPr id="15" name="card-47"/>
          <p:cNvSpPr/>
          <p:nvPr/>
        </p:nvSpPr>
        <p:spPr>
          <a:xfrm>
            <a:off x="457200" y="2606040"/>
            <a:ext cx="2560320" cy="1965960"/>
          </a:xfrm>
          <a:prstGeom prst="roundRect">
            <a:avLst>
              <a:gd name="adj" fmla="val 372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6" name="badge-48"/>
          <p:cNvSpPr/>
          <p:nvPr/>
        </p:nvSpPr>
        <p:spPr>
          <a:xfrm>
            <a:off x="640080" y="2743200"/>
            <a:ext cx="502920" cy="502920"/>
          </a:xfrm>
          <a:prstGeom prst="ellipse">
            <a:avLst/>
          </a:prstGeom>
          <a:solidFill>
            <a:schemeClr val="accent1"/>
          </a:solidFill>
          <a:ln w="12700">
            <a:solidFill>
              <a:schemeClr val="accent1"/>
            </a:solidFill>
            <a:prstDash val="solid"/>
          </a:ln>
        </p:spPr>
      </p:sp>
      <p:pic>
        <p:nvPicPr>
          <p:cNvPr id="17" name="icon-49" descr="preencoded.png">    </p:cNvPr>
          <p:cNvPicPr>
            <a:picLocks noChangeAspect="1"/>
          </p:cNvPicPr>
          <p:nvPr/>
        </p:nvPicPr>
        <p:blipFill>
          <a:blip r:embed="rId1"/>
          <a:stretch>
            <a:fillRect/>
          </a:stretch>
        </p:blipFill>
        <p:spPr>
          <a:xfrm>
            <a:off x="770839" y="2873959"/>
            <a:ext cx="241402" cy="241402"/>
          </a:xfrm>
          <a:prstGeom prst="rect">
            <a:avLst/>
          </a:prstGeom>
        </p:spPr>
      </p:pic>
      <p:sp>
        <p:nvSpPr>
          <p:cNvPr id="18" name="text-50"/>
          <p:cNvSpPr txBox="1"/>
          <p:nvPr/>
        </p:nvSpPr>
        <p:spPr>
          <a:xfrm>
            <a:off x="640080" y="3364992"/>
            <a:ext cx="2240280" cy="274320"/>
          </a:xfrm>
          <a:prstGeom prst="rect">
            <a:avLst/>
          </a:prstGeom>
          <a:noFill/>
          <a:ln/>
        </p:spPr>
        <p:txBody>
          <a:bodyPr wrap="square" lIns="0" tIns="0" rIns="0" bIns="0" rtlCol="0" anchor="t"/>
          <a:lstStyle/>
          <a:p>
            <a:pPr indent="0" marL="0">
              <a:buNone/>
            </a:pPr>
            <a:r>
              <a:rPr lang="en-US" sz="1500" b="1" dirty="0">
                <a:solidFill>
                  <a:schemeClr val="tx2"/>
                </a:solidFill>
              </a:rPr>
              <a:t>Official statistics</a:t>
            </a:r>
            <a:endParaRPr lang="en-US" sz="1500" dirty="0"/>
          </a:p>
        </p:txBody>
      </p:sp>
      <p:sp>
        <p:nvSpPr>
          <p:cNvPr id="19" name="text-51"/>
          <p:cNvSpPr txBox="1"/>
          <p:nvPr/>
        </p:nvSpPr>
        <p:spPr>
          <a:xfrm>
            <a:off x="640080" y="3657600"/>
            <a:ext cx="2240280" cy="868680"/>
          </a:xfrm>
          <a:prstGeom prst="rect">
            <a:avLst/>
          </a:prstGeom>
          <a:noFill/>
          <a:ln/>
        </p:spPr>
        <p:txBody>
          <a:bodyPr wrap="square" lIns="0" tIns="0" rIns="0" bIns="0" rtlCol="0" anchor="t"/>
          <a:lstStyle/>
          <a:p>
            <a:pPr indent="0" marL="0">
              <a:buNone/>
            </a:pPr>
            <a:r>
              <a:rPr lang="en-US" sz="1400" dirty="0">
                <a:solidFill>
                  <a:schemeClr val="tx1"/>
                </a:solidFill>
              </a:rPr>
              <a:t>Designs national surveys and runs the Population &amp; Housing Census</a:t>
            </a:r>
            <a:endParaRPr lang="en-US" sz="1400" dirty="0"/>
          </a:p>
        </p:txBody>
      </p:sp>
      <p:sp>
        <p:nvSpPr>
          <p:cNvPr id="20" name="card-52"/>
          <p:cNvSpPr/>
          <p:nvPr/>
        </p:nvSpPr>
        <p:spPr>
          <a:xfrm>
            <a:off x="3291840" y="2606040"/>
            <a:ext cx="2560320" cy="1965960"/>
          </a:xfrm>
          <a:prstGeom prst="roundRect">
            <a:avLst>
              <a:gd name="adj" fmla="val 372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badge-53"/>
          <p:cNvSpPr/>
          <p:nvPr/>
        </p:nvSpPr>
        <p:spPr>
          <a:xfrm>
            <a:off x="3474720" y="2743200"/>
            <a:ext cx="502920" cy="502920"/>
          </a:xfrm>
          <a:prstGeom prst="ellipse">
            <a:avLst/>
          </a:prstGeom>
          <a:solidFill>
            <a:schemeClr val="accent1"/>
          </a:solidFill>
          <a:ln w="12700">
            <a:solidFill>
              <a:schemeClr val="accent1"/>
            </a:solidFill>
            <a:prstDash val="solid"/>
          </a:ln>
        </p:spPr>
      </p:sp>
      <p:pic>
        <p:nvPicPr>
          <p:cNvPr id="22" name="icon-54" descr="preencoded.png">    </p:cNvPr>
          <p:cNvPicPr>
            <a:picLocks noChangeAspect="1"/>
          </p:cNvPicPr>
          <p:nvPr/>
        </p:nvPicPr>
        <p:blipFill>
          <a:blip r:embed="rId2"/>
          <a:stretch>
            <a:fillRect/>
          </a:stretch>
        </p:blipFill>
        <p:spPr>
          <a:xfrm>
            <a:off x="3605479" y="2873959"/>
            <a:ext cx="241402" cy="241402"/>
          </a:xfrm>
          <a:prstGeom prst="rect">
            <a:avLst/>
          </a:prstGeom>
        </p:spPr>
      </p:pic>
      <p:sp>
        <p:nvSpPr>
          <p:cNvPr id="23" name="text-55"/>
          <p:cNvSpPr txBox="1"/>
          <p:nvPr/>
        </p:nvSpPr>
        <p:spPr>
          <a:xfrm>
            <a:off x="3474720" y="3364992"/>
            <a:ext cx="2240280" cy="274320"/>
          </a:xfrm>
          <a:prstGeom prst="rect">
            <a:avLst/>
          </a:prstGeom>
          <a:noFill/>
          <a:ln/>
        </p:spPr>
        <p:txBody>
          <a:bodyPr wrap="square" lIns="0" tIns="0" rIns="0" bIns="0" rtlCol="0" anchor="t"/>
          <a:lstStyle/>
          <a:p>
            <a:pPr indent="0" marL="0">
              <a:buNone/>
            </a:pPr>
            <a:r>
              <a:rPr lang="en-US" sz="1500" b="1" dirty="0">
                <a:solidFill>
                  <a:schemeClr val="tx2"/>
                </a:solidFill>
              </a:rPr>
              <a:t>National Statistical System</a:t>
            </a:r>
            <a:endParaRPr lang="en-US" sz="1500" dirty="0"/>
          </a:p>
        </p:txBody>
      </p:sp>
      <p:sp>
        <p:nvSpPr>
          <p:cNvPr id="24" name="text-56"/>
          <p:cNvSpPr txBox="1"/>
          <p:nvPr/>
        </p:nvSpPr>
        <p:spPr>
          <a:xfrm>
            <a:off x="3474720" y="3657600"/>
            <a:ext cx="2240280" cy="868680"/>
          </a:xfrm>
          <a:prstGeom prst="rect">
            <a:avLst/>
          </a:prstGeom>
          <a:noFill/>
          <a:ln/>
        </p:spPr>
        <p:txBody>
          <a:bodyPr wrap="square" lIns="0" tIns="0" rIns="0" bIns="0" rtlCol="0" anchor="t"/>
          <a:lstStyle/>
          <a:p>
            <a:pPr indent="0" marL="0">
              <a:buNone/>
            </a:pPr>
            <a:r>
              <a:rPr lang="en-US" sz="1400" dirty="0">
                <a:solidFill>
                  <a:schemeClr val="tx1"/>
                </a:solidFill>
              </a:rPr>
              <a:t>Coordinates statistics across government and stores national data</a:t>
            </a:r>
            <a:endParaRPr lang="en-US" sz="1400" dirty="0"/>
          </a:p>
        </p:txBody>
      </p:sp>
      <p:sp>
        <p:nvSpPr>
          <p:cNvPr id="25" name="card-57"/>
          <p:cNvSpPr/>
          <p:nvPr/>
        </p:nvSpPr>
        <p:spPr>
          <a:xfrm>
            <a:off x="6126480" y="2606040"/>
            <a:ext cx="2560320" cy="1965960"/>
          </a:xfrm>
          <a:prstGeom prst="roundRect">
            <a:avLst>
              <a:gd name="adj" fmla="val 372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6" name="badge-58"/>
          <p:cNvSpPr/>
          <p:nvPr/>
        </p:nvSpPr>
        <p:spPr>
          <a:xfrm>
            <a:off x="6309360" y="2743200"/>
            <a:ext cx="502920" cy="502920"/>
          </a:xfrm>
          <a:prstGeom prst="ellipse">
            <a:avLst/>
          </a:prstGeom>
          <a:solidFill>
            <a:schemeClr val="accent2"/>
          </a:solidFill>
          <a:ln w="12700">
            <a:solidFill>
              <a:schemeClr val="accent2"/>
            </a:solidFill>
            <a:prstDash val="solid"/>
          </a:ln>
        </p:spPr>
      </p:sp>
      <p:pic>
        <p:nvPicPr>
          <p:cNvPr id="27" name="icon-59" descr="preencoded.png">    </p:cNvPr>
          <p:cNvPicPr>
            <a:picLocks noChangeAspect="1"/>
          </p:cNvPicPr>
          <p:nvPr/>
        </p:nvPicPr>
        <p:blipFill>
          <a:blip r:embed="rId3"/>
          <a:stretch>
            <a:fillRect/>
          </a:stretch>
        </p:blipFill>
        <p:spPr>
          <a:xfrm>
            <a:off x="6440119" y="2873959"/>
            <a:ext cx="241402" cy="241402"/>
          </a:xfrm>
          <a:prstGeom prst="rect">
            <a:avLst/>
          </a:prstGeom>
        </p:spPr>
      </p:pic>
      <p:sp>
        <p:nvSpPr>
          <p:cNvPr id="28" name="text-60"/>
          <p:cNvSpPr txBox="1"/>
          <p:nvPr/>
        </p:nvSpPr>
        <p:spPr>
          <a:xfrm>
            <a:off x="6309360" y="3364992"/>
            <a:ext cx="2240280" cy="274320"/>
          </a:xfrm>
          <a:prstGeom prst="rect">
            <a:avLst/>
          </a:prstGeom>
          <a:noFill/>
          <a:ln/>
        </p:spPr>
        <p:txBody>
          <a:bodyPr wrap="square" lIns="0" tIns="0" rIns="0" bIns="0" rtlCol="0" anchor="t"/>
          <a:lstStyle/>
          <a:p>
            <a:pPr indent="0" marL="0">
              <a:buNone/>
            </a:pPr>
            <a:r>
              <a:rPr lang="en-US" sz="1500" b="1" dirty="0">
                <a:solidFill>
                  <a:schemeClr val="tx2"/>
                </a:solidFill>
              </a:rPr>
              <a:t>25 regional branches</a:t>
            </a:r>
            <a:endParaRPr lang="en-US" sz="1500" dirty="0"/>
          </a:p>
        </p:txBody>
      </p:sp>
      <p:sp>
        <p:nvSpPr>
          <p:cNvPr id="29" name="text-61"/>
          <p:cNvSpPr txBox="1"/>
          <p:nvPr/>
        </p:nvSpPr>
        <p:spPr>
          <a:xfrm>
            <a:off x="6309360" y="3657600"/>
            <a:ext cx="2240280" cy="868680"/>
          </a:xfrm>
          <a:prstGeom prst="rect">
            <a:avLst/>
          </a:prstGeom>
          <a:noFill/>
          <a:ln/>
        </p:spPr>
        <p:txBody>
          <a:bodyPr wrap="square" lIns="0" tIns="0" rIns="0" bIns="0" rtlCol="0" anchor="t"/>
          <a:lstStyle/>
          <a:p>
            <a:pPr indent="0" marL="0">
              <a:buNone/>
            </a:pPr>
            <a:r>
              <a:rPr lang="en-US" sz="1400" dirty="0">
                <a:solidFill>
                  <a:schemeClr val="tx1"/>
                </a:solidFill>
              </a:rPr>
              <a:t>Headquarters on Churchill Road, Addis Ababa; hubs in Adama, Mekele, Jimma and more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Structure and where the project fits</a:t>
            </a:r>
            <a:endParaRPr lang="en-US" sz="3000" dirty="0"/>
          </a:p>
        </p:txBody>
      </p:sp>
      <p:sp>
        <p:nvSpPr>
          <p:cNvPr id="4" name="org-box-62"/>
          <p:cNvSpPr/>
          <p:nvPr/>
        </p:nvSpPr>
        <p:spPr>
          <a:xfrm>
            <a:off x="1920240" y="1097280"/>
            <a:ext cx="2194560" cy="457200"/>
          </a:xfrm>
          <a:prstGeom prst="roundRect">
            <a:avLst>
              <a:gd name="adj" fmla="val 12000"/>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5" name="text-63"/>
          <p:cNvSpPr txBox="1"/>
          <p:nvPr/>
        </p:nvSpPr>
        <p:spPr>
          <a:xfrm>
            <a:off x="1920240" y="109728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Director General</a:t>
            </a:r>
            <a:endParaRPr lang="en-US" sz="1400" dirty="0"/>
          </a:p>
        </p:txBody>
      </p:sp>
      <p:sp>
        <p:nvSpPr>
          <p:cNvPr id="6" name="arrow-64"/>
          <p:cNvSpPr/>
          <p:nvPr/>
        </p:nvSpPr>
        <p:spPr>
          <a:xfrm>
            <a:off x="2880360" y="1581912"/>
            <a:ext cx="274320" cy="228600"/>
          </a:xfrm>
          <a:prstGeom prst="downArrow">
            <a:avLst/>
          </a:prstGeom>
          <a:solidFill>
            <a:schemeClr val="accent2"/>
          </a:solidFill>
          <a:ln w="12700">
            <a:solidFill>
              <a:schemeClr val="accent2"/>
            </a:solidFill>
            <a:prstDash val="solid"/>
          </a:ln>
        </p:spPr>
      </p:sp>
      <p:sp>
        <p:nvSpPr>
          <p:cNvPr id="7" name="org-box-65"/>
          <p:cNvSpPr/>
          <p:nvPr/>
        </p:nvSpPr>
        <p:spPr>
          <a:xfrm>
            <a:off x="1920240" y="1828800"/>
            <a:ext cx="2194560" cy="457200"/>
          </a:xfrm>
          <a:prstGeom prst="roundRect">
            <a:avLst>
              <a:gd name="adj" fmla="val 12000"/>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8" name="text-66"/>
          <p:cNvSpPr txBox="1"/>
          <p:nvPr/>
        </p:nvSpPr>
        <p:spPr>
          <a:xfrm>
            <a:off x="1920240" y="182880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Deputy Director General</a:t>
            </a:r>
            <a:endParaRPr lang="en-US" sz="1400" dirty="0"/>
          </a:p>
        </p:txBody>
      </p:sp>
      <p:sp>
        <p:nvSpPr>
          <p:cNvPr id="9" name="arrow-67"/>
          <p:cNvSpPr/>
          <p:nvPr/>
        </p:nvSpPr>
        <p:spPr>
          <a:xfrm>
            <a:off x="1600200" y="2331720"/>
            <a:ext cx="274320" cy="274320"/>
          </a:xfrm>
          <a:prstGeom prst="downArrow">
            <a:avLst/>
          </a:prstGeom>
          <a:solidFill>
            <a:schemeClr val="accent2"/>
          </a:solidFill>
          <a:ln w="12700">
            <a:solidFill>
              <a:schemeClr val="accent2"/>
            </a:solidFill>
            <a:prstDash val="solid"/>
          </a:ln>
        </p:spPr>
      </p:sp>
      <p:sp>
        <p:nvSpPr>
          <p:cNvPr id="10" name="arrow-68"/>
          <p:cNvSpPr/>
          <p:nvPr/>
        </p:nvSpPr>
        <p:spPr>
          <a:xfrm>
            <a:off x="4160520" y="2331720"/>
            <a:ext cx="274320" cy="274320"/>
          </a:xfrm>
          <a:prstGeom prst="downArrow">
            <a:avLst/>
          </a:prstGeom>
          <a:solidFill>
            <a:schemeClr val="accent2"/>
          </a:solidFill>
          <a:ln w="12700">
            <a:solidFill>
              <a:schemeClr val="accent2"/>
            </a:solidFill>
            <a:prstDash val="solid"/>
          </a:ln>
        </p:spPr>
      </p:sp>
      <p:sp>
        <p:nvSpPr>
          <p:cNvPr id="11" name="org-box-69"/>
          <p:cNvSpPr/>
          <p:nvPr/>
        </p:nvSpPr>
        <p:spPr>
          <a:xfrm>
            <a:off x="457200" y="2651760"/>
            <a:ext cx="2377440" cy="777240"/>
          </a:xfrm>
          <a:prstGeom prst="roundRect">
            <a:avLst>
              <a:gd name="adj" fmla="val 705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text-70"/>
          <p:cNvSpPr txBox="1"/>
          <p:nvPr/>
        </p:nvSpPr>
        <p:spPr>
          <a:xfrm>
            <a:off x="457200" y="2651760"/>
            <a:ext cx="2377440" cy="777240"/>
          </a:xfrm>
          <a:prstGeom prst="rect">
            <a:avLst/>
          </a:prstGeom>
          <a:noFill/>
          <a:ln/>
        </p:spPr>
        <p:txBody>
          <a:bodyPr wrap="square" lIns="0" tIns="0" rIns="0" bIns="0" rtlCol="0" anchor="ctr"/>
          <a:lstStyle/>
          <a:p>
            <a:pPr algn="ctr" indent="0" marL="0">
              <a:buNone/>
            </a:pPr>
            <a:r>
              <a:rPr lang="en-US" sz="1400" b="1" dirty="0">
                <a:solidFill>
                  <a:schemeClr val="tx2"/>
                </a:solidFill>
              </a:rPr>
              <a:t>IT Directorate</a:t>
            </a:r>
            <a:endParaRPr lang="en-US" sz="1400" dirty="0"/>
          </a:p>
          <a:p>
            <a:pPr algn="ctr" indent="0" marL="0">
              <a:buNone/>
            </a:pPr>
            <a:r>
              <a:rPr lang="en-US" sz="1400" b="1" dirty="0">
                <a:solidFill>
                  <a:schemeClr val="tx2"/>
                </a:solidFill>
              </a:rPr>
              <a:t>system hosting &amp; development</a:t>
            </a:r>
            <a:endParaRPr lang="en-US" sz="1400" dirty="0"/>
          </a:p>
        </p:txBody>
      </p:sp>
      <p:sp>
        <p:nvSpPr>
          <p:cNvPr id="13" name="org-box-71"/>
          <p:cNvSpPr/>
          <p:nvPr/>
        </p:nvSpPr>
        <p:spPr>
          <a:xfrm>
            <a:off x="3200400" y="2651760"/>
            <a:ext cx="2377440" cy="777240"/>
          </a:xfrm>
          <a:prstGeom prst="roundRect">
            <a:avLst>
              <a:gd name="adj" fmla="val 705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text-72"/>
          <p:cNvSpPr txBox="1"/>
          <p:nvPr/>
        </p:nvSpPr>
        <p:spPr>
          <a:xfrm>
            <a:off x="3200400" y="2651760"/>
            <a:ext cx="2377440" cy="777240"/>
          </a:xfrm>
          <a:prstGeom prst="rect">
            <a:avLst/>
          </a:prstGeom>
          <a:noFill/>
          <a:ln/>
        </p:spPr>
        <p:txBody>
          <a:bodyPr wrap="square" lIns="0" tIns="0" rIns="0" bIns="0" rtlCol="0" anchor="ctr"/>
          <a:lstStyle/>
          <a:p>
            <a:pPr algn="ctr" indent="0" marL="0">
              <a:buNone/>
            </a:pPr>
            <a:r>
              <a:rPr lang="en-US" sz="1400" b="1" dirty="0">
                <a:solidFill>
                  <a:schemeClr val="tx2"/>
                </a:solidFill>
              </a:rPr>
              <a:t>Public Relations</a:t>
            </a:r>
            <a:endParaRPr lang="en-US" sz="1400" dirty="0"/>
          </a:p>
          <a:p>
            <a:pPr algn="ctr" indent="0" marL="0">
              <a:buNone/>
            </a:pPr>
            <a:r>
              <a:rPr lang="en-US" sz="1400" b="1" dirty="0">
                <a:solidFill>
                  <a:schemeClr val="tx2"/>
                </a:solidFill>
              </a:rPr>
              <a:t>content &amp; announcements</a:t>
            </a:r>
            <a:endParaRPr lang="en-US" sz="1400" dirty="0"/>
          </a:p>
        </p:txBody>
      </p:sp>
      <p:sp>
        <p:nvSpPr>
          <p:cNvPr id="15" name="arrow-73"/>
          <p:cNvSpPr/>
          <p:nvPr/>
        </p:nvSpPr>
        <p:spPr>
          <a:xfrm>
            <a:off x="1508760" y="3474720"/>
            <a:ext cx="274320" cy="256032"/>
          </a:xfrm>
          <a:prstGeom prst="downArrow">
            <a:avLst/>
          </a:prstGeom>
          <a:solidFill>
            <a:schemeClr val="accent2"/>
          </a:solidFill>
          <a:ln w="12700">
            <a:solidFill>
              <a:schemeClr val="accent2"/>
            </a:solidFill>
            <a:prstDash val="solid"/>
          </a:ln>
        </p:spPr>
      </p:sp>
      <p:sp>
        <p:nvSpPr>
          <p:cNvPr id="16" name="arrow-74"/>
          <p:cNvSpPr/>
          <p:nvPr/>
        </p:nvSpPr>
        <p:spPr>
          <a:xfrm>
            <a:off x="4251960" y="3474720"/>
            <a:ext cx="274320" cy="256032"/>
          </a:xfrm>
          <a:prstGeom prst="downArrow">
            <a:avLst/>
          </a:prstGeom>
          <a:solidFill>
            <a:schemeClr val="accent2"/>
          </a:solidFill>
          <a:ln w="12700">
            <a:solidFill>
              <a:schemeClr val="accent2"/>
            </a:solidFill>
            <a:prstDash val="solid"/>
          </a:ln>
        </p:spPr>
      </p:sp>
      <p:sp>
        <p:nvSpPr>
          <p:cNvPr id="17" name="org-box-75"/>
          <p:cNvSpPr/>
          <p:nvPr/>
        </p:nvSpPr>
        <p:spPr>
          <a:xfrm>
            <a:off x="822960" y="3776472"/>
            <a:ext cx="4389120" cy="548640"/>
          </a:xfrm>
          <a:prstGeom prst="roundRect">
            <a:avLst>
              <a:gd name="adj" fmla="val 10000"/>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8" name="text-76"/>
          <p:cNvSpPr txBox="1"/>
          <p:nvPr/>
        </p:nvSpPr>
        <p:spPr>
          <a:xfrm>
            <a:off x="822960" y="3776472"/>
            <a:ext cx="4389120" cy="548640"/>
          </a:xfrm>
          <a:prstGeom prst="rect">
            <a:avLst/>
          </a:prstGeom>
          <a:noFill/>
          <a:ln/>
        </p:spPr>
        <p:txBody>
          <a:bodyPr wrap="square" lIns="0" tIns="0" rIns="0" bIns="0" rtlCol="0" anchor="ctr"/>
          <a:lstStyle/>
          <a:p>
            <a:pPr algn="ctr" indent="0" marL="0">
              <a:buNone/>
            </a:pPr>
            <a:r>
              <a:rPr lang="en-US" sz="1400" b="1" dirty="0">
                <a:solidFill>
                  <a:schemeClr val="tx1"/>
                </a:solidFill>
              </a:rPr>
              <a:t>25 regional branch offices (readers)</a:t>
            </a:r>
            <a:endParaRPr lang="en-US" sz="1400" dirty="0"/>
          </a:p>
        </p:txBody>
      </p:sp>
      <p:sp>
        <p:nvSpPr>
          <p:cNvPr id="19" name="card-77"/>
          <p:cNvSpPr/>
          <p:nvPr/>
        </p:nvSpPr>
        <p:spPr>
          <a:xfrm>
            <a:off x="5943600" y="1097280"/>
            <a:ext cx="2743200" cy="3227832"/>
          </a:xfrm>
          <a:prstGeom prst="roundRect">
            <a:avLst>
              <a:gd name="adj" fmla="val 266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text-78"/>
          <p:cNvSpPr txBox="1"/>
          <p:nvPr/>
        </p:nvSpPr>
        <p:spPr>
          <a:xfrm>
            <a:off x="6126480" y="1207008"/>
            <a:ext cx="2377440" cy="274320"/>
          </a:xfrm>
          <a:prstGeom prst="rect">
            <a:avLst/>
          </a:prstGeom>
          <a:noFill/>
          <a:ln/>
        </p:spPr>
        <p:txBody>
          <a:bodyPr wrap="square" lIns="0" tIns="0" rIns="0" bIns="0" rtlCol="0" anchor="t"/>
          <a:lstStyle/>
          <a:p>
            <a:pPr indent="0" marL="0">
              <a:buNone/>
            </a:pPr>
            <a:r>
              <a:rPr lang="en-US" sz="1600" b="1" dirty="0">
                <a:solidFill>
                  <a:schemeClr val="tx2"/>
                </a:solidFill>
              </a:rPr>
              <a:t>Project relevance</a:t>
            </a:r>
            <a:endParaRPr lang="en-US" sz="1600" dirty="0"/>
          </a:p>
        </p:txBody>
      </p:sp>
      <p:sp>
        <p:nvSpPr>
          <p:cNvPr id="21" name="text-79"/>
          <p:cNvSpPr txBox="1"/>
          <p:nvPr/>
        </p:nvSpPr>
        <p:spPr>
          <a:xfrm>
            <a:off x="6126480" y="1572768"/>
            <a:ext cx="2423160" cy="2651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Connects IT (hosts) and PR (writes) to all employees</a:t>
            </a:r>
            <a:endParaRPr lang="en-US" sz="1400" dirty="0"/>
          </a:p>
          <a:p>
            <a:pPr marL="342900" indent="-342900">
              <a:spcAft>
                <a:spcPts val="400"/>
              </a:spcAft>
              <a:buSzPct val="100000"/>
              <a:buChar char="•"/>
            </a:pPr>
            <a:r>
              <a:rPr lang="en-US" sz="1400" dirty="0">
                <a:solidFill>
                  <a:schemeClr val="tx1"/>
                </a:solidFill>
              </a:rPr>
              <a:t>Built in the Software Development Unit by intern developers</a:t>
            </a:r>
            <a:endParaRPr lang="en-US" sz="1400" dirty="0"/>
          </a:p>
          <a:p>
            <a:pPr marL="342900" indent="-342900">
              <a:spcAft>
                <a:spcPts val="400"/>
              </a:spcAft>
              <a:buSzPct val="100000"/>
              <a:buChar char="•"/>
            </a:pPr>
            <a:r>
              <a:rPr lang="en-US" sz="1400" dirty="0">
                <a:solidFill>
                  <a:schemeClr val="tx1"/>
                </a:solidFill>
              </a:rPr>
              <a:t>Git + GitHub with feature branches and review before merge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The problem we set out to solve</a:t>
            </a:r>
            <a:endParaRPr lang="en-US" sz="3000" dirty="0"/>
          </a:p>
        </p:txBody>
      </p:sp>
      <p:sp>
        <p:nvSpPr>
          <p:cNvPr id="4" name="card-80"/>
          <p:cNvSpPr/>
          <p:nvPr/>
        </p:nvSpPr>
        <p:spPr>
          <a:xfrm>
            <a:off x="457200" y="1143000"/>
            <a:ext cx="2926080" cy="3429000"/>
          </a:xfrm>
          <a:prstGeom prst="roundRect">
            <a:avLst>
              <a:gd name="adj" fmla="val 2500"/>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5" name="text-81"/>
          <p:cNvSpPr txBox="1"/>
          <p:nvPr/>
        </p:nvSpPr>
        <p:spPr>
          <a:xfrm>
            <a:off x="640080" y="1463040"/>
            <a:ext cx="2560320" cy="1005840"/>
          </a:xfrm>
          <a:prstGeom prst="rect">
            <a:avLst/>
          </a:prstGeom>
          <a:noFill/>
          <a:ln/>
        </p:spPr>
        <p:txBody>
          <a:bodyPr wrap="square" lIns="0" tIns="0" rIns="0" bIns="0" rtlCol="0" anchor="t"/>
          <a:lstStyle/>
          <a:p>
            <a:pPr indent="0" marL="0">
              <a:buNone/>
            </a:pPr>
            <a:r>
              <a:rPr lang="en-US" sz="6600" b="1" dirty="0">
                <a:solidFill>
                  <a:schemeClr val="accent2"/>
                </a:solidFill>
                <a:latin typeface="Cambria" pitchFamily="34" charset="0"/>
                <a:ea typeface="Cambria" pitchFamily="34" charset="-122"/>
                <a:cs typeface="Cambria" pitchFamily="34" charset="-120"/>
              </a:rPr>
              <a:t>7–14</a:t>
            </a:r>
            <a:endParaRPr lang="en-US" sz="6600" dirty="0"/>
          </a:p>
        </p:txBody>
      </p:sp>
      <p:sp>
        <p:nvSpPr>
          <p:cNvPr id="6" name="text-82"/>
          <p:cNvSpPr txBox="1"/>
          <p:nvPr/>
        </p:nvSpPr>
        <p:spPr>
          <a:xfrm>
            <a:off x="640080" y="2560320"/>
            <a:ext cx="2560320" cy="914400"/>
          </a:xfrm>
          <a:prstGeom prst="rect">
            <a:avLst/>
          </a:prstGeom>
          <a:noFill/>
          <a:ln/>
        </p:spPr>
        <p:txBody>
          <a:bodyPr wrap="square" lIns="0" tIns="0" rIns="0" bIns="0" rtlCol="0" anchor="t"/>
          <a:lstStyle/>
          <a:p>
            <a:pPr indent="0" marL="0">
              <a:buNone/>
            </a:pPr>
            <a:r>
              <a:rPr lang="en-US" sz="1800" dirty="0">
                <a:solidFill>
                  <a:schemeClr val="bg1"/>
                </a:solidFill>
              </a:rPr>
              <a:t>days of delay before regional offices receive updates</a:t>
            </a:r>
            <a:endParaRPr lang="en-US" sz="1800" dirty="0"/>
          </a:p>
        </p:txBody>
      </p:sp>
      <p:sp>
        <p:nvSpPr>
          <p:cNvPr id="7" name="text-83"/>
          <p:cNvSpPr txBox="1"/>
          <p:nvPr/>
        </p:nvSpPr>
        <p:spPr>
          <a:xfrm>
            <a:off x="640080" y="3657600"/>
            <a:ext cx="2560320" cy="731520"/>
          </a:xfrm>
          <a:prstGeom prst="rect">
            <a:avLst/>
          </a:prstGeom>
          <a:noFill/>
          <a:ln/>
        </p:spPr>
        <p:txBody>
          <a:bodyPr wrap="square" lIns="0" tIns="0" rIns="0" bIns="0" rtlCol="0" anchor="t"/>
          <a:lstStyle/>
          <a:p>
            <a:pPr indent="0" marL="0">
              <a:buNone/>
            </a:pPr>
            <a:r>
              <a:rPr lang="en-US" sz="1400" dirty="0">
                <a:solidFill>
                  <a:schemeClr val="bg2"/>
                </a:solidFill>
              </a:rPr>
              <a:t>Paper memos and scattered email lists</a:t>
            </a:r>
            <a:endParaRPr lang="en-US" sz="1400" dirty="0"/>
          </a:p>
        </p:txBody>
      </p:sp>
      <p:sp>
        <p:nvSpPr>
          <p:cNvPr id="8" name="card-84"/>
          <p:cNvSpPr/>
          <p:nvPr/>
        </p:nvSpPr>
        <p:spPr>
          <a:xfrm>
            <a:off x="3657600" y="1143000"/>
            <a:ext cx="242316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badge-85"/>
          <p:cNvSpPr/>
          <p:nvPr/>
        </p:nvSpPr>
        <p:spPr>
          <a:xfrm>
            <a:off x="3794760" y="1280160"/>
            <a:ext cx="411480" cy="411480"/>
          </a:xfrm>
          <a:prstGeom prst="ellipse">
            <a:avLst/>
          </a:prstGeom>
          <a:solidFill>
            <a:schemeClr val="accent1"/>
          </a:solidFill>
          <a:ln w="12700">
            <a:solidFill>
              <a:schemeClr val="accent1"/>
            </a:solidFill>
            <a:prstDash val="solid"/>
          </a:ln>
        </p:spPr>
      </p:sp>
      <p:pic>
        <p:nvPicPr>
          <p:cNvPr id="10" name="icon-86" descr="preencoded.png">    </p:cNvPr>
          <p:cNvPicPr>
            <a:picLocks noChangeAspect="1"/>
          </p:cNvPicPr>
          <p:nvPr/>
        </p:nvPicPr>
        <p:blipFill>
          <a:blip r:embed="rId1"/>
          <a:stretch>
            <a:fillRect/>
          </a:stretch>
        </p:blipFill>
        <p:spPr>
          <a:xfrm>
            <a:off x="3901745" y="1387145"/>
            <a:ext cx="197510" cy="197510"/>
          </a:xfrm>
          <a:prstGeom prst="rect">
            <a:avLst/>
          </a:prstGeom>
        </p:spPr>
      </p:pic>
      <p:sp>
        <p:nvSpPr>
          <p:cNvPr id="11" name="text-87"/>
          <p:cNvSpPr txBox="1"/>
          <p:nvPr/>
        </p:nvSpPr>
        <p:spPr>
          <a:xfrm>
            <a:off x="4297680" y="1325880"/>
            <a:ext cx="1691640" cy="365760"/>
          </a:xfrm>
          <a:prstGeom prst="rect">
            <a:avLst/>
          </a:prstGeom>
          <a:noFill/>
          <a:ln/>
        </p:spPr>
        <p:txBody>
          <a:bodyPr wrap="square" lIns="0" tIns="0" rIns="0" bIns="0" rtlCol="0" anchor="ctr"/>
          <a:lstStyle/>
          <a:p>
            <a:pPr indent="0" marL="0">
              <a:buNone/>
            </a:pPr>
            <a:r>
              <a:rPr lang="en-US" sz="1400" b="1" dirty="0">
                <a:solidFill>
                  <a:schemeClr val="tx2"/>
                </a:solidFill>
              </a:rPr>
              <a:t>Fragmented channels</a:t>
            </a:r>
            <a:endParaRPr lang="en-US" sz="1400" dirty="0"/>
          </a:p>
        </p:txBody>
      </p:sp>
      <p:sp>
        <p:nvSpPr>
          <p:cNvPr id="12" name="text-88"/>
          <p:cNvSpPr txBox="1"/>
          <p:nvPr/>
        </p:nvSpPr>
        <p:spPr>
          <a:xfrm>
            <a:off x="3794760" y="1828800"/>
            <a:ext cx="2148840" cy="868680"/>
          </a:xfrm>
          <a:prstGeom prst="rect">
            <a:avLst/>
          </a:prstGeom>
          <a:noFill/>
          <a:ln/>
        </p:spPr>
        <p:txBody>
          <a:bodyPr wrap="square" lIns="0" tIns="0" rIns="0" bIns="0" rtlCol="0" anchor="t"/>
          <a:lstStyle/>
          <a:p>
            <a:pPr indent="0" marL="0">
              <a:buNone/>
            </a:pPr>
            <a:r>
              <a:rPr lang="en-US" sz="1400" dirty="0">
                <a:solidFill>
                  <a:schemeClr val="tx1"/>
                </a:solidFill>
              </a:rPr>
              <a:t>Memos, email lists and word of mouth give inconsistent information</a:t>
            </a:r>
            <a:endParaRPr lang="en-US" sz="1400" dirty="0"/>
          </a:p>
        </p:txBody>
      </p:sp>
      <p:sp>
        <p:nvSpPr>
          <p:cNvPr id="13" name="card-89"/>
          <p:cNvSpPr/>
          <p:nvPr/>
        </p:nvSpPr>
        <p:spPr>
          <a:xfrm>
            <a:off x="6263640" y="1143000"/>
            <a:ext cx="242316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badge-90"/>
          <p:cNvSpPr/>
          <p:nvPr/>
        </p:nvSpPr>
        <p:spPr>
          <a:xfrm>
            <a:off x="6400800" y="1280160"/>
            <a:ext cx="411480" cy="411480"/>
          </a:xfrm>
          <a:prstGeom prst="ellipse">
            <a:avLst/>
          </a:prstGeom>
          <a:solidFill>
            <a:schemeClr val="accent1"/>
          </a:solidFill>
          <a:ln w="12700">
            <a:solidFill>
              <a:schemeClr val="accent1"/>
            </a:solidFill>
            <a:prstDash val="solid"/>
          </a:ln>
        </p:spPr>
      </p:sp>
      <p:pic>
        <p:nvPicPr>
          <p:cNvPr id="15" name="icon-91" descr="preencoded.png">    </p:cNvPr>
          <p:cNvPicPr>
            <a:picLocks noChangeAspect="1"/>
          </p:cNvPicPr>
          <p:nvPr/>
        </p:nvPicPr>
        <p:blipFill>
          <a:blip r:embed="rId2"/>
          <a:stretch>
            <a:fillRect/>
          </a:stretch>
        </p:blipFill>
        <p:spPr>
          <a:xfrm>
            <a:off x="6507785" y="1387145"/>
            <a:ext cx="197510" cy="197510"/>
          </a:xfrm>
          <a:prstGeom prst="rect">
            <a:avLst/>
          </a:prstGeom>
        </p:spPr>
      </p:pic>
      <p:sp>
        <p:nvSpPr>
          <p:cNvPr id="16" name="text-92"/>
          <p:cNvSpPr txBox="1"/>
          <p:nvPr/>
        </p:nvSpPr>
        <p:spPr>
          <a:xfrm>
            <a:off x="6903720" y="1325880"/>
            <a:ext cx="1691640" cy="365760"/>
          </a:xfrm>
          <a:prstGeom prst="rect">
            <a:avLst/>
          </a:prstGeom>
          <a:noFill/>
          <a:ln/>
        </p:spPr>
        <p:txBody>
          <a:bodyPr wrap="square" lIns="0" tIns="0" rIns="0" bIns="0" rtlCol="0" anchor="ctr"/>
          <a:lstStyle/>
          <a:p>
            <a:pPr indent="0" marL="0">
              <a:buNone/>
            </a:pPr>
            <a:r>
              <a:rPr lang="en-US" sz="1400" b="1" dirty="0">
                <a:solidFill>
                  <a:schemeClr val="tx2"/>
                </a:solidFill>
              </a:rPr>
              <a:t>No central archive</a:t>
            </a:r>
            <a:endParaRPr lang="en-US" sz="1400" dirty="0"/>
          </a:p>
        </p:txBody>
      </p:sp>
      <p:sp>
        <p:nvSpPr>
          <p:cNvPr id="17" name="text-93"/>
          <p:cNvSpPr txBox="1"/>
          <p:nvPr/>
        </p:nvSpPr>
        <p:spPr>
          <a:xfrm>
            <a:off x="6400800" y="1828800"/>
            <a:ext cx="2148840" cy="868680"/>
          </a:xfrm>
          <a:prstGeom prst="rect">
            <a:avLst/>
          </a:prstGeom>
          <a:noFill/>
          <a:ln/>
        </p:spPr>
        <p:txBody>
          <a:bodyPr wrap="square" lIns="0" tIns="0" rIns="0" bIns="0" rtlCol="0" anchor="t"/>
          <a:lstStyle/>
          <a:p>
            <a:pPr indent="0" marL="0">
              <a:buNone/>
            </a:pPr>
            <a:r>
              <a:rPr lang="en-US" sz="1400" dirty="0">
                <a:solidFill>
                  <a:schemeClr val="tx1"/>
                </a:solidFill>
              </a:rPr>
              <a:t>Past notices and criteria cannot be found or referenced</a:t>
            </a:r>
            <a:endParaRPr lang="en-US" sz="1400" dirty="0"/>
          </a:p>
        </p:txBody>
      </p:sp>
      <p:sp>
        <p:nvSpPr>
          <p:cNvPr id="18" name="card-94"/>
          <p:cNvSpPr/>
          <p:nvPr/>
        </p:nvSpPr>
        <p:spPr>
          <a:xfrm>
            <a:off x="3657600" y="2880360"/>
            <a:ext cx="242316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9" name="badge-95"/>
          <p:cNvSpPr/>
          <p:nvPr/>
        </p:nvSpPr>
        <p:spPr>
          <a:xfrm>
            <a:off x="3794760" y="3017520"/>
            <a:ext cx="411480" cy="411480"/>
          </a:xfrm>
          <a:prstGeom prst="ellipse">
            <a:avLst/>
          </a:prstGeom>
          <a:solidFill>
            <a:schemeClr val="accent4"/>
          </a:solidFill>
          <a:ln w="12700">
            <a:solidFill>
              <a:schemeClr val="accent4"/>
            </a:solidFill>
            <a:prstDash val="solid"/>
          </a:ln>
        </p:spPr>
      </p:sp>
      <p:pic>
        <p:nvPicPr>
          <p:cNvPr id="20" name="icon-96" descr="preencoded.png">    </p:cNvPr>
          <p:cNvPicPr>
            <a:picLocks noChangeAspect="1"/>
          </p:cNvPicPr>
          <p:nvPr/>
        </p:nvPicPr>
        <p:blipFill>
          <a:blip r:embed="rId3"/>
          <a:stretch>
            <a:fillRect/>
          </a:stretch>
        </p:blipFill>
        <p:spPr>
          <a:xfrm>
            <a:off x="3901745" y="3124505"/>
            <a:ext cx="197510" cy="197510"/>
          </a:xfrm>
          <a:prstGeom prst="rect">
            <a:avLst/>
          </a:prstGeom>
        </p:spPr>
      </p:pic>
      <p:sp>
        <p:nvSpPr>
          <p:cNvPr id="21" name="text-97"/>
          <p:cNvSpPr txBox="1"/>
          <p:nvPr/>
        </p:nvSpPr>
        <p:spPr>
          <a:xfrm>
            <a:off x="4297680" y="3063240"/>
            <a:ext cx="1691640" cy="365760"/>
          </a:xfrm>
          <a:prstGeom prst="rect">
            <a:avLst/>
          </a:prstGeom>
          <a:noFill/>
          <a:ln/>
        </p:spPr>
        <p:txBody>
          <a:bodyPr wrap="square" lIns="0" tIns="0" rIns="0" bIns="0" rtlCol="0" anchor="ctr"/>
          <a:lstStyle/>
          <a:p>
            <a:pPr indent="0" marL="0">
              <a:buNone/>
            </a:pPr>
            <a:r>
              <a:rPr lang="en-US" sz="1400" b="1" dirty="0">
                <a:solidFill>
                  <a:schemeClr val="tx2"/>
                </a:solidFill>
              </a:rPr>
              <a:t>Regional disadvantage</a:t>
            </a:r>
            <a:endParaRPr lang="en-US" sz="1400" dirty="0"/>
          </a:p>
        </p:txBody>
      </p:sp>
      <p:sp>
        <p:nvSpPr>
          <p:cNvPr id="22" name="text-98"/>
          <p:cNvSpPr txBox="1"/>
          <p:nvPr/>
        </p:nvSpPr>
        <p:spPr>
          <a:xfrm>
            <a:off x="3794760" y="3566160"/>
            <a:ext cx="2148840" cy="868680"/>
          </a:xfrm>
          <a:prstGeom prst="rect">
            <a:avLst/>
          </a:prstGeom>
          <a:noFill/>
          <a:ln/>
        </p:spPr>
        <p:txBody>
          <a:bodyPr wrap="square" lIns="0" tIns="0" rIns="0" bIns="0" rtlCol="0" anchor="t"/>
          <a:lstStyle/>
          <a:p>
            <a:pPr indent="0" marL="0">
              <a:buNone/>
            </a:pPr>
            <a:r>
              <a:rPr lang="en-US" sz="1400" dirty="0">
                <a:solidFill>
                  <a:schemeClr val="tx1"/>
                </a:solidFill>
              </a:rPr>
              <a:t>Staff outside Addis Ababa are the last to know</a:t>
            </a:r>
            <a:endParaRPr lang="en-US" sz="1400" dirty="0"/>
          </a:p>
        </p:txBody>
      </p:sp>
      <p:sp>
        <p:nvSpPr>
          <p:cNvPr id="23" name="card-99"/>
          <p:cNvSpPr/>
          <p:nvPr/>
        </p:nvSpPr>
        <p:spPr>
          <a:xfrm>
            <a:off x="6263640" y="2880360"/>
            <a:ext cx="242316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4" name="badge-100"/>
          <p:cNvSpPr/>
          <p:nvPr/>
        </p:nvSpPr>
        <p:spPr>
          <a:xfrm>
            <a:off x="6400800" y="3017520"/>
            <a:ext cx="411480" cy="411480"/>
          </a:xfrm>
          <a:prstGeom prst="ellipse">
            <a:avLst/>
          </a:prstGeom>
          <a:solidFill>
            <a:schemeClr val="accent1"/>
          </a:solidFill>
          <a:ln w="12700">
            <a:solidFill>
              <a:schemeClr val="accent1"/>
            </a:solidFill>
            <a:prstDash val="solid"/>
          </a:ln>
        </p:spPr>
      </p:sp>
      <p:pic>
        <p:nvPicPr>
          <p:cNvPr id="25" name="icon-101" descr="preencoded.png">    </p:cNvPr>
          <p:cNvPicPr>
            <a:picLocks noChangeAspect="1"/>
          </p:cNvPicPr>
          <p:nvPr/>
        </p:nvPicPr>
        <p:blipFill>
          <a:blip r:embed="rId4"/>
          <a:stretch>
            <a:fillRect/>
          </a:stretch>
        </p:blipFill>
        <p:spPr>
          <a:xfrm>
            <a:off x="6507785" y="3124505"/>
            <a:ext cx="197510" cy="197510"/>
          </a:xfrm>
          <a:prstGeom prst="rect">
            <a:avLst/>
          </a:prstGeom>
        </p:spPr>
      </p:pic>
      <p:sp>
        <p:nvSpPr>
          <p:cNvPr id="26" name="text-102"/>
          <p:cNvSpPr txBox="1"/>
          <p:nvPr/>
        </p:nvSpPr>
        <p:spPr>
          <a:xfrm>
            <a:off x="6903720" y="3063240"/>
            <a:ext cx="1691640" cy="365760"/>
          </a:xfrm>
          <a:prstGeom prst="rect">
            <a:avLst/>
          </a:prstGeom>
          <a:noFill/>
          <a:ln/>
        </p:spPr>
        <p:txBody>
          <a:bodyPr wrap="square" lIns="0" tIns="0" rIns="0" bIns="0" rtlCol="0" anchor="ctr"/>
          <a:lstStyle/>
          <a:p>
            <a:pPr indent="0" marL="0">
              <a:buNone/>
            </a:pPr>
            <a:r>
              <a:rPr lang="en-US" sz="1400" b="1" dirty="0">
                <a:solidFill>
                  <a:schemeClr val="tx2"/>
                </a:solidFill>
              </a:rPr>
              <a:t>Manual workload</a:t>
            </a:r>
            <a:endParaRPr lang="en-US" sz="1400" dirty="0"/>
          </a:p>
        </p:txBody>
      </p:sp>
      <p:sp>
        <p:nvSpPr>
          <p:cNvPr id="27" name="text-103"/>
          <p:cNvSpPr txBox="1"/>
          <p:nvPr/>
        </p:nvSpPr>
        <p:spPr>
          <a:xfrm>
            <a:off x="6400800" y="3566160"/>
            <a:ext cx="2148840" cy="868680"/>
          </a:xfrm>
          <a:prstGeom prst="rect">
            <a:avLst/>
          </a:prstGeom>
          <a:noFill/>
          <a:ln/>
        </p:spPr>
        <p:txBody>
          <a:bodyPr wrap="square" lIns="0" tIns="0" rIns="0" bIns="0" rtlCol="0" anchor="t"/>
          <a:lstStyle/>
          <a:p>
            <a:pPr indent="0" marL="0">
              <a:buNone/>
            </a:pPr>
            <a:r>
              <a:rPr lang="en-US" sz="1400" dirty="0">
                <a:solidFill>
                  <a:schemeClr val="tx1"/>
                </a:solidFill>
              </a:rPr>
              <a:t>Staff format, photocopy and distribute paper notices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Objectives and scope</a:t>
            </a:r>
            <a:endParaRPr lang="en-US" sz="3000" dirty="0"/>
          </a:p>
        </p:txBody>
      </p:sp>
      <p:sp>
        <p:nvSpPr>
          <p:cNvPr id="4" name="card-104"/>
          <p:cNvSpPr/>
          <p:nvPr/>
        </p:nvSpPr>
        <p:spPr>
          <a:xfrm>
            <a:off x="457200" y="1097280"/>
            <a:ext cx="3017520" cy="2743200"/>
          </a:xfrm>
          <a:prstGeom prst="roundRect">
            <a:avLst>
              <a:gd name="adj" fmla="val 2667"/>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5" name="text-105"/>
          <p:cNvSpPr txBox="1"/>
          <p:nvPr/>
        </p:nvSpPr>
        <p:spPr>
          <a:xfrm>
            <a:off x="640080" y="1207008"/>
            <a:ext cx="2651760" cy="274320"/>
          </a:xfrm>
          <a:prstGeom prst="rect">
            <a:avLst/>
          </a:prstGeom>
          <a:noFill/>
          <a:ln/>
        </p:spPr>
        <p:txBody>
          <a:bodyPr wrap="square" lIns="0" tIns="0" rIns="0" bIns="0" rtlCol="0" anchor="t"/>
          <a:lstStyle/>
          <a:p>
            <a:pPr indent="0" marL="0">
              <a:buNone/>
            </a:pPr>
            <a:r>
              <a:rPr lang="en-US" sz="1600" b="1" dirty="0">
                <a:solidFill>
                  <a:schemeClr val="accent2"/>
                </a:solidFill>
              </a:rPr>
              <a:t>General objective</a:t>
            </a:r>
            <a:endParaRPr lang="en-US" sz="1600" dirty="0"/>
          </a:p>
        </p:txBody>
      </p:sp>
      <p:sp>
        <p:nvSpPr>
          <p:cNvPr id="6" name="text-106"/>
          <p:cNvSpPr txBox="1"/>
          <p:nvPr/>
        </p:nvSpPr>
        <p:spPr>
          <a:xfrm>
            <a:off x="640080" y="1554480"/>
            <a:ext cx="2651760" cy="2194560"/>
          </a:xfrm>
          <a:prstGeom prst="rect">
            <a:avLst/>
          </a:prstGeom>
          <a:noFill/>
          <a:ln/>
        </p:spPr>
        <p:txBody>
          <a:bodyPr wrap="square" lIns="0" tIns="0" rIns="0" bIns="0" rtlCol="0" anchor="t"/>
          <a:lstStyle/>
          <a:p>
            <a:pPr indent="0" marL="0">
              <a:buNone/>
            </a:pPr>
            <a:r>
              <a:rPr lang="en-US" sz="1600" dirty="0">
                <a:solidFill>
                  <a:schemeClr val="bg1"/>
                </a:solidFill>
              </a:rPr>
              <a:t>Build a web-based portal where ESS publishes, manages and distributes news centrally, with equal access for all employees nationwide.</a:t>
            </a:r>
            <a:endParaRPr lang="en-US" sz="1600" dirty="0"/>
          </a:p>
        </p:txBody>
      </p:sp>
      <p:sp>
        <p:nvSpPr>
          <p:cNvPr id="7" name="card-107"/>
          <p:cNvSpPr/>
          <p:nvPr/>
        </p:nvSpPr>
        <p:spPr>
          <a:xfrm>
            <a:off x="3749040" y="1097280"/>
            <a:ext cx="4937760" cy="4572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8" name="num-108"/>
          <p:cNvSpPr/>
          <p:nvPr/>
        </p:nvSpPr>
        <p:spPr>
          <a:xfrm>
            <a:off x="3840480" y="1170432"/>
            <a:ext cx="310896" cy="310896"/>
          </a:xfrm>
          <a:prstGeom prst="ellipse">
            <a:avLst/>
          </a:prstGeom>
          <a:solidFill>
            <a:schemeClr val="accent2"/>
          </a:solidFill>
          <a:ln w="12700">
            <a:solidFill>
              <a:schemeClr val="accent2"/>
            </a:solidFill>
            <a:prstDash val="solid"/>
          </a:ln>
        </p:spPr>
      </p:sp>
      <p:sp>
        <p:nvSpPr>
          <p:cNvPr id="9" name="text-109"/>
          <p:cNvSpPr txBox="1"/>
          <p:nvPr/>
        </p:nvSpPr>
        <p:spPr>
          <a:xfrm>
            <a:off x="3840480" y="1170432"/>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0" name="text-110"/>
          <p:cNvSpPr txBox="1"/>
          <p:nvPr/>
        </p:nvSpPr>
        <p:spPr>
          <a:xfrm>
            <a:off x="4297680" y="1097280"/>
            <a:ext cx="4297680" cy="457200"/>
          </a:xfrm>
          <a:prstGeom prst="rect">
            <a:avLst/>
          </a:prstGeom>
          <a:noFill/>
          <a:ln/>
        </p:spPr>
        <p:txBody>
          <a:bodyPr wrap="square" lIns="0" tIns="0" rIns="0" bIns="0" rtlCol="0" anchor="ctr"/>
          <a:lstStyle/>
          <a:p>
            <a:pPr indent="0" marL="0">
              <a:buNone/>
            </a:pPr>
            <a:r>
              <a:rPr lang="en-US" sz="1400" dirty="0">
                <a:solidFill>
                  <a:schemeClr val="tx1"/>
                </a:solidFill>
              </a:rPr>
              <a:t>Responsive, read-only public interface with search</a:t>
            </a:r>
            <a:endParaRPr lang="en-US" sz="1400" dirty="0"/>
          </a:p>
        </p:txBody>
      </p:sp>
      <p:sp>
        <p:nvSpPr>
          <p:cNvPr id="11" name="card-111"/>
          <p:cNvSpPr/>
          <p:nvPr/>
        </p:nvSpPr>
        <p:spPr>
          <a:xfrm>
            <a:off x="3749040" y="1664208"/>
            <a:ext cx="4937760" cy="4572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num-112"/>
          <p:cNvSpPr/>
          <p:nvPr/>
        </p:nvSpPr>
        <p:spPr>
          <a:xfrm>
            <a:off x="3840480" y="1737360"/>
            <a:ext cx="310896" cy="310896"/>
          </a:xfrm>
          <a:prstGeom prst="ellipse">
            <a:avLst/>
          </a:prstGeom>
          <a:solidFill>
            <a:schemeClr val="accent2"/>
          </a:solidFill>
          <a:ln w="12700">
            <a:solidFill>
              <a:schemeClr val="accent2"/>
            </a:solidFill>
            <a:prstDash val="solid"/>
          </a:ln>
        </p:spPr>
      </p:sp>
      <p:sp>
        <p:nvSpPr>
          <p:cNvPr id="13" name="text-113"/>
          <p:cNvSpPr txBox="1"/>
          <p:nvPr/>
        </p:nvSpPr>
        <p:spPr>
          <a:xfrm>
            <a:off x="3840480" y="1737360"/>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text-114"/>
          <p:cNvSpPr txBox="1"/>
          <p:nvPr/>
        </p:nvSpPr>
        <p:spPr>
          <a:xfrm>
            <a:off x="4297680" y="1664208"/>
            <a:ext cx="4297680" cy="457200"/>
          </a:xfrm>
          <a:prstGeom prst="rect">
            <a:avLst/>
          </a:prstGeom>
          <a:noFill/>
          <a:ln/>
        </p:spPr>
        <p:txBody>
          <a:bodyPr wrap="square" lIns="0" tIns="0" rIns="0" bIns="0" rtlCol="0" anchor="ctr"/>
          <a:lstStyle/>
          <a:p>
            <a:pPr indent="0" marL="0">
              <a:buNone/>
            </a:pPr>
            <a:r>
              <a:rPr lang="en-US" sz="1400" dirty="0">
                <a:solidFill>
                  <a:schemeClr val="tx1"/>
                </a:solidFill>
              </a:rPr>
              <a:t>Admin dashboard with encrypted login</a:t>
            </a:r>
            <a:endParaRPr lang="en-US" sz="1400" dirty="0"/>
          </a:p>
        </p:txBody>
      </p:sp>
      <p:sp>
        <p:nvSpPr>
          <p:cNvPr id="15" name="card-115"/>
          <p:cNvSpPr/>
          <p:nvPr/>
        </p:nvSpPr>
        <p:spPr>
          <a:xfrm>
            <a:off x="3749040" y="2231136"/>
            <a:ext cx="4937760" cy="4572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6" name="num-116"/>
          <p:cNvSpPr/>
          <p:nvPr/>
        </p:nvSpPr>
        <p:spPr>
          <a:xfrm>
            <a:off x="3840480" y="2304288"/>
            <a:ext cx="310896" cy="310896"/>
          </a:xfrm>
          <a:prstGeom prst="ellipse">
            <a:avLst/>
          </a:prstGeom>
          <a:solidFill>
            <a:schemeClr val="accent2"/>
          </a:solidFill>
          <a:ln w="12700">
            <a:solidFill>
              <a:schemeClr val="accent2"/>
            </a:solidFill>
            <a:prstDash val="solid"/>
          </a:ln>
        </p:spPr>
      </p:sp>
      <p:sp>
        <p:nvSpPr>
          <p:cNvPr id="17" name="text-117"/>
          <p:cNvSpPr txBox="1"/>
          <p:nvPr/>
        </p:nvSpPr>
        <p:spPr>
          <a:xfrm>
            <a:off x="3840480" y="2304288"/>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8" name="text-118"/>
          <p:cNvSpPr txBox="1"/>
          <p:nvPr/>
        </p:nvSpPr>
        <p:spPr>
          <a:xfrm>
            <a:off x="4297680" y="2231136"/>
            <a:ext cx="4297680" cy="457200"/>
          </a:xfrm>
          <a:prstGeom prst="rect">
            <a:avLst/>
          </a:prstGeom>
          <a:noFill/>
          <a:ln/>
        </p:spPr>
        <p:txBody>
          <a:bodyPr wrap="square" lIns="0" tIns="0" rIns="0" bIns="0" rtlCol="0" anchor="ctr"/>
          <a:lstStyle/>
          <a:p>
            <a:pPr indent="0" marL="0">
              <a:buNone/>
            </a:pPr>
            <a:r>
              <a:rPr lang="en-US" sz="1400" dirty="0">
                <a:solidFill>
                  <a:schemeClr val="tx1"/>
                </a:solidFill>
              </a:rPr>
              <a:t>Full CRUD for news listings</a:t>
            </a:r>
            <a:endParaRPr lang="en-US" sz="1400" dirty="0"/>
          </a:p>
        </p:txBody>
      </p:sp>
      <p:sp>
        <p:nvSpPr>
          <p:cNvPr id="19" name="card-119"/>
          <p:cNvSpPr/>
          <p:nvPr/>
        </p:nvSpPr>
        <p:spPr>
          <a:xfrm>
            <a:off x="3749040" y="2798064"/>
            <a:ext cx="4937760" cy="4572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num-120"/>
          <p:cNvSpPr/>
          <p:nvPr/>
        </p:nvSpPr>
        <p:spPr>
          <a:xfrm>
            <a:off x="3840480" y="2871216"/>
            <a:ext cx="310896" cy="310896"/>
          </a:xfrm>
          <a:prstGeom prst="ellipse">
            <a:avLst/>
          </a:prstGeom>
          <a:solidFill>
            <a:schemeClr val="accent2"/>
          </a:solidFill>
          <a:ln w="12700">
            <a:solidFill>
              <a:schemeClr val="accent2"/>
            </a:solidFill>
            <a:prstDash val="solid"/>
          </a:ln>
        </p:spPr>
      </p:sp>
      <p:sp>
        <p:nvSpPr>
          <p:cNvPr id="21" name="text-121"/>
          <p:cNvSpPr txBox="1"/>
          <p:nvPr/>
        </p:nvSpPr>
        <p:spPr>
          <a:xfrm>
            <a:off x="3840480" y="2871216"/>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122"/>
          <p:cNvSpPr txBox="1"/>
          <p:nvPr/>
        </p:nvSpPr>
        <p:spPr>
          <a:xfrm>
            <a:off x="4297680" y="2798064"/>
            <a:ext cx="4297680" cy="457200"/>
          </a:xfrm>
          <a:prstGeom prst="rect">
            <a:avLst/>
          </a:prstGeom>
          <a:noFill/>
          <a:ln/>
        </p:spPr>
        <p:txBody>
          <a:bodyPr wrap="square" lIns="0" tIns="0" rIns="0" bIns="0" rtlCol="0" anchor="ctr"/>
          <a:lstStyle/>
          <a:p>
            <a:pPr indent="0" marL="0">
              <a:buNone/>
            </a:pPr>
            <a:r>
              <a:rPr lang="en-US" sz="1400" dirty="0">
                <a:solidFill>
                  <a:schemeClr val="tx1"/>
                </a:solidFill>
              </a:rPr>
              <a:t>Image upload (e.g. event posters)</a:t>
            </a:r>
            <a:endParaRPr lang="en-US" sz="1400" dirty="0"/>
          </a:p>
        </p:txBody>
      </p:sp>
      <p:sp>
        <p:nvSpPr>
          <p:cNvPr id="23" name="card-123"/>
          <p:cNvSpPr/>
          <p:nvPr/>
        </p:nvSpPr>
        <p:spPr>
          <a:xfrm>
            <a:off x="3749040" y="3364992"/>
            <a:ext cx="4937760" cy="4572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4" name="num-124"/>
          <p:cNvSpPr/>
          <p:nvPr/>
        </p:nvSpPr>
        <p:spPr>
          <a:xfrm>
            <a:off x="3840480" y="3438144"/>
            <a:ext cx="310896" cy="310896"/>
          </a:xfrm>
          <a:prstGeom prst="ellipse">
            <a:avLst/>
          </a:prstGeom>
          <a:solidFill>
            <a:schemeClr val="accent2"/>
          </a:solidFill>
          <a:ln w="12700">
            <a:solidFill>
              <a:schemeClr val="accent2"/>
            </a:solidFill>
            <a:prstDash val="solid"/>
          </a:ln>
        </p:spPr>
      </p:sp>
      <p:sp>
        <p:nvSpPr>
          <p:cNvPr id="25" name="text-125"/>
          <p:cNvSpPr txBox="1"/>
          <p:nvPr/>
        </p:nvSpPr>
        <p:spPr>
          <a:xfrm>
            <a:off x="3840480" y="3438144"/>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6" name="text-126"/>
          <p:cNvSpPr txBox="1"/>
          <p:nvPr/>
        </p:nvSpPr>
        <p:spPr>
          <a:xfrm>
            <a:off x="4297680" y="3364992"/>
            <a:ext cx="4297680" cy="457200"/>
          </a:xfrm>
          <a:prstGeom prst="rect">
            <a:avLst/>
          </a:prstGeom>
          <a:noFill/>
          <a:ln/>
        </p:spPr>
        <p:txBody>
          <a:bodyPr wrap="square" lIns="0" tIns="0" rIns="0" bIns="0" rtlCol="0" anchor="ctr"/>
          <a:lstStyle/>
          <a:p>
            <a:pPr indent="0" marL="0">
              <a:buNone/>
            </a:pPr>
            <a:r>
              <a:rPr lang="en-US" sz="1400" dirty="0">
                <a:solidFill>
                  <a:schemeClr val="tx1"/>
                </a:solidFill>
              </a:rPr>
              <a:t>Correct English and Amharic rendering</a:t>
            </a:r>
            <a:endParaRPr lang="en-US" sz="1400" dirty="0"/>
          </a:p>
        </p:txBody>
      </p:sp>
      <p:sp>
        <p:nvSpPr>
          <p:cNvPr id="27" name="card-127"/>
          <p:cNvSpPr/>
          <p:nvPr/>
        </p:nvSpPr>
        <p:spPr>
          <a:xfrm>
            <a:off x="457200" y="4023360"/>
            <a:ext cx="8229600" cy="54864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8" name="text-128"/>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400" b="1" dirty="0">
                <a:solidFill>
                  <a:schemeClr val="accent4"/>
                </a:solidFill>
              </a:rPr>
              <a:t>Out of scope:  </a:t>
            </a:r>
            <a:pPr indent="0" marL="0">
              <a:buNone/>
            </a:pPr>
            <a:r>
              <a:rPr lang="en-US" sz="1400" dirty="0">
                <a:solidFill>
                  <a:schemeClr val="tx1"/>
                </a:solidFill>
              </a:rPr>
              <a:t>external internet access  ·  user comments  ·  individual employee accounts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Plan, methodology and risk management</a:t>
            </a:r>
            <a:endParaRPr lang="en-US" sz="3000" dirty="0"/>
          </a:p>
        </p:txBody>
      </p:sp>
      <p:sp>
        <p:nvSpPr>
          <p:cNvPr id="4" name="card-129"/>
          <p:cNvSpPr/>
          <p:nvPr/>
        </p:nvSpPr>
        <p:spPr>
          <a:xfrm>
            <a:off x="457200" y="1097280"/>
            <a:ext cx="2651760" cy="3474720"/>
          </a:xfrm>
          <a:prstGeom prst="roundRect">
            <a:avLst>
              <a:gd name="adj" fmla="val 275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badge-130"/>
          <p:cNvSpPr/>
          <p:nvPr/>
        </p:nvSpPr>
        <p:spPr>
          <a:xfrm>
            <a:off x="640080" y="1216152"/>
            <a:ext cx="457200" cy="457200"/>
          </a:xfrm>
          <a:prstGeom prst="ellipse">
            <a:avLst/>
          </a:prstGeom>
          <a:solidFill>
            <a:schemeClr val="accent1"/>
          </a:solidFill>
          <a:ln w="12700">
            <a:solidFill>
              <a:schemeClr val="accent1"/>
            </a:solidFill>
            <a:prstDash val="solid"/>
          </a:ln>
        </p:spPr>
      </p:sp>
      <p:pic>
        <p:nvPicPr>
          <p:cNvPr id="6" name="icon-131" descr="preencoded.png">    </p:cNvPr>
          <p:cNvPicPr>
            <a:picLocks noChangeAspect="1"/>
          </p:cNvPicPr>
          <p:nvPr/>
        </p:nvPicPr>
        <p:blipFill>
          <a:blip r:embed="rId1"/>
          <a:stretch>
            <a:fillRect/>
          </a:stretch>
        </p:blipFill>
        <p:spPr>
          <a:xfrm>
            <a:off x="758952" y="1335024"/>
            <a:ext cx="219456" cy="219456"/>
          </a:xfrm>
          <a:prstGeom prst="rect">
            <a:avLst/>
          </a:prstGeom>
        </p:spPr>
      </p:pic>
      <p:sp>
        <p:nvSpPr>
          <p:cNvPr id="7" name="text-132"/>
          <p:cNvSpPr txBox="1"/>
          <p:nvPr/>
        </p:nvSpPr>
        <p:spPr>
          <a:xfrm>
            <a:off x="1234440" y="1216152"/>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4–5 week schedule</a:t>
            </a:r>
            <a:endParaRPr lang="en-US" sz="1500" dirty="0"/>
          </a:p>
        </p:txBody>
      </p:sp>
      <p:sp>
        <p:nvSpPr>
          <p:cNvPr id="8" name="card-133"/>
          <p:cNvSpPr/>
          <p:nvPr/>
        </p:nvSpPr>
        <p:spPr>
          <a:xfrm>
            <a:off x="3291840" y="1097280"/>
            <a:ext cx="2651760" cy="3474720"/>
          </a:xfrm>
          <a:prstGeom prst="roundRect">
            <a:avLst>
              <a:gd name="adj" fmla="val 275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badge-134"/>
          <p:cNvSpPr/>
          <p:nvPr/>
        </p:nvSpPr>
        <p:spPr>
          <a:xfrm>
            <a:off x="3474720" y="1216152"/>
            <a:ext cx="457200" cy="457200"/>
          </a:xfrm>
          <a:prstGeom prst="ellipse">
            <a:avLst/>
          </a:prstGeom>
          <a:solidFill>
            <a:schemeClr val="accent1"/>
          </a:solidFill>
          <a:ln w="12700">
            <a:solidFill>
              <a:schemeClr val="accent1"/>
            </a:solidFill>
            <a:prstDash val="solid"/>
          </a:ln>
        </p:spPr>
      </p:sp>
      <p:pic>
        <p:nvPicPr>
          <p:cNvPr id="10" name="icon-135" descr="preencoded.png">    </p:cNvPr>
          <p:cNvPicPr>
            <a:picLocks noChangeAspect="1"/>
          </p:cNvPicPr>
          <p:nvPr/>
        </p:nvPicPr>
        <p:blipFill>
          <a:blip r:embed="rId2"/>
          <a:stretch>
            <a:fillRect/>
          </a:stretch>
        </p:blipFill>
        <p:spPr>
          <a:xfrm>
            <a:off x="3593592" y="1335024"/>
            <a:ext cx="219456" cy="219456"/>
          </a:xfrm>
          <a:prstGeom prst="rect">
            <a:avLst/>
          </a:prstGeom>
        </p:spPr>
      </p:pic>
      <p:sp>
        <p:nvSpPr>
          <p:cNvPr id="11" name="text-136"/>
          <p:cNvSpPr txBox="1"/>
          <p:nvPr/>
        </p:nvSpPr>
        <p:spPr>
          <a:xfrm>
            <a:off x="4069080" y="1216152"/>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Agile prototyping</a:t>
            </a:r>
            <a:endParaRPr lang="en-US" sz="1500" dirty="0"/>
          </a:p>
        </p:txBody>
      </p:sp>
      <p:sp>
        <p:nvSpPr>
          <p:cNvPr id="12" name="card-137"/>
          <p:cNvSpPr/>
          <p:nvPr/>
        </p:nvSpPr>
        <p:spPr>
          <a:xfrm>
            <a:off x="6126480" y="1097280"/>
            <a:ext cx="2651760" cy="3474720"/>
          </a:xfrm>
          <a:prstGeom prst="roundRect">
            <a:avLst>
              <a:gd name="adj" fmla="val 275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badge-138"/>
          <p:cNvSpPr/>
          <p:nvPr/>
        </p:nvSpPr>
        <p:spPr>
          <a:xfrm>
            <a:off x="6309360" y="1216152"/>
            <a:ext cx="457200" cy="457200"/>
          </a:xfrm>
          <a:prstGeom prst="ellipse">
            <a:avLst/>
          </a:prstGeom>
          <a:solidFill>
            <a:schemeClr val="accent4"/>
          </a:solidFill>
          <a:ln w="12700">
            <a:solidFill>
              <a:schemeClr val="accent4"/>
            </a:solidFill>
            <a:prstDash val="solid"/>
          </a:ln>
        </p:spPr>
      </p:sp>
      <p:pic>
        <p:nvPicPr>
          <p:cNvPr id="14" name="icon-139" descr="preencoded.png">    </p:cNvPr>
          <p:cNvPicPr>
            <a:picLocks noChangeAspect="1"/>
          </p:cNvPicPr>
          <p:nvPr/>
        </p:nvPicPr>
        <p:blipFill>
          <a:blip r:embed="rId3"/>
          <a:stretch>
            <a:fillRect/>
          </a:stretch>
        </p:blipFill>
        <p:spPr>
          <a:xfrm>
            <a:off x="6428232" y="1335024"/>
            <a:ext cx="219456" cy="219456"/>
          </a:xfrm>
          <a:prstGeom prst="rect">
            <a:avLst/>
          </a:prstGeom>
        </p:spPr>
      </p:pic>
      <p:sp>
        <p:nvSpPr>
          <p:cNvPr id="15" name="text-140"/>
          <p:cNvSpPr txBox="1"/>
          <p:nvPr/>
        </p:nvSpPr>
        <p:spPr>
          <a:xfrm>
            <a:off x="6903720" y="1216152"/>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Risks and mitigation</a:t>
            </a:r>
            <a:endParaRPr lang="en-US" sz="1500" dirty="0"/>
          </a:p>
        </p:txBody>
      </p:sp>
      <p:sp>
        <p:nvSpPr>
          <p:cNvPr id="16" name="text-141"/>
          <p:cNvSpPr txBox="1"/>
          <p:nvPr/>
        </p:nvSpPr>
        <p:spPr>
          <a:xfrm>
            <a:off x="640080" y="1874520"/>
            <a:ext cx="731520" cy="548640"/>
          </a:xfrm>
          <a:prstGeom prst="rect">
            <a:avLst/>
          </a:prstGeom>
          <a:noFill/>
          <a:ln/>
        </p:spPr>
        <p:txBody>
          <a:bodyPr wrap="square" lIns="0" tIns="0" rIns="0" bIns="0" rtlCol="0" anchor="ctr"/>
          <a:lstStyle/>
          <a:p>
            <a:pPr indent="0" marL="0">
              <a:buNone/>
            </a:pPr>
            <a:r>
              <a:rPr lang="en-US" sz="1400" b="1" dirty="0">
                <a:solidFill>
                  <a:schemeClr val="accent2"/>
                </a:solidFill>
              </a:rPr>
              <a:t>Wk 1</a:t>
            </a:r>
            <a:endParaRPr lang="en-US" sz="1400" dirty="0"/>
          </a:p>
        </p:txBody>
      </p:sp>
      <p:sp>
        <p:nvSpPr>
          <p:cNvPr id="17" name="text-142"/>
          <p:cNvSpPr txBox="1"/>
          <p:nvPr/>
        </p:nvSpPr>
        <p:spPr>
          <a:xfrm>
            <a:off x="1371600" y="1874520"/>
            <a:ext cx="1645920" cy="548640"/>
          </a:xfrm>
          <a:prstGeom prst="rect">
            <a:avLst/>
          </a:prstGeom>
          <a:noFill/>
          <a:ln/>
        </p:spPr>
        <p:txBody>
          <a:bodyPr wrap="square" lIns="0" tIns="0" rIns="0" bIns="0" rtlCol="0" anchor="ctr"/>
          <a:lstStyle/>
          <a:p>
            <a:pPr indent="0" marL="0">
              <a:buNone/>
            </a:pPr>
            <a:r>
              <a:rPr lang="en-US" sz="1400" dirty="0">
                <a:solidFill>
                  <a:schemeClr val="tx1"/>
                </a:solidFill>
              </a:rPr>
              <a:t>Requirements, DB design</a:t>
            </a:r>
            <a:endParaRPr lang="en-US" sz="1400" dirty="0"/>
          </a:p>
        </p:txBody>
      </p:sp>
      <p:sp>
        <p:nvSpPr>
          <p:cNvPr id="18" name="text-143"/>
          <p:cNvSpPr txBox="1"/>
          <p:nvPr/>
        </p:nvSpPr>
        <p:spPr>
          <a:xfrm>
            <a:off x="640080" y="2532888"/>
            <a:ext cx="731520" cy="548640"/>
          </a:xfrm>
          <a:prstGeom prst="rect">
            <a:avLst/>
          </a:prstGeom>
          <a:noFill/>
          <a:ln/>
        </p:spPr>
        <p:txBody>
          <a:bodyPr wrap="square" lIns="0" tIns="0" rIns="0" bIns="0" rtlCol="0" anchor="ctr"/>
          <a:lstStyle/>
          <a:p>
            <a:pPr indent="0" marL="0">
              <a:buNone/>
            </a:pPr>
            <a:r>
              <a:rPr lang="en-US" sz="1400" b="1" dirty="0">
                <a:solidFill>
                  <a:schemeClr val="accent2"/>
                </a:solidFill>
              </a:rPr>
              <a:t>Wk 2</a:t>
            </a:r>
            <a:endParaRPr lang="en-US" sz="1400" dirty="0"/>
          </a:p>
        </p:txBody>
      </p:sp>
      <p:sp>
        <p:nvSpPr>
          <p:cNvPr id="19" name="text-144"/>
          <p:cNvSpPr txBox="1"/>
          <p:nvPr/>
        </p:nvSpPr>
        <p:spPr>
          <a:xfrm>
            <a:off x="1371600" y="2532888"/>
            <a:ext cx="1645920" cy="548640"/>
          </a:xfrm>
          <a:prstGeom prst="rect">
            <a:avLst/>
          </a:prstGeom>
          <a:noFill/>
          <a:ln/>
        </p:spPr>
        <p:txBody>
          <a:bodyPr wrap="square" lIns="0" tIns="0" rIns="0" bIns="0" rtlCol="0" anchor="ctr"/>
          <a:lstStyle/>
          <a:p>
            <a:pPr indent="0" marL="0">
              <a:buNone/>
            </a:pPr>
            <a:r>
              <a:rPr lang="en-US" sz="1400" dirty="0">
                <a:solidFill>
                  <a:schemeClr val="tx1"/>
                </a:solidFill>
              </a:rPr>
              <a:t>React frontend</a:t>
            </a:r>
            <a:endParaRPr lang="en-US" sz="1400" dirty="0"/>
          </a:p>
        </p:txBody>
      </p:sp>
      <p:sp>
        <p:nvSpPr>
          <p:cNvPr id="20" name="text-145"/>
          <p:cNvSpPr txBox="1"/>
          <p:nvPr/>
        </p:nvSpPr>
        <p:spPr>
          <a:xfrm>
            <a:off x="640080" y="3191256"/>
            <a:ext cx="731520" cy="548640"/>
          </a:xfrm>
          <a:prstGeom prst="rect">
            <a:avLst/>
          </a:prstGeom>
          <a:noFill/>
          <a:ln/>
        </p:spPr>
        <p:txBody>
          <a:bodyPr wrap="square" lIns="0" tIns="0" rIns="0" bIns="0" rtlCol="0" anchor="ctr"/>
          <a:lstStyle/>
          <a:p>
            <a:pPr indent="0" marL="0">
              <a:buNone/>
            </a:pPr>
            <a:r>
              <a:rPr lang="en-US" sz="1400" b="1" dirty="0">
                <a:solidFill>
                  <a:schemeClr val="accent2"/>
                </a:solidFill>
              </a:rPr>
              <a:t>Wk 3–4</a:t>
            </a:r>
            <a:endParaRPr lang="en-US" sz="1400" dirty="0"/>
          </a:p>
        </p:txBody>
      </p:sp>
      <p:sp>
        <p:nvSpPr>
          <p:cNvPr id="21" name="text-146"/>
          <p:cNvSpPr txBox="1"/>
          <p:nvPr/>
        </p:nvSpPr>
        <p:spPr>
          <a:xfrm>
            <a:off x="1371600" y="3191256"/>
            <a:ext cx="1645920" cy="548640"/>
          </a:xfrm>
          <a:prstGeom prst="rect">
            <a:avLst/>
          </a:prstGeom>
          <a:noFill/>
          <a:ln/>
        </p:spPr>
        <p:txBody>
          <a:bodyPr wrap="square" lIns="0" tIns="0" rIns="0" bIns="0" rtlCol="0" anchor="ctr"/>
          <a:lstStyle/>
          <a:p>
            <a:pPr indent="0" marL="0">
              <a:buNone/>
            </a:pPr>
            <a:r>
              <a:rPr lang="en-US" sz="1400" dirty="0">
                <a:solidFill>
                  <a:schemeClr val="tx1"/>
                </a:solidFill>
              </a:rPr>
              <a:t>Express API, uploads</a:t>
            </a:r>
            <a:endParaRPr lang="en-US" sz="1400" dirty="0"/>
          </a:p>
        </p:txBody>
      </p:sp>
      <p:sp>
        <p:nvSpPr>
          <p:cNvPr id="22" name="text-147"/>
          <p:cNvSpPr txBox="1"/>
          <p:nvPr/>
        </p:nvSpPr>
        <p:spPr>
          <a:xfrm>
            <a:off x="640080" y="3849624"/>
            <a:ext cx="731520" cy="548640"/>
          </a:xfrm>
          <a:prstGeom prst="rect">
            <a:avLst/>
          </a:prstGeom>
          <a:noFill/>
          <a:ln/>
        </p:spPr>
        <p:txBody>
          <a:bodyPr wrap="square" lIns="0" tIns="0" rIns="0" bIns="0" rtlCol="0" anchor="ctr"/>
          <a:lstStyle/>
          <a:p>
            <a:pPr indent="0" marL="0">
              <a:buNone/>
            </a:pPr>
            <a:r>
              <a:rPr lang="en-US" sz="1400" b="1" dirty="0">
                <a:solidFill>
                  <a:schemeClr val="accent2"/>
                </a:solidFill>
              </a:rPr>
              <a:t>Wk 5</a:t>
            </a:r>
            <a:endParaRPr lang="en-US" sz="1400" dirty="0"/>
          </a:p>
        </p:txBody>
      </p:sp>
      <p:sp>
        <p:nvSpPr>
          <p:cNvPr id="23" name="text-148"/>
          <p:cNvSpPr txBox="1"/>
          <p:nvPr/>
        </p:nvSpPr>
        <p:spPr>
          <a:xfrm>
            <a:off x="1371600" y="3849624"/>
            <a:ext cx="1645920" cy="548640"/>
          </a:xfrm>
          <a:prstGeom prst="rect">
            <a:avLst/>
          </a:prstGeom>
          <a:noFill/>
          <a:ln/>
        </p:spPr>
        <p:txBody>
          <a:bodyPr wrap="square" lIns="0" tIns="0" rIns="0" bIns="0" rtlCol="0" anchor="ctr"/>
          <a:lstStyle/>
          <a:p>
            <a:pPr indent="0" marL="0">
              <a:buNone/>
            </a:pPr>
            <a:r>
              <a:rPr lang="en-US" sz="1400" dirty="0">
                <a:solidFill>
                  <a:schemeClr val="tx1"/>
                </a:solidFill>
              </a:rPr>
              <a:t>QA and documentation</a:t>
            </a:r>
            <a:endParaRPr lang="en-US" sz="1400" dirty="0"/>
          </a:p>
        </p:txBody>
      </p:sp>
      <p:sp>
        <p:nvSpPr>
          <p:cNvPr id="24" name="text-149"/>
          <p:cNvSpPr txBox="1"/>
          <p:nvPr/>
        </p:nvSpPr>
        <p:spPr>
          <a:xfrm>
            <a:off x="3474720" y="1874520"/>
            <a:ext cx="2286000" cy="2560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Short iterative cycles</a:t>
            </a:r>
            <a:endParaRPr lang="en-US" sz="1400" dirty="0"/>
          </a:p>
          <a:p>
            <a:pPr marL="342900" indent="-342900">
              <a:spcAft>
                <a:spcPts val="400"/>
              </a:spcAft>
              <a:buSzPct val="100000"/>
              <a:buChar char="•"/>
            </a:pPr>
            <a:r>
              <a:rPr lang="en-US" sz="1400" dirty="0">
                <a:solidFill>
                  <a:schemeClr val="tx1"/>
                </a:solidFill>
              </a:rPr>
              <a:t>Components reviewed and adjusted early</a:t>
            </a:r>
            <a:endParaRPr lang="en-US" sz="1400" dirty="0"/>
          </a:p>
          <a:p>
            <a:pPr marL="342900" indent="-342900">
              <a:spcAft>
                <a:spcPts val="400"/>
              </a:spcAft>
              <a:buSzPct val="100000"/>
              <a:buChar char="•"/>
            </a:pPr>
            <a:r>
              <a:rPr lang="en-US" sz="1400" dirty="0">
                <a:solidFill>
                  <a:schemeClr val="tx1"/>
                </a:solidFill>
              </a:rPr>
              <a:t>Waterfall rejected: it freezes requirements too soon</a:t>
            </a:r>
            <a:endParaRPr lang="en-US" sz="1400" dirty="0"/>
          </a:p>
        </p:txBody>
      </p:sp>
      <p:sp>
        <p:nvSpPr>
          <p:cNvPr id="25" name="text-150"/>
          <p:cNvSpPr txBox="1"/>
          <p:nvPr/>
        </p:nvSpPr>
        <p:spPr>
          <a:xfrm>
            <a:off x="6309360" y="1874520"/>
            <a:ext cx="2286000" cy="777240"/>
          </a:xfrm>
          <a:prstGeom prst="rect">
            <a:avLst/>
          </a:prstGeom>
          <a:noFill/>
          <a:ln/>
        </p:spPr>
        <p:txBody>
          <a:bodyPr wrap="square" lIns="0" tIns="0" rIns="0" bIns="0" rtlCol="0" anchor="t"/>
          <a:lstStyle/>
          <a:p>
            <a:pPr indent="0" marL="0">
              <a:buNone/>
            </a:pPr>
            <a:r>
              <a:rPr lang="en-US" sz="1400" b="1" dirty="0">
                <a:solidFill>
                  <a:schemeClr val="accent4"/>
                </a:solidFill>
              </a:rPr>
              <a:t>Amharic sorting</a:t>
            </a:r>
            <a:endParaRPr lang="en-US" sz="1400" dirty="0"/>
          </a:p>
          <a:p>
            <a:pPr indent="0" marL="0">
              <a:buNone/>
            </a:pPr>
            <a:r>
              <a:rPr lang="en-US" sz="1400" dirty="0">
                <a:solidFill>
                  <a:schemeClr val="tx1"/>
                </a:solidFill>
              </a:rPr>
              <a:t>→ utf8mb4_unicode_ci</a:t>
            </a:r>
            <a:endParaRPr lang="en-US" sz="1400" dirty="0"/>
          </a:p>
        </p:txBody>
      </p:sp>
      <p:sp>
        <p:nvSpPr>
          <p:cNvPr id="26" name="text-151"/>
          <p:cNvSpPr txBox="1"/>
          <p:nvPr/>
        </p:nvSpPr>
        <p:spPr>
          <a:xfrm>
            <a:off x="6309360" y="2743200"/>
            <a:ext cx="2286000" cy="777240"/>
          </a:xfrm>
          <a:prstGeom prst="rect">
            <a:avLst/>
          </a:prstGeom>
          <a:noFill/>
          <a:ln/>
        </p:spPr>
        <p:txBody>
          <a:bodyPr wrap="square" lIns="0" tIns="0" rIns="0" bIns="0" rtlCol="0" anchor="t"/>
          <a:lstStyle/>
          <a:p>
            <a:pPr indent="0" marL="0">
              <a:buNone/>
            </a:pPr>
            <a:r>
              <a:rPr lang="en-US" sz="1400" b="1" dirty="0">
                <a:solidFill>
                  <a:schemeClr val="accent4"/>
                </a:solidFill>
              </a:rPr>
              <a:t>Malicious uploads</a:t>
            </a:r>
            <a:endParaRPr lang="en-US" sz="1400" dirty="0"/>
          </a:p>
          <a:p>
            <a:pPr indent="0" marL="0">
              <a:buNone/>
            </a:pPr>
            <a:r>
              <a:rPr lang="en-US" sz="1400" dirty="0">
                <a:solidFill>
                  <a:schemeClr val="tx1"/>
                </a:solidFill>
              </a:rPr>
              <a:t>→ Multer type checks</a:t>
            </a:r>
            <a:endParaRPr lang="en-US" sz="1400" dirty="0"/>
          </a:p>
        </p:txBody>
      </p:sp>
      <p:sp>
        <p:nvSpPr>
          <p:cNvPr id="27" name="text-152"/>
          <p:cNvSpPr txBox="1"/>
          <p:nvPr/>
        </p:nvSpPr>
        <p:spPr>
          <a:xfrm>
            <a:off x="6309360" y="3611880"/>
            <a:ext cx="2286000" cy="777240"/>
          </a:xfrm>
          <a:prstGeom prst="rect">
            <a:avLst/>
          </a:prstGeom>
          <a:noFill/>
          <a:ln/>
        </p:spPr>
        <p:txBody>
          <a:bodyPr wrap="square" lIns="0" tIns="0" rIns="0" bIns="0" rtlCol="0" anchor="t"/>
          <a:lstStyle/>
          <a:p>
            <a:pPr indent="0" marL="0">
              <a:buNone/>
            </a:pPr>
            <a:r>
              <a:rPr lang="en-US" sz="1400" b="1" dirty="0">
                <a:solidFill>
                  <a:schemeClr val="accent4"/>
                </a:solidFill>
              </a:rPr>
              <a:t>Admin URL bypass</a:t>
            </a:r>
            <a:endParaRPr lang="en-US" sz="1400" dirty="0"/>
          </a:p>
          <a:p>
            <a:pPr indent="0" marL="0">
              <a:buNone/>
            </a:pPr>
            <a:r>
              <a:rPr lang="en-US" sz="1400" dirty="0">
                <a:solidFill>
                  <a:schemeClr val="tx1"/>
                </a:solidFill>
              </a:rPr>
              <a:t>→ Server route guard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Existing system vs proposed system</a:t>
            </a:r>
            <a:endParaRPr lang="en-US" sz="3000" dirty="0"/>
          </a:p>
        </p:txBody>
      </p:sp>
      <p:sp>
        <p:nvSpPr>
          <p:cNvPr id="4" name="card-153"/>
          <p:cNvSpPr/>
          <p:nvPr/>
        </p:nvSpPr>
        <p:spPr>
          <a:xfrm>
            <a:off x="457200" y="1097280"/>
            <a:ext cx="3931920" cy="3474720"/>
          </a:xfrm>
          <a:prstGeom prst="roundRect">
            <a:avLst>
              <a:gd name="adj" fmla="val 210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card-154"/>
          <p:cNvSpPr/>
          <p:nvPr/>
        </p:nvSpPr>
        <p:spPr>
          <a:xfrm>
            <a:off x="4754880" y="1097280"/>
            <a:ext cx="3931920" cy="3474720"/>
          </a:xfrm>
          <a:prstGeom prst="roundRect">
            <a:avLst>
              <a:gd name="adj" fmla="val 210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hdr-155"/>
          <p:cNvSpPr/>
          <p:nvPr/>
        </p:nvSpPr>
        <p:spPr>
          <a:xfrm>
            <a:off x="457200" y="1097280"/>
            <a:ext cx="3931920" cy="548640"/>
          </a:xfrm>
          <a:prstGeom prst="roundRect">
            <a:avLst>
              <a:gd name="adj" fmla="val 13333"/>
            </a:avLst>
          </a:prstGeom>
          <a:solidFill>
            <a:schemeClr val="accent4"/>
          </a:solidFill>
          <a:ln w="12700">
            <a:solidFill>
              <a:schemeClr val="accent4"/>
            </a:solidFill>
            <a:prstDash val="solid"/>
          </a:ln>
        </p:spPr>
      </p:sp>
      <p:sp>
        <p:nvSpPr>
          <p:cNvPr id="7" name="hdr-156"/>
          <p:cNvSpPr/>
          <p:nvPr/>
        </p:nvSpPr>
        <p:spPr>
          <a:xfrm>
            <a:off x="4754880" y="1097280"/>
            <a:ext cx="3931920" cy="548640"/>
          </a:xfrm>
          <a:prstGeom prst="roundRect">
            <a:avLst>
              <a:gd name="adj" fmla="val 13333"/>
            </a:avLst>
          </a:prstGeom>
          <a:solidFill>
            <a:schemeClr val="accent3"/>
          </a:solidFill>
          <a:ln w="12700">
            <a:solidFill>
              <a:schemeClr val="accent3"/>
            </a:solidFill>
            <a:prstDash val="solid"/>
          </a:ln>
        </p:spPr>
      </p:sp>
      <p:sp>
        <p:nvSpPr>
          <p:cNvPr id="8" name="text-157"/>
          <p:cNvSpPr txBox="1"/>
          <p:nvPr/>
        </p:nvSpPr>
        <p:spPr>
          <a:xfrm>
            <a:off x="640080" y="1097280"/>
            <a:ext cx="3566160" cy="548640"/>
          </a:xfrm>
          <a:prstGeom prst="rect">
            <a:avLst/>
          </a:prstGeom>
          <a:noFill/>
          <a:ln/>
        </p:spPr>
        <p:txBody>
          <a:bodyPr wrap="square" lIns="0" tIns="0" rIns="0" bIns="0" rtlCol="0" anchor="ctr"/>
          <a:lstStyle/>
          <a:p>
            <a:pPr indent="0" marL="0">
              <a:buNone/>
            </a:pPr>
            <a:r>
              <a:rPr lang="en-US" sz="1600" b="1" dirty="0">
                <a:solidFill>
                  <a:schemeClr val="bg1"/>
                </a:solidFill>
              </a:rPr>
              <a:t>Today: manual and fragmented</a:t>
            </a:r>
            <a:endParaRPr lang="en-US" sz="1600" dirty="0"/>
          </a:p>
        </p:txBody>
      </p:sp>
      <p:sp>
        <p:nvSpPr>
          <p:cNvPr id="9" name="text-158"/>
          <p:cNvSpPr txBox="1"/>
          <p:nvPr/>
        </p:nvSpPr>
        <p:spPr>
          <a:xfrm>
            <a:off x="4937760" y="1097280"/>
            <a:ext cx="3566160" cy="548640"/>
          </a:xfrm>
          <a:prstGeom prst="rect">
            <a:avLst/>
          </a:prstGeom>
          <a:noFill/>
          <a:ln/>
        </p:spPr>
        <p:txBody>
          <a:bodyPr wrap="square" lIns="0" tIns="0" rIns="0" bIns="0" rtlCol="0" anchor="ctr"/>
          <a:lstStyle/>
          <a:p>
            <a:pPr indent="0" marL="0">
              <a:buNone/>
            </a:pPr>
            <a:r>
              <a:rPr lang="en-US" sz="1600" b="1" dirty="0">
                <a:solidFill>
                  <a:schemeClr val="bg1"/>
                </a:solidFill>
              </a:rPr>
              <a:t>Proposed: ESS-INAP portal</a:t>
            </a:r>
            <a:endParaRPr lang="en-US" sz="1600" dirty="0"/>
          </a:p>
        </p:txBody>
      </p:sp>
      <p:pic>
        <p:nvPicPr>
          <p:cNvPr id="10" name="icon-159" descr="preencoded.png">    </p:cNvPr>
          <p:cNvPicPr>
            <a:picLocks noChangeAspect="1"/>
          </p:cNvPicPr>
          <p:nvPr/>
        </p:nvPicPr>
        <p:blipFill>
          <a:blip r:embed="rId1"/>
          <a:stretch>
            <a:fillRect/>
          </a:stretch>
        </p:blipFill>
        <p:spPr>
          <a:xfrm>
            <a:off x="640080" y="1920240"/>
            <a:ext cx="237744" cy="237744"/>
          </a:xfrm>
          <a:prstGeom prst="rect">
            <a:avLst/>
          </a:prstGeom>
        </p:spPr>
      </p:pic>
      <p:sp>
        <p:nvSpPr>
          <p:cNvPr id="11" name="text-160"/>
          <p:cNvSpPr txBox="1"/>
          <p:nvPr/>
        </p:nvSpPr>
        <p:spPr>
          <a:xfrm>
            <a:off x="1005840" y="1828800"/>
            <a:ext cx="3291840" cy="411480"/>
          </a:xfrm>
          <a:prstGeom prst="rect">
            <a:avLst/>
          </a:prstGeom>
          <a:noFill/>
          <a:ln/>
        </p:spPr>
        <p:txBody>
          <a:bodyPr wrap="square" lIns="0" tIns="0" rIns="0" bIns="0" rtlCol="0" anchor="ctr"/>
          <a:lstStyle/>
          <a:p>
            <a:pPr indent="0" marL="0">
              <a:buNone/>
            </a:pPr>
            <a:r>
              <a:rPr lang="en-US" sz="1400" dirty="0">
                <a:solidFill>
                  <a:schemeClr val="tx1"/>
                </a:solidFill>
              </a:rPr>
              <a:t>Memos, email lists, word of mouth</a:t>
            </a:r>
            <a:endParaRPr lang="en-US" sz="1400" dirty="0"/>
          </a:p>
        </p:txBody>
      </p:sp>
      <p:pic>
        <p:nvPicPr>
          <p:cNvPr id="12" name="icon-161" descr="preencoded.png">    </p:cNvPr>
          <p:cNvPicPr>
            <a:picLocks noChangeAspect="1"/>
          </p:cNvPicPr>
          <p:nvPr/>
        </p:nvPicPr>
        <p:blipFill>
          <a:blip r:embed="rId2"/>
          <a:stretch>
            <a:fillRect/>
          </a:stretch>
        </p:blipFill>
        <p:spPr>
          <a:xfrm>
            <a:off x="4937760" y="1920240"/>
            <a:ext cx="237744" cy="237744"/>
          </a:xfrm>
          <a:prstGeom prst="rect">
            <a:avLst/>
          </a:prstGeom>
        </p:spPr>
      </p:pic>
      <p:sp>
        <p:nvSpPr>
          <p:cNvPr id="13" name="text-162"/>
          <p:cNvSpPr txBox="1"/>
          <p:nvPr/>
        </p:nvSpPr>
        <p:spPr>
          <a:xfrm>
            <a:off x="5303520" y="1828800"/>
            <a:ext cx="3291840" cy="411480"/>
          </a:xfrm>
          <a:prstGeom prst="rect">
            <a:avLst/>
          </a:prstGeom>
          <a:noFill/>
          <a:ln/>
        </p:spPr>
        <p:txBody>
          <a:bodyPr wrap="square" lIns="0" tIns="0" rIns="0" bIns="0" rtlCol="0" anchor="ctr"/>
          <a:lstStyle/>
          <a:p>
            <a:pPr indent="0" marL="0">
              <a:buNone/>
            </a:pPr>
            <a:r>
              <a:rPr lang="en-US" sz="1400" dirty="0">
                <a:solidFill>
                  <a:schemeClr val="tx1"/>
                </a:solidFill>
              </a:rPr>
              <a:t>One official web portal</a:t>
            </a:r>
            <a:endParaRPr lang="en-US" sz="1400" dirty="0"/>
          </a:p>
        </p:txBody>
      </p:sp>
      <p:pic>
        <p:nvPicPr>
          <p:cNvPr id="14" name="icon-163" descr="preencoded.png">    </p:cNvPr>
          <p:cNvPicPr>
            <a:picLocks noChangeAspect="1"/>
          </p:cNvPicPr>
          <p:nvPr/>
        </p:nvPicPr>
        <p:blipFill>
          <a:blip r:embed="rId3"/>
          <a:stretch>
            <a:fillRect/>
          </a:stretch>
        </p:blipFill>
        <p:spPr>
          <a:xfrm>
            <a:off x="640080" y="2450592"/>
            <a:ext cx="237744" cy="237744"/>
          </a:xfrm>
          <a:prstGeom prst="rect">
            <a:avLst/>
          </a:prstGeom>
        </p:spPr>
      </p:pic>
      <p:sp>
        <p:nvSpPr>
          <p:cNvPr id="15" name="text-164"/>
          <p:cNvSpPr txBox="1"/>
          <p:nvPr/>
        </p:nvSpPr>
        <p:spPr>
          <a:xfrm>
            <a:off x="1005840" y="2359152"/>
            <a:ext cx="3291840" cy="411480"/>
          </a:xfrm>
          <a:prstGeom prst="rect">
            <a:avLst/>
          </a:prstGeom>
          <a:noFill/>
          <a:ln/>
        </p:spPr>
        <p:txBody>
          <a:bodyPr wrap="square" lIns="0" tIns="0" rIns="0" bIns="0" rtlCol="0" anchor="ctr"/>
          <a:lstStyle/>
          <a:p>
            <a:pPr indent="0" marL="0">
              <a:buNone/>
            </a:pPr>
            <a:r>
              <a:rPr lang="en-US" sz="1400" dirty="0">
                <a:solidFill>
                  <a:schemeClr val="tx1"/>
                </a:solidFill>
              </a:rPr>
              <a:t>No central, searchable archive</a:t>
            </a:r>
            <a:endParaRPr lang="en-US" sz="1400" dirty="0"/>
          </a:p>
        </p:txBody>
      </p:sp>
      <p:pic>
        <p:nvPicPr>
          <p:cNvPr id="16" name="icon-165" descr="preencoded.png">    </p:cNvPr>
          <p:cNvPicPr>
            <a:picLocks noChangeAspect="1"/>
          </p:cNvPicPr>
          <p:nvPr/>
        </p:nvPicPr>
        <p:blipFill>
          <a:blip r:embed="rId4"/>
          <a:stretch>
            <a:fillRect/>
          </a:stretch>
        </p:blipFill>
        <p:spPr>
          <a:xfrm>
            <a:off x="4937760" y="2450592"/>
            <a:ext cx="237744" cy="237744"/>
          </a:xfrm>
          <a:prstGeom prst="rect">
            <a:avLst/>
          </a:prstGeom>
        </p:spPr>
      </p:pic>
      <p:sp>
        <p:nvSpPr>
          <p:cNvPr id="17" name="text-166"/>
          <p:cNvSpPr txBox="1"/>
          <p:nvPr/>
        </p:nvSpPr>
        <p:spPr>
          <a:xfrm>
            <a:off x="5303520" y="2359152"/>
            <a:ext cx="3291840" cy="411480"/>
          </a:xfrm>
          <a:prstGeom prst="rect">
            <a:avLst/>
          </a:prstGeom>
          <a:noFill/>
          <a:ln/>
        </p:spPr>
        <p:txBody>
          <a:bodyPr wrap="square" lIns="0" tIns="0" rIns="0" bIns="0" rtlCol="0" anchor="ctr"/>
          <a:lstStyle/>
          <a:p>
            <a:pPr indent="0" marL="0">
              <a:buNone/>
            </a:pPr>
            <a:r>
              <a:rPr lang="en-US" sz="1400" dirty="0">
                <a:solidFill>
                  <a:schemeClr val="tx1"/>
                </a:solidFill>
              </a:rPr>
              <a:t>Searchable archive, newest first</a:t>
            </a:r>
            <a:endParaRPr lang="en-US" sz="1400" dirty="0"/>
          </a:p>
        </p:txBody>
      </p:sp>
      <p:pic>
        <p:nvPicPr>
          <p:cNvPr id="18" name="icon-167" descr="preencoded.png">    </p:cNvPr>
          <p:cNvPicPr>
            <a:picLocks noChangeAspect="1"/>
          </p:cNvPicPr>
          <p:nvPr/>
        </p:nvPicPr>
        <p:blipFill>
          <a:blip r:embed="rId5"/>
          <a:stretch>
            <a:fillRect/>
          </a:stretch>
        </p:blipFill>
        <p:spPr>
          <a:xfrm>
            <a:off x="640080" y="2980944"/>
            <a:ext cx="237744" cy="237744"/>
          </a:xfrm>
          <a:prstGeom prst="rect">
            <a:avLst/>
          </a:prstGeom>
        </p:spPr>
      </p:pic>
      <p:sp>
        <p:nvSpPr>
          <p:cNvPr id="19" name="text-168"/>
          <p:cNvSpPr txBox="1"/>
          <p:nvPr/>
        </p:nvSpPr>
        <p:spPr>
          <a:xfrm>
            <a:off x="1005840" y="2889504"/>
            <a:ext cx="3291840" cy="411480"/>
          </a:xfrm>
          <a:prstGeom prst="rect">
            <a:avLst/>
          </a:prstGeom>
          <a:noFill/>
          <a:ln/>
        </p:spPr>
        <p:txBody>
          <a:bodyPr wrap="square" lIns="0" tIns="0" rIns="0" bIns="0" rtlCol="0" anchor="ctr"/>
          <a:lstStyle/>
          <a:p>
            <a:pPr indent="0" marL="0">
              <a:buNone/>
            </a:pPr>
            <a:r>
              <a:rPr lang="en-US" sz="1400" dirty="0">
                <a:solidFill>
                  <a:schemeClr val="tx1"/>
                </a:solidFill>
              </a:rPr>
              <a:t>Unclear, unequal visibility of notices</a:t>
            </a:r>
            <a:endParaRPr lang="en-US" sz="1400" dirty="0"/>
          </a:p>
        </p:txBody>
      </p:sp>
      <p:pic>
        <p:nvPicPr>
          <p:cNvPr id="20" name="icon-169" descr="preencoded.png">    </p:cNvPr>
          <p:cNvPicPr>
            <a:picLocks noChangeAspect="1"/>
          </p:cNvPicPr>
          <p:nvPr/>
        </p:nvPicPr>
        <p:blipFill>
          <a:blip r:embed="rId6"/>
          <a:stretch>
            <a:fillRect/>
          </a:stretch>
        </p:blipFill>
        <p:spPr>
          <a:xfrm>
            <a:off x="4937760" y="2980944"/>
            <a:ext cx="237744" cy="237744"/>
          </a:xfrm>
          <a:prstGeom prst="rect">
            <a:avLst/>
          </a:prstGeom>
        </p:spPr>
      </p:pic>
      <p:sp>
        <p:nvSpPr>
          <p:cNvPr id="21" name="text-170"/>
          <p:cNvSpPr txBox="1"/>
          <p:nvPr/>
        </p:nvSpPr>
        <p:spPr>
          <a:xfrm>
            <a:off x="5303520" y="2889504"/>
            <a:ext cx="3291840" cy="411480"/>
          </a:xfrm>
          <a:prstGeom prst="rect">
            <a:avLst/>
          </a:prstGeom>
          <a:noFill/>
          <a:ln/>
        </p:spPr>
        <p:txBody>
          <a:bodyPr wrap="square" lIns="0" tIns="0" rIns="0" bIns="0" rtlCol="0" anchor="ctr"/>
          <a:lstStyle/>
          <a:p>
            <a:pPr indent="0" marL="0">
              <a:buNone/>
            </a:pPr>
            <a:r>
              <a:rPr lang="en-US" sz="1400" dirty="0">
                <a:solidFill>
                  <a:schemeClr val="tx1"/>
                </a:solidFill>
              </a:rPr>
              <a:t>Same content for everyone, posts attributed</a:t>
            </a:r>
            <a:endParaRPr lang="en-US" sz="1400" dirty="0"/>
          </a:p>
        </p:txBody>
      </p:sp>
      <p:pic>
        <p:nvPicPr>
          <p:cNvPr id="22" name="icon-171" descr="preencoded.png">    </p:cNvPr>
          <p:cNvPicPr>
            <a:picLocks noChangeAspect="1"/>
          </p:cNvPicPr>
          <p:nvPr/>
        </p:nvPicPr>
        <p:blipFill>
          <a:blip r:embed="rId7"/>
          <a:stretch>
            <a:fillRect/>
          </a:stretch>
        </p:blipFill>
        <p:spPr>
          <a:xfrm>
            <a:off x="640080" y="3511296"/>
            <a:ext cx="237744" cy="237744"/>
          </a:xfrm>
          <a:prstGeom prst="rect">
            <a:avLst/>
          </a:prstGeom>
        </p:spPr>
      </p:pic>
      <p:sp>
        <p:nvSpPr>
          <p:cNvPr id="23" name="text-172"/>
          <p:cNvSpPr txBox="1"/>
          <p:nvPr/>
        </p:nvSpPr>
        <p:spPr>
          <a:xfrm>
            <a:off x="1005840" y="3419856"/>
            <a:ext cx="3291840" cy="411480"/>
          </a:xfrm>
          <a:prstGeom prst="rect">
            <a:avLst/>
          </a:prstGeom>
          <a:noFill/>
          <a:ln/>
        </p:spPr>
        <p:txBody>
          <a:bodyPr wrap="square" lIns="0" tIns="0" rIns="0" bIns="0" rtlCol="0" anchor="ctr"/>
          <a:lstStyle/>
          <a:p>
            <a:pPr indent="0" marL="0">
              <a:buNone/>
            </a:pPr>
            <a:r>
              <a:rPr lang="en-US" sz="1400" dirty="0">
                <a:solidFill>
                  <a:schemeClr val="tx1"/>
                </a:solidFill>
              </a:rPr>
              <a:t>Manual formatting and photocopying</a:t>
            </a:r>
            <a:endParaRPr lang="en-US" sz="1400" dirty="0"/>
          </a:p>
        </p:txBody>
      </p:sp>
      <p:pic>
        <p:nvPicPr>
          <p:cNvPr id="24" name="icon-173" descr="preencoded.png">    </p:cNvPr>
          <p:cNvPicPr>
            <a:picLocks noChangeAspect="1"/>
          </p:cNvPicPr>
          <p:nvPr/>
        </p:nvPicPr>
        <p:blipFill>
          <a:blip r:embed="rId8"/>
          <a:stretch>
            <a:fillRect/>
          </a:stretch>
        </p:blipFill>
        <p:spPr>
          <a:xfrm>
            <a:off x="4937760" y="3511296"/>
            <a:ext cx="237744" cy="237744"/>
          </a:xfrm>
          <a:prstGeom prst="rect">
            <a:avLst/>
          </a:prstGeom>
        </p:spPr>
      </p:pic>
      <p:sp>
        <p:nvSpPr>
          <p:cNvPr id="25" name="text-174"/>
          <p:cNvSpPr txBox="1"/>
          <p:nvPr/>
        </p:nvSpPr>
        <p:spPr>
          <a:xfrm>
            <a:off x="5303520" y="3419856"/>
            <a:ext cx="3291840" cy="411480"/>
          </a:xfrm>
          <a:prstGeom prst="rect">
            <a:avLst/>
          </a:prstGeom>
          <a:noFill/>
          <a:ln/>
        </p:spPr>
        <p:txBody>
          <a:bodyPr wrap="square" lIns="0" tIns="0" rIns="0" bIns="0" rtlCol="0" anchor="ctr"/>
          <a:lstStyle/>
          <a:p>
            <a:pPr indent="0" marL="0">
              <a:buNone/>
            </a:pPr>
            <a:r>
              <a:rPr lang="en-US" sz="1400" dirty="0">
                <a:solidFill>
                  <a:schemeClr val="tx1"/>
                </a:solidFill>
              </a:rPr>
              <a:t>Admin publishes from a dashboard</a:t>
            </a:r>
            <a:endParaRPr lang="en-US" sz="1400" dirty="0"/>
          </a:p>
        </p:txBody>
      </p:sp>
      <p:pic>
        <p:nvPicPr>
          <p:cNvPr id="26" name="icon-175" descr="preencoded.png">    </p:cNvPr>
          <p:cNvPicPr>
            <a:picLocks noChangeAspect="1"/>
          </p:cNvPicPr>
          <p:nvPr/>
        </p:nvPicPr>
        <p:blipFill>
          <a:blip r:embed="rId9"/>
          <a:stretch>
            <a:fillRect/>
          </a:stretch>
        </p:blipFill>
        <p:spPr>
          <a:xfrm>
            <a:off x="640080" y="4041648"/>
            <a:ext cx="237744" cy="237744"/>
          </a:xfrm>
          <a:prstGeom prst="rect">
            <a:avLst/>
          </a:prstGeom>
        </p:spPr>
      </p:pic>
      <p:sp>
        <p:nvSpPr>
          <p:cNvPr id="27" name="text-176"/>
          <p:cNvSpPr txBox="1"/>
          <p:nvPr/>
        </p:nvSpPr>
        <p:spPr>
          <a:xfrm>
            <a:off x="1005840" y="3950208"/>
            <a:ext cx="3291840" cy="411480"/>
          </a:xfrm>
          <a:prstGeom prst="rect">
            <a:avLst/>
          </a:prstGeom>
          <a:noFill/>
          <a:ln/>
        </p:spPr>
        <p:txBody>
          <a:bodyPr wrap="square" lIns="0" tIns="0" rIns="0" bIns="0" rtlCol="0" anchor="ctr"/>
          <a:lstStyle/>
          <a:p>
            <a:pPr indent="0" marL="0">
              <a:buNone/>
            </a:pPr>
            <a:r>
              <a:rPr lang="en-US" sz="1400" dirty="0">
                <a:solidFill>
                  <a:schemeClr val="tx1"/>
                </a:solidFill>
              </a:rPr>
              <a:t>Regional offices hear last</a:t>
            </a:r>
            <a:endParaRPr lang="en-US" sz="1400" dirty="0"/>
          </a:p>
        </p:txBody>
      </p:sp>
      <p:pic>
        <p:nvPicPr>
          <p:cNvPr id="28" name="icon-177" descr="preencoded.png">    </p:cNvPr>
          <p:cNvPicPr>
            <a:picLocks noChangeAspect="1"/>
          </p:cNvPicPr>
          <p:nvPr/>
        </p:nvPicPr>
        <p:blipFill>
          <a:blip r:embed="rId10"/>
          <a:stretch>
            <a:fillRect/>
          </a:stretch>
        </p:blipFill>
        <p:spPr>
          <a:xfrm>
            <a:off x="4937760" y="4041648"/>
            <a:ext cx="237744" cy="237744"/>
          </a:xfrm>
          <a:prstGeom prst="rect">
            <a:avLst/>
          </a:prstGeom>
        </p:spPr>
      </p:pic>
      <p:sp>
        <p:nvSpPr>
          <p:cNvPr id="29" name="text-178"/>
          <p:cNvSpPr txBox="1"/>
          <p:nvPr/>
        </p:nvSpPr>
        <p:spPr>
          <a:xfrm>
            <a:off x="5303520" y="3950208"/>
            <a:ext cx="3291840" cy="411480"/>
          </a:xfrm>
          <a:prstGeom prst="rect">
            <a:avLst/>
          </a:prstGeom>
          <a:noFill/>
          <a:ln/>
        </p:spPr>
        <p:txBody>
          <a:bodyPr wrap="square" lIns="0" tIns="0" rIns="0" bIns="0" rtlCol="0" anchor="ctr"/>
          <a:lstStyle/>
          <a:p>
            <a:pPr indent="0" marL="0">
              <a:buNone/>
            </a:pPr>
            <a:r>
              <a:rPr lang="en-US" sz="1400" dirty="0">
                <a:solidFill>
                  <a:schemeClr val="tx1"/>
                </a:solidFill>
              </a:rPr>
              <a:t>Instant access from every branch</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System requirements</a:t>
            </a:r>
            <a:endParaRPr lang="en-US" sz="3000" dirty="0"/>
          </a:p>
        </p:txBody>
      </p:sp>
      <p:sp>
        <p:nvSpPr>
          <p:cNvPr id="4" name="card-179"/>
          <p:cNvSpPr/>
          <p:nvPr/>
        </p:nvSpPr>
        <p:spPr>
          <a:xfrm>
            <a:off x="457200" y="1097280"/>
            <a:ext cx="4114800" cy="3474720"/>
          </a:xfrm>
          <a:prstGeom prst="roundRect">
            <a:avLst>
              <a:gd name="adj" fmla="val 210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text-180"/>
          <p:cNvSpPr txBox="1"/>
          <p:nvPr/>
        </p:nvSpPr>
        <p:spPr>
          <a:xfrm>
            <a:off x="640080" y="1188720"/>
            <a:ext cx="3657600" cy="320040"/>
          </a:xfrm>
          <a:prstGeom prst="rect">
            <a:avLst/>
          </a:prstGeom>
          <a:noFill/>
          <a:ln/>
        </p:spPr>
        <p:txBody>
          <a:bodyPr wrap="square" lIns="0" tIns="0" rIns="0" bIns="0" rtlCol="0" anchor="t"/>
          <a:lstStyle/>
          <a:p>
            <a:pPr indent="0" marL="0">
              <a:buNone/>
            </a:pPr>
            <a:r>
              <a:rPr lang="en-US" sz="1800" b="1" dirty="0">
                <a:solidFill>
                  <a:schemeClr val="tx2"/>
                </a:solidFill>
              </a:rPr>
              <a:t>Functional</a:t>
            </a:r>
            <a:endParaRPr lang="en-US" sz="1800" dirty="0"/>
          </a:p>
        </p:txBody>
      </p:sp>
      <p:sp>
        <p:nvSpPr>
          <p:cNvPr id="6" name="badge-181"/>
          <p:cNvSpPr/>
          <p:nvPr/>
        </p:nvSpPr>
        <p:spPr>
          <a:xfrm>
            <a:off x="640080" y="1627632"/>
            <a:ext cx="365760" cy="365760"/>
          </a:xfrm>
          <a:prstGeom prst="ellipse">
            <a:avLst/>
          </a:prstGeom>
          <a:solidFill>
            <a:schemeClr val="accent1"/>
          </a:solidFill>
          <a:ln w="12700">
            <a:solidFill>
              <a:schemeClr val="accent1"/>
            </a:solidFill>
            <a:prstDash val="solid"/>
          </a:ln>
        </p:spPr>
      </p:sp>
      <p:pic>
        <p:nvPicPr>
          <p:cNvPr id="7" name="icon-182" descr="preencoded.png">    </p:cNvPr>
          <p:cNvPicPr>
            <a:picLocks noChangeAspect="1"/>
          </p:cNvPicPr>
          <p:nvPr/>
        </p:nvPicPr>
        <p:blipFill>
          <a:blip r:embed="rId1"/>
          <a:stretch>
            <a:fillRect/>
          </a:stretch>
        </p:blipFill>
        <p:spPr>
          <a:xfrm>
            <a:off x="735178" y="1722730"/>
            <a:ext cx="175565" cy="175565"/>
          </a:xfrm>
          <a:prstGeom prst="rect">
            <a:avLst/>
          </a:prstGeom>
        </p:spPr>
      </p:pic>
      <p:sp>
        <p:nvSpPr>
          <p:cNvPr id="8" name="text-183"/>
          <p:cNvSpPr txBox="1"/>
          <p:nvPr/>
        </p:nvSpPr>
        <p:spPr>
          <a:xfrm>
            <a:off x="1143000" y="1627632"/>
            <a:ext cx="3291840" cy="365760"/>
          </a:xfrm>
          <a:prstGeom prst="rect">
            <a:avLst/>
          </a:prstGeom>
          <a:noFill/>
          <a:ln/>
        </p:spPr>
        <p:txBody>
          <a:bodyPr wrap="square" lIns="0" tIns="0" rIns="0" bIns="0" rtlCol="0" anchor="ctr"/>
          <a:lstStyle/>
          <a:p>
            <a:pPr indent="0" marL="0">
              <a:buNone/>
            </a:pPr>
            <a:r>
              <a:rPr lang="en-US" sz="1400" dirty="0">
                <a:solidFill>
                  <a:schemeClr val="tx1"/>
                </a:solidFill>
              </a:rPr>
              <a:t>Public viewing, no login</a:t>
            </a:r>
            <a:endParaRPr lang="en-US" sz="1400" dirty="0"/>
          </a:p>
        </p:txBody>
      </p:sp>
      <p:sp>
        <p:nvSpPr>
          <p:cNvPr id="9" name="badge-184"/>
          <p:cNvSpPr/>
          <p:nvPr/>
        </p:nvSpPr>
        <p:spPr>
          <a:xfrm>
            <a:off x="640080" y="2121408"/>
            <a:ext cx="365760" cy="365760"/>
          </a:xfrm>
          <a:prstGeom prst="ellipse">
            <a:avLst/>
          </a:prstGeom>
          <a:solidFill>
            <a:schemeClr val="accent1"/>
          </a:solidFill>
          <a:ln w="12700">
            <a:solidFill>
              <a:schemeClr val="accent1"/>
            </a:solidFill>
            <a:prstDash val="solid"/>
          </a:ln>
        </p:spPr>
      </p:sp>
      <p:pic>
        <p:nvPicPr>
          <p:cNvPr id="10" name="icon-185" descr="preencoded.png">    </p:cNvPr>
          <p:cNvPicPr>
            <a:picLocks noChangeAspect="1"/>
          </p:cNvPicPr>
          <p:nvPr/>
        </p:nvPicPr>
        <p:blipFill>
          <a:blip r:embed="rId2"/>
          <a:stretch>
            <a:fillRect/>
          </a:stretch>
        </p:blipFill>
        <p:spPr>
          <a:xfrm>
            <a:off x="735178" y="2216506"/>
            <a:ext cx="175565" cy="175565"/>
          </a:xfrm>
          <a:prstGeom prst="rect">
            <a:avLst/>
          </a:prstGeom>
        </p:spPr>
      </p:pic>
      <p:sp>
        <p:nvSpPr>
          <p:cNvPr id="11" name="text-186"/>
          <p:cNvSpPr txBox="1"/>
          <p:nvPr/>
        </p:nvSpPr>
        <p:spPr>
          <a:xfrm>
            <a:off x="1143000" y="2121408"/>
            <a:ext cx="3291840" cy="365760"/>
          </a:xfrm>
          <a:prstGeom prst="rect">
            <a:avLst/>
          </a:prstGeom>
          <a:noFill/>
          <a:ln/>
        </p:spPr>
        <p:txBody>
          <a:bodyPr wrap="square" lIns="0" tIns="0" rIns="0" bIns="0" rtlCol="0" anchor="ctr"/>
          <a:lstStyle/>
          <a:p>
            <a:pPr indent="0" marL="0">
              <a:buNone/>
            </a:pPr>
            <a:r>
              <a:rPr lang="en-US" sz="1400" dirty="0">
                <a:solidFill>
                  <a:schemeClr val="tx1"/>
                </a:solidFill>
              </a:rPr>
              <a:t>Text search</a:t>
            </a:r>
            <a:endParaRPr lang="en-US" sz="1400" dirty="0"/>
          </a:p>
        </p:txBody>
      </p:sp>
      <p:sp>
        <p:nvSpPr>
          <p:cNvPr id="12" name="badge-187"/>
          <p:cNvSpPr/>
          <p:nvPr/>
        </p:nvSpPr>
        <p:spPr>
          <a:xfrm>
            <a:off x="640080" y="2615184"/>
            <a:ext cx="365760" cy="365760"/>
          </a:xfrm>
          <a:prstGeom prst="ellipse">
            <a:avLst/>
          </a:prstGeom>
          <a:solidFill>
            <a:schemeClr val="accent1"/>
          </a:solidFill>
          <a:ln w="12700">
            <a:solidFill>
              <a:schemeClr val="accent1"/>
            </a:solidFill>
            <a:prstDash val="solid"/>
          </a:ln>
        </p:spPr>
      </p:sp>
      <p:pic>
        <p:nvPicPr>
          <p:cNvPr id="13" name="icon-188" descr="preencoded.png">    </p:cNvPr>
          <p:cNvPicPr>
            <a:picLocks noChangeAspect="1"/>
          </p:cNvPicPr>
          <p:nvPr/>
        </p:nvPicPr>
        <p:blipFill>
          <a:blip r:embed="rId3"/>
          <a:stretch>
            <a:fillRect/>
          </a:stretch>
        </p:blipFill>
        <p:spPr>
          <a:xfrm>
            <a:off x="735178" y="2710282"/>
            <a:ext cx="175565" cy="175565"/>
          </a:xfrm>
          <a:prstGeom prst="rect">
            <a:avLst/>
          </a:prstGeom>
        </p:spPr>
      </p:pic>
      <p:sp>
        <p:nvSpPr>
          <p:cNvPr id="14" name="text-189"/>
          <p:cNvSpPr txBox="1"/>
          <p:nvPr/>
        </p:nvSpPr>
        <p:spPr>
          <a:xfrm>
            <a:off x="1143000" y="2615184"/>
            <a:ext cx="3291840" cy="365760"/>
          </a:xfrm>
          <a:prstGeom prst="rect">
            <a:avLst/>
          </a:prstGeom>
          <a:noFill/>
          <a:ln/>
        </p:spPr>
        <p:txBody>
          <a:bodyPr wrap="square" lIns="0" tIns="0" rIns="0" bIns="0" rtlCol="0" anchor="ctr"/>
          <a:lstStyle/>
          <a:p>
            <a:pPr indent="0" marL="0">
              <a:buNone/>
            </a:pPr>
            <a:r>
              <a:rPr lang="en-US" sz="1400" dirty="0">
                <a:solidFill>
                  <a:schemeClr val="tx1"/>
                </a:solidFill>
              </a:rPr>
              <a:t>Password-protected admin</a:t>
            </a:r>
            <a:endParaRPr lang="en-US" sz="1400" dirty="0"/>
          </a:p>
        </p:txBody>
      </p:sp>
      <p:sp>
        <p:nvSpPr>
          <p:cNvPr id="15" name="badge-190"/>
          <p:cNvSpPr/>
          <p:nvPr/>
        </p:nvSpPr>
        <p:spPr>
          <a:xfrm>
            <a:off x="640080" y="3108960"/>
            <a:ext cx="365760" cy="365760"/>
          </a:xfrm>
          <a:prstGeom prst="ellipse">
            <a:avLst/>
          </a:prstGeom>
          <a:solidFill>
            <a:schemeClr val="accent1"/>
          </a:solidFill>
          <a:ln w="12700">
            <a:solidFill>
              <a:schemeClr val="accent1"/>
            </a:solidFill>
            <a:prstDash val="solid"/>
          </a:ln>
        </p:spPr>
      </p:sp>
      <p:pic>
        <p:nvPicPr>
          <p:cNvPr id="16" name="icon-191" descr="preencoded.png">    </p:cNvPr>
          <p:cNvPicPr>
            <a:picLocks noChangeAspect="1"/>
          </p:cNvPicPr>
          <p:nvPr/>
        </p:nvPicPr>
        <p:blipFill>
          <a:blip r:embed="rId4"/>
          <a:stretch>
            <a:fillRect/>
          </a:stretch>
        </p:blipFill>
        <p:spPr>
          <a:xfrm>
            <a:off x="735178" y="3204058"/>
            <a:ext cx="175565" cy="175565"/>
          </a:xfrm>
          <a:prstGeom prst="rect">
            <a:avLst/>
          </a:prstGeom>
        </p:spPr>
      </p:pic>
      <p:sp>
        <p:nvSpPr>
          <p:cNvPr id="17" name="text-192"/>
          <p:cNvSpPr txBox="1"/>
          <p:nvPr/>
        </p:nvSpPr>
        <p:spPr>
          <a:xfrm>
            <a:off x="1143000" y="3108960"/>
            <a:ext cx="3291840" cy="365760"/>
          </a:xfrm>
          <a:prstGeom prst="rect">
            <a:avLst/>
          </a:prstGeom>
          <a:noFill/>
          <a:ln/>
        </p:spPr>
        <p:txBody>
          <a:bodyPr wrap="square" lIns="0" tIns="0" rIns="0" bIns="0" rtlCol="0" anchor="ctr"/>
          <a:lstStyle/>
          <a:p>
            <a:pPr indent="0" marL="0">
              <a:buNone/>
            </a:pPr>
            <a:r>
              <a:rPr lang="en-US" sz="1400" dirty="0">
                <a:solidFill>
                  <a:schemeClr val="tx1"/>
                </a:solidFill>
              </a:rPr>
              <a:t>CRUD with expiry date</a:t>
            </a:r>
            <a:endParaRPr lang="en-US" sz="1400" dirty="0"/>
          </a:p>
        </p:txBody>
      </p:sp>
      <p:sp>
        <p:nvSpPr>
          <p:cNvPr id="18" name="badge-193"/>
          <p:cNvSpPr/>
          <p:nvPr/>
        </p:nvSpPr>
        <p:spPr>
          <a:xfrm>
            <a:off x="640080" y="3602736"/>
            <a:ext cx="365760" cy="365760"/>
          </a:xfrm>
          <a:prstGeom prst="ellipse">
            <a:avLst/>
          </a:prstGeom>
          <a:solidFill>
            <a:schemeClr val="accent1"/>
          </a:solidFill>
          <a:ln w="12700">
            <a:solidFill>
              <a:schemeClr val="accent1"/>
            </a:solidFill>
            <a:prstDash val="solid"/>
          </a:ln>
        </p:spPr>
      </p:sp>
      <p:pic>
        <p:nvPicPr>
          <p:cNvPr id="19" name="icon-194" descr="preencoded.png">    </p:cNvPr>
          <p:cNvPicPr>
            <a:picLocks noChangeAspect="1"/>
          </p:cNvPicPr>
          <p:nvPr/>
        </p:nvPicPr>
        <p:blipFill>
          <a:blip r:embed="rId5"/>
          <a:stretch>
            <a:fillRect/>
          </a:stretch>
        </p:blipFill>
        <p:spPr>
          <a:xfrm>
            <a:off x="735178" y="3697834"/>
            <a:ext cx="175565" cy="175565"/>
          </a:xfrm>
          <a:prstGeom prst="rect">
            <a:avLst/>
          </a:prstGeom>
        </p:spPr>
      </p:pic>
      <p:sp>
        <p:nvSpPr>
          <p:cNvPr id="20" name="text-195"/>
          <p:cNvSpPr txBox="1"/>
          <p:nvPr/>
        </p:nvSpPr>
        <p:spPr>
          <a:xfrm>
            <a:off x="1143000" y="3602736"/>
            <a:ext cx="3291840" cy="365760"/>
          </a:xfrm>
          <a:prstGeom prst="rect">
            <a:avLst/>
          </a:prstGeom>
          <a:noFill/>
          <a:ln/>
        </p:spPr>
        <p:txBody>
          <a:bodyPr wrap="square" lIns="0" tIns="0" rIns="0" bIns="0" rtlCol="0" anchor="ctr"/>
          <a:lstStyle/>
          <a:p>
            <a:pPr indent="0" marL="0">
              <a:buNone/>
            </a:pPr>
            <a:r>
              <a:rPr lang="en-US" sz="1400" dirty="0">
                <a:solidFill>
                  <a:schemeClr val="tx1"/>
                </a:solidFill>
              </a:rPr>
              <a:t>Secure image upload</a:t>
            </a:r>
            <a:endParaRPr lang="en-US" sz="1400" dirty="0"/>
          </a:p>
        </p:txBody>
      </p:sp>
      <p:sp>
        <p:nvSpPr>
          <p:cNvPr id="21" name="badge-196"/>
          <p:cNvSpPr/>
          <p:nvPr/>
        </p:nvSpPr>
        <p:spPr>
          <a:xfrm>
            <a:off x="640080" y="4096512"/>
            <a:ext cx="365760" cy="365760"/>
          </a:xfrm>
          <a:prstGeom prst="ellipse">
            <a:avLst/>
          </a:prstGeom>
          <a:solidFill>
            <a:schemeClr val="accent1"/>
          </a:solidFill>
          <a:ln w="12700">
            <a:solidFill>
              <a:schemeClr val="accent1"/>
            </a:solidFill>
            <a:prstDash val="solid"/>
          </a:ln>
        </p:spPr>
      </p:sp>
      <p:pic>
        <p:nvPicPr>
          <p:cNvPr id="22" name="icon-197" descr="preencoded.png">    </p:cNvPr>
          <p:cNvPicPr>
            <a:picLocks noChangeAspect="1"/>
          </p:cNvPicPr>
          <p:nvPr/>
        </p:nvPicPr>
        <p:blipFill>
          <a:blip r:embed="rId6"/>
          <a:stretch>
            <a:fillRect/>
          </a:stretch>
        </p:blipFill>
        <p:spPr>
          <a:xfrm>
            <a:off x="735178" y="4191610"/>
            <a:ext cx="175565" cy="175565"/>
          </a:xfrm>
          <a:prstGeom prst="rect">
            <a:avLst/>
          </a:prstGeom>
        </p:spPr>
      </p:pic>
      <p:sp>
        <p:nvSpPr>
          <p:cNvPr id="23" name="text-198"/>
          <p:cNvSpPr txBox="1"/>
          <p:nvPr/>
        </p:nvSpPr>
        <p:spPr>
          <a:xfrm>
            <a:off x="1143000" y="4096512"/>
            <a:ext cx="3291840" cy="365760"/>
          </a:xfrm>
          <a:prstGeom prst="rect">
            <a:avLst/>
          </a:prstGeom>
          <a:noFill/>
          <a:ln/>
        </p:spPr>
        <p:txBody>
          <a:bodyPr wrap="square" lIns="0" tIns="0" rIns="0" bIns="0" rtlCol="0" anchor="ctr"/>
          <a:lstStyle/>
          <a:p>
            <a:pPr indent="0" marL="0">
              <a:buNone/>
            </a:pPr>
            <a:r>
              <a:rPr lang="en-US" sz="1400" dirty="0">
                <a:solidFill>
                  <a:schemeClr val="tx1"/>
                </a:solidFill>
              </a:rPr>
              <a:t>Responsive on desktop and mobile</a:t>
            </a:r>
            <a:endParaRPr lang="en-US" sz="1400" dirty="0"/>
          </a:p>
        </p:txBody>
      </p:sp>
      <p:sp>
        <p:nvSpPr>
          <p:cNvPr id="24" name="card-199"/>
          <p:cNvSpPr/>
          <p:nvPr/>
        </p:nvSpPr>
        <p:spPr>
          <a:xfrm>
            <a:off x="4754880" y="1097280"/>
            <a:ext cx="3931920" cy="3474720"/>
          </a:xfrm>
          <a:prstGeom prst="roundRect">
            <a:avLst>
              <a:gd name="adj" fmla="val 210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5" name="text-200"/>
          <p:cNvSpPr txBox="1"/>
          <p:nvPr/>
        </p:nvSpPr>
        <p:spPr>
          <a:xfrm>
            <a:off x="4937760" y="1188720"/>
            <a:ext cx="3657600" cy="320040"/>
          </a:xfrm>
          <a:prstGeom prst="rect">
            <a:avLst/>
          </a:prstGeom>
          <a:noFill/>
          <a:ln/>
        </p:spPr>
        <p:txBody>
          <a:bodyPr wrap="square" lIns="0" tIns="0" rIns="0" bIns="0" rtlCol="0" anchor="t"/>
          <a:lstStyle/>
          <a:p>
            <a:pPr indent="0" marL="0">
              <a:buNone/>
            </a:pPr>
            <a:r>
              <a:rPr lang="en-US" sz="1800" b="1" dirty="0">
                <a:solidFill>
                  <a:schemeClr val="tx2"/>
                </a:solidFill>
              </a:rPr>
              <a:t>Non-functional</a:t>
            </a:r>
            <a:endParaRPr lang="en-US" sz="1800" dirty="0"/>
          </a:p>
        </p:txBody>
      </p:sp>
      <p:sp>
        <p:nvSpPr>
          <p:cNvPr id="26" name="text-201"/>
          <p:cNvSpPr txBox="1"/>
          <p:nvPr/>
        </p:nvSpPr>
        <p:spPr>
          <a:xfrm>
            <a:off x="4937760" y="1627632"/>
            <a:ext cx="3611880" cy="411480"/>
          </a:xfrm>
          <a:prstGeom prst="rect">
            <a:avLst/>
          </a:prstGeom>
          <a:noFill/>
          <a:ln/>
        </p:spPr>
        <p:txBody>
          <a:bodyPr wrap="square" lIns="0" tIns="0" rIns="0" bIns="0" rtlCol="0" anchor="ctr"/>
          <a:lstStyle/>
          <a:p>
            <a:pPr indent="0" marL="0">
              <a:buNone/>
            </a:pPr>
            <a:r>
              <a:rPr lang="en-US" sz="1400" b="1" dirty="0">
                <a:solidFill>
                  <a:schemeClr val="accent1"/>
                </a:solidFill>
              </a:rPr>
              <a:t>Usability  </a:t>
            </a:r>
            <a:pPr indent="0" marL="0">
              <a:buNone/>
            </a:pPr>
            <a:r>
              <a:rPr lang="en-US" sz="1400" dirty="0">
                <a:solidFill>
                  <a:schemeClr val="tx1"/>
                </a:solidFill>
              </a:rPr>
              <a:t>Clean for all skill levels</a:t>
            </a:r>
            <a:endParaRPr lang="en-US" sz="1400" dirty="0"/>
          </a:p>
        </p:txBody>
      </p:sp>
      <p:sp>
        <p:nvSpPr>
          <p:cNvPr id="27" name="text-202"/>
          <p:cNvSpPr txBox="1"/>
          <p:nvPr/>
        </p:nvSpPr>
        <p:spPr>
          <a:xfrm>
            <a:off x="4937760" y="2121408"/>
            <a:ext cx="3611880" cy="411480"/>
          </a:xfrm>
          <a:prstGeom prst="rect">
            <a:avLst/>
          </a:prstGeom>
          <a:noFill/>
          <a:ln/>
        </p:spPr>
        <p:txBody>
          <a:bodyPr wrap="square" lIns="0" tIns="0" rIns="0" bIns="0" rtlCol="0" anchor="ctr"/>
          <a:lstStyle/>
          <a:p>
            <a:pPr indent="0" marL="0">
              <a:buNone/>
            </a:pPr>
            <a:r>
              <a:rPr lang="en-US" sz="1400" b="1" dirty="0">
                <a:solidFill>
                  <a:schemeClr val="accent1"/>
                </a:solidFill>
              </a:rPr>
              <a:t>Reliability  </a:t>
            </a:r>
            <a:pPr indent="0" marL="0">
              <a:buNone/>
            </a:pPr>
            <a:r>
              <a:rPr lang="en-US" sz="1400" dirty="0">
                <a:solidFill>
                  <a:schemeClr val="tx1"/>
                </a:solidFill>
              </a:rPr>
              <a:t>High uptime, data integrity</a:t>
            </a:r>
            <a:endParaRPr lang="en-US" sz="1400" dirty="0"/>
          </a:p>
        </p:txBody>
      </p:sp>
      <p:sp>
        <p:nvSpPr>
          <p:cNvPr id="28" name="text-203"/>
          <p:cNvSpPr txBox="1"/>
          <p:nvPr/>
        </p:nvSpPr>
        <p:spPr>
          <a:xfrm>
            <a:off x="4937760" y="2615184"/>
            <a:ext cx="3611880" cy="411480"/>
          </a:xfrm>
          <a:prstGeom prst="rect">
            <a:avLst/>
          </a:prstGeom>
          <a:noFill/>
          <a:ln/>
        </p:spPr>
        <p:txBody>
          <a:bodyPr wrap="square" lIns="0" tIns="0" rIns="0" bIns="0" rtlCol="0" anchor="ctr"/>
          <a:lstStyle/>
          <a:p>
            <a:pPr indent="0" marL="0">
              <a:buNone/>
            </a:pPr>
            <a:r>
              <a:rPr lang="en-US" sz="1400" b="1" dirty="0">
                <a:solidFill>
                  <a:schemeClr val="accent1"/>
                </a:solidFill>
              </a:rPr>
              <a:t>Performance  </a:t>
            </a:r>
            <a:pPr indent="0" marL="0">
              <a:buNone/>
            </a:pPr>
            <a:r>
              <a:rPr lang="en-US" sz="1400" dirty="0">
                <a:solidFill>
                  <a:schemeClr val="tx1"/>
                </a:solidFill>
              </a:rPr>
              <a:t>Fast search, thousands of users</a:t>
            </a:r>
            <a:endParaRPr lang="en-US" sz="1400" dirty="0"/>
          </a:p>
        </p:txBody>
      </p:sp>
      <p:sp>
        <p:nvSpPr>
          <p:cNvPr id="29" name="text-204"/>
          <p:cNvSpPr txBox="1"/>
          <p:nvPr/>
        </p:nvSpPr>
        <p:spPr>
          <a:xfrm>
            <a:off x="4937760" y="3108960"/>
            <a:ext cx="3611880" cy="411480"/>
          </a:xfrm>
          <a:prstGeom prst="rect">
            <a:avLst/>
          </a:prstGeom>
          <a:noFill/>
          <a:ln/>
        </p:spPr>
        <p:txBody>
          <a:bodyPr wrap="square" lIns="0" tIns="0" rIns="0" bIns="0" rtlCol="0" anchor="ctr"/>
          <a:lstStyle/>
          <a:p>
            <a:pPr indent="0" marL="0">
              <a:buNone/>
            </a:pPr>
            <a:r>
              <a:rPr lang="en-US" sz="1400" b="1" dirty="0">
                <a:solidFill>
                  <a:schemeClr val="accent1"/>
                </a:solidFill>
              </a:rPr>
              <a:t>Security  </a:t>
            </a:r>
            <a:pPr indent="0" marL="0">
              <a:buNone/>
            </a:pPr>
            <a:r>
              <a:rPr lang="en-US" sz="1400" dirty="0">
                <a:solidFill>
                  <a:schemeClr val="tx1"/>
                </a:solidFill>
              </a:rPr>
              <a:t>Hashed passwords, intranet only</a:t>
            </a:r>
            <a:endParaRPr lang="en-US" sz="1400" dirty="0"/>
          </a:p>
        </p:txBody>
      </p:sp>
      <p:sp>
        <p:nvSpPr>
          <p:cNvPr id="30" name="text-205"/>
          <p:cNvSpPr txBox="1"/>
          <p:nvPr/>
        </p:nvSpPr>
        <p:spPr>
          <a:xfrm>
            <a:off x="4937760" y="3602736"/>
            <a:ext cx="3611880" cy="411480"/>
          </a:xfrm>
          <a:prstGeom prst="rect">
            <a:avLst/>
          </a:prstGeom>
          <a:noFill/>
          <a:ln/>
        </p:spPr>
        <p:txBody>
          <a:bodyPr wrap="square" lIns="0" tIns="0" rIns="0" bIns="0" rtlCol="0" anchor="ctr"/>
          <a:lstStyle/>
          <a:p>
            <a:pPr indent="0" marL="0">
              <a:buNone/>
            </a:pPr>
            <a:r>
              <a:rPr lang="en-US" sz="1400" b="1" dirty="0">
                <a:solidFill>
                  <a:schemeClr val="accent1"/>
                </a:solidFill>
              </a:rPr>
              <a:t>Maintainability  </a:t>
            </a:r>
            <a:pPr indent="0" marL="0">
              <a:buNone/>
            </a:pPr>
            <a:r>
              <a:rPr lang="en-US" sz="1400" dirty="0">
                <a:solidFill>
                  <a:schemeClr val="tx1"/>
                </a:solidFill>
              </a:rPr>
              <a:t>Modular code, documentation</a:t>
            </a:r>
            <a:endParaRPr lang="en-US" sz="1400" dirty="0"/>
          </a:p>
        </p:txBody>
      </p:sp>
      <p:sp>
        <p:nvSpPr>
          <p:cNvPr id="31" name="text-206"/>
          <p:cNvSpPr txBox="1"/>
          <p:nvPr/>
        </p:nvSpPr>
        <p:spPr>
          <a:xfrm>
            <a:off x="4937760" y="4096512"/>
            <a:ext cx="3611880" cy="411480"/>
          </a:xfrm>
          <a:prstGeom prst="rect">
            <a:avLst/>
          </a:prstGeom>
          <a:noFill/>
          <a:ln/>
        </p:spPr>
        <p:txBody>
          <a:bodyPr wrap="square" lIns="0" tIns="0" rIns="0" bIns="0" rtlCol="0" anchor="ctr"/>
          <a:lstStyle/>
          <a:p>
            <a:pPr indent="0" marL="0">
              <a:buNone/>
            </a:pPr>
            <a:r>
              <a:rPr lang="en-US" sz="1400" b="1" dirty="0">
                <a:solidFill>
                  <a:schemeClr val="accent1"/>
                </a:solidFill>
              </a:rPr>
              <a:t>Legal compliance  </a:t>
            </a:r>
            <a:pPr indent="0" marL="0">
              <a:buNone/>
            </a:pPr>
            <a:r>
              <a:rPr lang="en-US" sz="1400" dirty="0">
                <a:solidFill>
                  <a:schemeClr val="tx1"/>
                </a:solidFill>
              </a:rPr>
              <a:t>ESS data-handling policies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Actors and use cases</a:t>
            </a:r>
            <a:endParaRPr lang="en-US" sz="3000" dirty="0"/>
          </a:p>
        </p:txBody>
      </p:sp>
      <p:sp>
        <p:nvSpPr>
          <p:cNvPr id="4" name="card-207"/>
          <p:cNvSpPr/>
          <p:nvPr/>
        </p:nvSpPr>
        <p:spPr>
          <a:xfrm>
            <a:off x="457200" y="1097280"/>
            <a:ext cx="3291840" cy="2880360"/>
          </a:xfrm>
          <a:prstGeom prst="roundRect">
            <a:avLst>
              <a:gd name="adj" fmla="val 254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badge-208"/>
          <p:cNvSpPr/>
          <p:nvPr/>
        </p:nvSpPr>
        <p:spPr>
          <a:xfrm>
            <a:off x="640080" y="1216152"/>
            <a:ext cx="502920" cy="502920"/>
          </a:xfrm>
          <a:prstGeom prst="ellipse">
            <a:avLst/>
          </a:prstGeom>
          <a:solidFill>
            <a:schemeClr val="accent3"/>
          </a:solidFill>
          <a:ln w="12700">
            <a:solidFill>
              <a:schemeClr val="accent3"/>
            </a:solidFill>
            <a:prstDash val="solid"/>
          </a:ln>
        </p:spPr>
      </p:sp>
      <p:pic>
        <p:nvPicPr>
          <p:cNvPr id="6" name="icon-209" descr="preencoded.png">    </p:cNvPr>
          <p:cNvPicPr>
            <a:picLocks noChangeAspect="1"/>
          </p:cNvPicPr>
          <p:nvPr/>
        </p:nvPicPr>
        <p:blipFill>
          <a:blip r:embed="rId1"/>
          <a:stretch>
            <a:fillRect/>
          </a:stretch>
        </p:blipFill>
        <p:spPr>
          <a:xfrm>
            <a:off x="770839" y="1346911"/>
            <a:ext cx="241402" cy="241402"/>
          </a:xfrm>
          <a:prstGeom prst="rect">
            <a:avLst/>
          </a:prstGeom>
        </p:spPr>
      </p:pic>
      <p:sp>
        <p:nvSpPr>
          <p:cNvPr id="7" name="text-210"/>
          <p:cNvSpPr txBox="1"/>
          <p:nvPr/>
        </p:nvSpPr>
        <p:spPr>
          <a:xfrm>
            <a:off x="1280160" y="1188720"/>
            <a:ext cx="2377440" cy="548640"/>
          </a:xfrm>
          <a:prstGeom prst="rect">
            <a:avLst/>
          </a:prstGeom>
          <a:noFill/>
          <a:ln/>
        </p:spPr>
        <p:txBody>
          <a:bodyPr wrap="square" lIns="0" tIns="0" rIns="0" bIns="0" rtlCol="0" anchor="ctr"/>
          <a:lstStyle/>
          <a:p>
            <a:pPr indent="0" marL="0">
              <a:buNone/>
            </a:pPr>
            <a:r>
              <a:rPr lang="en-US" sz="1600" b="1" dirty="0">
                <a:solidFill>
                  <a:schemeClr val="tx2"/>
                </a:solidFill>
              </a:rPr>
              <a:t>Public User</a:t>
            </a:r>
            <a:endParaRPr lang="en-US" sz="1400" dirty="0"/>
          </a:p>
          <a:p>
            <a:pPr indent="0" marL="0">
              <a:buNone/>
            </a:pPr>
            <a:r>
              <a:rPr lang="en-US" sz="1400" dirty="0">
                <a:solidFill>
                  <a:schemeClr val="tx1"/>
                </a:solidFill>
              </a:rPr>
              <a:t>Any ESS employee · no login</a:t>
            </a:r>
            <a:endParaRPr lang="en-US" sz="1400" dirty="0"/>
          </a:p>
        </p:txBody>
      </p:sp>
      <p:sp>
        <p:nvSpPr>
          <p:cNvPr id="8" name="chip-211"/>
          <p:cNvSpPr/>
          <p:nvPr/>
        </p:nvSpPr>
        <p:spPr>
          <a:xfrm>
            <a:off x="640080" y="1965960"/>
            <a:ext cx="2926080" cy="365760"/>
          </a:xfrm>
          <a:prstGeom prst="roundRect">
            <a:avLst>
              <a:gd name="adj" fmla="val 50000"/>
            </a:avLst>
          </a:prstGeom>
          <a:solidFill>
            <a:srgbClr val="E4F1EC"/>
          </a:solidFill>
          <a:ln w="12700">
            <a:solidFill>
              <a:srgbClr val="E4F1EC"/>
            </a:solidFill>
            <a:prstDash val="solid"/>
          </a:ln>
        </p:spPr>
      </p:sp>
      <p:sp>
        <p:nvSpPr>
          <p:cNvPr id="9" name="text-212"/>
          <p:cNvSpPr txBox="1"/>
          <p:nvPr/>
        </p:nvSpPr>
        <p:spPr>
          <a:xfrm>
            <a:off x="640080" y="1965960"/>
            <a:ext cx="2926080" cy="365760"/>
          </a:xfrm>
          <a:prstGeom prst="rect">
            <a:avLst/>
          </a:prstGeom>
          <a:noFill/>
          <a:ln/>
        </p:spPr>
        <p:txBody>
          <a:bodyPr wrap="square" lIns="0" tIns="0" rIns="0" bIns="0" rtlCol="0" anchor="ctr"/>
          <a:lstStyle/>
          <a:p>
            <a:pPr algn="ctr" indent="0" marL="0">
              <a:buNone/>
            </a:pPr>
            <a:r>
              <a:rPr lang="en-US" sz="1400" dirty="0">
                <a:solidFill>
                  <a:schemeClr val="tx1"/>
                </a:solidFill>
              </a:rPr>
              <a:t>View Home</a:t>
            </a:r>
            <a:endParaRPr lang="en-US" sz="1400" dirty="0"/>
          </a:p>
        </p:txBody>
      </p:sp>
      <p:sp>
        <p:nvSpPr>
          <p:cNvPr id="10" name="chip-213"/>
          <p:cNvSpPr/>
          <p:nvPr/>
        </p:nvSpPr>
        <p:spPr>
          <a:xfrm>
            <a:off x="640080" y="2423160"/>
            <a:ext cx="2926080" cy="365760"/>
          </a:xfrm>
          <a:prstGeom prst="roundRect">
            <a:avLst>
              <a:gd name="adj" fmla="val 50000"/>
            </a:avLst>
          </a:prstGeom>
          <a:solidFill>
            <a:srgbClr val="E4F1EC"/>
          </a:solidFill>
          <a:ln w="12700">
            <a:solidFill>
              <a:srgbClr val="E4F1EC"/>
            </a:solidFill>
            <a:prstDash val="solid"/>
          </a:ln>
        </p:spPr>
      </p:sp>
      <p:sp>
        <p:nvSpPr>
          <p:cNvPr id="11" name="text-214"/>
          <p:cNvSpPr txBox="1"/>
          <p:nvPr/>
        </p:nvSpPr>
        <p:spPr>
          <a:xfrm>
            <a:off x="640080" y="2423160"/>
            <a:ext cx="2926080" cy="365760"/>
          </a:xfrm>
          <a:prstGeom prst="rect">
            <a:avLst/>
          </a:prstGeom>
          <a:noFill/>
          <a:ln/>
        </p:spPr>
        <p:txBody>
          <a:bodyPr wrap="square" lIns="0" tIns="0" rIns="0" bIns="0" rtlCol="0" anchor="ctr"/>
          <a:lstStyle/>
          <a:p>
            <a:pPr algn="ctr" indent="0" marL="0">
              <a:buNone/>
            </a:pPr>
            <a:r>
              <a:rPr lang="en-US" sz="1400" dirty="0">
                <a:solidFill>
                  <a:schemeClr val="tx1"/>
                </a:solidFill>
              </a:rPr>
              <a:t>View About</a:t>
            </a:r>
            <a:endParaRPr lang="en-US" sz="1400" dirty="0"/>
          </a:p>
        </p:txBody>
      </p:sp>
      <p:sp>
        <p:nvSpPr>
          <p:cNvPr id="12" name="chip-215"/>
          <p:cNvSpPr/>
          <p:nvPr/>
        </p:nvSpPr>
        <p:spPr>
          <a:xfrm>
            <a:off x="640080" y="2880360"/>
            <a:ext cx="2926080" cy="365760"/>
          </a:xfrm>
          <a:prstGeom prst="roundRect">
            <a:avLst>
              <a:gd name="adj" fmla="val 50000"/>
            </a:avLst>
          </a:prstGeom>
          <a:solidFill>
            <a:srgbClr val="E4F1EC"/>
          </a:solidFill>
          <a:ln w="12700">
            <a:solidFill>
              <a:srgbClr val="E4F1EC"/>
            </a:solidFill>
            <a:prstDash val="solid"/>
          </a:ln>
        </p:spPr>
      </p:sp>
      <p:sp>
        <p:nvSpPr>
          <p:cNvPr id="13" name="text-216"/>
          <p:cNvSpPr txBox="1"/>
          <p:nvPr/>
        </p:nvSpPr>
        <p:spPr>
          <a:xfrm>
            <a:off x="640080" y="2880360"/>
            <a:ext cx="2926080" cy="365760"/>
          </a:xfrm>
          <a:prstGeom prst="rect">
            <a:avLst/>
          </a:prstGeom>
          <a:noFill/>
          <a:ln/>
        </p:spPr>
        <p:txBody>
          <a:bodyPr wrap="square" lIns="0" tIns="0" rIns="0" bIns="0" rtlCol="0" anchor="ctr"/>
          <a:lstStyle/>
          <a:p>
            <a:pPr algn="ctr" indent="0" marL="0">
              <a:buNone/>
            </a:pPr>
            <a:r>
              <a:rPr lang="en-US" sz="1400" dirty="0">
                <a:solidFill>
                  <a:schemeClr val="tx1"/>
                </a:solidFill>
              </a:rPr>
              <a:t>View News list</a:t>
            </a:r>
            <a:endParaRPr lang="en-US" sz="1400" dirty="0"/>
          </a:p>
        </p:txBody>
      </p:sp>
      <p:sp>
        <p:nvSpPr>
          <p:cNvPr id="14" name="chip-217"/>
          <p:cNvSpPr/>
          <p:nvPr/>
        </p:nvSpPr>
        <p:spPr>
          <a:xfrm>
            <a:off x="640080" y="3337560"/>
            <a:ext cx="2926080" cy="365760"/>
          </a:xfrm>
          <a:prstGeom prst="roundRect">
            <a:avLst>
              <a:gd name="adj" fmla="val 50000"/>
            </a:avLst>
          </a:prstGeom>
          <a:solidFill>
            <a:srgbClr val="E4F1EC"/>
          </a:solidFill>
          <a:ln w="12700">
            <a:solidFill>
              <a:srgbClr val="E4F1EC"/>
            </a:solidFill>
            <a:prstDash val="solid"/>
          </a:ln>
        </p:spPr>
      </p:sp>
      <p:sp>
        <p:nvSpPr>
          <p:cNvPr id="15" name="text-218"/>
          <p:cNvSpPr txBox="1"/>
          <p:nvPr/>
        </p:nvSpPr>
        <p:spPr>
          <a:xfrm>
            <a:off x="640080" y="3337560"/>
            <a:ext cx="2926080" cy="365760"/>
          </a:xfrm>
          <a:prstGeom prst="rect">
            <a:avLst/>
          </a:prstGeom>
          <a:noFill/>
          <a:ln/>
        </p:spPr>
        <p:txBody>
          <a:bodyPr wrap="square" lIns="0" tIns="0" rIns="0" bIns="0" rtlCol="0" anchor="ctr"/>
          <a:lstStyle/>
          <a:p>
            <a:pPr algn="ctr" indent="0" marL="0">
              <a:buNone/>
            </a:pPr>
            <a:r>
              <a:rPr lang="en-US" sz="1400" dirty="0">
                <a:solidFill>
                  <a:schemeClr val="tx1"/>
                </a:solidFill>
              </a:rPr>
              <a:t>View News details</a:t>
            </a:r>
            <a:endParaRPr lang="en-US" sz="1400" dirty="0"/>
          </a:p>
        </p:txBody>
      </p:sp>
      <p:sp>
        <p:nvSpPr>
          <p:cNvPr id="16" name="card-219"/>
          <p:cNvSpPr/>
          <p:nvPr/>
        </p:nvSpPr>
        <p:spPr>
          <a:xfrm>
            <a:off x="4023360" y="1097280"/>
            <a:ext cx="4663440" cy="2880360"/>
          </a:xfrm>
          <a:prstGeom prst="roundRect">
            <a:avLst>
              <a:gd name="adj" fmla="val 254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7" name="badge-220"/>
          <p:cNvSpPr/>
          <p:nvPr/>
        </p:nvSpPr>
        <p:spPr>
          <a:xfrm>
            <a:off x="4206240" y="1216152"/>
            <a:ext cx="502920" cy="502920"/>
          </a:xfrm>
          <a:prstGeom prst="ellipse">
            <a:avLst/>
          </a:prstGeom>
          <a:solidFill>
            <a:schemeClr val="accent1"/>
          </a:solidFill>
          <a:ln w="12700">
            <a:solidFill>
              <a:schemeClr val="accent1"/>
            </a:solidFill>
            <a:prstDash val="solid"/>
          </a:ln>
        </p:spPr>
      </p:sp>
      <p:pic>
        <p:nvPicPr>
          <p:cNvPr id="18" name="icon-221" descr="preencoded.png">    </p:cNvPr>
          <p:cNvPicPr>
            <a:picLocks noChangeAspect="1"/>
          </p:cNvPicPr>
          <p:nvPr/>
        </p:nvPicPr>
        <p:blipFill>
          <a:blip r:embed="rId2"/>
          <a:stretch>
            <a:fillRect/>
          </a:stretch>
        </p:blipFill>
        <p:spPr>
          <a:xfrm>
            <a:off x="4336999" y="1346911"/>
            <a:ext cx="241402" cy="241402"/>
          </a:xfrm>
          <a:prstGeom prst="rect">
            <a:avLst/>
          </a:prstGeom>
        </p:spPr>
      </p:pic>
      <p:sp>
        <p:nvSpPr>
          <p:cNvPr id="19" name="text-222"/>
          <p:cNvSpPr txBox="1"/>
          <p:nvPr/>
        </p:nvSpPr>
        <p:spPr>
          <a:xfrm>
            <a:off x="4846320" y="1188720"/>
            <a:ext cx="3657600" cy="548640"/>
          </a:xfrm>
          <a:prstGeom prst="rect">
            <a:avLst/>
          </a:prstGeom>
          <a:noFill/>
          <a:ln/>
        </p:spPr>
        <p:txBody>
          <a:bodyPr wrap="square" lIns="0" tIns="0" rIns="0" bIns="0" rtlCol="0" anchor="ctr"/>
          <a:lstStyle/>
          <a:p>
            <a:pPr indent="0" marL="0">
              <a:buNone/>
            </a:pPr>
            <a:r>
              <a:rPr lang="en-US" sz="1600" b="1" dirty="0">
                <a:solidFill>
                  <a:schemeClr val="tx2"/>
                </a:solidFill>
              </a:rPr>
              <a:t>Administrator</a:t>
            </a:r>
            <a:endParaRPr lang="en-US" sz="1400" dirty="0"/>
          </a:p>
          <a:p>
            <a:pPr indent="0" marL="0">
              <a:buNone/>
            </a:pPr>
            <a:r>
              <a:rPr lang="en-US" sz="1400" dirty="0">
                <a:solidFill>
                  <a:schemeClr val="tx1"/>
                </a:solidFill>
              </a:rPr>
              <a:t>Authenticated · protected routes</a:t>
            </a:r>
            <a:endParaRPr lang="en-US" sz="1400" dirty="0"/>
          </a:p>
        </p:txBody>
      </p:sp>
      <p:sp>
        <p:nvSpPr>
          <p:cNvPr id="20" name="chip-223"/>
          <p:cNvSpPr/>
          <p:nvPr/>
        </p:nvSpPr>
        <p:spPr>
          <a:xfrm>
            <a:off x="4206240" y="1965960"/>
            <a:ext cx="2103120" cy="365760"/>
          </a:xfrm>
          <a:prstGeom prst="roundRect">
            <a:avLst>
              <a:gd name="adj" fmla="val 50000"/>
            </a:avLst>
          </a:prstGeom>
          <a:solidFill>
            <a:srgbClr val="E3E9F5"/>
          </a:solidFill>
          <a:ln w="12700">
            <a:solidFill>
              <a:srgbClr val="E3E9F5"/>
            </a:solidFill>
            <a:prstDash val="solid"/>
          </a:ln>
        </p:spPr>
      </p:sp>
      <p:sp>
        <p:nvSpPr>
          <p:cNvPr id="21" name="text-224"/>
          <p:cNvSpPr txBox="1"/>
          <p:nvPr/>
        </p:nvSpPr>
        <p:spPr>
          <a:xfrm>
            <a:off x="4206240" y="1965960"/>
            <a:ext cx="2103120" cy="365760"/>
          </a:xfrm>
          <a:prstGeom prst="rect">
            <a:avLst/>
          </a:prstGeom>
          <a:noFill/>
          <a:ln/>
        </p:spPr>
        <p:txBody>
          <a:bodyPr wrap="square" lIns="0" tIns="0" rIns="0" bIns="0" rtlCol="0" anchor="ctr"/>
          <a:lstStyle/>
          <a:p>
            <a:pPr algn="ctr" indent="0" marL="0">
              <a:buNone/>
            </a:pPr>
            <a:r>
              <a:rPr lang="en-US" sz="1400" dirty="0">
                <a:solidFill>
                  <a:schemeClr val="tx1"/>
                </a:solidFill>
              </a:rPr>
              <a:t>Login / Logout</a:t>
            </a:r>
            <a:endParaRPr lang="en-US" sz="1400" dirty="0"/>
          </a:p>
        </p:txBody>
      </p:sp>
      <p:sp>
        <p:nvSpPr>
          <p:cNvPr id="22" name="chip-225"/>
          <p:cNvSpPr/>
          <p:nvPr/>
        </p:nvSpPr>
        <p:spPr>
          <a:xfrm>
            <a:off x="6400800" y="1965960"/>
            <a:ext cx="2103120" cy="365760"/>
          </a:xfrm>
          <a:prstGeom prst="roundRect">
            <a:avLst>
              <a:gd name="adj" fmla="val 50000"/>
            </a:avLst>
          </a:prstGeom>
          <a:solidFill>
            <a:srgbClr val="E3E9F5"/>
          </a:solidFill>
          <a:ln w="12700">
            <a:solidFill>
              <a:srgbClr val="E3E9F5"/>
            </a:solidFill>
            <a:prstDash val="solid"/>
          </a:ln>
        </p:spPr>
      </p:sp>
      <p:sp>
        <p:nvSpPr>
          <p:cNvPr id="23" name="text-226"/>
          <p:cNvSpPr txBox="1"/>
          <p:nvPr/>
        </p:nvSpPr>
        <p:spPr>
          <a:xfrm>
            <a:off x="6400800" y="1965960"/>
            <a:ext cx="2103120" cy="365760"/>
          </a:xfrm>
          <a:prstGeom prst="rect">
            <a:avLst/>
          </a:prstGeom>
          <a:noFill/>
          <a:ln/>
        </p:spPr>
        <p:txBody>
          <a:bodyPr wrap="square" lIns="0" tIns="0" rIns="0" bIns="0" rtlCol="0" anchor="ctr"/>
          <a:lstStyle/>
          <a:p>
            <a:pPr algn="ctr" indent="0" marL="0">
              <a:buNone/>
            </a:pPr>
            <a:r>
              <a:rPr lang="en-US" sz="1400" dirty="0">
                <a:solidFill>
                  <a:schemeClr val="tx1"/>
                </a:solidFill>
              </a:rPr>
              <a:t>View dashboard</a:t>
            </a:r>
            <a:endParaRPr lang="en-US" sz="1400" dirty="0"/>
          </a:p>
        </p:txBody>
      </p:sp>
      <p:sp>
        <p:nvSpPr>
          <p:cNvPr id="24" name="chip-227"/>
          <p:cNvSpPr/>
          <p:nvPr/>
        </p:nvSpPr>
        <p:spPr>
          <a:xfrm>
            <a:off x="4206240" y="2423160"/>
            <a:ext cx="4297680" cy="365760"/>
          </a:xfrm>
          <a:prstGeom prst="roundRect">
            <a:avLst>
              <a:gd name="adj" fmla="val 50000"/>
            </a:avLst>
          </a:prstGeom>
          <a:solidFill>
            <a:srgbClr val="E3E9F5"/>
          </a:solidFill>
          <a:ln w="12700">
            <a:solidFill>
              <a:srgbClr val="E3E9F5"/>
            </a:solidFill>
            <a:prstDash val="solid"/>
          </a:ln>
        </p:spPr>
      </p:sp>
      <p:sp>
        <p:nvSpPr>
          <p:cNvPr id="25" name="text-228"/>
          <p:cNvSpPr txBox="1"/>
          <p:nvPr/>
        </p:nvSpPr>
        <p:spPr>
          <a:xfrm>
            <a:off x="4206240" y="2423160"/>
            <a:ext cx="4297680" cy="365760"/>
          </a:xfrm>
          <a:prstGeom prst="rect">
            <a:avLst/>
          </a:prstGeom>
          <a:noFill/>
          <a:ln/>
        </p:spPr>
        <p:txBody>
          <a:bodyPr wrap="square" lIns="0" tIns="0" rIns="0" bIns="0" rtlCol="0" anchor="ctr"/>
          <a:lstStyle/>
          <a:p>
            <a:pPr algn="ctr" indent="0" marL="0">
              <a:buNone/>
            </a:pPr>
            <a:r>
              <a:rPr lang="en-US" sz="1400" dirty="0">
                <a:solidFill>
                  <a:schemeClr val="tx1"/>
                </a:solidFill>
              </a:rPr>
              <a:t>Create, update, delete news</a:t>
            </a:r>
            <a:endParaRPr lang="en-US" sz="1400" dirty="0"/>
          </a:p>
        </p:txBody>
      </p:sp>
      <p:sp>
        <p:nvSpPr>
          <p:cNvPr id="26" name="chip-229"/>
          <p:cNvSpPr/>
          <p:nvPr/>
        </p:nvSpPr>
        <p:spPr>
          <a:xfrm>
            <a:off x="4206240" y="2880360"/>
            <a:ext cx="2103120" cy="365760"/>
          </a:xfrm>
          <a:prstGeom prst="roundRect">
            <a:avLst>
              <a:gd name="adj" fmla="val 50000"/>
            </a:avLst>
          </a:prstGeom>
          <a:solidFill>
            <a:srgbClr val="E3E9F5"/>
          </a:solidFill>
          <a:ln w="12700">
            <a:solidFill>
              <a:srgbClr val="E3E9F5"/>
            </a:solidFill>
            <a:prstDash val="solid"/>
          </a:ln>
        </p:spPr>
      </p:sp>
      <p:sp>
        <p:nvSpPr>
          <p:cNvPr id="27" name="text-230"/>
          <p:cNvSpPr txBox="1"/>
          <p:nvPr/>
        </p:nvSpPr>
        <p:spPr>
          <a:xfrm>
            <a:off x="4206240" y="2880360"/>
            <a:ext cx="2103120" cy="365760"/>
          </a:xfrm>
          <a:prstGeom prst="rect">
            <a:avLst/>
          </a:prstGeom>
          <a:noFill/>
          <a:ln/>
        </p:spPr>
        <p:txBody>
          <a:bodyPr wrap="square" lIns="0" tIns="0" rIns="0" bIns="0" rtlCol="0" anchor="ctr"/>
          <a:lstStyle/>
          <a:p>
            <a:pPr algn="ctr" indent="0" marL="0">
              <a:buNone/>
            </a:pPr>
            <a:r>
              <a:rPr lang="en-US" sz="1400" dirty="0">
                <a:solidFill>
                  <a:schemeClr val="tx1"/>
                </a:solidFill>
              </a:rPr>
              <a:t>Manage profile</a:t>
            </a:r>
            <a:endParaRPr lang="en-US" sz="1400" dirty="0"/>
          </a:p>
        </p:txBody>
      </p:sp>
      <p:sp>
        <p:nvSpPr>
          <p:cNvPr id="28" name="chip-231"/>
          <p:cNvSpPr/>
          <p:nvPr/>
        </p:nvSpPr>
        <p:spPr>
          <a:xfrm>
            <a:off x="6400800" y="2880360"/>
            <a:ext cx="2103120" cy="365760"/>
          </a:xfrm>
          <a:prstGeom prst="roundRect">
            <a:avLst>
              <a:gd name="adj" fmla="val 50000"/>
            </a:avLst>
          </a:prstGeom>
          <a:solidFill>
            <a:srgbClr val="E3E9F5"/>
          </a:solidFill>
          <a:ln w="12700">
            <a:solidFill>
              <a:srgbClr val="E3E9F5"/>
            </a:solidFill>
            <a:prstDash val="solid"/>
          </a:ln>
        </p:spPr>
      </p:sp>
      <p:sp>
        <p:nvSpPr>
          <p:cNvPr id="29" name="text-232"/>
          <p:cNvSpPr txBox="1"/>
          <p:nvPr/>
        </p:nvSpPr>
        <p:spPr>
          <a:xfrm>
            <a:off x="6400800" y="2880360"/>
            <a:ext cx="2103120" cy="365760"/>
          </a:xfrm>
          <a:prstGeom prst="rect">
            <a:avLst/>
          </a:prstGeom>
          <a:noFill/>
          <a:ln/>
        </p:spPr>
        <p:txBody>
          <a:bodyPr wrap="square" lIns="0" tIns="0" rIns="0" bIns="0" rtlCol="0" anchor="ctr"/>
          <a:lstStyle/>
          <a:p>
            <a:pPr algn="ctr" indent="0" marL="0">
              <a:buNone/>
            </a:pPr>
            <a:r>
              <a:rPr lang="en-US" sz="1400" dirty="0">
                <a:solidFill>
                  <a:schemeClr val="tx1"/>
                </a:solidFill>
              </a:rPr>
              <a:t>Change password</a:t>
            </a:r>
            <a:endParaRPr lang="en-US" sz="1400" dirty="0"/>
          </a:p>
        </p:txBody>
      </p:sp>
      <p:sp>
        <p:nvSpPr>
          <p:cNvPr id="30" name="card-233"/>
          <p:cNvSpPr/>
          <p:nvPr/>
        </p:nvSpPr>
        <p:spPr>
          <a:xfrm>
            <a:off x="457200" y="4114800"/>
            <a:ext cx="8229600" cy="502920"/>
          </a:xfrm>
          <a:prstGeom prst="roundRect">
            <a:avLst>
              <a:gd name="adj" fmla="val 1454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1" name="text-234"/>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400" b="1" dirty="0">
                <a:solidFill>
                  <a:schemeClr val="accent2"/>
                </a:solidFill>
              </a:rPr>
              <a:t>Note:  </a:t>
            </a:r>
            <a:pPr indent="0" marL="0">
              <a:buNone/>
            </a:pPr>
            <a:r>
              <a:rPr lang="en-US" sz="1400" dirty="0">
                <a:solidFill>
                  <a:schemeClr val="tx1"/>
                </a:solidFill>
              </a:rPr>
              <a:t>DB roles (ADMIN, CONTENT_MANAGER …) exist but are not enforced per route yet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Key workflows</a:t>
            </a:r>
            <a:endParaRPr lang="en-US" sz="3000" dirty="0"/>
          </a:p>
        </p:txBody>
      </p:sp>
      <p:sp>
        <p:nvSpPr>
          <p:cNvPr id="4" name="text-235"/>
          <p:cNvSpPr txBox="1"/>
          <p:nvPr/>
        </p:nvSpPr>
        <p:spPr>
          <a:xfrm>
            <a:off x="457200" y="1051560"/>
            <a:ext cx="8229600" cy="320040"/>
          </a:xfrm>
          <a:prstGeom prst="rect">
            <a:avLst/>
          </a:prstGeom>
          <a:noFill/>
          <a:ln/>
        </p:spPr>
        <p:txBody>
          <a:bodyPr wrap="square" lIns="0" tIns="0" rIns="0" bIns="0" rtlCol="0" anchor="t"/>
          <a:lstStyle/>
          <a:p>
            <a:pPr indent="0" marL="0">
              <a:buNone/>
            </a:pPr>
            <a:r>
              <a:rPr lang="en-US" sz="1600" b="1" dirty="0">
                <a:solidFill>
                  <a:schemeClr val="tx2"/>
                </a:solidFill>
              </a:rPr>
              <a:t>Administrator login</a:t>
            </a:r>
            <a:endParaRPr lang="en-US" sz="1600" dirty="0"/>
          </a:p>
        </p:txBody>
      </p:sp>
      <p:sp>
        <p:nvSpPr>
          <p:cNvPr id="5" name="step-236"/>
          <p:cNvSpPr/>
          <p:nvPr/>
        </p:nvSpPr>
        <p:spPr>
          <a:xfrm>
            <a:off x="457200" y="1463040"/>
            <a:ext cx="1481328" cy="1097280"/>
          </a:xfrm>
          <a:prstGeom prst="roundRect">
            <a:avLst>
              <a:gd name="adj" fmla="val 6667"/>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6" name="text-237"/>
          <p:cNvSpPr txBox="1"/>
          <p:nvPr/>
        </p:nvSpPr>
        <p:spPr>
          <a:xfrm>
            <a:off x="530352" y="146304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Enter credentials</a:t>
            </a:r>
            <a:endParaRPr lang="en-US" sz="1400" dirty="0"/>
          </a:p>
        </p:txBody>
      </p:sp>
      <p:sp>
        <p:nvSpPr>
          <p:cNvPr id="7" name="arrow-238"/>
          <p:cNvSpPr/>
          <p:nvPr/>
        </p:nvSpPr>
        <p:spPr>
          <a:xfrm>
            <a:off x="1938528" y="1892808"/>
            <a:ext cx="205740" cy="237744"/>
          </a:xfrm>
          <a:prstGeom prst="rightArrow">
            <a:avLst/>
          </a:prstGeom>
          <a:solidFill>
            <a:schemeClr val="accent2"/>
          </a:solidFill>
          <a:ln w="12700">
            <a:solidFill>
              <a:schemeClr val="accent2"/>
            </a:solidFill>
            <a:prstDash val="solid"/>
          </a:ln>
        </p:spPr>
      </p:sp>
      <p:sp>
        <p:nvSpPr>
          <p:cNvPr id="8" name="step-239"/>
          <p:cNvSpPr/>
          <p:nvPr/>
        </p:nvSpPr>
        <p:spPr>
          <a:xfrm>
            <a:off x="2144268" y="1463040"/>
            <a:ext cx="1481328" cy="1097280"/>
          </a:xfrm>
          <a:prstGeom prst="roundRect">
            <a:avLst>
              <a:gd name="adj" fmla="val 6667"/>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9" name="text-240"/>
          <p:cNvSpPr txBox="1"/>
          <p:nvPr/>
        </p:nvSpPr>
        <p:spPr>
          <a:xfrm>
            <a:off x="2217420" y="146304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POST /auth/login</a:t>
            </a:r>
            <a:endParaRPr lang="en-US" sz="1400" dirty="0"/>
          </a:p>
        </p:txBody>
      </p:sp>
      <p:sp>
        <p:nvSpPr>
          <p:cNvPr id="10" name="arrow-241"/>
          <p:cNvSpPr/>
          <p:nvPr/>
        </p:nvSpPr>
        <p:spPr>
          <a:xfrm>
            <a:off x="3625596" y="1892808"/>
            <a:ext cx="205740" cy="237744"/>
          </a:xfrm>
          <a:prstGeom prst="rightArrow">
            <a:avLst/>
          </a:prstGeom>
          <a:solidFill>
            <a:schemeClr val="accent2"/>
          </a:solidFill>
          <a:ln w="12700">
            <a:solidFill>
              <a:schemeClr val="accent2"/>
            </a:solidFill>
            <a:prstDash val="solid"/>
          </a:ln>
        </p:spPr>
      </p:sp>
      <p:sp>
        <p:nvSpPr>
          <p:cNvPr id="11" name="step-242"/>
          <p:cNvSpPr/>
          <p:nvPr/>
        </p:nvSpPr>
        <p:spPr>
          <a:xfrm>
            <a:off x="3831336" y="1463040"/>
            <a:ext cx="1481328" cy="1097280"/>
          </a:xfrm>
          <a:prstGeom prst="roundRect">
            <a:avLst>
              <a:gd name="adj" fmla="val 6667"/>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2" name="text-243"/>
          <p:cNvSpPr txBox="1"/>
          <p:nvPr/>
        </p:nvSpPr>
        <p:spPr>
          <a:xfrm>
            <a:off x="3904488" y="146304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Find admin in MySQL</a:t>
            </a:r>
            <a:endParaRPr lang="en-US" sz="1400" dirty="0"/>
          </a:p>
        </p:txBody>
      </p:sp>
      <p:sp>
        <p:nvSpPr>
          <p:cNvPr id="13" name="arrow-244"/>
          <p:cNvSpPr/>
          <p:nvPr/>
        </p:nvSpPr>
        <p:spPr>
          <a:xfrm>
            <a:off x="5312664" y="1892808"/>
            <a:ext cx="205740" cy="237744"/>
          </a:xfrm>
          <a:prstGeom prst="rightArrow">
            <a:avLst/>
          </a:prstGeom>
          <a:solidFill>
            <a:schemeClr val="accent2"/>
          </a:solidFill>
          <a:ln w="12700">
            <a:solidFill>
              <a:schemeClr val="accent2"/>
            </a:solidFill>
            <a:prstDash val="solid"/>
          </a:ln>
        </p:spPr>
      </p:sp>
      <p:sp>
        <p:nvSpPr>
          <p:cNvPr id="14" name="step-245"/>
          <p:cNvSpPr/>
          <p:nvPr/>
        </p:nvSpPr>
        <p:spPr>
          <a:xfrm>
            <a:off x="5518404" y="1463040"/>
            <a:ext cx="1481328" cy="1097280"/>
          </a:xfrm>
          <a:prstGeom prst="roundRect">
            <a:avLst>
              <a:gd name="adj" fmla="val 6667"/>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5" name="text-246"/>
          <p:cNvSpPr txBox="1"/>
          <p:nvPr/>
        </p:nvSpPr>
        <p:spPr>
          <a:xfrm>
            <a:off x="5591556" y="146304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bcrypt check, issue JWT</a:t>
            </a:r>
            <a:endParaRPr lang="en-US" sz="1400" dirty="0"/>
          </a:p>
        </p:txBody>
      </p:sp>
      <p:sp>
        <p:nvSpPr>
          <p:cNvPr id="16" name="arrow-247"/>
          <p:cNvSpPr/>
          <p:nvPr/>
        </p:nvSpPr>
        <p:spPr>
          <a:xfrm>
            <a:off x="6999732" y="1892808"/>
            <a:ext cx="205740" cy="237744"/>
          </a:xfrm>
          <a:prstGeom prst="rightArrow">
            <a:avLst/>
          </a:prstGeom>
          <a:solidFill>
            <a:schemeClr val="accent2"/>
          </a:solidFill>
          <a:ln w="12700">
            <a:solidFill>
              <a:schemeClr val="accent2"/>
            </a:solidFill>
            <a:prstDash val="solid"/>
          </a:ln>
        </p:spPr>
      </p:sp>
      <p:sp>
        <p:nvSpPr>
          <p:cNvPr id="17" name="step-248"/>
          <p:cNvSpPr/>
          <p:nvPr/>
        </p:nvSpPr>
        <p:spPr>
          <a:xfrm>
            <a:off x="7205472" y="1463040"/>
            <a:ext cx="1481328" cy="1097280"/>
          </a:xfrm>
          <a:prstGeom prst="roundRect">
            <a:avLst>
              <a:gd name="adj" fmla="val 6667"/>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8" name="text-249"/>
          <p:cNvSpPr txBox="1"/>
          <p:nvPr/>
        </p:nvSpPr>
        <p:spPr>
          <a:xfrm>
            <a:off x="7278624" y="146304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Token stored, dashboard opens</a:t>
            </a:r>
            <a:endParaRPr lang="en-US" sz="1400" dirty="0"/>
          </a:p>
        </p:txBody>
      </p:sp>
      <p:sp>
        <p:nvSpPr>
          <p:cNvPr id="19" name="text-250"/>
          <p:cNvSpPr txBox="1"/>
          <p:nvPr/>
        </p:nvSpPr>
        <p:spPr>
          <a:xfrm>
            <a:off x="457200" y="2834640"/>
            <a:ext cx="8229600" cy="320040"/>
          </a:xfrm>
          <a:prstGeom prst="rect">
            <a:avLst/>
          </a:prstGeom>
          <a:noFill/>
          <a:ln/>
        </p:spPr>
        <p:txBody>
          <a:bodyPr wrap="square" lIns="0" tIns="0" rIns="0" bIns="0" rtlCol="0" anchor="t"/>
          <a:lstStyle/>
          <a:p>
            <a:pPr indent="0" marL="0">
              <a:buNone/>
            </a:pPr>
            <a:r>
              <a:rPr lang="en-US" sz="1600" b="1" dirty="0">
                <a:solidFill>
                  <a:schemeClr val="tx2"/>
                </a:solidFill>
              </a:rPr>
              <a:t>Create news article</a:t>
            </a:r>
            <a:endParaRPr lang="en-US" sz="1600" dirty="0"/>
          </a:p>
        </p:txBody>
      </p:sp>
      <p:sp>
        <p:nvSpPr>
          <p:cNvPr id="20" name="step-251"/>
          <p:cNvSpPr/>
          <p:nvPr/>
        </p:nvSpPr>
        <p:spPr>
          <a:xfrm>
            <a:off x="457200" y="3246120"/>
            <a:ext cx="1481328" cy="1097280"/>
          </a:xfrm>
          <a:prstGeom prst="roundRect">
            <a:avLst>
              <a:gd name="adj" fmla="val 6667"/>
            </a:avLst>
          </a:prstGeom>
          <a:solidFill>
            <a:schemeClr val="accent3"/>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21" name="text-252"/>
          <p:cNvSpPr txBox="1"/>
          <p:nvPr/>
        </p:nvSpPr>
        <p:spPr>
          <a:xfrm>
            <a:off x="530352" y="324612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Authenticated admin</a:t>
            </a:r>
            <a:endParaRPr lang="en-US" sz="1400" dirty="0"/>
          </a:p>
        </p:txBody>
      </p:sp>
      <p:sp>
        <p:nvSpPr>
          <p:cNvPr id="22" name="arrow-253"/>
          <p:cNvSpPr/>
          <p:nvPr/>
        </p:nvSpPr>
        <p:spPr>
          <a:xfrm>
            <a:off x="1938528" y="3675888"/>
            <a:ext cx="205740" cy="237744"/>
          </a:xfrm>
          <a:prstGeom prst="rightArrow">
            <a:avLst/>
          </a:prstGeom>
          <a:solidFill>
            <a:schemeClr val="accent2"/>
          </a:solidFill>
          <a:ln w="12700">
            <a:solidFill>
              <a:schemeClr val="accent2"/>
            </a:solidFill>
            <a:prstDash val="solid"/>
          </a:ln>
        </p:spPr>
      </p:sp>
      <p:sp>
        <p:nvSpPr>
          <p:cNvPr id="23" name="step-254"/>
          <p:cNvSpPr/>
          <p:nvPr/>
        </p:nvSpPr>
        <p:spPr>
          <a:xfrm>
            <a:off x="2144268" y="3246120"/>
            <a:ext cx="1481328" cy="1097280"/>
          </a:xfrm>
          <a:prstGeom prst="roundRect">
            <a:avLst>
              <a:gd name="adj" fmla="val 6667"/>
            </a:avLst>
          </a:prstGeom>
          <a:solidFill>
            <a:schemeClr val="accent3"/>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24" name="text-255"/>
          <p:cNvSpPr txBox="1"/>
          <p:nvPr/>
        </p:nvSpPr>
        <p:spPr>
          <a:xfrm>
            <a:off x="2217420" y="324612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Fill form, attach image</a:t>
            </a:r>
            <a:endParaRPr lang="en-US" sz="1400" dirty="0"/>
          </a:p>
        </p:txBody>
      </p:sp>
      <p:sp>
        <p:nvSpPr>
          <p:cNvPr id="25" name="arrow-256"/>
          <p:cNvSpPr/>
          <p:nvPr/>
        </p:nvSpPr>
        <p:spPr>
          <a:xfrm>
            <a:off x="3625596" y="3675888"/>
            <a:ext cx="205740" cy="237744"/>
          </a:xfrm>
          <a:prstGeom prst="rightArrow">
            <a:avLst/>
          </a:prstGeom>
          <a:solidFill>
            <a:schemeClr val="accent2"/>
          </a:solidFill>
          <a:ln w="12700">
            <a:solidFill>
              <a:schemeClr val="accent2"/>
            </a:solidFill>
            <a:prstDash val="solid"/>
          </a:ln>
        </p:spPr>
      </p:sp>
      <p:sp>
        <p:nvSpPr>
          <p:cNvPr id="26" name="step-257"/>
          <p:cNvSpPr/>
          <p:nvPr/>
        </p:nvSpPr>
        <p:spPr>
          <a:xfrm>
            <a:off x="3831336" y="3246120"/>
            <a:ext cx="1481328" cy="1097280"/>
          </a:xfrm>
          <a:prstGeom prst="roundRect">
            <a:avLst>
              <a:gd name="adj" fmla="val 6667"/>
            </a:avLst>
          </a:prstGeom>
          <a:solidFill>
            <a:schemeClr val="accent3"/>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27" name="text-258"/>
          <p:cNvSpPr txBox="1"/>
          <p:nvPr/>
        </p:nvSpPr>
        <p:spPr>
          <a:xfrm>
            <a:off x="3904488" y="324612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Validate fields and file</a:t>
            </a:r>
            <a:endParaRPr lang="en-US" sz="1400" dirty="0"/>
          </a:p>
        </p:txBody>
      </p:sp>
      <p:sp>
        <p:nvSpPr>
          <p:cNvPr id="28" name="arrow-259"/>
          <p:cNvSpPr/>
          <p:nvPr/>
        </p:nvSpPr>
        <p:spPr>
          <a:xfrm>
            <a:off x="5312664" y="3675888"/>
            <a:ext cx="205740" cy="237744"/>
          </a:xfrm>
          <a:prstGeom prst="rightArrow">
            <a:avLst/>
          </a:prstGeom>
          <a:solidFill>
            <a:schemeClr val="accent2"/>
          </a:solidFill>
          <a:ln w="12700">
            <a:solidFill>
              <a:schemeClr val="accent2"/>
            </a:solidFill>
            <a:prstDash val="solid"/>
          </a:ln>
        </p:spPr>
      </p:sp>
      <p:sp>
        <p:nvSpPr>
          <p:cNvPr id="29" name="step-260"/>
          <p:cNvSpPr/>
          <p:nvPr/>
        </p:nvSpPr>
        <p:spPr>
          <a:xfrm>
            <a:off x="5518404" y="3246120"/>
            <a:ext cx="1481328" cy="1097280"/>
          </a:xfrm>
          <a:prstGeom prst="roundRect">
            <a:avLst>
              <a:gd name="adj" fmla="val 6667"/>
            </a:avLst>
          </a:prstGeom>
          <a:solidFill>
            <a:schemeClr val="accent3"/>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30" name="text-261"/>
          <p:cNvSpPr txBox="1"/>
          <p:nvPr/>
        </p:nvSpPr>
        <p:spPr>
          <a:xfrm>
            <a:off x="5591556" y="324612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Store file, insert record</a:t>
            </a:r>
            <a:endParaRPr lang="en-US" sz="1400" dirty="0"/>
          </a:p>
        </p:txBody>
      </p:sp>
      <p:sp>
        <p:nvSpPr>
          <p:cNvPr id="31" name="arrow-262"/>
          <p:cNvSpPr/>
          <p:nvPr/>
        </p:nvSpPr>
        <p:spPr>
          <a:xfrm>
            <a:off x="6999732" y="3675888"/>
            <a:ext cx="205740" cy="237744"/>
          </a:xfrm>
          <a:prstGeom prst="rightArrow">
            <a:avLst/>
          </a:prstGeom>
          <a:solidFill>
            <a:schemeClr val="accent2"/>
          </a:solidFill>
          <a:ln w="12700">
            <a:solidFill>
              <a:schemeClr val="accent2"/>
            </a:solidFill>
            <a:prstDash val="solid"/>
          </a:ln>
        </p:spPr>
      </p:sp>
      <p:sp>
        <p:nvSpPr>
          <p:cNvPr id="32" name="step-263"/>
          <p:cNvSpPr/>
          <p:nvPr/>
        </p:nvSpPr>
        <p:spPr>
          <a:xfrm>
            <a:off x="7205472" y="3246120"/>
            <a:ext cx="1481328" cy="1097280"/>
          </a:xfrm>
          <a:prstGeom prst="roundRect">
            <a:avLst>
              <a:gd name="adj" fmla="val 6667"/>
            </a:avLst>
          </a:prstGeom>
          <a:solidFill>
            <a:schemeClr val="accent3"/>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33" name="text-264"/>
          <p:cNvSpPr txBox="1"/>
          <p:nvPr/>
        </p:nvSpPr>
        <p:spPr>
          <a:xfrm>
            <a:off x="7278624" y="3246120"/>
            <a:ext cx="1335024" cy="1097280"/>
          </a:xfrm>
          <a:prstGeom prst="rect">
            <a:avLst/>
          </a:prstGeom>
          <a:noFill/>
          <a:ln/>
        </p:spPr>
        <p:txBody>
          <a:bodyPr wrap="square" lIns="0" tIns="0" rIns="0" bIns="0" rtlCol="0" anchor="ctr"/>
          <a:lstStyle/>
          <a:p>
            <a:pPr algn="ctr" indent="0" marL="0">
              <a:buNone/>
            </a:pPr>
            <a:r>
              <a:rPr lang="en-US" sz="1400" b="1" dirty="0">
                <a:solidFill>
                  <a:schemeClr val="bg1"/>
                </a:solidFill>
              </a:rPr>
              <a:t>Success message shown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Software architecture</a:t>
            </a:r>
            <a:endParaRPr lang="en-US" sz="3000" dirty="0"/>
          </a:p>
        </p:txBody>
      </p:sp>
      <p:sp>
        <p:nvSpPr>
          <p:cNvPr id="4" name="layer-265"/>
          <p:cNvSpPr/>
          <p:nvPr/>
        </p:nvSpPr>
        <p:spPr>
          <a:xfrm>
            <a:off x="457200" y="1097280"/>
            <a:ext cx="5120640" cy="777240"/>
          </a:xfrm>
          <a:prstGeom prst="roundRect">
            <a:avLst>
              <a:gd name="adj" fmla="val 9412"/>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5" name="text-266"/>
          <p:cNvSpPr txBox="1"/>
          <p:nvPr/>
        </p:nvSpPr>
        <p:spPr>
          <a:xfrm>
            <a:off x="594360" y="1097280"/>
            <a:ext cx="4846320" cy="777240"/>
          </a:xfrm>
          <a:prstGeom prst="rect">
            <a:avLst/>
          </a:prstGeom>
          <a:noFill/>
          <a:ln/>
        </p:spPr>
        <p:txBody>
          <a:bodyPr wrap="square" lIns="0" tIns="0" rIns="0" bIns="0" rtlCol="0" anchor="ctr"/>
          <a:lstStyle/>
          <a:p>
            <a:pPr indent="0" marL="0">
              <a:buNone/>
            </a:pPr>
            <a:r>
              <a:rPr lang="en-US" sz="1500" b="1" dirty="0">
                <a:solidFill>
                  <a:schemeClr val="bg1"/>
                </a:solidFill>
              </a:rPr>
              <a:t>Presentation layer</a:t>
            </a:r>
            <a:endParaRPr lang="en-US" sz="1400" dirty="0"/>
          </a:p>
          <a:p>
            <a:pPr indent="0" marL="0">
              <a:buNone/>
            </a:pPr>
            <a:r>
              <a:rPr lang="en-US" sz="1400" dirty="0">
                <a:solidFill>
                  <a:schemeClr val="bg1"/>
                </a:solidFill>
              </a:rPr>
              <a:t>React 18 · React Router · Context · Axios</a:t>
            </a:r>
            <a:endParaRPr lang="en-US" sz="1400" dirty="0"/>
          </a:p>
        </p:txBody>
      </p:sp>
      <p:sp>
        <p:nvSpPr>
          <p:cNvPr id="6" name="text-267"/>
          <p:cNvSpPr txBox="1"/>
          <p:nvPr/>
        </p:nvSpPr>
        <p:spPr>
          <a:xfrm>
            <a:off x="3246120" y="1920240"/>
            <a:ext cx="2286000" cy="274320"/>
          </a:xfrm>
          <a:prstGeom prst="rect">
            <a:avLst/>
          </a:prstGeom>
          <a:noFill/>
          <a:ln/>
        </p:spPr>
        <p:txBody>
          <a:bodyPr wrap="square" lIns="0" tIns="0" rIns="0" bIns="0" rtlCol="0" anchor="t"/>
          <a:lstStyle/>
          <a:p>
            <a:pPr indent="0" marL="0">
              <a:buNone/>
            </a:pPr>
            <a:r>
              <a:rPr lang="en-US" sz="1200" i="1" dirty="0">
                <a:solidFill>
                  <a:schemeClr val="accent6"/>
                </a:solidFill>
              </a:rPr>
              <a:t>HTTP / JSON + multipart</a:t>
            </a:r>
            <a:endParaRPr lang="en-US" sz="1200" dirty="0"/>
          </a:p>
        </p:txBody>
      </p:sp>
      <p:sp>
        <p:nvSpPr>
          <p:cNvPr id="7" name="arrow-268"/>
          <p:cNvSpPr/>
          <p:nvPr/>
        </p:nvSpPr>
        <p:spPr>
          <a:xfrm>
            <a:off x="2880360" y="1901952"/>
            <a:ext cx="274320" cy="310896"/>
          </a:xfrm>
          <a:prstGeom prst="downArrow">
            <a:avLst/>
          </a:prstGeom>
          <a:solidFill>
            <a:schemeClr val="accent2"/>
          </a:solidFill>
          <a:ln w="12700">
            <a:solidFill>
              <a:schemeClr val="accent2"/>
            </a:solidFill>
            <a:prstDash val="solid"/>
          </a:ln>
        </p:spPr>
      </p:sp>
      <p:sp>
        <p:nvSpPr>
          <p:cNvPr id="8" name="layer-269"/>
          <p:cNvSpPr/>
          <p:nvPr/>
        </p:nvSpPr>
        <p:spPr>
          <a:xfrm>
            <a:off x="457200" y="2286000"/>
            <a:ext cx="5120640" cy="868680"/>
          </a:xfrm>
          <a:prstGeom prst="roundRect">
            <a:avLst>
              <a:gd name="adj" fmla="val 8421"/>
            </a:avLst>
          </a:prstGeom>
          <a:solidFill>
            <a:schemeClr val="accent5"/>
          </a:solidFill>
          <a:ln w="12700">
            <a:solidFill>
              <a:schemeClr val="accent5"/>
            </a:solidFill>
            <a:prstDash val="solid"/>
          </a:ln>
          <a:effectLst>
            <a:outerShdw sx="100000" sy="100000" kx="0" ky="0" algn="bl" rotWithShape="0" blurRad="76200" dist="25400" dir="5400000">
              <a:srgbClr val="000000">
                <a:alpha val="12000"/>
              </a:srgbClr>
            </a:outerShdw>
          </a:effectLst>
        </p:spPr>
      </p:sp>
      <p:sp>
        <p:nvSpPr>
          <p:cNvPr id="9" name="text-270"/>
          <p:cNvSpPr txBox="1"/>
          <p:nvPr/>
        </p:nvSpPr>
        <p:spPr>
          <a:xfrm>
            <a:off x="594360" y="2286000"/>
            <a:ext cx="4846320" cy="868680"/>
          </a:xfrm>
          <a:prstGeom prst="rect">
            <a:avLst/>
          </a:prstGeom>
          <a:noFill/>
          <a:ln/>
        </p:spPr>
        <p:txBody>
          <a:bodyPr wrap="square" lIns="0" tIns="0" rIns="0" bIns="0" rtlCol="0" anchor="ctr"/>
          <a:lstStyle/>
          <a:p>
            <a:pPr indent="0" marL="0">
              <a:buNone/>
            </a:pPr>
            <a:r>
              <a:rPr lang="en-US" sz="1500" b="1" dirty="0">
                <a:solidFill>
                  <a:schemeClr val="bg1"/>
                </a:solidFill>
              </a:rPr>
              <a:t>Application / API layer</a:t>
            </a:r>
            <a:endParaRPr lang="en-US" sz="1400" dirty="0"/>
          </a:p>
          <a:p>
            <a:pPr indent="0" marL="0">
              <a:buNone/>
            </a:pPr>
            <a:r>
              <a:rPr lang="en-US" sz="1400" dirty="0">
                <a:solidFill>
                  <a:schemeClr val="bg1"/>
                </a:solidFill>
              </a:rPr>
              <a:t>Node.js 20 · Express · middleware · controllers</a:t>
            </a:r>
            <a:endParaRPr lang="en-US" sz="1400" dirty="0"/>
          </a:p>
        </p:txBody>
      </p:sp>
      <p:sp>
        <p:nvSpPr>
          <p:cNvPr id="10" name="arrow-271"/>
          <p:cNvSpPr/>
          <p:nvPr/>
        </p:nvSpPr>
        <p:spPr>
          <a:xfrm>
            <a:off x="1737360" y="3200400"/>
            <a:ext cx="274320" cy="310896"/>
          </a:xfrm>
          <a:prstGeom prst="downArrow">
            <a:avLst/>
          </a:prstGeom>
          <a:solidFill>
            <a:schemeClr val="accent2"/>
          </a:solidFill>
          <a:ln w="12700">
            <a:solidFill>
              <a:schemeClr val="accent2"/>
            </a:solidFill>
            <a:prstDash val="solid"/>
          </a:ln>
        </p:spPr>
      </p:sp>
      <p:sp>
        <p:nvSpPr>
          <p:cNvPr id="11" name="arrow-272"/>
          <p:cNvSpPr/>
          <p:nvPr/>
        </p:nvSpPr>
        <p:spPr>
          <a:xfrm>
            <a:off x="4023360" y="3200400"/>
            <a:ext cx="274320" cy="310896"/>
          </a:xfrm>
          <a:prstGeom prst="downArrow">
            <a:avLst/>
          </a:prstGeom>
          <a:solidFill>
            <a:schemeClr val="accent2"/>
          </a:solidFill>
          <a:ln w="12700">
            <a:solidFill>
              <a:schemeClr val="accent2"/>
            </a:solidFill>
            <a:prstDash val="solid"/>
          </a:ln>
        </p:spPr>
      </p:sp>
      <p:sp>
        <p:nvSpPr>
          <p:cNvPr id="12" name="layer-273"/>
          <p:cNvSpPr/>
          <p:nvPr/>
        </p:nvSpPr>
        <p:spPr>
          <a:xfrm>
            <a:off x="457200" y="3547872"/>
            <a:ext cx="2468880" cy="9144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text-274"/>
          <p:cNvSpPr txBox="1"/>
          <p:nvPr/>
        </p:nvSpPr>
        <p:spPr>
          <a:xfrm>
            <a:off x="594360" y="3547872"/>
            <a:ext cx="2194560" cy="914400"/>
          </a:xfrm>
          <a:prstGeom prst="rect">
            <a:avLst/>
          </a:prstGeom>
          <a:noFill/>
          <a:ln/>
        </p:spPr>
        <p:txBody>
          <a:bodyPr wrap="square" lIns="0" tIns="0" rIns="0" bIns="0" rtlCol="0" anchor="ctr"/>
          <a:lstStyle/>
          <a:p>
            <a:pPr indent="0" marL="0">
              <a:buNone/>
            </a:pPr>
            <a:r>
              <a:rPr lang="en-US" sz="1500" b="1" dirty="0">
                <a:solidFill>
                  <a:schemeClr val="tx2"/>
                </a:solidFill>
              </a:rPr>
              <a:t>Data layer</a:t>
            </a:r>
            <a:endParaRPr lang="en-US" sz="1400" dirty="0"/>
          </a:p>
          <a:p>
            <a:pPr indent="0" marL="0">
              <a:buNone/>
            </a:pPr>
            <a:r>
              <a:rPr lang="en-US" sz="1400" dirty="0">
                <a:solidFill>
                  <a:schemeClr val="tx2"/>
                </a:solidFill>
              </a:rPr>
              <a:t>MySQL 8 · parameterized SQL</a:t>
            </a:r>
            <a:endParaRPr lang="en-US" sz="1400" dirty="0"/>
          </a:p>
        </p:txBody>
      </p:sp>
      <p:sp>
        <p:nvSpPr>
          <p:cNvPr id="14" name="layer-275"/>
          <p:cNvSpPr/>
          <p:nvPr/>
        </p:nvSpPr>
        <p:spPr>
          <a:xfrm>
            <a:off x="3108960" y="3547872"/>
            <a:ext cx="2468880" cy="9144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text-276"/>
          <p:cNvSpPr txBox="1"/>
          <p:nvPr/>
        </p:nvSpPr>
        <p:spPr>
          <a:xfrm>
            <a:off x="3246120" y="3547872"/>
            <a:ext cx="2194560" cy="914400"/>
          </a:xfrm>
          <a:prstGeom prst="rect">
            <a:avLst/>
          </a:prstGeom>
          <a:noFill/>
          <a:ln/>
        </p:spPr>
        <p:txBody>
          <a:bodyPr wrap="square" lIns="0" tIns="0" rIns="0" bIns="0" rtlCol="0" anchor="ctr"/>
          <a:lstStyle/>
          <a:p>
            <a:pPr indent="0" marL="0">
              <a:buNone/>
            </a:pPr>
            <a:r>
              <a:rPr lang="en-US" sz="1500" b="1" dirty="0">
                <a:solidFill>
                  <a:schemeClr val="tx2"/>
                </a:solidFill>
              </a:rPr>
              <a:t>File storage</a:t>
            </a:r>
            <a:endParaRPr lang="en-US" sz="1400" dirty="0"/>
          </a:p>
          <a:p>
            <a:pPr indent="0" marL="0">
              <a:buNone/>
            </a:pPr>
            <a:r>
              <a:rPr lang="en-US" sz="1400" dirty="0">
                <a:solidFill>
                  <a:schemeClr val="tx2"/>
                </a:solidFill>
              </a:rPr>
              <a:t>uploads/news · quarantine</a:t>
            </a:r>
            <a:endParaRPr lang="en-US" sz="1400" dirty="0"/>
          </a:p>
        </p:txBody>
      </p:sp>
      <p:sp>
        <p:nvSpPr>
          <p:cNvPr id="16" name="card-277"/>
          <p:cNvSpPr/>
          <p:nvPr/>
        </p:nvSpPr>
        <p:spPr>
          <a:xfrm>
            <a:off x="5852160" y="1097280"/>
            <a:ext cx="2834640" cy="3364992"/>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7" name="text-278"/>
          <p:cNvSpPr txBox="1"/>
          <p:nvPr/>
        </p:nvSpPr>
        <p:spPr>
          <a:xfrm>
            <a:off x="6035040" y="1207008"/>
            <a:ext cx="2468880" cy="274320"/>
          </a:xfrm>
          <a:prstGeom prst="rect">
            <a:avLst/>
          </a:prstGeom>
          <a:noFill/>
          <a:ln/>
        </p:spPr>
        <p:txBody>
          <a:bodyPr wrap="square" lIns="0" tIns="0" rIns="0" bIns="0" rtlCol="0" anchor="t"/>
          <a:lstStyle/>
          <a:p>
            <a:pPr indent="0" marL="0">
              <a:buNone/>
            </a:pPr>
            <a:r>
              <a:rPr lang="en-US" sz="1600" b="1" dirty="0">
                <a:solidFill>
                  <a:schemeClr val="tx2"/>
                </a:solidFill>
              </a:rPr>
              <a:t>Why layers?</a:t>
            </a:r>
            <a:endParaRPr lang="en-US" sz="1600" dirty="0"/>
          </a:p>
        </p:txBody>
      </p:sp>
      <p:sp>
        <p:nvSpPr>
          <p:cNvPr id="18" name="text-279"/>
          <p:cNvSpPr txBox="1"/>
          <p:nvPr/>
        </p:nvSpPr>
        <p:spPr>
          <a:xfrm>
            <a:off x="6035040" y="1572768"/>
            <a:ext cx="2514600" cy="2743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Page changes need no database code</a:t>
            </a:r>
            <a:endParaRPr lang="en-US" sz="1400" dirty="0"/>
          </a:p>
          <a:p>
            <a:pPr marL="342900" indent="-342900">
              <a:spcAft>
                <a:spcPts val="400"/>
              </a:spcAft>
              <a:buSzPct val="100000"/>
              <a:buChar char="•"/>
            </a:pPr>
            <a:r>
              <a:rPr lang="en-US" sz="1400" dirty="0">
                <a:solidFill>
                  <a:schemeClr val="tx1"/>
                </a:solidFill>
              </a:rPr>
              <a:t>Queries stay in backend models</a:t>
            </a:r>
            <a:endParaRPr lang="en-US" sz="1400" dirty="0"/>
          </a:p>
          <a:p>
            <a:pPr marL="342900" indent="-342900">
              <a:spcAft>
                <a:spcPts val="400"/>
              </a:spcAft>
              <a:buSzPct val="100000"/>
              <a:buChar char="•"/>
            </a:pPr>
            <a:r>
              <a:rPr lang="en-US" sz="1400" dirty="0">
                <a:solidFill>
                  <a:schemeClr val="tx1"/>
                </a:solidFill>
              </a:rPr>
              <a:t>Admin pages are lazy-loaded</a:t>
            </a:r>
            <a:endParaRPr lang="en-US" sz="1400" dirty="0"/>
          </a:p>
          <a:p>
            <a:pPr marL="342900" indent="-342900">
              <a:spcAft>
                <a:spcPts val="400"/>
              </a:spcAft>
              <a:buSzPct val="100000"/>
              <a:buChar char="•"/>
            </a:pPr>
            <a:r>
              <a:rPr lang="en-US" sz="1400" dirty="0">
                <a:solidFill>
                  <a:schemeClr val="tx1"/>
                </a:solidFill>
              </a:rPr>
              <a:t>Files stored apart; only paths in DB</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API and database design</a:t>
            </a:r>
            <a:endParaRPr lang="en-US" sz="3000" dirty="0"/>
          </a:p>
        </p:txBody>
      </p:sp>
      <p:graphicFrame>
        <p:nvGraphicFramePr>
          <p:cNvPr id="14" name="api-table"/>
          <p:cNvGraphicFramePr>
            <a:graphicFrameLocks noGrp="1"/>
          </p:cNvGraphicFramePr>
          <p:nvPr>
            <p:extLst>
              <p:ext uri="{D42A27DB-BD31-4B8C-83A1-F6EECF244321}">
                <p14:modId xmlns:p14="http://schemas.microsoft.com/office/powerpoint/2010/main" val="1579011935"/>
              </p:ext>
            </p:extLst>
          </p:nvPr>
        </p:nvGraphicFramePr>
        <p:xfrm>
          <a:off x="457200" y="1097280"/>
          <a:ext cx="4846320" cy="914400"/>
        </p:xfrm>
        <a:graphic>
          <a:graphicData uri="http://schemas.openxmlformats.org/drawingml/2006/table">
            <a:tbl>
              <a:tblPr/>
              <a:tblGrid>
                <a:gridCol w="822960"/>
                <a:gridCol w="2743200"/>
                <a:gridCol w="12801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22498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22498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224986"/>
                    </a:solidFill>
                  </a:tcPr>
                </a:tc>
              </a:tr>
              <a:tr h="365760">
                <a:tc>
                  <a:txBody>
                    <a:bodyPr/>
                    <a:lstStyle/>
                    <a:p>
                      <a:pPr indent="0" marL="0">
                        <a:buNone/>
                      </a:pPr>
                      <a:r>
                        <a:rPr lang="en-US" sz="1200" b="1" dirty="0">
                          <a:solidFill>
                            <a:srgbClr val="224986"/>
                          </a:solidFill>
                          <a:latin typeface="Calibri" pitchFamily="34" charset="0"/>
                          <a:ea typeface="Calibri" pitchFamily="34" charset="-122"/>
                          <a:cs typeface="Calibri" pitchFamily="34" charset="-120"/>
                        </a:rPr>
                        <a:t>POST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dirty="0">
                          <a:solidFill>
                            <a:srgbClr val="1A2238"/>
                          </a:solidFill>
                          <a:latin typeface="Calibri" pitchFamily="34" charset="0"/>
                          <a:ea typeface="Calibri" pitchFamily="34" charset="-122"/>
                          <a:cs typeface="Calibri" pitchFamily="34" charset="-120"/>
                        </a:rPr>
                        <a:t>/api/auth/login</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b="1" dirty="0">
                          <a:solidFill>
                            <a:srgbClr val="2E7D6B"/>
                          </a:solidFill>
                          <a:latin typeface="Calibri" pitchFamily="34" charset="0"/>
                          <a:ea typeface="Calibri" pitchFamily="34" charset="-122"/>
                          <a:cs typeface="Calibri" pitchFamily="34" charset="-120"/>
                        </a:rPr>
                        <a:t>Public</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24986"/>
                          </a:solidFill>
                          <a:latin typeface="Calibri" pitchFamily="34" charset="0"/>
                          <a:ea typeface="Calibri" pitchFamily="34" charset="-122"/>
                          <a:cs typeface="Calibri" pitchFamily="34" charset="-120"/>
                        </a:rPr>
                        <a:t>GET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dirty="0">
                          <a:solidFill>
                            <a:srgbClr val="1A2238"/>
                          </a:solidFill>
                          <a:latin typeface="Calibri" pitchFamily="34" charset="0"/>
                          <a:ea typeface="Calibri" pitchFamily="34" charset="-122"/>
                          <a:cs typeface="Calibri" pitchFamily="34" charset="-120"/>
                        </a:rPr>
                        <a:t>/api/news</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b="1" dirty="0">
                          <a:solidFill>
                            <a:srgbClr val="2E7D6B"/>
                          </a:solidFill>
                          <a:latin typeface="Calibri" pitchFamily="34" charset="0"/>
                          <a:ea typeface="Calibri" pitchFamily="34" charset="-122"/>
                          <a:cs typeface="Calibri" pitchFamily="34" charset="-120"/>
                        </a:rPr>
                        <a:t>Public</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24986"/>
                          </a:solidFill>
                          <a:latin typeface="Calibri" pitchFamily="34" charset="0"/>
                          <a:ea typeface="Calibri" pitchFamily="34" charset="-122"/>
                          <a:cs typeface="Calibri" pitchFamily="34" charset="-120"/>
                        </a:rPr>
                        <a:t>GET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dirty="0">
                          <a:solidFill>
                            <a:srgbClr val="1A2238"/>
                          </a:solidFill>
                          <a:latin typeface="Calibri" pitchFamily="34" charset="0"/>
                          <a:ea typeface="Calibri" pitchFamily="34" charset="-122"/>
                          <a:cs typeface="Calibri" pitchFamily="34" charset="-120"/>
                        </a:rPr>
                        <a:t>/api/news/latest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b="1" dirty="0">
                          <a:solidFill>
                            <a:srgbClr val="2E7D6B"/>
                          </a:solidFill>
                          <a:latin typeface="Calibri" pitchFamily="34" charset="0"/>
                          <a:ea typeface="Calibri" pitchFamily="34" charset="-122"/>
                          <a:cs typeface="Calibri" pitchFamily="34" charset="-120"/>
                        </a:rPr>
                        <a:t>Public</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24986"/>
                          </a:solidFill>
                          <a:latin typeface="Calibri" pitchFamily="34" charset="0"/>
                          <a:ea typeface="Calibri" pitchFamily="34" charset="-122"/>
                          <a:cs typeface="Calibri" pitchFamily="34" charset="-120"/>
                        </a:rPr>
                        <a:t>GET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dirty="0">
                          <a:solidFill>
                            <a:srgbClr val="1A2238"/>
                          </a:solidFill>
                          <a:latin typeface="Calibri" pitchFamily="34" charset="0"/>
                          <a:ea typeface="Calibri" pitchFamily="34" charset="-122"/>
                          <a:cs typeface="Calibri" pitchFamily="34" charset="-120"/>
                        </a:rPr>
                        <a:t>/api/news/:id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b="1" dirty="0">
                          <a:solidFill>
                            <a:srgbClr val="2E7D6B"/>
                          </a:solidFill>
                          <a:latin typeface="Calibri" pitchFamily="34" charset="0"/>
                          <a:ea typeface="Calibri" pitchFamily="34" charset="-122"/>
                          <a:cs typeface="Calibri" pitchFamily="34" charset="-120"/>
                        </a:rPr>
                        <a:t>Public</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24986"/>
                          </a:solidFill>
                          <a:latin typeface="Calibri" pitchFamily="34" charset="0"/>
                          <a:ea typeface="Calibri" pitchFamily="34" charset="-122"/>
                          <a:cs typeface="Calibri" pitchFamily="34" charset="-120"/>
                        </a:rPr>
                        <a:t>POST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dirty="0">
                          <a:solidFill>
                            <a:srgbClr val="1A2238"/>
                          </a:solidFill>
                          <a:latin typeface="Calibri" pitchFamily="34" charset="0"/>
                          <a:ea typeface="Calibri" pitchFamily="34" charset="-122"/>
                          <a:cs typeface="Calibri" pitchFamily="34" charset="-120"/>
                        </a:rPr>
                        <a:t>/api/news</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b="1" dirty="0">
                          <a:solidFill>
                            <a:srgbClr val="B5483A"/>
                          </a:solidFill>
                          <a:latin typeface="Calibri" pitchFamily="34" charset="0"/>
                          <a:ea typeface="Calibri" pitchFamily="34" charset="-122"/>
                          <a:cs typeface="Calibri" pitchFamily="34" charset="-120"/>
                        </a:rPr>
                        <a:t>Protected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24986"/>
                          </a:solidFill>
                          <a:latin typeface="Calibri" pitchFamily="34" charset="0"/>
                          <a:ea typeface="Calibri" pitchFamily="34" charset="-122"/>
                          <a:cs typeface="Calibri" pitchFamily="34" charset="-120"/>
                        </a:rPr>
                        <a:t>PUT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dirty="0">
                          <a:solidFill>
                            <a:srgbClr val="1A2238"/>
                          </a:solidFill>
                          <a:latin typeface="Calibri" pitchFamily="34" charset="0"/>
                          <a:ea typeface="Calibri" pitchFamily="34" charset="-122"/>
                          <a:cs typeface="Calibri" pitchFamily="34" charset="-120"/>
                        </a:rPr>
                        <a:t>/api/news/:id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b="1" dirty="0">
                          <a:solidFill>
                            <a:srgbClr val="B5483A"/>
                          </a:solidFill>
                          <a:latin typeface="Calibri" pitchFamily="34" charset="0"/>
                          <a:ea typeface="Calibri" pitchFamily="34" charset="-122"/>
                          <a:cs typeface="Calibri" pitchFamily="34" charset="-120"/>
                        </a:rPr>
                        <a:t>Protected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24986"/>
                          </a:solidFill>
                          <a:latin typeface="Calibri" pitchFamily="34" charset="0"/>
                          <a:ea typeface="Calibri" pitchFamily="34" charset="-122"/>
                          <a:cs typeface="Calibri" pitchFamily="34" charset="-120"/>
                        </a:rPr>
                        <a:t>DELETE</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dirty="0">
                          <a:solidFill>
                            <a:srgbClr val="1A2238"/>
                          </a:solidFill>
                          <a:latin typeface="Calibri" pitchFamily="34" charset="0"/>
                          <a:ea typeface="Calibri" pitchFamily="34" charset="-122"/>
                          <a:cs typeface="Calibri" pitchFamily="34" charset="-120"/>
                        </a:rPr>
                        <a:t>/api/news/:id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b="1" dirty="0">
                          <a:solidFill>
                            <a:srgbClr val="B5483A"/>
                          </a:solidFill>
                          <a:latin typeface="Calibri" pitchFamily="34" charset="0"/>
                          <a:ea typeface="Calibri" pitchFamily="34" charset="-122"/>
                          <a:cs typeface="Calibri" pitchFamily="34" charset="-120"/>
                        </a:rPr>
                        <a:t>Protected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24986"/>
                          </a:solidFill>
                          <a:latin typeface="Calibri" pitchFamily="34" charset="0"/>
                          <a:ea typeface="Calibri" pitchFamily="34" charset="-122"/>
                          <a:cs typeface="Calibri" pitchFamily="34" charset="-120"/>
                        </a:rPr>
                        <a:t>PUT</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dirty="0">
                          <a:solidFill>
                            <a:srgbClr val="1A2238"/>
                          </a:solidFill>
                          <a:latin typeface="Calibri" pitchFamily="34" charset="0"/>
                          <a:ea typeface="Calibri" pitchFamily="34" charset="-122"/>
                          <a:cs typeface="Calibri" pitchFamily="34" charset="-120"/>
                        </a:rPr>
                        <a:t>/api/auth/changepassword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c>
                  <a:txBody>
                    <a:bodyPr/>
                    <a:lstStyle/>
                    <a:p>
                      <a:pPr indent="0" marL="0">
                        <a:buNone/>
                      </a:pPr>
                      <a:r>
                        <a:rPr lang="en-US" sz="1200" b="1" dirty="0">
                          <a:solidFill>
                            <a:srgbClr val="B5483A"/>
                          </a:solidFill>
                          <a:latin typeface="Calibri" pitchFamily="34" charset="0"/>
                          <a:ea typeface="Calibri" pitchFamily="34" charset="-122"/>
                          <a:cs typeface="Calibri" pitchFamily="34" charset="-120"/>
                        </a:rPr>
                        <a:t>Protected</a:t>
                      </a:r>
                      <a:endParaRPr lang="en-US" sz="1200" dirty="0">
                        <a:latin typeface="Calibri" charset="0"/>
                        <a:ea typeface="Calibri" charset="0"/>
                        <a:cs typeface="Calibri" charset="0"/>
                      </a:endParaRPr>
                    </a:p>
                  </a:txBody>
                  <a:tcPr marL="73152" marR="73152" marT="0" marB="0" anchor="ctr">
                    <a:lnL w="9525" cap="flat" cmpd="sng" algn="ctr">
                      <a:solidFill>
                        <a:srgbClr val="D5D9E3"/>
                      </a:solidFill>
                      <a:prstDash val="solid"/>
                      <a:round/>
                      <a:headEnd type="none" w="med" len="med"/>
                      <a:tailEnd type="none" w="med" len="med"/>
                    </a:lnL>
                    <a:lnR w="9525" cap="flat" cmpd="sng" algn="ctr">
                      <a:solidFill>
                        <a:srgbClr val="D5D9E3"/>
                      </a:solidFill>
                      <a:prstDash val="solid"/>
                      <a:round/>
                      <a:headEnd type="none" w="med" len="med"/>
                      <a:tailEnd type="none" w="med" len="med"/>
                    </a:lnR>
                    <a:lnT w="9525" cap="flat" cmpd="sng" algn="ctr">
                      <a:solidFill>
                        <a:srgbClr val="D5D9E3"/>
                      </a:solidFill>
                      <a:prstDash val="solid"/>
                      <a:round/>
                      <a:headEnd type="none" w="med" len="med"/>
                      <a:tailEnd type="none" w="med" len="med"/>
                    </a:lnT>
                    <a:lnB w="9525" cap="flat" cmpd="sng" algn="ctr">
                      <a:solidFill>
                        <a:srgbClr val="D5D9E3"/>
                      </a:solidFill>
                      <a:prstDash val="solid"/>
                      <a:round/>
                      <a:headEnd type="none" w="med" len="med"/>
                      <a:tailEnd type="none" w="med" len="med"/>
                    </a:lnB>
                    <a:solidFill>
                      <a:srgbClr val="FFFFFF"/>
                    </a:solidFill>
                  </a:tcPr>
                </a:tc>
              </a:tr>
            </a:tbl>
          </a:graphicData>
        </a:graphic>
      </p:graphicFrame>
      <p:sp>
        <p:nvSpPr>
          <p:cNvPr id="5" name="card-280"/>
          <p:cNvSpPr/>
          <p:nvPr/>
        </p:nvSpPr>
        <p:spPr>
          <a:xfrm>
            <a:off x="5577840" y="1097280"/>
            <a:ext cx="3108960" cy="3474720"/>
          </a:xfrm>
          <a:prstGeom prst="roundRect">
            <a:avLst>
              <a:gd name="adj" fmla="val 235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badge-281"/>
          <p:cNvSpPr/>
          <p:nvPr/>
        </p:nvSpPr>
        <p:spPr>
          <a:xfrm>
            <a:off x="5760720" y="1207008"/>
            <a:ext cx="457200" cy="457200"/>
          </a:xfrm>
          <a:prstGeom prst="ellipse">
            <a:avLst/>
          </a:prstGeom>
          <a:solidFill>
            <a:schemeClr val="accent1"/>
          </a:solidFill>
          <a:ln w="12700">
            <a:solidFill>
              <a:schemeClr val="accent1"/>
            </a:solidFill>
            <a:prstDash val="solid"/>
          </a:ln>
        </p:spPr>
      </p:sp>
      <p:pic>
        <p:nvPicPr>
          <p:cNvPr id="7" name="icon-282" descr="preencoded.png">    </p:cNvPr>
          <p:cNvPicPr>
            <a:picLocks noChangeAspect="1"/>
          </p:cNvPicPr>
          <p:nvPr/>
        </p:nvPicPr>
        <p:blipFill>
          <a:blip r:embed="rId1"/>
          <a:stretch>
            <a:fillRect/>
          </a:stretch>
        </p:blipFill>
        <p:spPr>
          <a:xfrm>
            <a:off x="5879592" y="1325880"/>
            <a:ext cx="219456" cy="219456"/>
          </a:xfrm>
          <a:prstGeom prst="rect">
            <a:avLst/>
          </a:prstGeom>
        </p:spPr>
      </p:pic>
      <p:sp>
        <p:nvSpPr>
          <p:cNvPr id="8" name="text-283"/>
          <p:cNvSpPr txBox="1"/>
          <p:nvPr/>
        </p:nvSpPr>
        <p:spPr>
          <a:xfrm>
            <a:off x="6355080" y="1207008"/>
            <a:ext cx="2194560" cy="457200"/>
          </a:xfrm>
          <a:prstGeom prst="rect">
            <a:avLst/>
          </a:prstGeom>
          <a:noFill/>
          <a:ln/>
        </p:spPr>
        <p:txBody>
          <a:bodyPr wrap="square" lIns="0" tIns="0" rIns="0" bIns="0" rtlCol="0" anchor="ctr"/>
          <a:lstStyle/>
          <a:p>
            <a:pPr indent="0" marL="0">
              <a:buNone/>
            </a:pPr>
            <a:r>
              <a:rPr lang="en-US" sz="1500" b="1" dirty="0">
                <a:solidFill>
                  <a:schemeClr val="tx2"/>
                </a:solidFill>
              </a:rPr>
              <a:t>MySQL 8 (InnoDB)</a:t>
            </a:r>
            <a:endParaRPr lang="en-US" sz="1500" dirty="0"/>
          </a:p>
        </p:txBody>
      </p:sp>
      <p:sp>
        <p:nvSpPr>
          <p:cNvPr id="9" name="text-284"/>
          <p:cNvSpPr txBox="1"/>
          <p:nvPr/>
        </p:nvSpPr>
        <p:spPr>
          <a:xfrm>
            <a:off x="5760720" y="1828800"/>
            <a:ext cx="2743200" cy="2651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utf8mb4: Ethiopic script support</a:t>
            </a:r>
            <a:endParaRPr lang="en-US" sz="1400" dirty="0"/>
          </a:p>
          <a:p>
            <a:pPr marL="342900" indent="-342900">
              <a:spcAft>
                <a:spcPts val="400"/>
              </a:spcAft>
              <a:buSzPct val="100000"/>
              <a:buChar char="•"/>
            </a:pPr>
            <a:r>
              <a:rPr lang="en-US" sz="1400" dirty="0">
                <a:solidFill>
                  <a:schemeClr val="tx1"/>
                </a:solidFill>
              </a:rPr>
              <a:t>Unique username and email</a:t>
            </a:r>
            <a:endParaRPr lang="en-US" sz="1400" dirty="0"/>
          </a:p>
          <a:p>
            <a:pPr marL="342900" indent="-342900">
              <a:spcAft>
                <a:spcPts val="400"/>
              </a:spcAft>
              <a:buSzPct val="100000"/>
              <a:buChar char="•"/>
            </a:pPr>
            <a:r>
              <a:rPr lang="en-US" sz="1400" dirty="0">
                <a:solidFill>
                  <a:schemeClr val="tx1"/>
                </a:solidFill>
              </a:rPr>
              <a:t>Indexes and full-text indexes</a:t>
            </a:r>
            <a:endParaRPr lang="en-US" sz="1400" dirty="0"/>
          </a:p>
          <a:p>
            <a:pPr marL="342900" indent="-342900">
              <a:spcAft>
                <a:spcPts val="400"/>
              </a:spcAft>
              <a:buSzPct val="100000"/>
              <a:buChar char="•"/>
            </a:pPr>
            <a:r>
              <a:rPr lang="en-US" sz="1400" dirty="0">
                <a:solidFill>
                  <a:schemeClr val="tx1"/>
                </a:solidFill>
              </a:rPr>
              <a:t>FK: news.posted_by → admins</a:t>
            </a:r>
            <a:endParaRPr lang="en-US" sz="1400" dirty="0"/>
          </a:p>
          <a:p>
            <a:pPr marL="342900" indent="-342900">
              <a:spcAft>
                <a:spcPts val="400"/>
              </a:spcAft>
              <a:buSzPct val="100000"/>
              <a:buChar char="•"/>
            </a:pPr>
            <a:r>
              <a:rPr lang="en-US" sz="1400" dirty="0">
                <a:solidFill>
                  <a:schemeClr val="tx1"/>
                </a:solidFill>
              </a:rPr>
              <a:t>Image paths stored as JSON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User interface: public portal</a:t>
            </a:r>
            <a:endParaRPr lang="en-US" sz="3000" dirty="0"/>
          </a:p>
        </p:txBody>
      </p:sp>
      <p:sp>
        <p:nvSpPr>
          <p:cNvPr id="4" name="frame-285"/>
          <p:cNvSpPr/>
          <p:nvPr/>
        </p:nvSpPr>
        <p:spPr>
          <a:xfrm>
            <a:off x="457200" y="1097280"/>
            <a:ext cx="5102352" cy="2689238"/>
          </a:xfrm>
          <a:prstGeom prst="rect">
            <a:avLst/>
          </a:prstGeom>
          <a:solidFill>
            <a:schemeClr val="bg1"/>
          </a:solidFill>
          <a:ln w="9525">
            <a:solidFill>
              <a:srgbClr val="D5D9E3"/>
            </a:solidFill>
            <a:prstDash val="solid"/>
          </a:ln>
          <a:effectLst>
            <a:outerShdw sx="100000" sy="100000" kx="0" ky="0" algn="bl" rotWithShape="0" blurRad="76200" dist="25400" dir="5400000">
              <a:srgbClr val="000000">
                <a:alpha val="12000"/>
              </a:srgbClr>
            </a:outerShdw>
          </a:effectLst>
        </p:spPr>
      </p:sp>
      <p:pic>
        <p:nvPicPr>
          <p:cNvPr id="5" name="screenshot-286" descr="/home/claude/work/img/p-002.png">    </p:cNvPr>
          <p:cNvPicPr>
            <a:picLocks noChangeAspect="1"/>
          </p:cNvPicPr>
          <p:nvPr/>
        </p:nvPicPr>
        <p:blipFill>
          <a:blip r:embed="rId1"/>
          <a:stretch>
            <a:fillRect/>
          </a:stretch>
        </p:blipFill>
        <p:spPr>
          <a:xfrm>
            <a:off x="493776" y="1133856"/>
            <a:ext cx="5029200" cy="2616086"/>
          </a:xfrm>
          <a:prstGeom prst="rect">
            <a:avLst/>
          </a:prstGeom>
        </p:spPr>
      </p:pic>
      <p:sp>
        <p:nvSpPr>
          <p:cNvPr id="6" name="frame-287"/>
          <p:cNvSpPr/>
          <p:nvPr/>
        </p:nvSpPr>
        <p:spPr>
          <a:xfrm>
            <a:off x="5760720" y="1097280"/>
            <a:ext cx="2907792" cy="1421078"/>
          </a:xfrm>
          <a:prstGeom prst="rect">
            <a:avLst/>
          </a:prstGeom>
          <a:solidFill>
            <a:schemeClr val="bg1"/>
          </a:solidFill>
          <a:ln w="9525">
            <a:solidFill>
              <a:srgbClr val="D5D9E3"/>
            </a:solidFill>
            <a:prstDash val="solid"/>
          </a:ln>
          <a:effectLst>
            <a:outerShdw sx="100000" sy="100000" kx="0" ky="0" algn="bl" rotWithShape="0" blurRad="76200" dist="25400" dir="5400000">
              <a:srgbClr val="000000">
                <a:alpha val="12000"/>
              </a:srgbClr>
            </a:outerShdw>
          </a:effectLst>
        </p:spPr>
      </p:sp>
      <p:pic>
        <p:nvPicPr>
          <p:cNvPr id="7" name="screenshot-288" descr="/home/claude/work/img/p-000.png">    </p:cNvPr>
          <p:cNvPicPr>
            <a:picLocks noChangeAspect="1"/>
          </p:cNvPicPr>
          <p:nvPr/>
        </p:nvPicPr>
        <p:blipFill>
          <a:blip r:embed="rId2"/>
          <a:stretch>
            <a:fillRect/>
          </a:stretch>
        </p:blipFill>
        <p:spPr>
          <a:xfrm>
            <a:off x="5797296" y="1133856"/>
            <a:ext cx="2834640" cy="1347926"/>
          </a:xfrm>
          <a:prstGeom prst="rect">
            <a:avLst/>
          </a:prstGeom>
        </p:spPr>
      </p:pic>
      <p:sp>
        <p:nvSpPr>
          <p:cNvPr id="8" name="frame-289"/>
          <p:cNvSpPr/>
          <p:nvPr/>
        </p:nvSpPr>
        <p:spPr>
          <a:xfrm>
            <a:off x="5760720" y="2706624"/>
            <a:ext cx="2907792" cy="1430585"/>
          </a:xfrm>
          <a:prstGeom prst="rect">
            <a:avLst/>
          </a:prstGeom>
          <a:solidFill>
            <a:schemeClr val="bg1"/>
          </a:solidFill>
          <a:ln w="9525">
            <a:solidFill>
              <a:srgbClr val="D5D9E3"/>
            </a:solidFill>
            <a:prstDash val="solid"/>
          </a:ln>
          <a:effectLst>
            <a:outerShdw sx="100000" sy="100000" kx="0" ky="0" algn="bl" rotWithShape="0" blurRad="76200" dist="25400" dir="5400000">
              <a:srgbClr val="000000">
                <a:alpha val="12000"/>
              </a:srgbClr>
            </a:outerShdw>
          </a:effectLst>
        </p:spPr>
      </p:sp>
      <p:pic>
        <p:nvPicPr>
          <p:cNvPr id="9" name="screenshot-290" descr="/home/claude/work/img/p-001.png">    </p:cNvPr>
          <p:cNvPicPr>
            <a:picLocks noChangeAspect="1"/>
          </p:cNvPicPr>
          <p:nvPr/>
        </p:nvPicPr>
        <p:blipFill>
          <a:blip r:embed="rId3"/>
          <a:stretch>
            <a:fillRect/>
          </a:stretch>
        </p:blipFill>
        <p:spPr>
          <a:xfrm>
            <a:off x="5797296" y="2743200"/>
            <a:ext cx="2834640" cy="1357433"/>
          </a:xfrm>
          <a:prstGeom prst="rect">
            <a:avLst/>
          </a:prstGeom>
        </p:spPr>
      </p:pic>
      <p:sp>
        <p:nvSpPr>
          <p:cNvPr id="10" name="chip-291"/>
          <p:cNvSpPr/>
          <p:nvPr/>
        </p:nvSpPr>
        <p:spPr>
          <a:xfrm>
            <a:off x="457200" y="4023360"/>
            <a:ext cx="1627632" cy="54864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text-292"/>
          <p:cNvSpPr txBox="1"/>
          <p:nvPr/>
        </p:nvSpPr>
        <p:spPr>
          <a:xfrm>
            <a:off x="502920" y="4023360"/>
            <a:ext cx="1536192" cy="548640"/>
          </a:xfrm>
          <a:prstGeom prst="rect">
            <a:avLst/>
          </a:prstGeom>
          <a:noFill/>
          <a:ln/>
        </p:spPr>
        <p:txBody>
          <a:bodyPr wrap="square" lIns="0" tIns="0" rIns="0" bIns="0" rtlCol="0" anchor="ctr"/>
          <a:lstStyle/>
          <a:p>
            <a:pPr algn="ctr" indent="0" marL="0">
              <a:buNone/>
            </a:pPr>
            <a:r>
              <a:rPr lang="en-US" sz="1300" b="1" dirty="0">
                <a:solidFill>
                  <a:schemeClr val="tx2"/>
                </a:solidFill>
              </a:rPr>
              <a:t>News: search + pagination</a:t>
            </a:r>
            <a:endParaRPr lang="en-US" sz="1300" dirty="0"/>
          </a:p>
        </p:txBody>
      </p:sp>
      <p:sp>
        <p:nvSpPr>
          <p:cNvPr id="12" name="chip-293"/>
          <p:cNvSpPr/>
          <p:nvPr/>
        </p:nvSpPr>
        <p:spPr>
          <a:xfrm>
            <a:off x="2157984" y="4023360"/>
            <a:ext cx="1627632" cy="54864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text-294"/>
          <p:cNvSpPr txBox="1"/>
          <p:nvPr/>
        </p:nvSpPr>
        <p:spPr>
          <a:xfrm>
            <a:off x="2203704" y="4023360"/>
            <a:ext cx="1536192" cy="548640"/>
          </a:xfrm>
          <a:prstGeom prst="rect">
            <a:avLst/>
          </a:prstGeom>
          <a:noFill/>
          <a:ln/>
        </p:spPr>
        <p:txBody>
          <a:bodyPr wrap="square" lIns="0" tIns="0" rIns="0" bIns="0" rtlCol="0" anchor="ctr"/>
          <a:lstStyle/>
          <a:p>
            <a:pPr algn="ctr" indent="0" marL="0">
              <a:buNone/>
            </a:pPr>
            <a:r>
              <a:rPr lang="en-US" sz="1300" b="1" dirty="0">
                <a:solidFill>
                  <a:schemeClr val="tx2"/>
                </a:solidFill>
              </a:rPr>
              <a:t>Amharic and English cards</a:t>
            </a:r>
            <a:endParaRPr lang="en-US" sz="1300" dirty="0"/>
          </a:p>
        </p:txBody>
      </p:sp>
      <p:sp>
        <p:nvSpPr>
          <p:cNvPr id="14" name="chip-295"/>
          <p:cNvSpPr/>
          <p:nvPr/>
        </p:nvSpPr>
        <p:spPr>
          <a:xfrm>
            <a:off x="3858768" y="4023360"/>
            <a:ext cx="1627632" cy="54864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text-296"/>
          <p:cNvSpPr txBox="1"/>
          <p:nvPr/>
        </p:nvSpPr>
        <p:spPr>
          <a:xfrm>
            <a:off x="3904488" y="4023360"/>
            <a:ext cx="1536192" cy="548640"/>
          </a:xfrm>
          <a:prstGeom prst="rect">
            <a:avLst/>
          </a:prstGeom>
          <a:noFill/>
          <a:ln/>
        </p:spPr>
        <p:txBody>
          <a:bodyPr wrap="square" lIns="0" tIns="0" rIns="0" bIns="0" rtlCol="0" anchor="ctr"/>
          <a:lstStyle/>
          <a:p>
            <a:pPr algn="ctr" indent="0" marL="0">
              <a:buNone/>
            </a:pPr>
            <a:r>
              <a:rPr lang="en-US" sz="1300" b="1" dirty="0">
                <a:solidFill>
                  <a:schemeClr val="tx2"/>
                </a:solidFill>
              </a:rPr>
              <a:t>Home → News → Details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User interface: administrator console</a:t>
            </a:r>
            <a:endParaRPr lang="en-US" sz="3000" dirty="0"/>
          </a:p>
        </p:txBody>
      </p:sp>
      <p:sp>
        <p:nvSpPr>
          <p:cNvPr id="4" name="frame-297"/>
          <p:cNvSpPr/>
          <p:nvPr/>
        </p:nvSpPr>
        <p:spPr>
          <a:xfrm>
            <a:off x="457200" y="1097280"/>
            <a:ext cx="2907792" cy="1388641"/>
          </a:xfrm>
          <a:prstGeom prst="rect">
            <a:avLst/>
          </a:prstGeom>
          <a:solidFill>
            <a:schemeClr val="bg1"/>
          </a:solidFill>
          <a:ln w="9525">
            <a:solidFill>
              <a:srgbClr val="D5D9E3"/>
            </a:solidFill>
            <a:prstDash val="solid"/>
          </a:ln>
          <a:effectLst>
            <a:outerShdw sx="100000" sy="100000" kx="0" ky="0" algn="bl" rotWithShape="0" blurRad="76200" dist="25400" dir="5400000">
              <a:srgbClr val="000000">
                <a:alpha val="12000"/>
              </a:srgbClr>
            </a:outerShdw>
          </a:effectLst>
        </p:spPr>
      </p:sp>
      <p:pic>
        <p:nvPicPr>
          <p:cNvPr id="5" name="screenshot-298" descr="/home/claude/work/img/p-007.png">    </p:cNvPr>
          <p:cNvPicPr>
            <a:picLocks noChangeAspect="1"/>
          </p:cNvPicPr>
          <p:nvPr/>
        </p:nvPicPr>
        <p:blipFill>
          <a:blip r:embed="rId1"/>
          <a:stretch>
            <a:fillRect/>
          </a:stretch>
        </p:blipFill>
        <p:spPr>
          <a:xfrm>
            <a:off x="493776" y="1133856"/>
            <a:ext cx="2834640" cy="1315489"/>
          </a:xfrm>
          <a:prstGeom prst="rect">
            <a:avLst/>
          </a:prstGeom>
        </p:spPr>
      </p:pic>
      <p:sp>
        <p:nvSpPr>
          <p:cNvPr id="6" name="frame-299"/>
          <p:cNvSpPr/>
          <p:nvPr/>
        </p:nvSpPr>
        <p:spPr>
          <a:xfrm>
            <a:off x="457200" y="2706624"/>
            <a:ext cx="2907792" cy="1444889"/>
          </a:xfrm>
          <a:prstGeom prst="rect">
            <a:avLst/>
          </a:prstGeom>
          <a:solidFill>
            <a:schemeClr val="bg1"/>
          </a:solidFill>
          <a:ln w="9525">
            <a:solidFill>
              <a:srgbClr val="D5D9E3"/>
            </a:solidFill>
            <a:prstDash val="solid"/>
          </a:ln>
          <a:effectLst>
            <a:outerShdw sx="100000" sy="100000" kx="0" ky="0" algn="bl" rotWithShape="0" blurRad="76200" dist="25400" dir="5400000">
              <a:srgbClr val="000000">
                <a:alpha val="12000"/>
              </a:srgbClr>
            </a:outerShdw>
          </a:effectLst>
        </p:spPr>
      </p:sp>
      <p:pic>
        <p:nvPicPr>
          <p:cNvPr id="7" name="screenshot-300" descr="/home/claude/work/img/p-005.png">    </p:cNvPr>
          <p:cNvPicPr>
            <a:picLocks noChangeAspect="1"/>
          </p:cNvPicPr>
          <p:nvPr/>
        </p:nvPicPr>
        <p:blipFill>
          <a:blip r:embed="rId2"/>
          <a:stretch>
            <a:fillRect/>
          </a:stretch>
        </p:blipFill>
        <p:spPr>
          <a:xfrm>
            <a:off x="493776" y="2743200"/>
            <a:ext cx="2834640" cy="1371737"/>
          </a:xfrm>
          <a:prstGeom prst="rect">
            <a:avLst/>
          </a:prstGeom>
        </p:spPr>
      </p:pic>
      <p:sp>
        <p:nvSpPr>
          <p:cNvPr id="8" name="frame-301"/>
          <p:cNvSpPr/>
          <p:nvPr/>
        </p:nvSpPr>
        <p:spPr>
          <a:xfrm>
            <a:off x="3566160" y="1097280"/>
            <a:ext cx="5102352" cy="2473707"/>
          </a:xfrm>
          <a:prstGeom prst="rect">
            <a:avLst/>
          </a:prstGeom>
          <a:solidFill>
            <a:schemeClr val="bg1"/>
          </a:solidFill>
          <a:ln w="9525">
            <a:solidFill>
              <a:srgbClr val="D5D9E3"/>
            </a:solidFill>
            <a:prstDash val="solid"/>
          </a:ln>
          <a:effectLst>
            <a:outerShdw sx="100000" sy="100000" kx="0" ky="0" algn="bl" rotWithShape="0" blurRad="76200" dist="25400" dir="5400000">
              <a:srgbClr val="000000">
                <a:alpha val="12000"/>
              </a:srgbClr>
            </a:outerShdw>
          </a:effectLst>
        </p:spPr>
      </p:sp>
      <p:pic>
        <p:nvPicPr>
          <p:cNvPr id="9" name="screenshot-302" descr="/home/claude/work/img/p-008.png">    </p:cNvPr>
          <p:cNvPicPr>
            <a:picLocks noChangeAspect="1"/>
          </p:cNvPicPr>
          <p:nvPr/>
        </p:nvPicPr>
        <p:blipFill>
          <a:blip r:embed="rId3"/>
          <a:stretch>
            <a:fillRect/>
          </a:stretch>
        </p:blipFill>
        <p:spPr>
          <a:xfrm>
            <a:off x="3602736" y="1133856"/>
            <a:ext cx="5029200" cy="2400555"/>
          </a:xfrm>
          <a:prstGeom prst="rect">
            <a:avLst/>
          </a:prstGeom>
        </p:spPr>
      </p:pic>
      <p:sp>
        <p:nvSpPr>
          <p:cNvPr id="10" name="chip-303"/>
          <p:cNvSpPr/>
          <p:nvPr/>
        </p:nvSpPr>
        <p:spPr>
          <a:xfrm>
            <a:off x="3566160" y="4023360"/>
            <a:ext cx="1627632" cy="54864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text-304"/>
          <p:cNvSpPr txBox="1"/>
          <p:nvPr/>
        </p:nvSpPr>
        <p:spPr>
          <a:xfrm>
            <a:off x="3611880" y="4023360"/>
            <a:ext cx="1536192" cy="548640"/>
          </a:xfrm>
          <a:prstGeom prst="rect">
            <a:avLst/>
          </a:prstGeom>
          <a:noFill/>
          <a:ln/>
        </p:spPr>
        <p:txBody>
          <a:bodyPr wrap="square" lIns="0" tIns="0" rIns="0" bIns="0" rtlCol="0" anchor="ctr"/>
          <a:lstStyle/>
          <a:p>
            <a:pPr algn="ctr" indent="0" marL="0">
              <a:buNone/>
            </a:pPr>
            <a:r>
              <a:rPr lang="en-US" sz="1300" b="1" dirty="0">
                <a:solidFill>
                  <a:schemeClr val="tx2"/>
                </a:solidFill>
              </a:rPr>
              <a:t>Login with validation</a:t>
            </a:r>
            <a:endParaRPr lang="en-US" sz="1300" dirty="0"/>
          </a:p>
        </p:txBody>
      </p:sp>
      <p:sp>
        <p:nvSpPr>
          <p:cNvPr id="12" name="chip-305"/>
          <p:cNvSpPr/>
          <p:nvPr/>
        </p:nvSpPr>
        <p:spPr>
          <a:xfrm>
            <a:off x="5266944" y="4023360"/>
            <a:ext cx="1627632" cy="54864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text-306"/>
          <p:cNvSpPr txBox="1"/>
          <p:nvPr/>
        </p:nvSpPr>
        <p:spPr>
          <a:xfrm>
            <a:off x="5312664" y="4023360"/>
            <a:ext cx="1536192" cy="548640"/>
          </a:xfrm>
          <a:prstGeom prst="rect">
            <a:avLst/>
          </a:prstGeom>
          <a:noFill/>
          <a:ln/>
        </p:spPr>
        <p:txBody>
          <a:bodyPr wrap="square" lIns="0" tIns="0" rIns="0" bIns="0" rtlCol="0" anchor="ctr"/>
          <a:lstStyle/>
          <a:p>
            <a:pPr algn="ctr" indent="0" marL="0">
              <a:buNone/>
            </a:pPr>
            <a:r>
              <a:rPr lang="en-US" sz="1300" b="1" dirty="0">
                <a:solidFill>
                  <a:schemeClr val="tx2"/>
                </a:solidFill>
              </a:rPr>
              <a:t>Dashboard overview</a:t>
            </a:r>
            <a:endParaRPr lang="en-US" sz="1300" dirty="0"/>
          </a:p>
        </p:txBody>
      </p:sp>
      <p:sp>
        <p:nvSpPr>
          <p:cNvPr id="14" name="chip-307"/>
          <p:cNvSpPr/>
          <p:nvPr/>
        </p:nvSpPr>
        <p:spPr>
          <a:xfrm>
            <a:off x="6967728" y="4023360"/>
            <a:ext cx="1627632" cy="54864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text-308"/>
          <p:cNvSpPr txBox="1"/>
          <p:nvPr/>
        </p:nvSpPr>
        <p:spPr>
          <a:xfrm>
            <a:off x="7013448" y="4023360"/>
            <a:ext cx="1536192" cy="548640"/>
          </a:xfrm>
          <a:prstGeom prst="rect">
            <a:avLst/>
          </a:prstGeom>
          <a:noFill/>
          <a:ln/>
        </p:spPr>
        <p:txBody>
          <a:bodyPr wrap="square" lIns="0" tIns="0" rIns="0" bIns="0" rtlCol="0" anchor="ctr"/>
          <a:lstStyle/>
          <a:p>
            <a:pPr algn="ctr" indent="0" marL="0">
              <a:buNone/>
            </a:pPr>
            <a:r>
              <a:rPr lang="en-US" sz="1300" b="1" dirty="0">
                <a:solidFill>
                  <a:schemeClr val="tx2"/>
                </a:solidFill>
              </a:rPr>
              <a:t>Edit / Delete with confirmation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Security design</a:t>
            </a:r>
            <a:endParaRPr lang="en-US" sz="3000" dirty="0"/>
          </a:p>
        </p:txBody>
      </p:sp>
      <p:sp>
        <p:nvSpPr>
          <p:cNvPr id="4" name="card-309"/>
          <p:cNvSpPr/>
          <p:nvPr/>
        </p:nvSpPr>
        <p:spPr>
          <a:xfrm>
            <a:off x="457200" y="1143000"/>
            <a:ext cx="2651760" cy="1645920"/>
          </a:xfrm>
          <a:prstGeom prst="roundRect">
            <a:avLst>
              <a:gd name="adj" fmla="val 444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badge-310"/>
          <p:cNvSpPr/>
          <p:nvPr/>
        </p:nvSpPr>
        <p:spPr>
          <a:xfrm>
            <a:off x="594360" y="1280160"/>
            <a:ext cx="411480" cy="411480"/>
          </a:xfrm>
          <a:prstGeom prst="ellipse">
            <a:avLst/>
          </a:prstGeom>
          <a:solidFill>
            <a:schemeClr val="accent1"/>
          </a:solidFill>
          <a:ln w="12700">
            <a:solidFill>
              <a:schemeClr val="accent1"/>
            </a:solidFill>
            <a:prstDash val="solid"/>
          </a:ln>
        </p:spPr>
      </p:sp>
      <p:pic>
        <p:nvPicPr>
          <p:cNvPr id="6" name="icon-311" descr="preencoded.png">    </p:cNvPr>
          <p:cNvPicPr>
            <a:picLocks noChangeAspect="1"/>
          </p:cNvPicPr>
          <p:nvPr/>
        </p:nvPicPr>
        <p:blipFill>
          <a:blip r:embed="rId1"/>
          <a:stretch>
            <a:fillRect/>
          </a:stretch>
        </p:blipFill>
        <p:spPr>
          <a:xfrm>
            <a:off x="701345" y="1387145"/>
            <a:ext cx="197510" cy="197510"/>
          </a:xfrm>
          <a:prstGeom prst="rect">
            <a:avLst/>
          </a:prstGeom>
        </p:spPr>
      </p:pic>
      <p:sp>
        <p:nvSpPr>
          <p:cNvPr id="7" name="text-312"/>
          <p:cNvSpPr txBox="1"/>
          <p:nvPr/>
        </p:nvSpPr>
        <p:spPr>
          <a:xfrm>
            <a:off x="1115568" y="128016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Authentication</a:t>
            </a:r>
            <a:endParaRPr lang="en-US" sz="1500" dirty="0"/>
          </a:p>
        </p:txBody>
      </p:sp>
      <p:sp>
        <p:nvSpPr>
          <p:cNvPr id="8" name="text-313"/>
          <p:cNvSpPr txBox="1"/>
          <p:nvPr/>
        </p:nvSpPr>
        <p:spPr>
          <a:xfrm>
            <a:off x="594360" y="1874520"/>
            <a:ext cx="2377440" cy="822960"/>
          </a:xfrm>
          <a:prstGeom prst="rect">
            <a:avLst/>
          </a:prstGeom>
          <a:noFill/>
          <a:ln/>
        </p:spPr>
        <p:txBody>
          <a:bodyPr wrap="square" lIns="0" tIns="0" rIns="0" bIns="0" rtlCol="0" anchor="t"/>
          <a:lstStyle/>
          <a:p>
            <a:pPr indent="0" marL="0">
              <a:buNone/>
            </a:pPr>
            <a:r>
              <a:rPr lang="en-US" sz="1400" dirty="0">
                <a:solidFill>
                  <a:schemeClr val="tx1"/>
                </a:solidFill>
              </a:rPr>
              <a:t>JWT after bcrypt check; hash cost factor 12</a:t>
            </a:r>
            <a:endParaRPr lang="en-US" sz="1400" dirty="0"/>
          </a:p>
        </p:txBody>
      </p:sp>
      <p:sp>
        <p:nvSpPr>
          <p:cNvPr id="9" name="card-314"/>
          <p:cNvSpPr/>
          <p:nvPr/>
        </p:nvSpPr>
        <p:spPr>
          <a:xfrm>
            <a:off x="3291840" y="1143000"/>
            <a:ext cx="2651760" cy="1645920"/>
          </a:xfrm>
          <a:prstGeom prst="roundRect">
            <a:avLst>
              <a:gd name="adj" fmla="val 444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0" name="badge-315"/>
          <p:cNvSpPr/>
          <p:nvPr/>
        </p:nvSpPr>
        <p:spPr>
          <a:xfrm>
            <a:off x="3429000" y="1280160"/>
            <a:ext cx="411480" cy="411480"/>
          </a:xfrm>
          <a:prstGeom prst="ellipse">
            <a:avLst/>
          </a:prstGeom>
          <a:solidFill>
            <a:schemeClr val="accent5"/>
          </a:solidFill>
          <a:ln w="12700">
            <a:solidFill>
              <a:schemeClr val="accent5"/>
            </a:solidFill>
            <a:prstDash val="solid"/>
          </a:ln>
        </p:spPr>
      </p:sp>
      <p:pic>
        <p:nvPicPr>
          <p:cNvPr id="11" name="icon-316" descr="preencoded.png">    </p:cNvPr>
          <p:cNvPicPr>
            <a:picLocks noChangeAspect="1"/>
          </p:cNvPicPr>
          <p:nvPr/>
        </p:nvPicPr>
        <p:blipFill>
          <a:blip r:embed="rId2"/>
          <a:stretch>
            <a:fillRect/>
          </a:stretch>
        </p:blipFill>
        <p:spPr>
          <a:xfrm>
            <a:off x="3535985" y="1387145"/>
            <a:ext cx="197510" cy="197510"/>
          </a:xfrm>
          <a:prstGeom prst="rect">
            <a:avLst/>
          </a:prstGeom>
        </p:spPr>
      </p:pic>
      <p:sp>
        <p:nvSpPr>
          <p:cNvPr id="12" name="text-317"/>
          <p:cNvSpPr txBox="1"/>
          <p:nvPr/>
        </p:nvSpPr>
        <p:spPr>
          <a:xfrm>
            <a:off x="3950208" y="128016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Authorization</a:t>
            </a:r>
            <a:endParaRPr lang="en-US" sz="1500" dirty="0"/>
          </a:p>
        </p:txBody>
      </p:sp>
      <p:sp>
        <p:nvSpPr>
          <p:cNvPr id="13" name="text-318"/>
          <p:cNvSpPr txBox="1"/>
          <p:nvPr/>
        </p:nvSpPr>
        <p:spPr>
          <a:xfrm>
            <a:off x="3429000" y="1874520"/>
            <a:ext cx="2377440" cy="822960"/>
          </a:xfrm>
          <a:prstGeom prst="rect">
            <a:avLst/>
          </a:prstGeom>
          <a:noFill/>
          <a:ln/>
        </p:spPr>
        <p:txBody>
          <a:bodyPr wrap="square" lIns="0" tIns="0" rIns="0" bIns="0" rtlCol="0" anchor="t"/>
          <a:lstStyle/>
          <a:p>
            <a:pPr indent="0" marL="0">
              <a:buNone/>
            </a:pPr>
            <a:r>
              <a:rPr lang="en-US" sz="1400" dirty="0">
                <a:solidFill>
                  <a:schemeClr val="tx1"/>
                </a:solidFill>
              </a:rPr>
              <a:t>authenticate middleware on every protected route</a:t>
            </a:r>
            <a:endParaRPr lang="en-US" sz="1400" dirty="0"/>
          </a:p>
        </p:txBody>
      </p:sp>
      <p:sp>
        <p:nvSpPr>
          <p:cNvPr id="14" name="card-319"/>
          <p:cNvSpPr/>
          <p:nvPr/>
        </p:nvSpPr>
        <p:spPr>
          <a:xfrm>
            <a:off x="6126480" y="1143000"/>
            <a:ext cx="2651760" cy="1645920"/>
          </a:xfrm>
          <a:prstGeom prst="roundRect">
            <a:avLst>
              <a:gd name="adj" fmla="val 444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badge-320"/>
          <p:cNvSpPr/>
          <p:nvPr/>
        </p:nvSpPr>
        <p:spPr>
          <a:xfrm>
            <a:off x="6263640" y="1280160"/>
            <a:ext cx="411480" cy="411480"/>
          </a:xfrm>
          <a:prstGeom prst="ellipse">
            <a:avLst/>
          </a:prstGeom>
          <a:solidFill>
            <a:schemeClr val="accent1"/>
          </a:solidFill>
          <a:ln w="12700">
            <a:solidFill>
              <a:schemeClr val="accent1"/>
            </a:solidFill>
            <a:prstDash val="solid"/>
          </a:ln>
        </p:spPr>
      </p:sp>
      <p:pic>
        <p:nvPicPr>
          <p:cNvPr id="16" name="icon-321" descr="preencoded.png">    </p:cNvPr>
          <p:cNvPicPr>
            <a:picLocks noChangeAspect="1"/>
          </p:cNvPicPr>
          <p:nvPr/>
        </p:nvPicPr>
        <p:blipFill>
          <a:blip r:embed="rId3"/>
          <a:stretch>
            <a:fillRect/>
          </a:stretch>
        </p:blipFill>
        <p:spPr>
          <a:xfrm>
            <a:off x="6370625" y="1387145"/>
            <a:ext cx="197510" cy="197510"/>
          </a:xfrm>
          <a:prstGeom prst="rect">
            <a:avLst/>
          </a:prstGeom>
        </p:spPr>
      </p:pic>
      <p:sp>
        <p:nvSpPr>
          <p:cNvPr id="17" name="text-322"/>
          <p:cNvSpPr txBox="1"/>
          <p:nvPr/>
        </p:nvSpPr>
        <p:spPr>
          <a:xfrm>
            <a:off x="6784848" y="128016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SQL injection</a:t>
            </a:r>
            <a:endParaRPr lang="en-US" sz="1500" dirty="0"/>
          </a:p>
        </p:txBody>
      </p:sp>
      <p:sp>
        <p:nvSpPr>
          <p:cNvPr id="18" name="text-323"/>
          <p:cNvSpPr txBox="1"/>
          <p:nvPr/>
        </p:nvSpPr>
        <p:spPr>
          <a:xfrm>
            <a:off x="6263640" y="1874520"/>
            <a:ext cx="2377440" cy="822960"/>
          </a:xfrm>
          <a:prstGeom prst="rect">
            <a:avLst/>
          </a:prstGeom>
          <a:noFill/>
          <a:ln/>
        </p:spPr>
        <p:txBody>
          <a:bodyPr wrap="square" lIns="0" tIns="0" rIns="0" bIns="0" rtlCol="0" anchor="t"/>
          <a:lstStyle/>
          <a:p>
            <a:pPr indent="0" marL="0">
              <a:buNone/>
            </a:pPr>
            <a:r>
              <a:rPr lang="en-US" sz="1400" dirty="0">
                <a:solidFill>
                  <a:schemeClr val="tx1"/>
                </a:solidFill>
              </a:rPr>
              <a:t>Parameterized queries with mysql2</a:t>
            </a:r>
            <a:endParaRPr lang="en-US" sz="1400" dirty="0"/>
          </a:p>
        </p:txBody>
      </p:sp>
      <p:sp>
        <p:nvSpPr>
          <p:cNvPr id="19" name="card-324"/>
          <p:cNvSpPr/>
          <p:nvPr/>
        </p:nvSpPr>
        <p:spPr>
          <a:xfrm>
            <a:off x="457200" y="2926080"/>
            <a:ext cx="2651760" cy="1645920"/>
          </a:xfrm>
          <a:prstGeom prst="roundRect">
            <a:avLst>
              <a:gd name="adj" fmla="val 444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badge-325"/>
          <p:cNvSpPr/>
          <p:nvPr/>
        </p:nvSpPr>
        <p:spPr>
          <a:xfrm>
            <a:off x="594360" y="3063240"/>
            <a:ext cx="411480" cy="411480"/>
          </a:xfrm>
          <a:prstGeom prst="ellipse">
            <a:avLst/>
          </a:prstGeom>
          <a:solidFill>
            <a:schemeClr val="accent5"/>
          </a:solidFill>
          <a:ln w="12700">
            <a:solidFill>
              <a:schemeClr val="accent5"/>
            </a:solidFill>
            <a:prstDash val="solid"/>
          </a:ln>
        </p:spPr>
      </p:sp>
      <p:pic>
        <p:nvPicPr>
          <p:cNvPr id="21" name="icon-326" descr="preencoded.png">    </p:cNvPr>
          <p:cNvPicPr>
            <a:picLocks noChangeAspect="1"/>
          </p:cNvPicPr>
          <p:nvPr/>
        </p:nvPicPr>
        <p:blipFill>
          <a:blip r:embed="rId4"/>
          <a:stretch>
            <a:fillRect/>
          </a:stretch>
        </p:blipFill>
        <p:spPr>
          <a:xfrm>
            <a:off x="701345" y="3170225"/>
            <a:ext cx="197510" cy="197510"/>
          </a:xfrm>
          <a:prstGeom prst="rect">
            <a:avLst/>
          </a:prstGeom>
        </p:spPr>
      </p:pic>
      <p:sp>
        <p:nvSpPr>
          <p:cNvPr id="22" name="text-327"/>
          <p:cNvSpPr txBox="1"/>
          <p:nvPr/>
        </p:nvSpPr>
        <p:spPr>
          <a:xfrm>
            <a:off x="1115568" y="306324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Safe uploads</a:t>
            </a:r>
            <a:endParaRPr lang="en-US" sz="1500" dirty="0"/>
          </a:p>
        </p:txBody>
      </p:sp>
      <p:sp>
        <p:nvSpPr>
          <p:cNvPr id="23" name="text-328"/>
          <p:cNvSpPr txBox="1"/>
          <p:nvPr/>
        </p:nvSpPr>
        <p:spPr>
          <a:xfrm>
            <a:off x="594360" y="3657600"/>
            <a:ext cx="2377440" cy="822960"/>
          </a:xfrm>
          <a:prstGeom prst="rect">
            <a:avLst/>
          </a:prstGeom>
          <a:noFill/>
          <a:ln/>
        </p:spPr>
        <p:txBody>
          <a:bodyPr wrap="square" lIns="0" tIns="0" rIns="0" bIns="0" rtlCol="0" anchor="t"/>
          <a:lstStyle/>
          <a:p>
            <a:pPr indent="0" marL="0">
              <a:buNone/>
            </a:pPr>
            <a:r>
              <a:rPr lang="en-US" sz="1400" dirty="0">
                <a:solidFill>
                  <a:schemeClr val="tx1"/>
                </a:solidFill>
              </a:rPr>
              <a:t>jpeg/jpg/png only, sanitized names, outside web root</a:t>
            </a:r>
            <a:endParaRPr lang="en-US" sz="1400" dirty="0"/>
          </a:p>
        </p:txBody>
      </p:sp>
      <p:sp>
        <p:nvSpPr>
          <p:cNvPr id="24" name="card-329"/>
          <p:cNvSpPr/>
          <p:nvPr/>
        </p:nvSpPr>
        <p:spPr>
          <a:xfrm>
            <a:off x="3291840" y="2926080"/>
            <a:ext cx="2651760" cy="1645920"/>
          </a:xfrm>
          <a:prstGeom prst="roundRect">
            <a:avLst>
              <a:gd name="adj" fmla="val 444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5" name="badge-330"/>
          <p:cNvSpPr/>
          <p:nvPr/>
        </p:nvSpPr>
        <p:spPr>
          <a:xfrm>
            <a:off x="3429000" y="3063240"/>
            <a:ext cx="411480" cy="411480"/>
          </a:xfrm>
          <a:prstGeom prst="ellipse">
            <a:avLst/>
          </a:prstGeom>
          <a:solidFill>
            <a:schemeClr val="accent1"/>
          </a:solidFill>
          <a:ln w="12700">
            <a:solidFill>
              <a:schemeClr val="accent1"/>
            </a:solidFill>
            <a:prstDash val="solid"/>
          </a:ln>
        </p:spPr>
      </p:sp>
      <p:pic>
        <p:nvPicPr>
          <p:cNvPr id="26" name="icon-331" descr="preencoded.png">    </p:cNvPr>
          <p:cNvPicPr>
            <a:picLocks noChangeAspect="1"/>
          </p:cNvPicPr>
          <p:nvPr/>
        </p:nvPicPr>
        <p:blipFill>
          <a:blip r:embed="rId5"/>
          <a:stretch>
            <a:fillRect/>
          </a:stretch>
        </p:blipFill>
        <p:spPr>
          <a:xfrm>
            <a:off x="3535985" y="3170225"/>
            <a:ext cx="197510" cy="197510"/>
          </a:xfrm>
          <a:prstGeom prst="rect">
            <a:avLst/>
          </a:prstGeom>
        </p:spPr>
      </p:pic>
      <p:sp>
        <p:nvSpPr>
          <p:cNvPr id="27" name="text-332"/>
          <p:cNvSpPr txBox="1"/>
          <p:nvPr/>
        </p:nvSpPr>
        <p:spPr>
          <a:xfrm>
            <a:off x="3950208" y="306324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Hardening</a:t>
            </a:r>
            <a:endParaRPr lang="en-US" sz="1500" dirty="0"/>
          </a:p>
        </p:txBody>
      </p:sp>
      <p:sp>
        <p:nvSpPr>
          <p:cNvPr id="28" name="text-333"/>
          <p:cNvSpPr txBox="1"/>
          <p:nvPr/>
        </p:nvSpPr>
        <p:spPr>
          <a:xfrm>
            <a:off x="3429000" y="3657600"/>
            <a:ext cx="2377440" cy="822960"/>
          </a:xfrm>
          <a:prstGeom prst="rect">
            <a:avLst/>
          </a:prstGeom>
          <a:noFill/>
          <a:ln/>
        </p:spPr>
        <p:txBody>
          <a:bodyPr wrap="square" lIns="0" tIns="0" rIns="0" bIns="0" rtlCol="0" anchor="t"/>
          <a:lstStyle/>
          <a:p>
            <a:pPr indent="0" marL="0">
              <a:buNone/>
            </a:pPr>
            <a:r>
              <a:rPr lang="en-US" sz="1400" dirty="0">
                <a:solidFill>
                  <a:schemeClr val="tx1"/>
                </a:solidFill>
              </a:rPr>
              <a:t>Helmet headers, CORS limits, rate limiting</a:t>
            </a:r>
            <a:endParaRPr lang="en-US" sz="1400" dirty="0"/>
          </a:p>
        </p:txBody>
      </p:sp>
      <p:sp>
        <p:nvSpPr>
          <p:cNvPr id="29" name="card-334"/>
          <p:cNvSpPr/>
          <p:nvPr/>
        </p:nvSpPr>
        <p:spPr>
          <a:xfrm>
            <a:off x="6126480" y="2926080"/>
            <a:ext cx="2651760" cy="1645920"/>
          </a:xfrm>
          <a:prstGeom prst="roundRect">
            <a:avLst>
              <a:gd name="adj" fmla="val 444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0" name="badge-335"/>
          <p:cNvSpPr/>
          <p:nvPr/>
        </p:nvSpPr>
        <p:spPr>
          <a:xfrm>
            <a:off x="6263640" y="3063240"/>
            <a:ext cx="411480" cy="411480"/>
          </a:xfrm>
          <a:prstGeom prst="ellipse">
            <a:avLst/>
          </a:prstGeom>
          <a:solidFill>
            <a:schemeClr val="accent5"/>
          </a:solidFill>
          <a:ln w="12700">
            <a:solidFill>
              <a:schemeClr val="accent5"/>
            </a:solidFill>
            <a:prstDash val="solid"/>
          </a:ln>
        </p:spPr>
      </p:sp>
      <p:pic>
        <p:nvPicPr>
          <p:cNvPr id="31" name="icon-336" descr="preencoded.png">    </p:cNvPr>
          <p:cNvPicPr>
            <a:picLocks noChangeAspect="1"/>
          </p:cNvPicPr>
          <p:nvPr/>
        </p:nvPicPr>
        <p:blipFill>
          <a:blip r:embed="rId6"/>
          <a:stretch>
            <a:fillRect/>
          </a:stretch>
        </p:blipFill>
        <p:spPr>
          <a:xfrm>
            <a:off x="6370625" y="3170225"/>
            <a:ext cx="197510" cy="197510"/>
          </a:xfrm>
          <a:prstGeom prst="rect">
            <a:avLst/>
          </a:prstGeom>
        </p:spPr>
      </p:pic>
      <p:sp>
        <p:nvSpPr>
          <p:cNvPr id="32" name="text-337"/>
          <p:cNvSpPr txBox="1"/>
          <p:nvPr/>
        </p:nvSpPr>
        <p:spPr>
          <a:xfrm>
            <a:off x="6784848" y="306324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Password policy</a:t>
            </a:r>
            <a:endParaRPr lang="en-US" sz="1500" dirty="0"/>
          </a:p>
        </p:txBody>
      </p:sp>
      <p:sp>
        <p:nvSpPr>
          <p:cNvPr id="33" name="text-338"/>
          <p:cNvSpPr txBox="1"/>
          <p:nvPr/>
        </p:nvSpPr>
        <p:spPr>
          <a:xfrm>
            <a:off x="6263640" y="3657600"/>
            <a:ext cx="2377440" cy="822960"/>
          </a:xfrm>
          <a:prstGeom prst="rect">
            <a:avLst/>
          </a:prstGeom>
          <a:noFill/>
          <a:ln/>
        </p:spPr>
        <p:txBody>
          <a:bodyPr wrap="square" lIns="0" tIns="0" rIns="0" bIns="0" rtlCol="0" anchor="t"/>
          <a:lstStyle/>
          <a:p>
            <a:pPr indent="0" marL="0">
              <a:buNone/>
            </a:pPr>
            <a:r>
              <a:rPr lang="en-US" sz="1400" dirty="0">
                <a:solidFill>
                  <a:schemeClr val="tx1"/>
                </a:solidFill>
              </a:rPr>
              <a:t>8+ chars with upper, lower and digit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Implementation and challenges</a:t>
            </a:r>
            <a:endParaRPr lang="en-US" sz="3000" dirty="0"/>
          </a:p>
        </p:txBody>
      </p:sp>
      <p:sp>
        <p:nvSpPr>
          <p:cNvPr id="4" name="card-339"/>
          <p:cNvSpPr/>
          <p:nvPr/>
        </p:nvSpPr>
        <p:spPr>
          <a:xfrm>
            <a:off x="457200" y="1097280"/>
            <a:ext cx="3657600" cy="3474720"/>
          </a:xfrm>
          <a:prstGeom prst="roundRect">
            <a:avLst>
              <a:gd name="adj" fmla="val 210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text-340"/>
          <p:cNvSpPr txBox="1"/>
          <p:nvPr/>
        </p:nvSpPr>
        <p:spPr>
          <a:xfrm>
            <a:off x="640080" y="1188720"/>
            <a:ext cx="3291840" cy="320040"/>
          </a:xfrm>
          <a:prstGeom prst="rect">
            <a:avLst/>
          </a:prstGeom>
          <a:noFill/>
          <a:ln/>
        </p:spPr>
        <p:txBody>
          <a:bodyPr wrap="square" lIns="0" tIns="0" rIns="0" bIns="0" rtlCol="0" anchor="t"/>
          <a:lstStyle/>
          <a:p>
            <a:pPr indent="0" marL="0">
              <a:buNone/>
            </a:pPr>
            <a:r>
              <a:rPr lang="en-US" sz="1600" b="1" dirty="0">
                <a:solidFill>
                  <a:schemeClr val="tx2"/>
                </a:solidFill>
              </a:rPr>
              <a:t>Technology stack</a:t>
            </a:r>
            <a:endParaRPr lang="en-US" sz="1600" dirty="0"/>
          </a:p>
        </p:txBody>
      </p:sp>
      <p:sp>
        <p:nvSpPr>
          <p:cNvPr id="6" name="text-341"/>
          <p:cNvSpPr txBox="1"/>
          <p:nvPr/>
        </p:nvSpPr>
        <p:spPr>
          <a:xfrm>
            <a:off x="640080" y="1572768"/>
            <a:ext cx="3291840" cy="685800"/>
          </a:xfrm>
          <a:prstGeom prst="rect">
            <a:avLst/>
          </a:prstGeom>
          <a:noFill/>
          <a:ln/>
        </p:spPr>
        <p:txBody>
          <a:bodyPr wrap="square" lIns="0" tIns="0" rIns="0" bIns="0" rtlCol="0" anchor="t"/>
          <a:lstStyle/>
          <a:p>
            <a:pPr indent="0" marL="0">
              <a:buNone/>
            </a:pPr>
            <a:r>
              <a:rPr lang="en-US" sz="1400" b="1" dirty="0">
                <a:solidFill>
                  <a:schemeClr val="accent2"/>
                </a:solidFill>
              </a:rPr>
              <a:t>Frontend</a:t>
            </a:r>
            <a:endParaRPr lang="en-US" sz="1400" dirty="0"/>
          </a:p>
          <a:p>
            <a:pPr indent="0" marL="0">
              <a:buNone/>
            </a:pPr>
            <a:r>
              <a:rPr lang="en-US" sz="1400" dirty="0">
                <a:solidFill>
                  <a:schemeClr val="tx1"/>
                </a:solidFill>
              </a:rPr>
              <a:t>React 18, Vite, Axios, React Router</a:t>
            </a:r>
            <a:endParaRPr lang="en-US" sz="1400" dirty="0"/>
          </a:p>
        </p:txBody>
      </p:sp>
      <p:sp>
        <p:nvSpPr>
          <p:cNvPr id="7" name="text-342"/>
          <p:cNvSpPr txBox="1"/>
          <p:nvPr/>
        </p:nvSpPr>
        <p:spPr>
          <a:xfrm>
            <a:off x="640080" y="2322576"/>
            <a:ext cx="3291840" cy="685800"/>
          </a:xfrm>
          <a:prstGeom prst="rect">
            <a:avLst/>
          </a:prstGeom>
          <a:noFill/>
          <a:ln/>
        </p:spPr>
        <p:txBody>
          <a:bodyPr wrap="square" lIns="0" tIns="0" rIns="0" bIns="0" rtlCol="0" anchor="t"/>
          <a:lstStyle/>
          <a:p>
            <a:pPr indent="0" marL="0">
              <a:buNone/>
            </a:pPr>
            <a:r>
              <a:rPr lang="en-US" sz="1400" b="1" dirty="0">
                <a:solidFill>
                  <a:schemeClr val="accent2"/>
                </a:solidFill>
              </a:rPr>
              <a:t>Backend</a:t>
            </a:r>
            <a:endParaRPr lang="en-US" sz="1400" dirty="0"/>
          </a:p>
          <a:p>
            <a:pPr indent="0" marL="0">
              <a:buNone/>
            </a:pPr>
            <a:r>
              <a:rPr lang="en-US" sz="1400" dirty="0">
                <a:solidFill>
                  <a:schemeClr val="tx1"/>
                </a:solidFill>
              </a:rPr>
              <a:t>Node 20, Express, mysql2, Multer, JWT</a:t>
            </a:r>
            <a:endParaRPr lang="en-US" sz="1400" dirty="0"/>
          </a:p>
        </p:txBody>
      </p:sp>
      <p:sp>
        <p:nvSpPr>
          <p:cNvPr id="8" name="text-343"/>
          <p:cNvSpPr txBox="1"/>
          <p:nvPr/>
        </p:nvSpPr>
        <p:spPr>
          <a:xfrm>
            <a:off x="640080" y="3072384"/>
            <a:ext cx="3291840" cy="685800"/>
          </a:xfrm>
          <a:prstGeom prst="rect">
            <a:avLst/>
          </a:prstGeom>
          <a:noFill/>
          <a:ln/>
        </p:spPr>
        <p:txBody>
          <a:bodyPr wrap="square" lIns="0" tIns="0" rIns="0" bIns="0" rtlCol="0" anchor="t"/>
          <a:lstStyle/>
          <a:p>
            <a:pPr indent="0" marL="0">
              <a:buNone/>
            </a:pPr>
            <a:r>
              <a:rPr lang="en-US" sz="1400" b="1" dirty="0">
                <a:solidFill>
                  <a:schemeClr val="accent2"/>
                </a:solidFill>
              </a:rPr>
              <a:t>Database</a:t>
            </a:r>
            <a:endParaRPr lang="en-US" sz="1400" dirty="0"/>
          </a:p>
          <a:p>
            <a:pPr indent="0" marL="0">
              <a:buNone/>
            </a:pPr>
            <a:r>
              <a:rPr lang="en-US" sz="1400" dirty="0">
                <a:solidFill>
                  <a:schemeClr val="tx1"/>
                </a:solidFill>
              </a:rPr>
              <a:t>MySQL 8, Workbench</a:t>
            </a:r>
            <a:endParaRPr lang="en-US" sz="1400" dirty="0"/>
          </a:p>
        </p:txBody>
      </p:sp>
      <p:sp>
        <p:nvSpPr>
          <p:cNvPr id="9" name="text-344"/>
          <p:cNvSpPr txBox="1"/>
          <p:nvPr/>
        </p:nvSpPr>
        <p:spPr>
          <a:xfrm>
            <a:off x="640080" y="3822192"/>
            <a:ext cx="3291840" cy="685800"/>
          </a:xfrm>
          <a:prstGeom prst="rect">
            <a:avLst/>
          </a:prstGeom>
          <a:noFill/>
          <a:ln/>
        </p:spPr>
        <p:txBody>
          <a:bodyPr wrap="square" lIns="0" tIns="0" rIns="0" bIns="0" rtlCol="0" anchor="t"/>
          <a:lstStyle/>
          <a:p>
            <a:pPr indent="0" marL="0">
              <a:buNone/>
            </a:pPr>
            <a:r>
              <a:rPr lang="en-US" sz="1400" b="1" dirty="0">
                <a:solidFill>
                  <a:schemeClr val="accent2"/>
                </a:solidFill>
              </a:rPr>
              <a:t>Tools</a:t>
            </a:r>
            <a:endParaRPr lang="en-US" sz="1400" dirty="0"/>
          </a:p>
          <a:p>
            <a:pPr indent="0" marL="0">
              <a:buNone/>
            </a:pPr>
            <a:r>
              <a:rPr lang="en-US" sz="1400" dirty="0">
                <a:solidFill>
                  <a:schemeClr val="tx1"/>
                </a:solidFill>
              </a:rPr>
              <a:t>VS Code, Git, GitHub</a:t>
            </a:r>
            <a:endParaRPr lang="en-US" sz="1400" dirty="0"/>
          </a:p>
        </p:txBody>
      </p:sp>
      <p:sp>
        <p:nvSpPr>
          <p:cNvPr id="10" name="card-345"/>
          <p:cNvSpPr/>
          <p:nvPr/>
        </p:nvSpPr>
        <p:spPr>
          <a:xfrm>
            <a:off x="4389120" y="1097280"/>
            <a:ext cx="4297680" cy="777240"/>
          </a:xfrm>
          <a:prstGeom prst="roundRect">
            <a:avLst>
              <a:gd name="adj" fmla="val 941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text-346"/>
          <p:cNvSpPr txBox="1"/>
          <p:nvPr/>
        </p:nvSpPr>
        <p:spPr>
          <a:xfrm>
            <a:off x="4572000" y="1097280"/>
            <a:ext cx="3977640" cy="777240"/>
          </a:xfrm>
          <a:prstGeom prst="rect">
            <a:avLst/>
          </a:prstGeom>
          <a:noFill/>
          <a:ln/>
        </p:spPr>
        <p:txBody>
          <a:bodyPr wrap="square" lIns="0" tIns="0" rIns="0" bIns="0" rtlCol="0" anchor="ctr"/>
          <a:lstStyle/>
          <a:p>
            <a:pPr indent="0" marL="0">
              <a:buNone/>
            </a:pPr>
            <a:r>
              <a:rPr lang="en-US" sz="1400" b="1" dirty="0">
                <a:solidFill>
                  <a:schemeClr val="accent4"/>
                </a:solidFill>
              </a:rPr>
              <a:t>Frontend and backend out of sync</a:t>
            </a:r>
            <a:endParaRPr lang="en-US" sz="1400" dirty="0"/>
          </a:p>
          <a:p>
            <a:pPr indent="0" marL="0">
              <a:buNone/>
            </a:pPr>
            <a:r>
              <a:rPr lang="en-US" sz="1400" dirty="0">
                <a:solidFill>
                  <a:schemeClr val="tx1"/>
                </a:solidFill>
              </a:rPr>
              <a:t>→ API contract defined first</a:t>
            </a:r>
            <a:endParaRPr lang="en-US" sz="1400" dirty="0"/>
          </a:p>
        </p:txBody>
      </p:sp>
      <p:sp>
        <p:nvSpPr>
          <p:cNvPr id="12" name="card-347"/>
          <p:cNvSpPr/>
          <p:nvPr/>
        </p:nvSpPr>
        <p:spPr>
          <a:xfrm>
            <a:off x="4389120" y="1984248"/>
            <a:ext cx="4297680" cy="777240"/>
          </a:xfrm>
          <a:prstGeom prst="roundRect">
            <a:avLst>
              <a:gd name="adj" fmla="val 941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text-348"/>
          <p:cNvSpPr txBox="1"/>
          <p:nvPr/>
        </p:nvSpPr>
        <p:spPr>
          <a:xfrm>
            <a:off x="4572000" y="1984248"/>
            <a:ext cx="3977640" cy="777240"/>
          </a:xfrm>
          <a:prstGeom prst="rect">
            <a:avLst/>
          </a:prstGeom>
          <a:noFill/>
          <a:ln/>
        </p:spPr>
        <p:txBody>
          <a:bodyPr wrap="square" lIns="0" tIns="0" rIns="0" bIns="0" rtlCol="0" anchor="ctr"/>
          <a:lstStyle/>
          <a:p>
            <a:pPr indent="0" marL="0">
              <a:buNone/>
            </a:pPr>
            <a:r>
              <a:rPr lang="en-US" sz="1400" b="1" dirty="0">
                <a:solidFill>
                  <a:schemeClr val="accent4"/>
                </a:solidFill>
              </a:rPr>
              <a:t>Unsafe file uploads</a:t>
            </a:r>
            <a:endParaRPr lang="en-US" sz="1400" dirty="0"/>
          </a:p>
          <a:p>
            <a:pPr indent="0" marL="0">
              <a:buNone/>
            </a:pPr>
            <a:r>
              <a:rPr lang="en-US" sz="1400" dirty="0">
                <a:solidFill>
                  <a:schemeClr val="tx1"/>
                </a:solidFill>
              </a:rPr>
              <a:t>→ Type and size checks, sanitized names</a:t>
            </a:r>
            <a:endParaRPr lang="en-US" sz="1400" dirty="0"/>
          </a:p>
        </p:txBody>
      </p:sp>
      <p:sp>
        <p:nvSpPr>
          <p:cNvPr id="14" name="card-349"/>
          <p:cNvSpPr/>
          <p:nvPr/>
        </p:nvSpPr>
        <p:spPr>
          <a:xfrm>
            <a:off x="4389120" y="2871216"/>
            <a:ext cx="4297680" cy="777240"/>
          </a:xfrm>
          <a:prstGeom prst="roundRect">
            <a:avLst>
              <a:gd name="adj" fmla="val 941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text-350"/>
          <p:cNvSpPr txBox="1"/>
          <p:nvPr/>
        </p:nvSpPr>
        <p:spPr>
          <a:xfrm>
            <a:off x="4572000" y="2871216"/>
            <a:ext cx="3977640" cy="777240"/>
          </a:xfrm>
          <a:prstGeom prst="rect">
            <a:avLst/>
          </a:prstGeom>
          <a:noFill/>
          <a:ln/>
        </p:spPr>
        <p:txBody>
          <a:bodyPr wrap="square" lIns="0" tIns="0" rIns="0" bIns="0" rtlCol="0" anchor="ctr"/>
          <a:lstStyle/>
          <a:p>
            <a:pPr indent="0" marL="0">
              <a:buNone/>
            </a:pPr>
            <a:r>
              <a:rPr lang="en-US" sz="1400" b="1" dirty="0">
                <a:solidFill>
                  <a:schemeClr val="accent4"/>
                </a:solidFill>
              </a:rPr>
              <a:t>Layout on any screen</a:t>
            </a:r>
            <a:endParaRPr lang="en-US" sz="1400" dirty="0"/>
          </a:p>
          <a:p>
            <a:pPr indent="0" marL="0">
              <a:buNone/>
            </a:pPr>
            <a:r>
              <a:rPr lang="en-US" sz="1400" dirty="0">
                <a:solidFill>
                  <a:schemeClr val="tx1"/>
                </a:solidFill>
              </a:rPr>
              <a:t>→ Tested with Chrome DevTools</a:t>
            </a:r>
            <a:endParaRPr lang="en-US" sz="1400" dirty="0"/>
          </a:p>
        </p:txBody>
      </p:sp>
      <p:sp>
        <p:nvSpPr>
          <p:cNvPr id="16" name="card-351"/>
          <p:cNvSpPr/>
          <p:nvPr/>
        </p:nvSpPr>
        <p:spPr>
          <a:xfrm>
            <a:off x="4389120" y="3758184"/>
            <a:ext cx="4297680" cy="777240"/>
          </a:xfrm>
          <a:prstGeom prst="roundRect">
            <a:avLst>
              <a:gd name="adj" fmla="val 941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7" name="text-352"/>
          <p:cNvSpPr txBox="1"/>
          <p:nvPr/>
        </p:nvSpPr>
        <p:spPr>
          <a:xfrm>
            <a:off x="4572000" y="3758184"/>
            <a:ext cx="3977640" cy="777240"/>
          </a:xfrm>
          <a:prstGeom prst="rect">
            <a:avLst/>
          </a:prstGeom>
          <a:noFill/>
          <a:ln/>
        </p:spPr>
        <p:txBody>
          <a:bodyPr wrap="square" lIns="0" tIns="0" rIns="0" bIns="0" rtlCol="0" anchor="ctr"/>
          <a:lstStyle/>
          <a:p>
            <a:pPr indent="0" marL="0">
              <a:buNone/>
            </a:pPr>
            <a:r>
              <a:rPr lang="en-US" sz="1400" b="1" dirty="0">
                <a:solidFill>
                  <a:schemeClr val="accent4"/>
                </a:solidFill>
              </a:rPr>
              <a:t>SQL injection</a:t>
            </a:r>
            <a:endParaRPr lang="en-US" sz="1400" dirty="0"/>
          </a:p>
          <a:p>
            <a:pPr indent="0" marL="0">
              <a:buNone/>
            </a:pPr>
            <a:r>
              <a:rPr lang="en-US" sz="1400" dirty="0">
                <a:solidFill>
                  <a:schemeClr val="tx1"/>
                </a:solidFill>
              </a:rPr>
              <a:t>→ Prepared statements for all input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Testing and honest project status</a:t>
            </a:r>
            <a:endParaRPr lang="en-US" sz="3000" dirty="0"/>
          </a:p>
        </p:txBody>
      </p:sp>
      <p:sp>
        <p:nvSpPr>
          <p:cNvPr id="4" name="card-353"/>
          <p:cNvSpPr/>
          <p:nvPr/>
        </p:nvSpPr>
        <p:spPr>
          <a:xfrm>
            <a:off x="457200" y="1097280"/>
            <a:ext cx="3657600" cy="3474720"/>
          </a:xfrm>
          <a:prstGeom prst="roundRect">
            <a:avLst>
              <a:gd name="adj" fmla="val 210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text-354"/>
          <p:cNvSpPr txBox="1"/>
          <p:nvPr/>
        </p:nvSpPr>
        <p:spPr>
          <a:xfrm>
            <a:off x="640080" y="1188720"/>
            <a:ext cx="3291840" cy="320040"/>
          </a:xfrm>
          <a:prstGeom prst="rect">
            <a:avLst/>
          </a:prstGeom>
          <a:noFill/>
          <a:ln/>
        </p:spPr>
        <p:txBody>
          <a:bodyPr wrap="square" lIns="0" tIns="0" rIns="0" bIns="0" rtlCol="0" anchor="t"/>
          <a:lstStyle/>
          <a:p>
            <a:pPr indent="0" marL="0">
              <a:buNone/>
            </a:pPr>
            <a:r>
              <a:rPr lang="en-US" sz="1600" b="1" dirty="0">
                <a:solidFill>
                  <a:schemeClr val="tx2"/>
                </a:solidFill>
              </a:rPr>
              <a:t>Testing approach</a:t>
            </a:r>
            <a:endParaRPr lang="en-US" sz="1600" dirty="0"/>
          </a:p>
        </p:txBody>
      </p:sp>
      <p:sp>
        <p:nvSpPr>
          <p:cNvPr id="6" name="text-355"/>
          <p:cNvSpPr txBox="1"/>
          <p:nvPr/>
        </p:nvSpPr>
        <p:spPr>
          <a:xfrm>
            <a:off x="640080" y="1627632"/>
            <a:ext cx="3291840" cy="530352"/>
          </a:xfrm>
          <a:prstGeom prst="rect">
            <a:avLst/>
          </a:prstGeom>
          <a:noFill/>
          <a:ln/>
        </p:spPr>
        <p:txBody>
          <a:bodyPr wrap="square" lIns="0" tIns="0" rIns="0" bIns="0" rtlCol="0" anchor="t"/>
          <a:lstStyle/>
          <a:p>
            <a:pPr indent="0" marL="0">
              <a:buNone/>
            </a:pPr>
            <a:r>
              <a:rPr lang="en-US" sz="1400" b="1" dirty="0">
                <a:solidFill>
                  <a:schemeClr val="accent1"/>
                </a:solidFill>
              </a:rPr>
              <a:t>Unit</a:t>
            </a:r>
            <a:endParaRPr lang="en-US" sz="1400" dirty="0"/>
          </a:p>
          <a:p>
            <a:pPr indent="0" marL="0">
              <a:buNone/>
            </a:pPr>
            <a:r>
              <a:rPr lang="en-US" sz="1400" dirty="0">
                <a:solidFill>
                  <a:schemeClr val="tx1"/>
                </a:solidFill>
              </a:rPr>
              <a:t>Jest, React Testing Library</a:t>
            </a:r>
            <a:endParaRPr lang="en-US" sz="1400" dirty="0"/>
          </a:p>
        </p:txBody>
      </p:sp>
      <p:sp>
        <p:nvSpPr>
          <p:cNvPr id="7" name="text-356"/>
          <p:cNvSpPr txBox="1"/>
          <p:nvPr/>
        </p:nvSpPr>
        <p:spPr>
          <a:xfrm>
            <a:off x="640080" y="2203704"/>
            <a:ext cx="3291840" cy="530352"/>
          </a:xfrm>
          <a:prstGeom prst="rect">
            <a:avLst/>
          </a:prstGeom>
          <a:noFill/>
          <a:ln/>
        </p:spPr>
        <p:txBody>
          <a:bodyPr wrap="square" lIns="0" tIns="0" rIns="0" bIns="0" rtlCol="0" anchor="t"/>
          <a:lstStyle/>
          <a:p>
            <a:pPr indent="0" marL="0">
              <a:buNone/>
            </a:pPr>
            <a:r>
              <a:rPr lang="en-US" sz="1400" b="1" dirty="0">
                <a:solidFill>
                  <a:schemeClr val="accent1"/>
                </a:solidFill>
              </a:rPr>
              <a:t>Integration</a:t>
            </a:r>
            <a:endParaRPr lang="en-US" sz="1400" dirty="0"/>
          </a:p>
          <a:p>
            <a:pPr indent="0" marL="0">
              <a:buNone/>
            </a:pPr>
            <a:r>
              <a:rPr lang="en-US" sz="1400" dirty="0">
                <a:solidFill>
                  <a:schemeClr val="tx1"/>
                </a:solidFill>
              </a:rPr>
              <a:t>Supertest: API and auth</a:t>
            </a:r>
            <a:endParaRPr lang="en-US" sz="1400" dirty="0"/>
          </a:p>
        </p:txBody>
      </p:sp>
      <p:sp>
        <p:nvSpPr>
          <p:cNvPr id="8" name="text-357"/>
          <p:cNvSpPr txBox="1"/>
          <p:nvPr/>
        </p:nvSpPr>
        <p:spPr>
          <a:xfrm>
            <a:off x="640080" y="2779776"/>
            <a:ext cx="3291840" cy="530352"/>
          </a:xfrm>
          <a:prstGeom prst="rect">
            <a:avLst/>
          </a:prstGeom>
          <a:noFill/>
          <a:ln/>
        </p:spPr>
        <p:txBody>
          <a:bodyPr wrap="square" lIns="0" tIns="0" rIns="0" bIns="0" rtlCol="0" anchor="t"/>
          <a:lstStyle/>
          <a:p>
            <a:pPr indent="0" marL="0">
              <a:buNone/>
            </a:pPr>
            <a:r>
              <a:rPr lang="en-US" sz="1400" b="1" dirty="0">
                <a:solidFill>
                  <a:schemeClr val="accent1"/>
                </a:solidFill>
              </a:rPr>
              <a:t>End-to-end</a:t>
            </a:r>
            <a:endParaRPr lang="en-US" sz="1400" dirty="0"/>
          </a:p>
          <a:p>
            <a:pPr indent="0" marL="0">
              <a:buNone/>
            </a:pPr>
            <a:r>
              <a:rPr lang="en-US" sz="1400" dirty="0">
                <a:solidFill>
                  <a:schemeClr val="tx1"/>
                </a:solidFill>
              </a:rPr>
              <a:t>Cypress: login → publish → view</a:t>
            </a:r>
            <a:endParaRPr lang="en-US" sz="1400" dirty="0"/>
          </a:p>
        </p:txBody>
      </p:sp>
      <p:sp>
        <p:nvSpPr>
          <p:cNvPr id="9" name="text-358"/>
          <p:cNvSpPr txBox="1"/>
          <p:nvPr/>
        </p:nvSpPr>
        <p:spPr>
          <a:xfrm>
            <a:off x="640080" y="3355848"/>
            <a:ext cx="3291840" cy="530352"/>
          </a:xfrm>
          <a:prstGeom prst="rect">
            <a:avLst/>
          </a:prstGeom>
          <a:noFill/>
          <a:ln/>
        </p:spPr>
        <p:txBody>
          <a:bodyPr wrap="square" lIns="0" tIns="0" rIns="0" bIns="0" rtlCol="0" anchor="t"/>
          <a:lstStyle/>
          <a:p>
            <a:pPr indent="0" marL="0">
              <a:buNone/>
            </a:pPr>
            <a:r>
              <a:rPr lang="en-US" sz="1400" b="1" dirty="0">
                <a:solidFill>
                  <a:schemeClr val="accent1"/>
                </a:solidFill>
              </a:rPr>
              <a:t>Cross-browser</a:t>
            </a:r>
            <a:endParaRPr lang="en-US" sz="1400" dirty="0"/>
          </a:p>
          <a:p>
            <a:pPr indent="0" marL="0">
              <a:buNone/>
            </a:pPr>
            <a:r>
              <a:rPr lang="en-US" sz="1400" dirty="0">
                <a:solidFill>
                  <a:schemeClr val="tx1"/>
                </a:solidFill>
              </a:rPr>
              <a:t>Chrome, Firefox, Safari, Edge</a:t>
            </a:r>
            <a:endParaRPr lang="en-US" sz="1400" dirty="0"/>
          </a:p>
        </p:txBody>
      </p:sp>
      <p:sp>
        <p:nvSpPr>
          <p:cNvPr id="10" name="text-359"/>
          <p:cNvSpPr txBox="1"/>
          <p:nvPr/>
        </p:nvSpPr>
        <p:spPr>
          <a:xfrm>
            <a:off x="640080" y="3931920"/>
            <a:ext cx="3291840" cy="530352"/>
          </a:xfrm>
          <a:prstGeom prst="rect">
            <a:avLst/>
          </a:prstGeom>
          <a:noFill/>
          <a:ln/>
        </p:spPr>
        <p:txBody>
          <a:bodyPr wrap="square" lIns="0" tIns="0" rIns="0" bIns="0" rtlCol="0" anchor="t"/>
          <a:lstStyle/>
          <a:p>
            <a:pPr indent="0" marL="0">
              <a:buNone/>
            </a:pPr>
            <a:r>
              <a:rPr lang="en-US" sz="1400" b="1" dirty="0">
                <a:solidFill>
                  <a:schemeClr val="accent1"/>
                </a:solidFill>
              </a:rPr>
              <a:t>Security</a:t>
            </a:r>
            <a:endParaRPr lang="en-US" sz="1400" dirty="0"/>
          </a:p>
          <a:p>
            <a:pPr indent="0" marL="0">
              <a:buNone/>
            </a:pPr>
            <a:r>
              <a:rPr lang="en-US" sz="1400" dirty="0">
                <a:solidFill>
                  <a:schemeClr val="tx1"/>
                </a:solidFill>
              </a:rPr>
              <a:t>Login bypass, SQLi, bad uploads</a:t>
            </a:r>
            <a:endParaRPr lang="en-US" sz="1400" dirty="0"/>
          </a:p>
        </p:txBody>
      </p:sp>
      <p:sp>
        <p:nvSpPr>
          <p:cNvPr id="11" name="card-360"/>
          <p:cNvSpPr/>
          <p:nvPr/>
        </p:nvSpPr>
        <p:spPr>
          <a:xfrm>
            <a:off x="4389120" y="1097280"/>
            <a:ext cx="4297680" cy="1051560"/>
          </a:xfrm>
          <a:prstGeom prst="roundRect">
            <a:avLst>
              <a:gd name="adj" fmla="val 69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pill-361"/>
          <p:cNvSpPr/>
          <p:nvPr/>
        </p:nvSpPr>
        <p:spPr>
          <a:xfrm>
            <a:off x="4526280" y="1234440"/>
            <a:ext cx="1005840" cy="365760"/>
          </a:xfrm>
          <a:prstGeom prst="roundRect">
            <a:avLst>
              <a:gd name="adj" fmla="val 50000"/>
            </a:avLst>
          </a:prstGeom>
          <a:solidFill>
            <a:schemeClr val="accent3"/>
          </a:solidFill>
          <a:ln w="12700">
            <a:solidFill>
              <a:schemeClr val="accent3"/>
            </a:solidFill>
            <a:prstDash val="solid"/>
          </a:ln>
        </p:spPr>
      </p:sp>
      <p:sp>
        <p:nvSpPr>
          <p:cNvPr id="13" name="text-362"/>
          <p:cNvSpPr txBox="1"/>
          <p:nvPr/>
        </p:nvSpPr>
        <p:spPr>
          <a:xfrm>
            <a:off x="4526280" y="1234440"/>
            <a:ext cx="1005840" cy="365760"/>
          </a:xfrm>
          <a:prstGeom prst="rect">
            <a:avLst/>
          </a:prstGeom>
          <a:noFill/>
          <a:ln/>
        </p:spPr>
        <p:txBody>
          <a:bodyPr wrap="square" lIns="0" tIns="0" rIns="0" bIns="0" rtlCol="0" anchor="ctr"/>
          <a:lstStyle/>
          <a:p>
            <a:pPr algn="ctr" indent="0" marL="0">
              <a:buNone/>
            </a:pPr>
            <a:r>
              <a:rPr lang="en-US" sz="1400" b="1" dirty="0">
                <a:solidFill>
                  <a:schemeClr val="bg1"/>
                </a:solidFill>
              </a:rPr>
              <a:t>Done</a:t>
            </a:r>
            <a:endParaRPr lang="en-US" sz="1400" dirty="0"/>
          </a:p>
        </p:txBody>
      </p:sp>
      <p:sp>
        <p:nvSpPr>
          <p:cNvPr id="14" name="text-363"/>
          <p:cNvSpPr txBox="1"/>
          <p:nvPr/>
        </p:nvSpPr>
        <p:spPr>
          <a:xfrm>
            <a:off x="5669280" y="1170432"/>
            <a:ext cx="2926080" cy="914400"/>
          </a:xfrm>
          <a:prstGeom prst="rect">
            <a:avLst/>
          </a:prstGeom>
          <a:noFill/>
          <a:ln/>
        </p:spPr>
        <p:txBody>
          <a:bodyPr wrap="square" lIns="0" tIns="0" rIns="0" bIns="0" rtlCol="0" anchor="ctr"/>
          <a:lstStyle/>
          <a:p>
            <a:pPr indent="0" marL="0">
              <a:buNone/>
            </a:pPr>
            <a:r>
              <a:rPr lang="en-US" sz="1400" dirty="0">
                <a:solidFill>
                  <a:schemeClr val="tx1"/>
                </a:solidFill>
              </a:rPr>
              <a:t>Public pages, admin login, news CRUD, image upload, security layers</a:t>
            </a:r>
            <a:endParaRPr lang="en-US" sz="1400" dirty="0"/>
          </a:p>
        </p:txBody>
      </p:sp>
      <p:sp>
        <p:nvSpPr>
          <p:cNvPr id="15" name="card-364"/>
          <p:cNvSpPr/>
          <p:nvPr/>
        </p:nvSpPr>
        <p:spPr>
          <a:xfrm>
            <a:off x="4389120" y="2286000"/>
            <a:ext cx="4297680" cy="1051560"/>
          </a:xfrm>
          <a:prstGeom prst="roundRect">
            <a:avLst>
              <a:gd name="adj" fmla="val 69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6" name="pill-365"/>
          <p:cNvSpPr/>
          <p:nvPr/>
        </p:nvSpPr>
        <p:spPr>
          <a:xfrm>
            <a:off x="4526280" y="2423160"/>
            <a:ext cx="1005840" cy="365760"/>
          </a:xfrm>
          <a:prstGeom prst="roundRect">
            <a:avLst>
              <a:gd name="adj" fmla="val 50000"/>
            </a:avLst>
          </a:prstGeom>
          <a:solidFill>
            <a:schemeClr val="accent2"/>
          </a:solidFill>
          <a:ln w="12700">
            <a:solidFill>
              <a:schemeClr val="accent2"/>
            </a:solidFill>
            <a:prstDash val="solid"/>
          </a:ln>
        </p:spPr>
      </p:sp>
      <p:sp>
        <p:nvSpPr>
          <p:cNvPr id="17" name="text-366"/>
          <p:cNvSpPr txBox="1"/>
          <p:nvPr/>
        </p:nvSpPr>
        <p:spPr>
          <a:xfrm>
            <a:off x="4526280" y="2423160"/>
            <a:ext cx="1005840" cy="365760"/>
          </a:xfrm>
          <a:prstGeom prst="rect">
            <a:avLst/>
          </a:prstGeom>
          <a:noFill/>
          <a:ln/>
        </p:spPr>
        <p:txBody>
          <a:bodyPr wrap="square" lIns="0" tIns="0" rIns="0" bIns="0" rtlCol="0" anchor="ctr"/>
          <a:lstStyle/>
          <a:p>
            <a:pPr algn="ctr" indent="0" marL="0">
              <a:buNone/>
            </a:pPr>
            <a:r>
              <a:rPr lang="en-US" sz="1400" b="1" dirty="0">
                <a:solidFill>
                  <a:schemeClr val="tx1"/>
                </a:solidFill>
              </a:rPr>
              <a:t>Prepared</a:t>
            </a:r>
            <a:endParaRPr lang="en-US" sz="1400" dirty="0"/>
          </a:p>
        </p:txBody>
      </p:sp>
      <p:sp>
        <p:nvSpPr>
          <p:cNvPr id="18" name="text-367"/>
          <p:cNvSpPr txBox="1"/>
          <p:nvPr/>
        </p:nvSpPr>
        <p:spPr>
          <a:xfrm>
            <a:off x="5669280" y="2359152"/>
            <a:ext cx="2926080" cy="914400"/>
          </a:xfrm>
          <a:prstGeom prst="rect">
            <a:avLst/>
          </a:prstGeom>
          <a:noFill/>
          <a:ln/>
        </p:spPr>
        <p:txBody>
          <a:bodyPr wrap="square" lIns="0" tIns="0" rIns="0" bIns="0" rtlCol="0" anchor="ctr"/>
          <a:lstStyle/>
          <a:p>
            <a:pPr indent="0" marL="0">
              <a:buNone/>
            </a:pPr>
            <a:r>
              <a:rPr lang="en-US" sz="1400" dirty="0">
                <a:solidFill>
                  <a:schemeClr val="tx1"/>
                </a:solidFill>
              </a:rPr>
              <a:t>Role-based auth, promotions table, full-text indexes</a:t>
            </a:r>
            <a:endParaRPr lang="en-US" sz="1400" dirty="0"/>
          </a:p>
        </p:txBody>
      </p:sp>
      <p:sp>
        <p:nvSpPr>
          <p:cNvPr id="19" name="card-368"/>
          <p:cNvSpPr/>
          <p:nvPr/>
        </p:nvSpPr>
        <p:spPr>
          <a:xfrm>
            <a:off x="4389120" y="3474720"/>
            <a:ext cx="4297680" cy="1051560"/>
          </a:xfrm>
          <a:prstGeom prst="roundRect">
            <a:avLst>
              <a:gd name="adj" fmla="val 69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pill-369"/>
          <p:cNvSpPr/>
          <p:nvPr/>
        </p:nvSpPr>
        <p:spPr>
          <a:xfrm>
            <a:off x="4526280" y="3611880"/>
            <a:ext cx="1005840" cy="365760"/>
          </a:xfrm>
          <a:prstGeom prst="roundRect">
            <a:avLst>
              <a:gd name="adj" fmla="val 50000"/>
            </a:avLst>
          </a:prstGeom>
          <a:solidFill>
            <a:schemeClr val="accent4"/>
          </a:solidFill>
          <a:ln w="12700">
            <a:solidFill>
              <a:schemeClr val="accent4"/>
            </a:solidFill>
            <a:prstDash val="solid"/>
          </a:ln>
        </p:spPr>
      </p:sp>
      <p:sp>
        <p:nvSpPr>
          <p:cNvPr id="21" name="text-370"/>
          <p:cNvSpPr txBox="1"/>
          <p:nvPr/>
        </p:nvSpPr>
        <p:spPr>
          <a:xfrm>
            <a:off x="4526280" y="3611880"/>
            <a:ext cx="1005840" cy="365760"/>
          </a:xfrm>
          <a:prstGeom prst="rect">
            <a:avLst/>
          </a:prstGeom>
          <a:noFill/>
          <a:ln/>
        </p:spPr>
        <p:txBody>
          <a:bodyPr wrap="square" lIns="0" tIns="0" rIns="0" bIns="0" rtlCol="0" anchor="ctr"/>
          <a:lstStyle/>
          <a:p>
            <a:pPr algn="ctr" indent="0" marL="0">
              <a:buNone/>
            </a:pPr>
            <a:r>
              <a:rPr lang="en-US" sz="1400" b="1" dirty="0">
                <a:solidFill>
                  <a:schemeClr val="bg1"/>
                </a:solidFill>
              </a:rPr>
              <a:t>Pending</a:t>
            </a:r>
            <a:endParaRPr lang="en-US" sz="1400" dirty="0"/>
          </a:p>
        </p:txBody>
      </p:sp>
      <p:sp>
        <p:nvSpPr>
          <p:cNvPr id="22" name="text-371"/>
          <p:cNvSpPr txBox="1"/>
          <p:nvPr/>
        </p:nvSpPr>
        <p:spPr>
          <a:xfrm>
            <a:off x="5669280" y="3547872"/>
            <a:ext cx="2926080" cy="914400"/>
          </a:xfrm>
          <a:prstGeom prst="rect">
            <a:avLst/>
          </a:prstGeom>
          <a:noFill/>
          <a:ln/>
        </p:spPr>
        <p:txBody>
          <a:bodyPr wrap="square" lIns="0" tIns="0" rIns="0" bIns="0" rtlCol="0" anchor="ctr"/>
          <a:lstStyle/>
          <a:p>
            <a:pPr indent="0" marL="0">
              <a:buNone/>
            </a:pPr>
            <a:r>
              <a:rPr lang="en-US" sz="1400" dirty="0">
                <a:solidFill>
                  <a:schemeClr val="tx1"/>
                </a:solidFill>
              </a:rPr>
              <a:t>Executed test report, production deployment, load test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Learning outcomes and recommendations</a:t>
            </a:r>
            <a:endParaRPr lang="en-US" sz="3000" dirty="0"/>
          </a:p>
        </p:txBody>
      </p:sp>
      <p:sp>
        <p:nvSpPr>
          <p:cNvPr id="4" name="card-372"/>
          <p:cNvSpPr/>
          <p:nvPr/>
        </p:nvSpPr>
        <p:spPr>
          <a:xfrm>
            <a:off x="457200" y="1097280"/>
            <a:ext cx="4023360" cy="3474720"/>
          </a:xfrm>
          <a:prstGeom prst="roundRect">
            <a:avLst>
              <a:gd name="adj" fmla="val 210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badge-373"/>
          <p:cNvSpPr/>
          <p:nvPr/>
        </p:nvSpPr>
        <p:spPr>
          <a:xfrm>
            <a:off x="640080" y="1207008"/>
            <a:ext cx="457200" cy="457200"/>
          </a:xfrm>
          <a:prstGeom prst="ellipse">
            <a:avLst/>
          </a:prstGeom>
          <a:solidFill>
            <a:schemeClr val="accent1"/>
          </a:solidFill>
          <a:ln w="12700">
            <a:solidFill>
              <a:schemeClr val="accent1"/>
            </a:solidFill>
            <a:prstDash val="solid"/>
          </a:ln>
        </p:spPr>
      </p:sp>
      <p:pic>
        <p:nvPicPr>
          <p:cNvPr id="6" name="icon-374" descr="preencoded.png">    </p:cNvPr>
          <p:cNvPicPr>
            <a:picLocks noChangeAspect="1"/>
          </p:cNvPicPr>
          <p:nvPr/>
        </p:nvPicPr>
        <p:blipFill>
          <a:blip r:embed="rId1"/>
          <a:stretch>
            <a:fillRect/>
          </a:stretch>
        </p:blipFill>
        <p:spPr>
          <a:xfrm>
            <a:off x="758952" y="1325880"/>
            <a:ext cx="219456" cy="219456"/>
          </a:xfrm>
          <a:prstGeom prst="rect">
            <a:avLst/>
          </a:prstGeom>
        </p:spPr>
      </p:pic>
      <p:sp>
        <p:nvSpPr>
          <p:cNvPr id="7" name="text-375"/>
          <p:cNvSpPr txBox="1"/>
          <p:nvPr/>
        </p:nvSpPr>
        <p:spPr>
          <a:xfrm>
            <a:off x="1234440" y="1207008"/>
            <a:ext cx="3108960" cy="457200"/>
          </a:xfrm>
          <a:prstGeom prst="rect">
            <a:avLst/>
          </a:prstGeom>
          <a:noFill/>
          <a:ln/>
        </p:spPr>
        <p:txBody>
          <a:bodyPr wrap="square" lIns="0" tIns="0" rIns="0" bIns="0" rtlCol="0" anchor="ctr"/>
          <a:lstStyle/>
          <a:p>
            <a:pPr indent="0" marL="0">
              <a:buNone/>
            </a:pPr>
            <a:r>
              <a:rPr lang="en-US" sz="1600" b="1" dirty="0">
                <a:solidFill>
                  <a:schemeClr val="tx2"/>
                </a:solidFill>
              </a:rPr>
              <a:t>What I learned</a:t>
            </a:r>
            <a:endParaRPr lang="en-US" sz="1600" dirty="0"/>
          </a:p>
        </p:txBody>
      </p:sp>
      <p:sp>
        <p:nvSpPr>
          <p:cNvPr id="8" name="text-376"/>
          <p:cNvSpPr txBox="1"/>
          <p:nvPr/>
        </p:nvSpPr>
        <p:spPr>
          <a:xfrm>
            <a:off x="640080" y="182880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How frontend, backend, database and security work as one system</a:t>
            </a:r>
            <a:endParaRPr lang="en-US" sz="1600" dirty="0"/>
          </a:p>
          <a:p>
            <a:pPr marL="342900" indent="-342900">
              <a:spcAft>
                <a:spcPts val="1000"/>
              </a:spcAft>
              <a:buSzPct val="100000"/>
              <a:buChar char="•"/>
            </a:pPr>
            <a:r>
              <a:rPr lang="en-US" sz="1600" dirty="0">
                <a:solidFill>
                  <a:schemeClr val="tx1"/>
                </a:solidFill>
              </a:rPr>
              <a:t>Tracing a problem layer by layer</a:t>
            </a:r>
            <a:endParaRPr lang="en-US" sz="1600" dirty="0"/>
          </a:p>
          <a:p>
            <a:pPr marL="342900" indent="-342900">
              <a:spcAft>
                <a:spcPts val="1000"/>
              </a:spcAft>
              <a:buSzPct val="100000"/>
              <a:buChar char="•"/>
            </a:pPr>
            <a:r>
              <a:rPr lang="en-US" sz="1600" dirty="0">
                <a:solidFill>
                  <a:schemeClr val="tx1"/>
                </a:solidFill>
              </a:rPr>
              <a:t>Applying web, database and software engineering theory</a:t>
            </a:r>
            <a:endParaRPr lang="en-US" sz="1600" dirty="0"/>
          </a:p>
          <a:p>
            <a:pPr marL="342900" indent="-342900">
              <a:spcAft>
                <a:spcPts val="1000"/>
              </a:spcAft>
              <a:buSzPct val="100000"/>
              <a:buChar char="•"/>
            </a:pPr>
            <a:r>
              <a:rPr lang="en-US" sz="1600" dirty="0">
                <a:solidFill>
                  <a:schemeClr val="tx1"/>
                </a:solidFill>
              </a:rPr>
              <a:t>Documenting honestly: designed vs built vs tested</a:t>
            </a:r>
            <a:endParaRPr lang="en-US" sz="1600" dirty="0"/>
          </a:p>
        </p:txBody>
      </p:sp>
      <p:sp>
        <p:nvSpPr>
          <p:cNvPr id="9" name="card-377"/>
          <p:cNvSpPr/>
          <p:nvPr/>
        </p:nvSpPr>
        <p:spPr>
          <a:xfrm>
            <a:off x="4663440" y="1097280"/>
            <a:ext cx="4023360" cy="3474720"/>
          </a:xfrm>
          <a:prstGeom prst="roundRect">
            <a:avLst>
              <a:gd name="adj" fmla="val 210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0" name="badge-378"/>
          <p:cNvSpPr/>
          <p:nvPr/>
        </p:nvSpPr>
        <p:spPr>
          <a:xfrm>
            <a:off x="4846320" y="1207008"/>
            <a:ext cx="457200" cy="457200"/>
          </a:xfrm>
          <a:prstGeom prst="ellipse">
            <a:avLst/>
          </a:prstGeom>
          <a:solidFill>
            <a:schemeClr val="accent2"/>
          </a:solidFill>
          <a:ln w="12700">
            <a:solidFill>
              <a:schemeClr val="accent2"/>
            </a:solidFill>
            <a:prstDash val="solid"/>
          </a:ln>
        </p:spPr>
      </p:sp>
      <p:pic>
        <p:nvPicPr>
          <p:cNvPr id="11" name="icon-379" descr="preencoded.png">    </p:cNvPr>
          <p:cNvPicPr>
            <a:picLocks noChangeAspect="1"/>
          </p:cNvPicPr>
          <p:nvPr/>
        </p:nvPicPr>
        <p:blipFill>
          <a:blip r:embed="rId2"/>
          <a:stretch>
            <a:fillRect/>
          </a:stretch>
        </p:blipFill>
        <p:spPr>
          <a:xfrm>
            <a:off x="4965192" y="1325880"/>
            <a:ext cx="219456" cy="219456"/>
          </a:xfrm>
          <a:prstGeom prst="rect">
            <a:avLst/>
          </a:prstGeom>
        </p:spPr>
      </p:pic>
      <p:sp>
        <p:nvSpPr>
          <p:cNvPr id="12" name="text-380"/>
          <p:cNvSpPr txBox="1"/>
          <p:nvPr/>
        </p:nvSpPr>
        <p:spPr>
          <a:xfrm>
            <a:off x="5440680" y="1207008"/>
            <a:ext cx="3108960" cy="457200"/>
          </a:xfrm>
          <a:prstGeom prst="rect">
            <a:avLst/>
          </a:prstGeom>
          <a:noFill/>
          <a:ln/>
        </p:spPr>
        <p:txBody>
          <a:bodyPr wrap="square" lIns="0" tIns="0" rIns="0" bIns="0" rtlCol="0" anchor="ctr"/>
          <a:lstStyle/>
          <a:p>
            <a:pPr indent="0" marL="0">
              <a:buNone/>
            </a:pPr>
            <a:r>
              <a:rPr lang="en-US" sz="1600" b="1" dirty="0">
                <a:solidFill>
                  <a:schemeClr val="tx2"/>
                </a:solidFill>
              </a:rPr>
              <a:t>Recommendations</a:t>
            </a:r>
            <a:endParaRPr lang="en-US" sz="1600" dirty="0"/>
          </a:p>
        </p:txBody>
      </p:sp>
      <p:sp>
        <p:nvSpPr>
          <p:cNvPr id="13" name="text-381"/>
          <p:cNvSpPr txBox="1"/>
          <p:nvPr/>
        </p:nvSpPr>
        <p:spPr>
          <a:xfrm>
            <a:off x="4846320" y="1828800"/>
            <a:ext cx="3657600" cy="1554480"/>
          </a:xfrm>
          <a:prstGeom prst="rect">
            <a:avLst/>
          </a:prstGeom>
          <a:noFill/>
          <a:ln/>
        </p:spPr>
        <p:txBody>
          <a:bodyPr wrap="square" lIns="0" tIns="0" rIns="0" bIns="0" rtlCol="0" anchor="t"/>
          <a:lstStyle/>
          <a:p>
            <a:pPr indent="0" marL="0">
              <a:buNone/>
            </a:pPr>
            <a:r>
              <a:rPr lang="en-US" sz="1600" b="1" dirty="0">
                <a:solidFill>
                  <a:schemeClr val="accent1"/>
                </a:solidFill>
              </a:rPr>
              <a:t>For ESS</a:t>
            </a:r>
            <a:endParaRPr lang="en-US" sz="1600" dirty="0"/>
          </a:p>
          <a:p>
            <a:pPr marL="342900" indent="-342900">
              <a:spcAft>
                <a:spcPts val="600"/>
              </a:spcAft>
              <a:buSzPct val="100000"/>
              <a:buChar char="•"/>
            </a:pPr>
            <a:r>
              <a:rPr lang="en-US" sz="1600" dirty="0">
                <a:solidFill>
                  <a:schemeClr val="tx1"/>
                </a:solidFill>
              </a:rPr>
              <a:t>Enforce role-based authorization</a:t>
            </a:r>
            <a:endParaRPr lang="en-US" sz="1600" dirty="0"/>
          </a:p>
          <a:p>
            <a:pPr marL="342900" indent="-342900">
              <a:spcAft>
                <a:spcPts val="600"/>
              </a:spcAft>
              <a:buSzPct val="100000"/>
              <a:buChar char="•"/>
            </a:pPr>
            <a:r>
              <a:rPr lang="en-US" sz="1600" dirty="0">
                <a:solidFill>
                  <a:schemeClr val="tx1"/>
                </a:solidFill>
              </a:rPr>
              <a:t>Backups, monitoring, error logging</a:t>
            </a:r>
            <a:endParaRPr lang="en-US" sz="1600" dirty="0"/>
          </a:p>
          <a:p>
            <a:pPr marL="342900" indent="-342900">
              <a:spcAft>
                <a:spcPts val="600"/>
              </a:spcAft>
              <a:buSzPct val="100000"/>
              <a:buChar char="•"/>
            </a:pPr>
            <a:r>
              <a:rPr lang="en-US" sz="1600" dirty="0">
                <a:solidFill>
                  <a:schemeClr val="tx1"/>
                </a:solidFill>
              </a:rPr>
              <a:t>Automated tests; finish or drop promotions</a:t>
            </a:r>
            <a:endParaRPr lang="en-US" sz="1600" dirty="0"/>
          </a:p>
        </p:txBody>
      </p:sp>
      <p:sp>
        <p:nvSpPr>
          <p:cNvPr id="14" name="text-382"/>
          <p:cNvSpPr txBox="1"/>
          <p:nvPr/>
        </p:nvSpPr>
        <p:spPr>
          <a:xfrm>
            <a:off x="4846320" y="3429000"/>
            <a:ext cx="3657600" cy="1097280"/>
          </a:xfrm>
          <a:prstGeom prst="rect">
            <a:avLst/>
          </a:prstGeom>
          <a:noFill/>
          <a:ln/>
        </p:spPr>
        <p:txBody>
          <a:bodyPr wrap="square" lIns="0" tIns="0" rIns="0" bIns="0" rtlCol="0" anchor="t"/>
          <a:lstStyle/>
          <a:p>
            <a:pPr indent="0" marL="0">
              <a:buNone/>
            </a:pPr>
            <a:r>
              <a:rPr lang="en-US" sz="1600" b="1" dirty="0">
                <a:solidFill>
                  <a:schemeClr val="accent1"/>
                </a:solidFill>
              </a:rPr>
              <a:t>For future interns</a:t>
            </a:r>
            <a:endParaRPr lang="en-US" sz="1600" dirty="0"/>
          </a:p>
          <a:p>
            <a:pPr marL="342900" indent="-342900">
              <a:buSzPct val="100000"/>
              <a:buChar char="•"/>
            </a:pPr>
            <a:r>
              <a:rPr lang="en-US" sz="1600" dirty="0">
                <a:solidFill>
                  <a:schemeClr val="tx1"/>
                </a:solidFill>
              </a:rPr>
              <a:t>Clear scope, weekly notes, keep test evidence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3" name="closing-icon" descr="preencoded.png">    </p:cNvPr>
          <p:cNvPicPr>
            <a:picLocks noChangeAspect="1"/>
          </p:cNvPicPr>
          <p:nvPr/>
        </p:nvPicPr>
        <p:blipFill>
          <a:blip r:embed="rId1"/>
          <a:stretch>
            <a:fillRect/>
          </a:stretch>
        </p:blipFill>
        <p:spPr>
          <a:xfrm>
            <a:off x="4114800" y="822960"/>
            <a:ext cx="914400" cy="914400"/>
          </a:xfrm>
          <a:prstGeom prst="rect">
            <a:avLst/>
          </a:prstGeom>
        </p:spPr>
      </p:pic>
      <p:sp>
        <p:nvSpPr>
          <p:cNvPr id="4" name="text-383"/>
          <p:cNvSpPr txBox="1"/>
          <p:nvPr/>
        </p:nvSpPr>
        <p:spPr>
          <a:xfrm>
            <a:off x="914400" y="1874520"/>
            <a:ext cx="7315200" cy="914400"/>
          </a:xfrm>
          <a:prstGeom prst="rect">
            <a:avLst/>
          </a:prstGeom>
          <a:noFill/>
          <a:ln/>
        </p:spPr>
        <p:txBody>
          <a:bodyPr wrap="square" lIns="0" tIns="0" rIns="0" bIns="0" rtlCol="0" anchor="t"/>
          <a:lstStyle/>
          <a:p>
            <a:pPr algn="ct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5" name="text-384"/>
          <p:cNvSpPr txBox="1"/>
          <p:nvPr/>
        </p:nvSpPr>
        <p:spPr>
          <a:xfrm>
            <a:off x="914400" y="3108960"/>
            <a:ext cx="7315200" cy="365760"/>
          </a:xfrm>
          <a:prstGeom prst="rect">
            <a:avLst/>
          </a:prstGeom>
          <a:noFill/>
          <a:ln/>
        </p:spPr>
        <p:txBody>
          <a:bodyPr wrap="square" lIns="0" tIns="0" rIns="0" bIns="0" rtlCol="0" anchor="t"/>
          <a:lstStyle/>
          <a:p>
            <a:pPr algn="ctr" indent="0" marL="0">
              <a:buNone/>
            </a:pPr>
            <a:r>
              <a:rPr lang="en-US" sz="1600" dirty="0">
                <a:solidFill>
                  <a:schemeClr val="bg2"/>
                </a:solidFill>
              </a:rPr>
              <a:t>Rediet Belay · ID 2282/16 · Advisor: Mr. Kibru G</a:t>
            </a:r>
            <a:endParaRPr lang="en-US" sz="1600" dirty="0"/>
          </a:p>
        </p:txBody>
      </p:sp>
    </p:spTree>
  </p:cSld>
  <p:clrMapOvr>
    <a:masterClrMapping/>
  </p:clrMapOvr>
</p:sld>
</file>

<file path=ppt/theme/theme1.xml><?xml version="1.0" encoding="utf-8"?>
<a:theme xmlns:a="http://schemas.openxmlformats.org/drawingml/2006/main" name="ESS Portal">
  <a:themeElements>
    <a:clrScheme name="ESS Portal">
      <a:dk1>
        <a:srgbClr val="1A2238"/>
      </a:dk1>
      <a:lt1>
        <a:srgbClr val="FFFFFF"/>
      </a:lt1>
      <a:dk2>
        <a:srgbClr val="224986"/>
      </a:dk2>
      <a:lt2>
        <a:srgbClr val="FBFBE2"/>
      </a:lt2>
      <a:accent1>
        <a:srgbClr val="224986"/>
      </a:accent1>
      <a:accent2>
        <a:srgbClr val="C8963E"/>
      </a:accent2>
      <a:accent3>
        <a:srgbClr val="2E7D6B"/>
      </a:accent3>
      <a:accent4>
        <a:srgbClr val="B5483A"/>
      </a:accent4>
      <a:accent5>
        <a:srgbClr val="5B7DB1"/>
      </a:accent5>
      <a:accent6>
        <a:srgbClr val="8A94A6"/>
      </a:accent6>
      <a:hlink>
        <a:srgbClr val="224986"/>
      </a:hlink>
      <a:folHlink>
        <a:srgbClr val="5B7DB1"/>
      </a:folHlink>
    </a:clrScheme>
    <a:fontScheme name="ESS Port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 Internal News &amp; Announcement Portal – Internship Project Presentation</dc:title>
  <dc:subject>PptxGenJS Presentation</dc:subject>
  <dc:creator>Rediet Belay</dc:creator>
  <cp:lastModifiedBy>Rediet Belay</cp:lastModifiedBy>
  <cp:revision>1</cp:revision>
  <dcterms:created xsi:type="dcterms:W3CDTF">2026-10-23T21:21:57Z</dcterms:created>
  <dcterms:modified xsi:type="dcterms:W3CDTF">2026-10-23T21:21:57Z</dcterms:modified>
</cp:coreProperties>
</file>