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5143500" cy="9144000"/>
  <p:extLst>
    <p:ext uri="{521415D9-36F7-43E2-AB2F-B90AF26B5E84}">
      <p14:sectionLst xmlns:p14="http://schemas.microsoft.com/office/powerpoint/2010/main">
        <p14:section name="1. Introduction" id="{bdfa1fda-7848-84b1-5213-ebf981f7d14c}">
          <p14:sldIdLst>
            <p14:sldId id="256"/>
            <p14:sldId id="257"/>
            <p14:sldId id="258"/>
            <p14:sldId id="259"/>
          </p14:sldIdLst>
        </p14:section>
        <p14:section name="2. Project" id="{a6e21a9d-63a6-e3be-5cf5-a4ba214f4911}">
          <p14:sldIdLst>
            <p14:sldId id="260"/>
            <p14:sldId id="261"/>
            <p14:sldId id="262"/>
            <p14:sldId id="263"/>
          </p14:sldIdLst>
        </p14:section>
        <p14:section name="3. Development" id="{d2fd0226-d585-d69b-3717-5ec31f703ff6}">
          <p14:sldIdLst>
            <p14:sldId id="264"/>
            <p14:sldId id="265"/>
            <p14:sldId id="266"/>
            <p14:sldId id="267"/>
            <p14:sldId id="268"/>
          </p14:sldIdLst>
        </p14:section>
        <p14:section name="4. Benefit and Conclusion" id="{75a2e5c6-1b79-21a0-346b-e4712101ea05}">
          <p14:sldIdLst>
            <p14:sldId id="269"/>
            <p14:sldId id="270"/>
            <p14:sldId id="271"/>
          </p14:sldIdLst>
        </p14:section>
        <p14:section name="5. Demonstration" id="{22fa4513-abc8-b9fb-dced-d60aef24c05f}">
          <p14:sldIdLst>
            <p14:sldId id="272"/>
            <p14:sldId id="273"/>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7DC8710-148A-4DFC-BD75-205F4AA2724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5680" cy="3085560"/>
          </a:xfrm>
          <a:prstGeom prst="rect">
            <a:avLst/>
          </a:prstGeom>
          <a:ln w="0">
            <a:noFill/>
          </a:ln>
        </p:spPr>
      </p:sp>
      <p:sp>
        <p:nvSpPr>
          <p:cNvPr id="3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Good morning. I am Nedi Usman Hussen. My industrial practice was at the ICT Directorate of Oda Bultum University, where I designed and built OBU-CMS, a dynamic website with a content management system. I follow the department presentation template: organization background, the project, problem and objectives, literature review, requirements, system model, methodology, benefits of the internship, conclusion and recommendations, and a demonstration.</a:t>
            </a:r>
            <a:endParaRPr lang="en-US" sz="2000" b="0" u="none" strike="noStrike">
              <a:solidFill>
                <a:srgbClr val="000000"/>
              </a:solidFill>
              <a:effectLst/>
              <a:uFillTx/>
              <a:latin typeface="Arial"/>
            </a:endParaRPr>
          </a:p>
        </p:txBody>
      </p:sp>
      <p:sp>
        <p:nvSpPr>
          <p:cNvPr id="322"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C40112-52DD-4111-86FF-1DC000265D7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5680" cy="3085560"/>
          </a:xfrm>
          <a:prstGeom prst="rect">
            <a:avLst/>
          </a:prstGeom>
          <a:ln w="0">
            <a:noFill/>
          </a:ln>
        </p:spPr>
      </p:sp>
      <p:sp>
        <p:nvSpPr>
          <p:cNvPr id="3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Oda Bultum University is a public university founded in 2015 in Chiro, West Hararghe. I worked in the ICT Directorate because it is the technical owner of the university website. The Directorate works with a ticket system for support and written approval for infrastructure changes, and I met the ICT Director every Monday and Thursday to demonstrate progress. My tasks covered the full life cycle: requirements, database design, backend, frontend, the admin panel, testing and documentation.</a:t>
            </a:r>
            <a:endParaRPr lang="en-US" sz="2000" b="0" u="none" strike="noStrike">
              <a:solidFill>
                <a:srgbClr val="000000"/>
              </a:solidFill>
              <a:effectLst/>
              <a:uFillTx/>
              <a:latin typeface="Arial"/>
            </a:endParaRPr>
          </a:p>
        </p:txBody>
      </p:sp>
      <p:sp>
        <p:nvSpPr>
          <p:cNvPr id="325"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10FF0D-99BC-421B-BBFF-8E829451479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5680" cy="3085560"/>
          </a:xfrm>
          <a:prstGeom prst="rect">
            <a:avLst/>
          </a:prstGeom>
          <a:ln w="0">
            <a:noFill/>
          </a:ln>
        </p:spPr>
      </p:sp>
      <p:sp>
        <p:nvSpPr>
          <p:cNvPr id="3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Database systems gave me normalization, keys and SQL for the 27-table design. Software engineering gave me requirements and UML. Web development and security courses helped with server-side rendering, authentication, Row Level Security, CSRF and SQL injection prevention. The languages and tools are TypeScript, SQL, React with TanStack Start, Supabase, Tailwind, Git and Postman, with an Agile Scrum method.</a:t>
            </a:r>
            <a:endParaRPr lang="en-US" sz="2000" b="0" u="none" strike="noStrike">
              <a:solidFill>
                <a:srgbClr val="000000"/>
              </a:solidFill>
              <a:effectLst/>
              <a:uFillTx/>
              <a:latin typeface="Arial"/>
            </a:endParaRPr>
          </a:p>
        </p:txBody>
      </p:sp>
      <p:sp>
        <p:nvSpPr>
          <p:cNvPr id="328"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2409E7F-5F85-44CC-97AE-9F394868CDA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5680" cy="3085560"/>
          </a:xfrm>
          <a:prstGeom prst="rect">
            <a:avLst/>
          </a:prstGeom>
          <a:ln w="0">
            <a:noFill/>
          </a:ln>
        </p:spPr>
      </p:sp>
      <p:sp>
        <p:nvSpPr>
          <p:cNvPr id="3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Main challenges and measures: public reading versus admin writing was solved with Row Level Security; clean and unique URLs with a SQL slug function and unique constraints; image reuse with one central media table; and scope growth with a prioritized Agile backlog. At work I also had to fit review cycles into the Directorate formal approval process.</a:t>
            </a:r>
            <a:endParaRPr lang="en-US" sz="2000" b="0" u="none" strike="noStrike">
              <a:solidFill>
                <a:srgbClr val="000000"/>
              </a:solidFill>
              <a:effectLst/>
              <a:uFillTx/>
              <a:latin typeface="Arial"/>
            </a:endParaRPr>
          </a:p>
        </p:txBody>
      </p:sp>
      <p:sp>
        <p:nvSpPr>
          <p:cNvPr id="331"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5C43AD2-5015-4732-BAD7-B5F8A72BF25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5680" cy="3085560"/>
          </a:xfrm>
          <a:prstGeom prst="rect">
            <a:avLst/>
          </a:prstGeom>
          <a:ln w="0">
            <a:noFill/>
          </a:ln>
        </p:spPr>
      </p:sp>
      <p:sp>
        <p:nvSpPr>
          <p:cNvPr id="3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project in one slide. OBU-CMS is a dynamic website for Oda Bultum University with a secure Admin CMS. It has 27 database tables, 73 route files (38 public and 35 admin) and 30 functional requirements, built with React, TanStack Start, TypeScript, Tailwind and Supabase. On the right: the new public site and the admin dashboard.</a:t>
            </a:r>
            <a:endParaRPr lang="en-US" sz="2000" b="0" u="none" strike="noStrike">
              <a:solidFill>
                <a:srgbClr val="000000"/>
              </a:solidFill>
              <a:effectLst/>
              <a:uFillTx/>
              <a:latin typeface="Arial"/>
            </a:endParaRPr>
          </a:p>
        </p:txBody>
      </p:sp>
      <p:sp>
        <p:nvSpPr>
          <p:cNvPr id="334"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A88CD26-5FEB-4315-9E4C-8E81C812B0A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5680" cy="3085560"/>
          </a:xfrm>
          <a:prstGeom prst="rect">
            <a:avLst/>
          </a:prstGeom>
          <a:ln w="0">
            <a:noFill/>
          </a:ln>
        </p:spPr>
      </p:sp>
      <p:sp>
        <p:nvSpPr>
          <p:cNvPr id="3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old website was template-based. Content updates needed technical help, content had no structure, there was no media library, roles or audit trail, and some pages were hard to read on phones, with a fixed copyright year of 2023. Justification: registration and exam notices are time-sensitive, many offices must publish on their own, students mostly use phones, and the university needs accountability.</a:t>
            </a:r>
            <a:endParaRPr lang="en-US" sz="2000" b="0" u="none" strike="noStrike">
              <a:solidFill>
                <a:srgbClr val="000000"/>
              </a:solidFill>
              <a:effectLst/>
              <a:uFillTx/>
              <a:latin typeface="Arial"/>
            </a:endParaRPr>
          </a:p>
        </p:txBody>
      </p:sp>
      <p:sp>
        <p:nvSpPr>
          <p:cNvPr id="337"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2E6148A-31B7-4CD4-86EE-4859DE21C26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5680" cy="3085560"/>
          </a:xfrm>
          <a:prstGeom prst="rect">
            <a:avLst/>
          </a:prstGeom>
          <a:ln w="0">
            <a:noFill/>
          </a:ln>
        </p:spPr>
      </p:sp>
      <p:sp>
        <p:nvSpPr>
          <p:cNvPr id="3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general objective is a secure, responsive, database-driven website and CMS. Four specific objectives are shown; the report lists eight measurable ones.</a:t>
            </a:r>
            <a:endParaRPr lang="en-US" sz="2000" b="0" u="none" strike="noStrike">
              <a:solidFill>
                <a:srgbClr val="000000"/>
              </a:solidFill>
              <a:effectLst/>
              <a:uFillTx/>
              <a:latin typeface="Arial"/>
            </a:endParaRPr>
          </a:p>
        </p:txBody>
      </p:sp>
      <p:sp>
        <p:nvSpPr>
          <p:cNvPr id="340"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AC117AC-33E2-47D3-9F98-9CA2941C758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5680" cy="3085560"/>
          </a:xfrm>
          <a:prstGeom prst="rect">
            <a:avLst/>
          </a:prstGeom>
          <a:ln w="0">
            <a:noFill/>
          </a:ln>
        </p:spPr>
      </p:sp>
      <p:sp>
        <p:nvSpPr>
          <p:cNvPr id="3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Related work: traditional CMSs such as WordPress and Drupal are mature but depend on plugins and a generic content model. Headless CMSs are API-first but still need a separate website and extra hosting. I chose a custom application on Supabase because the content is structured academic data and I wanted type safety and database-level security. The ideas behind it: role-based access control by Sandhu and colleagues, PostgreSQL Row Level Security, the OWASP Top 10 warning on broken access control, and the Scrum Guide. The full references are in the report.</a:t>
            </a:r>
            <a:endParaRPr lang="en-US" sz="2000" b="0" u="none" strike="noStrike">
              <a:solidFill>
                <a:srgbClr val="000000"/>
              </a:solidFill>
              <a:effectLst/>
              <a:uFillTx/>
              <a:latin typeface="Arial"/>
            </a:endParaRPr>
          </a:p>
        </p:txBody>
      </p:sp>
      <p:sp>
        <p:nvSpPr>
          <p:cNvPr id="343"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44604E0-5D19-4300-A834-367E1A59487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5680" cy="3085560"/>
          </a:xfrm>
          <a:prstGeom prst="rect">
            <a:avLst/>
          </a:prstGeom>
          <a:ln w="0">
            <a:noFill/>
          </a:ln>
        </p:spPr>
      </p:sp>
      <p:sp>
        <p:nvSpPr>
          <p:cNvPr id="3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There are 30 functional requirements: 16 for the public website and 14 for the Admin CMS. Non-functional requirements include usability, performance, reliability, security, scalability, responsiveness, maintainability and legal compliance.</a:t>
            </a:r>
            <a:endParaRPr lang="en-US" sz="2000" b="0" u="none" strike="noStrike">
              <a:solidFill>
                <a:srgbClr val="000000"/>
              </a:solidFill>
              <a:effectLst/>
              <a:uFillTx/>
              <a:latin typeface="Arial"/>
            </a:endParaRPr>
          </a:p>
        </p:txBody>
      </p:sp>
      <p:sp>
        <p:nvSpPr>
          <p:cNvPr id="346"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1EC2C5-EC6C-439F-B081-5178CB958F7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5680" cy="3085560"/>
          </a:xfrm>
          <a:prstGeom prst="rect">
            <a:avLst/>
          </a:prstGeom>
          <a:ln w="0">
            <a:noFill/>
          </a:ln>
        </p:spPr>
      </p:sp>
      <p:sp>
        <p:nvSpPr>
          <p:cNvPr id="3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use case diagram shows actors and what they do with the system. Actors are external users: the public user who only reads, the admin user who manages content, and the system administrator who also manages users, roles and logs. The full diagram with all use cases is in the report.</a:t>
            </a:r>
            <a:endParaRPr lang="en-US" sz="2000" b="0" u="none" strike="noStrike">
              <a:solidFill>
                <a:srgbClr val="000000"/>
              </a:solidFill>
              <a:effectLst/>
              <a:uFillTx/>
              <a:latin typeface="Arial"/>
            </a:endParaRPr>
          </a:p>
        </p:txBody>
      </p:sp>
      <p:sp>
        <p:nvSpPr>
          <p:cNvPr id="349"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7737ACF-3F72-456F-8931-1063853A63A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5680" cy="3085560"/>
          </a:xfrm>
          <a:prstGeom prst="rect">
            <a:avLst/>
          </a:prstGeom>
          <a:ln w="0">
            <a:noFill/>
          </a:ln>
        </p:spPr>
      </p:sp>
      <p:sp>
        <p:nvSpPr>
          <p:cNvPr id="3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class describes a group of similar objects. This is the core domain: User with a Role, ActivityLog entries written by users, and the content classes News, Event, Announcement and Program, each referencing the central Media class. The attributes are the real columns of the database tables. A second class diagram of the application modules is in the report.</a:t>
            </a:r>
            <a:endParaRPr lang="en-US" sz="2000" b="0" u="none" strike="noStrike">
              <a:solidFill>
                <a:srgbClr val="000000"/>
              </a:solidFill>
              <a:effectLst/>
              <a:uFillTx/>
              <a:latin typeface="Arial"/>
            </a:endParaRPr>
          </a:p>
        </p:txBody>
      </p:sp>
      <p:sp>
        <p:nvSpPr>
          <p:cNvPr id="352"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9DCAA56-9343-4EFC-98D7-30161E4A87B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5680" cy="3085560"/>
          </a:xfrm>
          <a:prstGeom prst="rect">
            <a:avLst/>
          </a:prstGeom>
          <a:ln w="0">
            <a:noFill/>
          </a:ln>
        </p:spPr>
      </p:sp>
      <p:sp>
        <p:nvSpPr>
          <p:cNvPr id="3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Data collection: interviews with the ICT Director, the Senior Web and Content Officer, the Communications office and the Registrar, plus study of the existing website. Technologies and tools are listed. The development methodology was Agile Scrum: four sprints over 45 days: authentication and database, public website, admin core modules, and extended modules, then testing, user acceptance testing and handover.</a:t>
            </a:r>
            <a:endParaRPr lang="en-US" sz="2000" b="0" u="none" strike="noStrike">
              <a:solidFill>
                <a:srgbClr val="000000"/>
              </a:solidFill>
              <a:effectLst/>
              <a:uFillTx/>
              <a:latin typeface="Arial"/>
            </a:endParaRPr>
          </a:p>
        </p:txBody>
      </p:sp>
      <p:sp>
        <p:nvSpPr>
          <p:cNvPr id="355"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8750637-F88B-445A-B532-4BE52661502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685800" y="1143000"/>
            <a:ext cx="5485680" cy="3085560"/>
          </a:xfrm>
          <a:prstGeom prst="rect">
            <a:avLst/>
          </a:prstGeom>
          <a:ln w="0">
            <a:noFill/>
          </a:ln>
        </p:spPr>
      </p:sp>
      <p:sp>
        <p:nvSpPr>
          <p:cNvPr id="3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three-tier design: browser interface, TanStack Start server with loaders and server functions, and Supabase for data. The database has 27 tables with one central media table. Security works in layers: Supabase Auth login, Row Level Security so the public reads only published rows, a role check for the System menu, CSRF middleware, upload validation and an audit log.</a:t>
            </a:r>
            <a:endParaRPr lang="en-US" sz="2000" b="0" u="none" strike="noStrike">
              <a:solidFill>
                <a:srgbClr val="000000"/>
              </a:solidFill>
              <a:effectLst/>
              <a:uFillTx/>
              <a:latin typeface="Arial"/>
            </a:endParaRPr>
          </a:p>
        </p:txBody>
      </p:sp>
      <p:sp>
        <p:nvSpPr>
          <p:cNvPr id="358"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63AEEBE-275E-41CA-A909-19BD74DB2CE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685800" y="1143000"/>
            <a:ext cx="5485680" cy="3085560"/>
          </a:xfrm>
          <a:prstGeom prst="rect">
            <a:avLst/>
          </a:prstGeom>
          <a:ln w="0">
            <a:noFill/>
          </a:ln>
        </p:spPr>
      </p:sp>
      <p:sp>
        <p:nvSpPr>
          <p:cNvPr id="3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Practical skills: a full-stack system from database to interface. Theoretical knowledge: normalization, UML, architecture and security became concrete. Problem-solving: vague office needs became requirements and working modules. Teamwork: I worked with ICT, Registrar and Communications and used sprint feedback. Leadership: I owned planning, demonstrations and priorities. Communication: interviews, demos and progress reports.</a:t>
            </a:r>
            <a:endParaRPr lang="en-US" sz="2000" b="0" u="none" strike="noStrike">
              <a:solidFill>
                <a:srgbClr val="000000"/>
              </a:solidFill>
              <a:effectLst/>
              <a:uFillTx/>
              <a:latin typeface="Arial"/>
            </a:endParaRPr>
          </a:p>
        </p:txBody>
      </p:sp>
      <p:sp>
        <p:nvSpPr>
          <p:cNvPr id="361"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3EB6F2F-5D0A-49FA-BC87-A1BF27F76AF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685800" y="1143000"/>
            <a:ext cx="5485680" cy="3085560"/>
          </a:xfrm>
          <a:prstGeom prst="rect">
            <a:avLst/>
          </a:prstGeom>
          <a:ln w="0">
            <a:noFill/>
          </a:ln>
        </p:spPr>
      </p:sp>
      <p:sp>
        <p:nvSpPr>
          <p:cNvPr id="3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Work ethics: I followed formal approvals, kept credentials out of shared code, and reported my own weaknesses honestly. Entrepreneurship: I found a real need, built a first version and improved it with users; the system can be adapted for other institutions. Career: the internship fits my goal in software development and made my direction clearer: full-stack web and secure systems. Self-evaluation: strengths are database design, fast learning and security awareness; I want to improve automated testing, time estimates and teamwork in larger teams. The challenges I faced were covered earlier on the challenges slide.</a:t>
            </a:r>
            <a:endParaRPr lang="en-US" sz="2000" b="0" u="none" strike="noStrike">
              <a:solidFill>
                <a:srgbClr val="000000"/>
              </a:solidFill>
              <a:effectLst/>
              <a:uFillTx/>
              <a:latin typeface="Arial"/>
            </a:endParaRPr>
          </a:p>
        </p:txBody>
      </p:sp>
      <p:sp>
        <p:nvSpPr>
          <p:cNvPr id="364"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B635F1F-C8CA-4FAD-AF71-282E006BCF6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685800" y="1143000"/>
            <a:ext cx="5485680" cy="3085560"/>
          </a:xfrm>
          <a:prstGeom prst="rect">
            <a:avLst/>
          </a:prstGeom>
          <a:ln w="0">
            <a:noFill/>
          </a:ln>
        </p:spPr>
      </p:sp>
      <p:sp>
        <p:nvSpPr>
          <p:cNvPr id="3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Overall conclusion: OBU-CMS replaces a content process that depended on technical staff with one where each office publishes its own information. Remaining work is listed honestly in the report. Recommendation on the host: I recommend the ICT Directorate for future placements, provided a named supervisor and early server access are arranged. To improve the internship: extend it to 90 days, add a mid-internship review, teach database design earlier, and keep an archive of project repositories.</a:t>
            </a:r>
            <a:endParaRPr lang="en-US" sz="2000" b="0" u="none" strike="noStrike">
              <a:solidFill>
                <a:srgbClr val="000000"/>
              </a:solidFill>
              <a:effectLst/>
              <a:uFillTx/>
              <a:latin typeface="Arial"/>
            </a:endParaRPr>
          </a:p>
        </p:txBody>
      </p:sp>
      <p:sp>
        <p:nvSpPr>
          <p:cNvPr id="367"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0B34BC4-9F42-4CA4-B788-D615E1B5FDF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685800" y="1143000"/>
            <a:ext cx="5485680" cy="3085560"/>
          </a:xfrm>
          <a:prstGeom prst="rect">
            <a:avLst/>
          </a:prstGeom>
          <a:ln w="0">
            <a:noFill/>
          </a:ln>
        </p:spPr>
      </p:sp>
      <p:sp>
        <p:nvSpPr>
          <p:cNvPr id="36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Now I will demonstrate the prototype on my machine. If the live demo fails, these screenshots are my backup. Steps: open the public site, log in to the admin, create and publish a news article with an image, refresh the public site to see it, and show the activity log and the role-restricted System menu.</a:t>
            </a:r>
            <a:endParaRPr lang="en-US" sz="2000" b="0" u="none" strike="noStrike">
              <a:solidFill>
                <a:srgbClr val="000000"/>
              </a:solidFill>
              <a:effectLst/>
              <a:uFillTx/>
              <a:latin typeface="Arial"/>
            </a:endParaRPr>
          </a:p>
        </p:txBody>
      </p:sp>
      <p:sp>
        <p:nvSpPr>
          <p:cNvPr id="370"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B97A6B1-2020-4398-84C9-C191D21A7B9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685800" y="1143000"/>
            <a:ext cx="5485680" cy="3085560"/>
          </a:xfrm>
          <a:prstGeom prst="rect">
            <a:avLst/>
          </a:prstGeom>
          <a:ln w="0">
            <a:noFill/>
          </a:ln>
        </p:spPr>
      </p:sp>
      <p:sp>
        <p:nvSpPr>
          <p:cNvPr id="37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Thank you for listening. I thank my advisor Mr. Kibru, the ICT Directorate, and the Registrar office. I am ready for your questions.</a:t>
            </a:r>
            <a:endParaRPr lang="en-US" sz="2000" b="0" u="none" strike="noStrike">
              <a:solidFill>
                <a:srgbClr val="000000"/>
              </a:solidFill>
              <a:effectLst/>
              <a:uFillTx/>
              <a:latin typeface="Arial"/>
            </a:endParaRPr>
          </a:p>
        </p:txBody>
      </p:sp>
      <p:sp>
        <p:nvSpPr>
          <p:cNvPr id="373"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6013058-1097-493E-9D08-776B172765E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DARK">
    <p:bg>
      <p:bgPr>
        <a:solidFill>
          <a:srgbClr val="0F4C3A"/>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320"/>
            <a:ext cx="6400080" cy="68508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2600" b="0" u="none" strike="noStrike">
                <a:solidFill>
                  <a:schemeClr val="dk1"/>
                </a:solidFill>
                <a:effectLst/>
                <a:uFillTx/>
                <a:latin typeface="Calibri"/>
              </a:defRPr>
            </a:lvl1pPr>
          </a:lstStyle>
          <a:p>
            <a:pPr indent="0" algn="l">
              <a:lnSpc>
                <a:spcPct val="100000"/>
              </a:lnSpc>
              <a:buNone/>
              <a:tabLst>
                <a:tab pos="0" algn="l"/>
              </a:tabLst>
            </a:pPr>
            <a:r>
              <a:rPr lang="en-US" sz="2600" b="0" u="none" strike="noStrike">
                <a:solidFill>
                  <a:schemeClr val="dk1"/>
                </a:solidFill>
                <a:effectLst/>
                <a:uFillTx/>
                <a:latin typeface="Calibri"/>
              </a:rPr>
              <a:t>Click to edit the title text format</a:t>
            </a:r>
            <a:endParaRPr lang="en-US" sz="2600" b="0" u="none" strike="noStrike">
              <a:solidFill>
                <a:schemeClr val="dk1"/>
              </a:solidFill>
              <a:effectLst/>
              <a:uFillTx/>
              <a:latin typeface="Calibri"/>
            </a:endParaRPr>
          </a:p>
        </p:txBody>
      </p:sp>
      <p:sp>
        <p:nvSpPr>
          <p:cNvPr id="5" name="PlaceHolder 2"/>
          <p:cNvSpPr>
            <a:spLocks noGrp="1"/>
          </p:cNvSpPr>
          <p:nvPr>
            <p:ph type="sldNum" idx="1"/>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06AC6FE1-3027-4D2B-8AB8-AC8EF9691D36}"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
        <p:nvSpPr>
          <p:cNvPr id="6" name="PlaceHolder 3"/>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3.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3.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slideLayout" Target="../slideLayouts/slideLayout3.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slideLayout" Target="../slideLayouts/slideLayout3.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slideLayout" Target="../slideLayouts/slideLayout3.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slideLayout" Target="../slideLayouts/slideLayout3.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slideLayout" Target="../slideLayouts/slideLayout3.xml"/><Relationship Id="rId8"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slideLayout" Target="../slideLayouts/slideLayout3.xml"/><Relationship Id="rId6"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38.jpeg"/><Relationship Id="rId3" Type="http://schemas.openxmlformats.org/officeDocument/2006/relationships/image" Target="../media/image11.jpeg"/><Relationship Id="rId4" Type="http://schemas.openxmlformats.org/officeDocument/2006/relationships/image" Target="../media/image39.jpeg"/><Relationship Id="rId5" Type="http://schemas.openxmlformats.org/officeDocument/2006/relationships/slideLayout" Target="../slideLayouts/slideLayout3.xml"/><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Logo panel"/>
          <p:cNvSpPr/>
          <p:nvPr/>
        </p:nvSpPr>
        <p:spPr>
          <a:xfrm>
            <a:off x="457200" y="411480"/>
            <a:ext cx="8228880" cy="867960"/>
          </a:xfrm>
          <a:prstGeom prst="roundRect">
            <a:avLst>
              <a:gd name="adj" fmla="val 12632"/>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4" name="Image 0" descr="Oda Bultum University logo"/>
          <p:cNvPicPr/>
          <p:nvPr/>
        </p:nvPicPr>
        <p:blipFill>
          <a:blip r:embed="rId1"/>
          <a:stretch/>
        </p:blipFill>
        <p:spPr>
          <a:xfrm>
            <a:off x="640080" y="475560"/>
            <a:ext cx="730800" cy="730800"/>
          </a:xfrm>
          <a:prstGeom prst="rect">
            <a:avLst/>
          </a:prstGeom>
          <a:noFill/>
          <a:ln w="0">
            <a:noFill/>
          </a:ln>
        </p:spPr>
      </p:pic>
      <p:pic>
        <p:nvPicPr>
          <p:cNvPr id="15" name="Image 1" descr="Haramaya University logo"/>
          <p:cNvPicPr/>
          <p:nvPr/>
        </p:nvPicPr>
        <p:blipFill>
          <a:blip r:embed="rId2"/>
          <a:stretch/>
        </p:blipFill>
        <p:spPr>
          <a:xfrm>
            <a:off x="4846320" y="530280"/>
            <a:ext cx="2742480" cy="497880"/>
          </a:xfrm>
          <a:prstGeom prst="rect">
            <a:avLst/>
          </a:prstGeom>
          <a:noFill/>
          <a:ln w="0">
            <a:noFill/>
          </a:ln>
        </p:spPr>
      </p:pic>
      <p:sp>
        <p:nvSpPr>
          <p:cNvPr id="16" name="Text 1"/>
          <p:cNvSpPr/>
          <p:nvPr/>
        </p:nvSpPr>
        <p:spPr>
          <a:xfrm>
            <a:off x="457200" y="1600200"/>
            <a:ext cx="82288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D4A017"/>
                </a:solidFill>
                <a:effectLst/>
                <a:uFillTx/>
                <a:latin typeface="Calibri"/>
                <a:ea typeface="Calibri"/>
              </a:rPr>
              <a:t>Industrial Practice (CoSc3122) Presentation</a:t>
            </a:r>
            <a:endParaRPr lang="en-US" sz="1600" b="0" u="none" strike="noStrike">
              <a:solidFill>
                <a:srgbClr val="FFFFFF"/>
              </a:solidFill>
              <a:effectLst/>
              <a:uFillTx/>
              <a:latin typeface="Arial"/>
            </a:endParaRPr>
          </a:p>
        </p:txBody>
      </p:sp>
      <p:sp>
        <p:nvSpPr>
          <p:cNvPr id="17" name="Text 2"/>
          <p:cNvSpPr/>
          <p:nvPr/>
        </p:nvSpPr>
        <p:spPr>
          <a:xfrm>
            <a:off x="457200" y="1965960"/>
            <a:ext cx="822888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800" b="1" u="none" strike="noStrike">
                <a:solidFill>
                  <a:srgbClr val="FFFFFF"/>
                </a:solidFill>
                <a:effectLst/>
                <a:uFillTx/>
                <a:latin typeface="Cambria"/>
                <a:ea typeface="Cambria"/>
              </a:rPr>
              <a:t>Design and Development of a Dynamic Website and Content Management System for Oda Bultum University (OBU-CMS)</a:t>
            </a:r>
            <a:endParaRPr lang="en-US" sz="2800" b="0" u="none" strike="noStrike">
              <a:solidFill>
                <a:srgbClr val="FFFFFF"/>
              </a:solidFill>
              <a:effectLst/>
              <a:uFillTx/>
              <a:latin typeface="Arial"/>
            </a:endParaRPr>
          </a:p>
        </p:txBody>
      </p:sp>
      <p:sp>
        <p:nvSpPr>
          <p:cNvPr id="18" name="Text 3"/>
          <p:cNvSpPr/>
          <p:nvPr/>
        </p:nvSpPr>
        <p:spPr>
          <a:xfrm>
            <a:off x="457200" y="3429000"/>
            <a:ext cx="822888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400"/>
              </a:spcAft>
              <a:tabLst>
                <a:tab pos="0" algn="l"/>
              </a:tabLst>
            </a:pPr>
            <a:r>
              <a:rPr lang="en-US" sz="1500" b="1" u="none" strike="noStrike">
                <a:solidFill>
                  <a:srgbClr val="E6F0EA"/>
                </a:solidFill>
                <a:effectLst/>
                <a:uFillTx/>
                <a:latin typeface="Calibri"/>
                <a:ea typeface="Calibri"/>
              </a:rPr>
              <a:t>Nedi Usman Hussen</a:t>
            </a:r>
            <a:endParaRPr lang="en-US" sz="1500" b="0" u="none" strike="noStrike">
              <a:solidFill>
                <a:srgbClr val="FFFFFF"/>
              </a:solidFill>
              <a:effectLst/>
              <a:uFillTx/>
              <a:latin typeface="Arial"/>
            </a:endParaRPr>
          </a:p>
          <a:p>
            <a:pPr defTabSz="914400">
              <a:lnSpc>
                <a:spcPct val="100000"/>
              </a:lnSpc>
              <a:spcAft>
                <a:spcPts val="400"/>
              </a:spcAft>
              <a:tabLst>
                <a:tab pos="0" algn="l"/>
              </a:tabLst>
            </a:pPr>
            <a:r>
              <a:rPr lang="en-US" sz="1500" b="0" u="none" strike="noStrike">
                <a:solidFill>
                  <a:srgbClr val="E6F0EA"/>
                </a:solidFill>
                <a:effectLst/>
                <a:uFillTx/>
                <a:latin typeface="Calibri"/>
                <a:ea typeface="Calibri"/>
              </a:rPr>
              <a:t>Student ID: 2184/16  |  Department of Computer Science, Haramaya University</a:t>
            </a:r>
            <a:endParaRPr lang="en-US" sz="1500" b="0" u="none" strike="noStrike">
              <a:solidFill>
                <a:srgbClr val="FFFFFF"/>
              </a:solidFill>
              <a:effectLst/>
              <a:uFillTx/>
              <a:latin typeface="Arial"/>
            </a:endParaRPr>
          </a:p>
          <a:p>
            <a:pPr defTabSz="914400">
              <a:lnSpc>
                <a:spcPct val="100000"/>
              </a:lnSpc>
              <a:spcAft>
                <a:spcPts val="400"/>
              </a:spcAft>
              <a:tabLst>
                <a:tab pos="0" algn="l"/>
              </a:tabLst>
            </a:pPr>
            <a:r>
              <a:rPr lang="en-US" sz="1500" b="0" u="none" strike="noStrike">
                <a:solidFill>
                  <a:srgbClr val="E6F0EA"/>
                </a:solidFill>
                <a:effectLst/>
                <a:uFillTx/>
                <a:latin typeface="Calibri"/>
                <a:ea typeface="Calibri"/>
              </a:rPr>
              <a:t>Advisor: Mr. Kibru G.  |  Host: ICT Directorate, Oda Bultum University</a:t>
            </a:r>
            <a:endParaRPr lang="en-US" sz="1500" b="0" u="none" strike="noStrike">
              <a:solidFill>
                <a:srgbClr val="FFFFFF"/>
              </a:solidFill>
              <a:effectLst/>
              <a:uFillTx/>
              <a:latin typeface="Arial"/>
            </a:endParaRPr>
          </a:p>
        </p:txBody>
      </p:sp>
      <p:sp>
        <p:nvSpPr>
          <p:cNvPr id="19" name="Text 4"/>
          <p:cNvSpPr/>
          <p:nvPr/>
        </p:nvSpPr>
        <p:spPr>
          <a:xfrm>
            <a:off x="457200" y="4526280"/>
            <a:ext cx="45712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D4A017"/>
                </a:solidFill>
                <a:effectLst/>
                <a:uFillTx/>
                <a:latin typeface="Calibri"/>
                <a:ea typeface="Calibri"/>
              </a:rPr>
              <a:t>Monday, October 26, 2026</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1.1 Organization Background</a:t>
            </a:r>
            <a:endParaRPr lang="en-US" sz="2600" b="0" u="none" strike="noStrike">
              <a:solidFill>
                <a:schemeClr val="dk1"/>
              </a:solidFill>
              <a:effectLst/>
              <a:uFillTx/>
              <a:latin typeface="Calibri"/>
            </a:endParaRPr>
          </a:p>
        </p:txBody>
      </p:sp>
      <p:sp>
        <p:nvSpPr>
          <p:cNvPr id="21"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1.1</a:t>
            </a:r>
            <a:endParaRPr lang="en-US" sz="1100" b="0" u="none" strike="noStrike">
              <a:solidFill>
                <a:srgbClr val="FFFFFF"/>
              </a:solidFill>
              <a:effectLst/>
              <a:uFillTx/>
              <a:latin typeface="Arial"/>
            </a:endParaRPr>
          </a:p>
        </p:txBody>
      </p:sp>
      <p:sp>
        <p:nvSpPr>
          <p:cNvPr id="22" name="QA card 1"/>
          <p:cNvSpPr/>
          <p:nvPr/>
        </p:nvSpPr>
        <p:spPr>
          <a:xfrm>
            <a:off x="457200" y="114300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 name="QA icon 1 bg"/>
          <p:cNvSpPr/>
          <p:nvPr/>
        </p:nvSpPr>
        <p:spPr>
          <a:xfrm>
            <a:off x="621720" y="128016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4" name="Image 0" descr="FaBuilding"/>
          <p:cNvPicPr/>
          <p:nvPr/>
        </p:nvPicPr>
        <p:blipFill>
          <a:blip r:embed="rId1"/>
          <a:stretch/>
        </p:blipFill>
        <p:spPr>
          <a:xfrm>
            <a:off x="742320" y="1400760"/>
            <a:ext cx="260640" cy="260640"/>
          </a:xfrm>
          <a:prstGeom prst="rect">
            <a:avLst/>
          </a:prstGeom>
          <a:noFill/>
          <a:ln w="0">
            <a:noFill/>
          </a:ln>
        </p:spPr>
      </p:pic>
      <p:sp>
        <p:nvSpPr>
          <p:cNvPr id="25" name="Text 4"/>
          <p:cNvSpPr/>
          <p:nvPr/>
        </p:nvSpPr>
        <p:spPr>
          <a:xfrm>
            <a:off x="1234440" y="125280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Host Company</a:t>
            </a:r>
            <a:endParaRPr lang="en-US" sz="1550" b="0" u="none" strike="noStrike">
              <a:solidFill>
                <a:srgbClr val="000000"/>
              </a:solidFill>
              <a:effectLst/>
              <a:uFillTx/>
              <a:latin typeface="Arial"/>
            </a:endParaRPr>
          </a:p>
        </p:txBody>
      </p:sp>
      <p:sp>
        <p:nvSpPr>
          <p:cNvPr id="26" name="Text 5"/>
          <p:cNvSpPr/>
          <p:nvPr/>
        </p:nvSpPr>
        <p:spPr>
          <a:xfrm>
            <a:off x="640080" y="187452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Oda Bultum University: a real client with a real need, a website used daily by staff and students</a:t>
            </a:r>
            <a:endParaRPr lang="en-US" sz="1200" b="0" u="none" strike="noStrike">
              <a:solidFill>
                <a:srgbClr val="000000"/>
              </a:solidFill>
              <a:effectLst/>
              <a:uFillTx/>
              <a:latin typeface="Arial"/>
            </a:endParaRPr>
          </a:p>
        </p:txBody>
      </p:sp>
      <p:sp>
        <p:nvSpPr>
          <p:cNvPr id="27" name="QA card 2"/>
          <p:cNvSpPr/>
          <p:nvPr/>
        </p:nvSpPr>
        <p:spPr>
          <a:xfrm>
            <a:off x="4663440" y="114300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 name="QA icon 2 bg"/>
          <p:cNvSpPr/>
          <p:nvPr/>
        </p:nvSpPr>
        <p:spPr>
          <a:xfrm>
            <a:off x="4827960" y="128016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9" name="Image 1" descr="FaSitemap"/>
          <p:cNvPicPr/>
          <p:nvPr/>
        </p:nvPicPr>
        <p:blipFill>
          <a:blip r:embed="rId2"/>
          <a:stretch/>
        </p:blipFill>
        <p:spPr>
          <a:xfrm>
            <a:off x="4948560" y="1400760"/>
            <a:ext cx="260640" cy="260640"/>
          </a:xfrm>
          <a:prstGeom prst="rect">
            <a:avLst/>
          </a:prstGeom>
          <a:noFill/>
          <a:ln w="0">
            <a:noFill/>
          </a:ln>
        </p:spPr>
      </p:pic>
      <p:sp>
        <p:nvSpPr>
          <p:cNvPr id="30" name="Text 8"/>
          <p:cNvSpPr/>
          <p:nvPr/>
        </p:nvSpPr>
        <p:spPr>
          <a:xfrm>
            <a:off x="5440680" y="125280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Section: ICT Directorate</a:t>
            </a:r>
            <a:endParaRPr lang="en-US" sz="1550" b="0" u="none" strike="noStrike">
              <a:solidFill>
                <a:srgbClr val="000000"/>
              </a:solidFill>
              <a:effectLst/>
              <a:uFillTx/>
              <a:latin typeface="Arial"/>
            </a:endParaRPr>
          </a:p>
        </p:txBody>
      </p:sp>
      <p:sp>
        <p:nvSpPr>
          <p:cNvPr id="31" name="Text 9"/>
          <p:cNvSpPr/>
          <p:nvPr/>
        </p:nvSpPr>
        <p:spPr>
          <a:xfrm>
            <a:off x="4846320" y="187452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Owns the servers, network and the website, so a web system belongs there</a:t>
            </a:r>
            <a:endParaRPr lang="en-US" sz="1200" b="0" u="none" strike="noStrike">
              <a:solidFill>
                <a:srgbClr val="000000"/>
              </a:solidFill>
              <a:effectLst/>
              <a:uFillTx/>
              <a:latin typeface="Arial"/>
            </a:endParaRPr>
          </a:p>
        </p:txBody>
      </p:sp>
      <p:sp>
        <p:nvSpPr>
          <p:cNvPr id="32" name="QA card 3"/>
          <p:cNvSpPr/>
          <p:nvPr/>
        </p:nvSpPr>
        <p:spPr>
          <a:xfrm>
            <a:off x="457200" y="292608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 name="QA icon 3 bg"/>
          <p:cNvSpPr/>
          <p:nvPr/>
        </p:nvSpPr>
        <p:spPr>
          <a:xfrm>
            <a:off x="621720" y="306324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4" name="Image 2" descr="FaProjectDiagram"/>
          <p:cNvPicPr/>
          <p:nvPr/>
        </p:nvPicPr>
        <p:blipFill>
          <a:blip r:embed="rId3"/>
          <a:stretch/>
        </p:blipFill>
        <p:spPr>
          <a:xfrm>
            <a:off x="742320" y="3183840"/>
            <a:ext cx="260640" cy="260640"/>
          </a:xfrm>
          <a:prstGeom prst="rect">
            <a:avLst/>
          </a:prstGeom>
          <a:noFill/>
          <a:ln w="0">
            <a:noFill/>
          </a:ln>
        </p:spPr>
      </p:pic>
      <p:sp>
        <p:nvSpPr>
          <p:cNvPr id="35" name="Text 12"/>
          <p:cNvSpPr/>
          <p:nvPr/>
        </p:nvSpPr>
        <p:spPr>
          <a:xfrm>
            <a:off x="1234440" y="303588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Work Flow of the Section</a:t>
            </a:r>
            <a:endParaRPr lang="en-US" sz="1550" b="0" u="none" strike="noStrike">
              <a:solidFill>
                <a:srgbClr val="000000"/>
              </a:solidFill>
              <a:effectLst/>
              <a:uFillTx/>
              <a:latin typeface="Arial"/>
            </a:endParaRPr>
          </a:p>
        </p:txBody>
      </p:sp>
      <p:sp>
        <p:nvSpPr>
          <p:cNvPr id="36" name="Text 13"/>
          <p:cNvSpPr/>
          <p:nvPr/>
        </p:nvSpPr>
        <p:spPr>
          <a:xfrm>
            <a:off x="640080" y="365760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Support requests by tickets; infrastructure changes need written approval of the ICT Director; progress meetings every Monday and Thursday</a:t>
            </a:r>
            <a:endParaRPr lang="en-US" sz="1200" b="0" u="none" strike="noStrike">
              <a:solidFill>
                <a:srgbClr val="000000"/>
              </a:solidFill>
              <a:effectLst/>
              <a:uFillTx/>
              <a:latin typeface="Arial"/>
            </a:endParaRPr>
          </a:p>
        </p:txBody>
      </p:sp>
      <p:sp>
        <p:nvSpPr>
          <p:cNvPr id="37" name="QA card 4"/>
          <p:cNvSpPr/>
          <p:nvPr/>
        </p:nvSpPr>
        <p:spPr>
          <a:xfrm>
            <a:off x="4663440" y="292608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 name="QA icon 4 bg"/>
          <p:cNvSpPr/>
          <p:nvPr/>
        </p:nvSpPr>
        <p:spPr>
          <a:xfrm>
            <a:off x="4827960" y="306324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9" name="Image 3" descr="FaTasks"/>
          <p:cNvPicPr/>
          <p:nvPr/>
        </p:nvPicPr>
        <p:blipFill>
          <a:blip r:embed="rId4"/>
          <a:stretch/>
        </p:blipFill>
        <p:spPr>
          <a:xfrm>
            <a:off x="4948560" y="3183840"/>
            <a:ext cx="260640" cy="260640"/>
          </a:xfrm>
          <a:prstGeom prst="rect">
            <a:avLst/>
          </a:prstGeom>
          <a:noFill/>
          <a:ln w="0">
            <a:noFill/>
          </a:ln>
        </p:spPr>
      </p:pic>
      <p:sp>
        <p:nvSpPr>
          <p:cNvPr id="40" name="Text 16"/>
          <p:cNvSpPr/>
          <p:nvPr/>
        </p:nvSpPr>
        <p:spPr>
          <a:xfrm>
            <a:off x="5440680" y="303588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My Tasks</a:t>
            </a:r>
            <a:endParaRPr lang="en-US" sz="1550" b="0" u="none" strike="noStrike">
              <a:solidFill>
                <a:srgbClr val="000000"/>
              </a:solidFill>
              <a:effectLst/>
              <a:uFillTx/>
              <a:latin typeface="Arial"/>
            </a:endParaRPr>
          </a:p>
        </p:txBody>
      </p:sp>
      <p:sp>
        <p:nvSpPr>
          <p:cNvPr id="41" name="Text 17"/>
          <p:cNvSpPr/>
          <p:nvPr/>
        </p:nvSpPr>
        <p:spPr>
          <a:xfrm>
            <a:off x="4846320" y="365760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Requirements, database design, backend and frontend, Admin CMS, testing, documentation</a:t>
            </a:r>
            <a:endParaRPr lang="en-US" sz="1200" b="0" u="none" strike="noStrike">
              <a:solidFill>
                <a:srgbClr val="000000"/>
              </a:solidFill>
              <a:effectLst/>
              <a:uFillTx/>
              <a:latin typeface="Arial"/>
            </a:endParaRPr>
          </a:p>
        </p:txBody>
      </p:sp>
      <p:sp>
        <p:nvSpPr>
          <p:cNvPr id="42" name="PlaceHolder 2"/>
          <p:cNvSpPr>
            <a:spLocks noGrp="1"/>
          </p:cNvSpPr>
          <p:nvPr>
            <p:ph type="sldNum" idx="5"/>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BA033EA2-5A34-4589-8529-C3C4BB629986}"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Skills and Tools from Coursework</a:t>
            </a:r>
            <a:endParaRPr lang="en-US" sz="2600" b="0" u="none" strike="noStrike">
              <a:solidFill>
                <a:schemeClr val="dk1"/>
              </a:solidFill>
              <a:effectLst/>
              <a:uFillTx/>
              <a:latin typeface="Calibri"/>
            </a:endParaRPr>
          </a:p>
        </p:txBody>
      </p:sp>
      <p:sp>
        <p:nvSpPr>
          <p:cNvPr id="44"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1.1</a:t>
            </a:r>
            <a:endParaRPr lang="en-US" sz="1100" b="0" u="none" strike="noStrike">
              <a:solidFill>
                <a:srgbClr val="FFFFFF"/>
              </a:solidFill>
              <a:effectLst/>
              <a:uFillTx/>
              <a:latin typeface="Arial"/>
            </a:endParaRPr>
          </a:p>
        </p:txBody>
      </p:sp>
      <p:sp>
        <p:nvSpPr>
          <p:cNvPr id="45" name="Skills card 1"/>
          <p:cNvSpPr/>
          <p:nvPr/>
        </p:nvSpPr>
        <p:spPr>
          <a:xfrm>
            <a:off x="457200" y="1143000"/>
            <a:ext cx="2651040" cy="3382560"/>
          </a:xfrm>
          <a:prstGeom prst="roundRect">
            <a:avLst>
              <a:gd name="adj" fmla="val 2759"/>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6" name="Skills icon 1 bg"/>
          <p:cNvSpPr/>
          <p:nvPr/>
        </p:nvSpPr>
        <p:spPr>
          <a:xfrm>
            <a:off x="640080" y="1325880"/>
            <a:ext cx="593640" cy="59364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47" name="Image 0" descr="FaGraduationCap"/>
          <p:cNvPicPr/>
          <p:nvPr/>
        </p:nvPicPr>
        <p:blipFill>
          <a:blip r:embed="rId1"/>
          <a:stretch/>
        </p:blipFill>
        <p:spPr>
          <a:xfrm>
            <a:off x="782640" y="1468440"/>
            <a:ext cx="308520" cy="308520"/>
          </a:xfrm>
          <a:prstGeom prst="rect">
            <a:avLst/>
          </a:prstGeom>
          <a:noFill/>
          <a:ln w="0">
            <a:noFill/>
          </a:ln>
        </p:spPr>
      </p:pic>
      <p:sp>
        <p:nvSpPr>
          <p:cNvPr id="48" name="Text 4"/>
          <p:cNvSpPr/>
          <p:nvPr/>
        </p:nvSpPr>
        <p:spPr>
          <a:xfrm>
            <a:off x="640080" y="2011680"/>
            <a:ext cx="22852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Course knowledge that helped</a:t>
            </a:r>
            <a:endParaRPr lang="en-US" sz="1550" b="0" u="none" strike="noStrike">
              <a:solidFill>
                <a:srgbClr val="000000"/>
              </a:solidFill>
              <a:effectLst/>
              <a:uFillTx/>
              <a:latin typeface="Arial"/>
            </a:endParaRPr>
          </a:p>
        </p:txBody>
      </p:sp>
      <p:sp>
        <p:nvSpPr>
          <p:cNvPr id="49" name="Text 5"/>
          <p:cNvSpPr/>
          <p:nvPr/>
        </p:nvSpPr>
        <p:spPr>
          <a:xfrm>
            <a:off x="640080" y="2560320"/>
            <a:ext cx="2331000" cy="18738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Database systems: normalization, keys, SQL</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Software engineering: requirements, UML</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Web development: HTTP, rendering, REST</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Information security: least privilege, CSRF, SQL injection</a:t>
            </a:r>
            <a:endParaRPr lang="en-US" sz="1250" b="0" u="none" strike="noStrike">
              <a:solidFill>
                <a:srgbClr val="000000"/>
              </a:solidFill>
              <a:effectLst/>
              <a:uFillTx/>
              <a:latin typeface="Arial"/>
            </a:endParaRPr>
          </a:p>
        </p:txBody>
      </p:sp>
      <p:sp>
        <p:nvSpPr>
          <p:cNvPr id="50" name="Skills card 2"/>
          <p:cNvSpPr/>
          <p:nvPr/>
        </p:nvSpPr>
        <p:spPr>
          <a:xfrm>
            <a:off x="3246120" y="1143000"/>
            <a:ext cx="2651040" cy="3382560"/>
          </a:xfrm>
          <a:prstGeom prst="roundRect">
            <a:avLst>
              <a:gd name="adj" fmla="val 2759"/>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 name="Skills icon 2 bg"/>
          <p:cNvSpPr/>
          <p:nvPr/>
        </p:nvSpPr>
        <p:spPr>
          <a:xfrm>
            <a:off x="3429000" y="1325880"/>
            <a:ext cx="593640" cy="59364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52" name="Image 1" descr="FaCode"/>
          <p:cNvPicPr/>
          <p:nvPr/>
        </p:nvPicPr>
        <p:blipFill>
          <a:blip r:embed="rId2"/>
          <a:stretch/>
        </p:blipFill>
        <p:spPr>
          <a:xfrm>
            <a:off x="3571560" y="1468440"/>
            <a:ext cx="308520" cy="308520"/>
          </a:xfrm>
          <a:prstGeom prst="rect">
            <a:avLst/>
          </a:prstGeom>
          <a:noFill/>
          <a:ln w="0">
            <a:noFill/>
          </a:ln>
        </p:spPr>
      </p:pic>
      <p:sp>
        <p:nvSpPr>
          <p:cNvPr id="53" name="Text 8"/>
          <p:cNvSpPr/>
          <p:nvPr/>
        </p:nvSpPr>
        <p:spPr>
          <a:xfrm>
            <a:off x="3429000" y="2011680"/>
            <a:ext cx="22852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Languages and techniques</a:t>
            </a:r>
            <a:endParaRPr lang="en-US" sz="1550" b="0" u="none" strike="noStrike">
              <a:solidFill>
                <a:srgbClr val="000000"/>
              </a:solidFill>
              <a:effectLst/>
              <a:uFillTx/>
              <a:latin typeface="Arial"/>
            </a:endParaRPr>
          </a:p>
        </p:txBody>
      </p:sp>
      <p:sp>
        <p:nvSpPr>
          <p:cNvPr id="54" name="Text 9"/>
          <p:cNvSpPr/>
          <p:nvPr/>
        </p:nvSpPr>
        <p:spPr>
          <a:xfrm>
            <a:off x="3429000" y="2560320"/>
            <a:ext cx="2331000" cy="18738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TypeScript, JavaScript, SQL</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HTML and CSS (Tailwind)</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UML modeling, ER design, migrations</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Row Level Security and role-based access</a:t>
            </a:r>
            <a:endParaRPr lang="en-US" sz="1250" b="0" u="none" strike="noStrike">
              <a:solidFill>
                <a:srgbClr val="000000"/>
              </a:solidFill>
              <a:effectLst/>
              <a:uFillTx/>
              <a:latin typeface="Arial"/>
            </a:endParaRPr>
          </a:p>
        </p:txBody>
      </p:sp>
      <p:sp>
        <p:nvSpPr>
          <p:cNvPr id="55" name="Skills card 3"/>
          <p:cNvSpPr/>
          <p:nvPr/>
        </p:nvSpPr>
        <p:spPr>
          <a:xfrm>
            <a:off x="6035040" y="1143000"/>
            <a:ext cx="2651040" cy="3382560"/>
          </a:xfrm>
          <a:prstGeom prst="roundRect">
            <a:avLst>
              <a:gd name="adj" fmla="val 2759"/>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6" name="Skills icon 3 bg"/>
          <p:cNvSpPr/>
          <p:nvPr/>
        </p:nvSpPr>
        <p:spPr>
          <a:xfrm>
            <a:off x="6217920" y="1325880"/>
            <a:ext cx="593640" cy="59364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57" name="Image 2" descr="FaTools"/>
          <p:cNvPicPr/>
          <p:nvPr/>
        </p:nvPicPr>
        <p:blipFill>
          <a:blip r:embed="rId3"/>
          <a:stretch/>
        </p:blipFill>
        <p:spPr>
          <a:xfrm>
            <a:off x="6360480" y="1468440"/>
            <a:ext cx="308520" cy="308520"/>
          </a:xfrm>
          <a:prstGeom prst="rect">
            <a:avLst/>
          </a:prstGeom>
          <a:noFill/>
          <a:ln w="0">
            <a:noFill/>
          </a:ln>
        </p:spPr>
      </p:pic>
      <p:sp>
        <p:nvSpPr>
          <p:cNvPr id="58" name="Text 12"/>
          <p:cNvSpPr/>
          <p:nvPr/>
        </p:nvSpPr>
        <p:spPr>
          <a:xfrm>
            <a:off x="6217920" y="2011680"/>
            <a:ext cx="22852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Tools and methods</a:t>
            </a:r>
            <a:endParaRPr lang="en-US" sz="1550" b="0" u="none" strike="noStrike">
              <a:solidFill>
                <a:srgbClr val="000000"/>
              </a:solidFill>
              <a:effectLst/>
              <a:uFillTx/>
              <a:latin typeface="Arial"/>
            </a:endParaRPr>
          </a:p>
        </p:txBody>
      </p:sp>
      <p:sp>
        <p:nvSpPr>
          <p:cNvPr id="59" name="Text 13"/>
          <p:cNvSpPr/>
          <p:nvPr/>
        </p:nvSpPr>
        <p:spPr>
          <a:xfrm>
            <a:off x="6217920" y="2560320"/>
            <a:ext cx="2331000" cy="18738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React 19, TanStack Start, Supabase</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Git, VS Code, Postman, ESLint</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Agile Scrum with sprint reviews</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17251F"/>
              </a:buClr>
              <a:buFont typeface="Symbol" charset="2"/>
              <a:buChar char=""/>
            </a:pPr>
            <a:r>
              <a:rPr lang="en-US" sz="1250" b="0" u="none" strike="noStrike">
                <a:solidFill>
                  <a:srgbClr val="17251F"/>
                </a:solidFill>
                <a:effectLst/>
                <a:uFillTx/>
                <a:latin typeface="Calibri"/>
                <a:ea typeface="Calibri"/>
              </a:rPr>
              <a:t>curl scripts and SQL inspection</a:t>
            </a:r>
            <a:endParaRPr lang="en-US" sz="1250" b="0" u="none" strike="noStrike">
              <a:solidFill>
                <a:srgbClr val="000000"/>
              </a:solidFill>
              <a:effectLst/>
              <a:uFillTx/>
              <a:latin typeface="Arial"/>
            </a:endParaRPr>
          </a:p>
        </p:txBody>
      </p:sp>
      <p:sp>
        <p:nvSpPr>
          <p:cNvPr id="60" name="PlaceHolder 2"/>
          <p:cNvSpPr>
            <a:spLocks noGrp="1"/>
          </p:cNvSpPr>
          <p:nvPr>
            <p:ph type="sldNum" idx="6"/>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F9D5ECFE-A65B-462C-AD67-B843A9480E37}"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Challenges and Measures</a:t>
            </a:r>
            <a:endParaRPr lang="en-US" sz="2600" b="0" u="none" strike="noStrike">
              <a:solidFill>
                <a:schemeClr val="dk1"/>
              </a:solidFill>
              <a:effectLst/>
              <a:uFillTx/>
              <a:latin typeface="Calibri"/>
            </a:endParaRPr>
          </a:p>
        </p:txBody>
      </p:sp>
      <p:sp>
        <p:nvSpPr>
          <p:cNvPr id="62"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1.1</a:t>
            </a:r>
            <a:endParaRPr lang="en-US" sz="1100" b="0" u="none" strike="noStrike">
              <a:solidFill>
                <a:srgbClr val="FFFFFF"/>
              </a:solidFill>
              <a:effectLst/>
              <a:uFillTx/>
              <a:latin typeface="Arial"/>
            </a:endParaRPr>
          </a:p>
        </p:txBody>
      </p:sp>
      <p:sp>
        <p:nvSpPr>
          <p:cNvPr id="63" name="Text 2"/>
          <p:cNvSpPr/>
          <p:nvPr/>
        </p:nvSpPr>
        <p:spPr>
          <a:xfrm>
            <a:off x="457200" y="1097280"/>
            <a:ext cx="32911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C38"/>
                </a:solidFill>
                <a:effectLst/>
                <a:uFillTx/>
                <a:latin typeface="Calibri"/>
                <a:ea typeface="Calibri"/>
              </a:rPr>
              <a:t>Challenge</a:t>
            </a:r>
            <a:endParaRPr lang="en-US" sz="1200" b="0" u="none" strike="noStrike">
              <a:solidFill>
                <a:srgbClr val="000000"/>
              </a:solidFill>
              <a:effectLst/>
              <a:uFillTx/>
              <a:latin typeface="Arial"/>
            </a:endParaRPr>
          </a:p>
        </p:txBody>
      </p:sp>
      <p:sp>
        <p:nvSpPr>
          <p:cNvPr id="64" name="Text 3"/>
          <p:cNvSpPr/>
          <p:nvPr/>
        </p:nvSpPr>
        <p:spPr>
          <a:xfrm>
            <a:off x="4480560" y="1097280"/>
            <a:ext cx="42055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87A5D"/>
                </a:solidFill>
                <a:effectLst/>
                <a:uFillTx/>
                <a:latin typeface="Calibri"/>
                <a:ea typeface="Calibri"/>
              </a:rPr>
              <a:t>Measure taken</a:t>
            </a:r>
            <a:endParaRPr lang="en-US" sz="1200" b="0" u="none" strike="noStrike">
              <a:solidFill>
                <a:srgbClr val="000000"/>
              </a:solidFill>
              <a:effectLst/>
              <a:uFillTx/>
              <a:latin typeface="Arial"/>
            </a:endParaRPr>
          </a:p>
        </p:txBody>
      </p:sp>
      <p:sp>
        <p:nvSpPr>
          <p:cNvPr id="65" name="Challenge 1"/>
          <p:cNvSpPr/>
          <p:nvPr/>
        </p:nvSpPr>
        <p:spPr>
          <a:xfrm>
            <a:off x="457200" y="1417320"/>
            <a:ext cx="3565440" cy="676080"/>
          </a:xfrm>
          <a:prstGeom prst="roundRect">
            <a:avLst>
              <a:gd name="adj" fmla="val 10811"/>
            </a:avLst>
          </a:prstGeom>
          <a:solidFill>
            <a:srgbClr val="F6E7E0"/>
          </a:solidFill>
          <a:ln w="12700">
            <a:solidFill>
              <a:srgbClr val="F6E7E0"/>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6" name="Text 5"/>
          <p:cNvSpPr/>
          <p:nvPr/>
        </p:nvSpPr>
        <p:spPr>
          <a:xfrm>
            <a:off x="594360" y="1417320"/>
            <a:ext cx="333684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7251F"/>
                </a:solidFill>
                <a:effectLst/>
                <a:uFillTx/>
                <a:latin typeface="Calibri"/>
                <a:ea typeface="Calibri"/>
              </a:rPr>
              <a:t>Public reads vs admin writes</a:t>
            </a:r>
            <a:endParaRPr lang="en-US" sz="1400" b="0" u="none" strike="noStrike">
              <a:solidFill>
                <a:srgbClr val="000000"/>
              </a:solidFill>
              <a:effectLst/>
              <a:uFillTx/>
              <a:latin typeface="Arial"/>
            </a:endParaRPr>
          </a:p>
        </p:txBody>
      </p:sp>
      <p:sp>
        <p:nvSpPr>
          <p:cNvPr id="67" name="Arrow 1"/>
          <p:cNvSpPr/>
          <p:nvPr/>
        </p:nvSpPr>
        <p:spPr>
          <a:xfrm>
            <a:off x="4114800" y="1572840"/>
            <a:ext cx="273600" cy="365040"/>
          </a:xfrm>
          <a:prstGeom prst="rightArrow">
            <a:avLst>
              <a:gd name="adj1" fmla="val 50000"/>
              <a:gd name="adj2" fmla="val 50000"/>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8" name="Measure 1"/>
          <p:cNvSpPr/>
          <p:nvPr/>
        </p:nvSpPr>
        <p:spPr>
          <a:xfrm>
            <a:off x="4480560" y="1417320"/>
            <a:ext cx="4205520" cy="676080"/>
          </a:xfrm>
          <a:prstGeom prst="roundRect">
            <a:avLst>
              <a:gd name="adj" fmla="val 10811"/>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 name="Text 8"/>
          <p:cNvSpPr/>
          <p:nvPr/>
        </p:nvSpPr>
        <p:spPr>
          <a:xfrm>
            <a:off x="4617720" y="1417320"/>
            <a:ext cx="397692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Row Level Security as the main rule; Supabase client for pages, few server functions</a:t>
            </a:r>
            <a:endParaRPr lang="en-US" sz="1250" b="0" u="none" strike="noStrike">
              <a:solidFill>
                <a:srgbClr val="000000"/>
              </a:solidFill>
              <a:effectLst/>
              <a:uFillTx/>
              <a:latin typeface="Arial"/>
            </a:endParaRPr>
          </a:p>
        </p:txBody>
      </p:sp>
      <p:sp>
        <p:nvSpPr>
          <p:cNvPr id="70" name="Challenge 2"/>
          <p:cNvSpPr/>
          <p:nvPr/>
        </p:nvSpPr>
        <p:spPr>
          <a:xfrm>
            <a:off x="457200" y="2221920"/>
            <a:ext cx="3565440" cy="676080"/>
          </a:xfrm>
          <a:prstGeom prst="roundRect">
            <a:avLst>
              <a:gd name="adj" fmla="val 10811"/>
            </a:avLst>
          </a:prstGeom>
          <a:solidFill>
            <a:srgbClr val="F6E7E0"/>
          </a:solidFill>
          <a:ln w="12700">
            <a:solidFill>
              <a:srgbClr val="F6E7E0"/>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1" name="Text 10"/>
          <p:cNvSpPr/>
          <p:nvPr/>
        </p:nvSpPr>
        <p:spPr>
          <a:xfrm>
            <a:off x="594360" y="2221920"/>
            <a:ext cx="333684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7251F"/>
                </a:solidFill>
                <a:effectLst/>
                <a:uFillTx/>
                <a:latin typeface="Calibri"/>
                <a:ea typeface="Calibri"/>
              </a:rPr>
              <a:t>Clean, unique URLs</a:t>
            </a:r>
            <a:endParaRPr lang="en-US" sz="1400" b="0" u="none" strike="noStrike">
              <a:solidFill>
                <a:srgbClr val="000000"/>
              </a:solidFill>
              <a:effectLst/>
              <a:uFillTx/>
              <a:latin typeface="Arial"/>
            </a:endParaRPr>
          </a:p>
        </p:txBody>
      </p:sp>
      <p:sp>
        <p:nvSpPr>
          <p:cNvPr id="72" name="Arrow 2"/>
          <p:cNvSpPr/>
          <p:nvPr/>
        </p:nvSpPr>
        <p:spPr>
          <a:xfrm>
            <a:off x="4114800" y="2377440"/>
            <a:ext cx="273600" cy="365040"/>
          </a:xfrm>
          <a:prstGeom prst="rightArrow">
            <a:avLst>
              <a:gd name="adj1" fmla="val 50000"/>
              <a:gd name="adj2" fmla="val 50000"/>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3" name="Measure 2"/>
          <p:cNvSpPr/>
          <p:nvPr/>
        </p:nvSpPr>
        <p:spPr>
          <a:xfrm>
            <a:off x="4480560" y="2221920"/>
            <a:ext cx="4205520" cy="676080"/>
          </a:xfrm>
          <a:prstGeom prst="roundRect">
            <a:avLst>
              <a:gd name="adj" fmla="val 10811"/>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4" name="Text 13"/>
          <p:cNvSpPr/>
          <p:nvPr/>
        </p:nvSpPr>
        <p:spPr>
          <a:xfrm>
            <a:off x="4617720" y="2221920"/>
            <a:ext cx="397692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generate_slug() SQL function, unique constraints, -2/-3 check in hooks</a:t>
            </a:r>
            <a:endParaRPr lang="en-US" sz="1250" b="0" u="none" strike="noStrike">
              <a:solidFill>
                <a:srgbClr val="000000"/>
              </a:solidFill>
              <a:effectLst/>
              <a:uFillTx/>
              <a:latin typeface="Arial"/>
            </a:endParaRPr>
          </a:p>
        </p:txBody>
      </p:sp>
      <p:sp>
        <p:nvSpPr>
          <p:cNvPr id="75" name="Challenge 3"/>
          <p:cNvSpPr/>
          <p:nvPr/>
        </p:nvSpPr>
        <p:spPr>
          <a:xfrm>
            <a:off x="457200" y="3026520"/>
            <a:ext cx="3565440" cy="676080"/>
          </a:xfrm>
          <a:prstGeom prst="roundRect">
            <a:avLst>
              <a:gd name="adj" fmla="val 10811"/>
            </a:avLst>
          </a:prstGeom>
          <a:solidFill>
            <a:srgbClr val="F6E7E0"/>
          </a:solidFill>
          <a:ln w="12700">
            <a:solidFill>
              <a:srgbClr val="F6E7E0"/>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6" name="Text 15"/>
          <p:cNvSpPr/>
          <p:nvPr/>
        </p:nvSpPr>
        <p:spPr>
          <a:xfrm>
            <a:off x="594360" y="3026520"/>
            <a:ext cx="333684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7251F"/>
                </a:solidFill>
                <a:effectLst/>
                <a:uFillTx/>
                <a:latin typeface="Calibri"/>
                <a:ea typeface="Calibri"/>
              </a:rPr>
              <a:t>Images used by many modules</a:t>
            </a:r>
            <a:endParaRPr lang="en-US" sz="1400" b="0" u="none" strike="noStrike">
              <a:solidFill>
                <a:srgbClr val="000000"/>
              </a:solidFill>
              <a:effectLst/>
              <a:uFillTx/>
              <a:latin typeface="Arial"/>
            </a:endParaRPr>
          </a:p>
        </p:txBody>
      </p:sp>
      <p:sp>
        <p:nvSpPr>
          <p:cNvPr id="77" name="Arrow 3"/>
          <p:cNvSpPr/>
          <p:nvPr/>
        </p:nvSpPr>
        <p:spPr>
          <a:xfrm>
            <a:off x="4114800" y="3182040"/>
            <a:ext cx="273600" cy="365040"/>
          </a:xfrm>
          <a:prstGeom prst="rightArrow">
            <a:avLst>
              <a:gd name="adj1" fmla="val 50000"/>
              <a:gd name="adj2" fmla="val 50000"/>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8" name="Measure 3"/>
          <p:cNvSpPr/>
          <p:nvPr/>
        </p:nvSpPr>
        <p:spPr>
          <a:xfrm>
            <a:off x="4480560" y="3026520"/>
            <a:ext cx="4205520" cy="676080"/>
          </a:xfrm>
          <a:prstGeom prst="roundRect">
            <a:avLst>
              <a:gd name="adj" fmla="val 10811"/>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9" name="Text 18"/>
          <p:cNvSpPr/>
          <p:nvPr/>
        </p:nvSpPr>
        <p:spPr>
          <a:xfrm>
            <a:off x="4617720" y="3026520"/>
            <a:ext cx="397692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One central media table and the AdminImageUpload component</a:t>
            </a:r>
            <a:endParaRPr lang="en-US" sz="1250" b="0" u="none" strike="noStrike">
              <a:solidFill>
                <a:srgbClr val="000000"/>
              </a:solidFill>
              <a:effectLst/>
              <a:uFillTx/>
              <a:latin typeface="Arial"/>
            </a:endParaRPr>
          </a:p>
        </p:txBody>
      </p:sp>
      <p:sp>
        <p:nvSpPr>
          <p:cNvPr id="80" name="Challenge 4"/>
          <p:cNvSpPr/>
          <p:nvPr/>
        </p:nvSpPr>
        <p:spPr>
          <a:xfrm>
            <a:off x="457200" y="3831480"/>
            <a:ext cx="3565440" cy="676080"/>
          </a:xfrm>
          <a:prstGeom prst="roundRect">
            <a:avLst>
              <a:gd name="adj" fmla="val 10811"/>
            </a:avLst>
          </a:prstGeom>
          <a:solidFill>
            <a:srgbClr val="F6E7E0"/>
          </a:solidFill>
          <a:ln w="12700">
            <a:solidFill>
              <a:srgbClr val="F6E7E0"/>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1" name="Text 20"/>
          <p:cNvSpPr/>
          <p:nvPr/>
        </p:nvSpPr>
        <p:spPr>
          <a:xfrm>
            <a:off x="594360" y="3831480"/>
            <a:ext cx="333684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7251F"/>
                </a:solidFill>
                <a:effectLst/>
                <a:uFillTx/>
                <a:latin typeface="Calibri"/>
                <a:ea typeface="Calibri"/>
              </a:rPr>
              <a:t>Scope growth from every office</a:t>
            </a:r>
            <a:endParaRPr lang="en-US" sz="1400" b="0" u="none" strike="noStrike">
              <a:solidFill>
                <a:srgbClr val="000000"/>
              </a:solidFill>
              <a:effectLst/>
              <a:uFillTx/>
              <a:latin typeface="Arial"/>
            </a:endParaRPr>
          </a:p>
        </p:txBody>
      </p:sp>
      <p:sp>
        <p:nvSpPr>
          <p:cNvPr id="82" name="Arrow 4"/>
          <p:cNvSpPr/>
          <p:nvPr/>
        </p:nvSpPr>
        <p:spPr>
          <a:xfrm>
            <a:off x="4114800" y="3986640"/>
            <a:ext cx="273600" cy="365040"/>
          </a:xfrm>
          <a:prstGeom prst="rightArrow">
            <a:avLst>
              <a:gd name="adj1" fmla="val 50000"/>
              <a:gd name="adj2" fmla="val 50000"/>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3" name="Measure 4"/>
          <p:cNvSpPr/>
          <p:nvPr/>
        </p:nvSpPr>
        <p:spPr>
          <a:xfrm>
            <a:off x="4480560" y="3831480"/>
            <a:ext cx="4205520" cy="676080"/>
          </a:xfrm>
          <a:prstGeom prst="roundRect">
            <a:avLst>
              <a:gd name="adj" fmla="val 10811"/>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4" name="Text 23"/>
          <p:cNvSpPr/>
          <p:nvPr/>
        </p:nvSpPr>
        <p:spPr>
          <a:xfrm>
            <a:off x="4617720" y="3831480"/>
            <a:ext cx="3976920" cy="67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Agile backlog: core modules first, extra requests postponed</a:t>
            </a:r>
            <a:endParaRPr lang="en-US" sz="1250" b="0" u="none" strike="noStrike">
              <a:solidFill>
                <a:srgbClr val="000000"/>
              </a:solidFill>
              <a:effectLst/>
              <a:uFillTx/>
              <a:latin typeface="Arial"/>
            </a:endParaRPr>
          </a:p>
        </p:txBody>
      </p:sp>
      <p:sp>
        <p:nvSpPr>
          <p:cNvPr id="85" name="PlaceHolder 2"/>
          <p:cNvSpPr>
            <a:spLocks noGrp="1"/>
          </p:cNvSpPr>
          <p:nvPr>
            <p:ph type="sldNum" idx="7"/>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B1009204-74B5-4905-BAA2-C7874DD99F93}"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1.2 Introduction of the Project</a:t>
            </a:r>
            <a:endParaRPr lang="en-US" sz="2600" b="0" u="none" strike="noStrike">
              <a:solidFill>
                <a:schemeClr val="dk1"/>
              </a:solidFill>
              <a:effectLst/>
              <a:uFillTx/>
              <a:latin typeface="Calibri"/>
            </a:endParaRPr>
          </a:p>
        </p:txBody>
      </p:sp>
      <p:sp>
        <p:nvSpPr>
          <p:cNvPr id="87"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1.2</a:t>
            </a:r>
            <a:endParaRPr lang="en-US" sz="1100" b="0" u="none" strike="noStrike">
              <a:solidFill>
                <a:srgbClr val="FFFFFF"/>
              </a:solidFill>
              <a:effectLst/>
              <a:uFillTx/>
              <a:latin typeface="Arial"/>
            </a:endParaRPr>
          </a:p>
        </p:txBody>
      </p:sp>
      <p:sp>
        <p:nvSpPr>
          <p:cNvPr id="88" name="Text 2"/>
          <p:cNvSpPr/>
          <p:nvPr/>
        </p:nvSpPr>
        <p:spPr>
          <a:xfrm>
            <a:off x="457200" y="1097280"/>
            <a:ext cx="4388400" cy="109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17251F"/>
                </a:solidFill>
                <a:effectLst/>
                <a:uFillTx/>
                <a:latin typeface="Calibri"/>
                <a:ea typeface="Calibri"/>
              </a:rPr>
              <a:t>OBU-CMS: a dynamic university website with a secure Admin CMS, so that staff publish news, events, programs, research and vacancies without writing code.</a:t>
            </a:r>
            <a:endParaRPr lang="en-US" sz="1600" b="0" u="none" strike="noStrike">
              <a:solidFill>
                <a:srgbClr val="000000"/>
              </a:solidFill>
              <a:effectLst/>
              <a:uFillTx/>
              <a:latin typeface="Arial"/>
            </a:endParaRPr>
          </a:p>
        </p:txBody>
      </p:sp>
      <p:sp>
        <p:nvSpPr>
          <p:cNvPr id="89" name="Project stat 1"/>
          <p:cNvSpPr/>
          <p:nvPr/>
        </p:nvSpPr>
        <p:spPr>
          <a:xfrm>
            <a:off x="457200" y="2331720"/>
            <a:ext cx="1370880" cy="1096560"/>
          </a:xfrm>
          <a:prstGeom prst="roundRect">
            <a:avLst>
              <a:gd name="adj" fmla="val 6667"/>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0" name="Text 4"/>
          <p:cNvSpPr/>
          <p:nvPr/>
        </p:nvSpPr>
        <p:spPr>
          <a:xfrm>
            <a:off x="457200" y="2331720"/>
            <a:ext cx="1370880" cy="1096560"/>
          </a:xfrm>
          <a:prstGeom prst="rect">
            <a:avLst/>
          </a:prstGeom>
          <a:noFill/>
          <a:ln w="0">
            <a:noFill/>
          </a:ln>
        </p:spPr>
        <p:style>
          <a:lnRef idx="0"/>
          <a:fillRef idx="0"/>
          <a:effectRef idx="0"/>
          <a:fontRef idx="minor"/>
        </p:style>
        <p:txBody>
          <a:bodyPr lIns="720" tIns="720" rIns="720" bIns="720" anchor="ctr">
            <a:noAutofit/>
          </a:bodyPr>
          <a:p>
            <a:pPr algn="ctr" defTabSz="914400">
              <a:lnSpc>
                <a:spcPct val="100000"/>
              </a:lnSpc>
              <a:tabLst>
                <a:tab pos="0" algn="l"/>
              </a:tabLst>
            </a:pPr>
            <a:r>
              <a:rPr lang="en-US" sz="3000" b="1" u="none" strike="noStrike">
                <a:solidFill>
                  <a:srgbClr val="FFFFFF"/>
                </a:solidFill>
                <a:effectLst/>
                <a:uFillTx/>
                <a:latin typeface="Cambria"/>
                <a:ea typeface="Cambria"/>
              </a:rPr>
              <a:t>27</a:t>
            </a:r>
            <a:endParaRPr lang="en-US" sz="30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rgbClr val="D4A017"/>
                </a:solidFill>
                <a:effectLst/>
                <a:uFillTx/>
                <a:latin typeface="Calibri"/>
                <a:ea typeface="Calibri"/>
              </a:rPr>
              <a:t>database tables</a:t>
            </a:r>
            <a:endParaRPr lang="en-US" sz="1100" b="0" u="none" strike="noStrike">
              <a:solidFill>
                <a:srgbClr val="000000"/>
              </a:solidFill>
              <a:effectLst/>
              <a:uFillTx/>
              <a:latin typeface="Arial"/>
            </a:endParaRPr>
          </a:p>
        </p:txBody>
      </p:sp>
      <p:sp>
        <p:nvSpPr>
          <p:cNvPr id="91" name="Project stat 2"/>
          <p:cNvSpPr/>
          <p:nvPr/>
        </p:nvSpPr>
        <p:spPr>
          <a:xfrm>
            <a:off x="1920240" y="2331720"/>
            <a:ext cx="1370880" cy="1096560"/>
          </a:xfrm>
          <a:prstGeom prst="roundRect">
            <a:avLst>
              <a:gd name="adj" fmla="val 6667"/>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2" name="Text 6"/>
          <p:cNvSpPr/>
          <p:nvPr/>
        </p:nvSpPr>
        <p:spPr>
          <a:xfrm>
            <a:off x="1920240" y="2331720"/>
            <a:ext cx="1370880" cy="1096560"/>
          </a:xfrm>
          <a:prstGeom prst="rect">
            <a:avLst/>
          </a:prstGeom>
          <a:noFill/>
          <a:ln w="0">
            <a:noFill/>
          </a:ln>
        </p:spPr>
        <p:style>
          <a:lnRef idx="0"/>
          <a:fillRef idx="0"/>
          <a:effectRef idx="0"/>
          <a:fontRef idx="minor"/>
        </p:style>
        <p:txBody>
          <a:bodyPr lIns="720" tIns="720" rIns="720" bIns="720" anchor="ctr">
            <a:noAutofit/>
          </a:bodyPr>
          <a:p>
            <a:pPr algn="ctr" defTabSz="914400">
              <a:lnSpc>
                <a:spcPct val="100000"/>
              </a:lnSpc>
              <a:tabLst>
                <a:tab pos="0" algn="l"/>
              </a:tabLst>
            </a:pPr>
            <a:r>
              <a:rPr lang="en-US" sz="3000" b="1" u="none" strike="noStrike">
                <a:solidFill>
                  <a:srgbClr val="FFFFFF"/>
                </a:solidFill>
                <a:effectLst/>
                <a:uFillTx/>
                <a:latin typeface="Cambria"/>
                <a:ea typeface="Cambria"/>
              </a:rPr>
              <a:t>73</a:t>
            </a:r>
            <a:endParaRPr lang="en-US" sz="30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rgbClr val="D4A017"/>
                </a:solidFill>
                <a:effectLst/>
                <a:uFillTx/>
                <a:latin typeface="Calibri"/>
                <a:ea typeface="Calibri"/>
              </a:rPr>
              <a:t>route files</a:t>
            </a:r>
            <a:endParaRPr lang="en-US" sz="1100" b="0" u="none" strike="noStrike">
              <a:solidFill>
                <a:srgbClr val="000000"/>
              </a:solidFill>
              <a:effectLst/>
              <a:uFillTx/>
              <a:latin typeface="Arial"/>
            </a:endParaRPr>
          </a:p>
        </p:txBody>
      </p:sp>
      <p:sp>
        <p:nvSpPr>
          <p:cNvPr id="93" name="Project stat 3"/>
          <p:cNvSpPr/>
          <p:nvPr/>
        </p:nvSpPr>
        <p:spPr>
          <a:xfrm>
            <a:off x="3383280" y="2331720"/>
            <a:ext cx="1370880" cy="1096560"/>
          </a:xfrm>
          <a:prstGeom prst="roundRect">
            <a:avLst>
              <a:gd name="adj" fmla="val 6667"/>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4" name="Text 8"/>
          <p:cNvSpPr/>
          <p:nvPr/>
        </p:nvSpPr>
        <p:spPr>
          <a:xfrm>
            <a:off x="3383280" y="2331720"/>
            <a:ext cx="1370880" cy="1096560"/>
          </a:xfrm>
          <a:prstGeom prst="rect">
            <a:avLst/>
          </a:prstGeom>
          <a:noFill/>
          <a:ln w="0">
            <a:noFill/>
          </a:ln>
        </p:spPr>
        <p:style>
          <a:lnRef idx="0"/>
          <a:fillRef idx="0"/>
          <a:effectRef idx="0"/>
          <a:fontRef idx="minor"/>
        </p:style>
        <p:txBody>
          <a:bodyPr lIns="720" tIns="720" rIns="720" bIns="720" anchor="ctr">
            <a:noAutofit/>
          </a:bodyPr>
          <a:p>
            <a:pPr algn="ctr" defTabSz="914400">
              <a:lnSpc>
                <a:spcPct val="100000"/>
              </a:lnSpc>
              <a:tabLst>
                <a:tab pos="0" algn="l"/>
              </a:tabLst>
            </a:pPr>
            <a:r>
              <a:rPr lang="en-US" sz="3000" b="1" u="none" strike="noStrike">
                <a:solidFill>
                  <a:srgbClr val="FFFFFF"/>
                </a:solidFill>
                <a:effectLst/>
                <a:uFillTx/>
                <a:latin typeface="Cambria"/>
                <a:ea typeface="Cambria"/>
              </a:rPr>
              <a:t>30</a:t>
            </a:r>
            <a:endParaRPr lang="en-US" sz="30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rgbClr val="D4A017"/>
                </a:solidFill>
                <a:effectLst/>
                <a:uFillTx/>
                <a:latin typeface="Calibri"/>
                <a:ea typeface="Calibri"/>
              </a:rPr>
              <a:t>functional requirements</a:t>
            </a:r>
            <a:endParaRPr lang="en-US" sz="1100" b="0" u="none" strike="noStrike">
              <a:solidFill>
                <a:srgbClr val="000000"/>
              </a:solidFill>
              <a:effectLst/>
              <a:uFillTx/>
              <a:latin typeface="Arial"/>
            </a:endParaRPr>
          </a:p>
        </p:txBody>
      </p:sp>
      <p:sp>
        <p:nvSpPr>
          <p:cNvPr id="95" name="Text 9"/>
          <p:cNvSpPr/>
          <p:nvPr/>
        </p:nvSpPr>
        <p:spPr>
          <a:xfrm>
            <a:off x="457200" y="3611880"/>
            <a:ext cx="4388400" cy="822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0F4C3A"/>
                </a:solidFill>
                <a:effectLst/>
                <a:uFillTx/>
                <a:latin typeface="Calibri"/>
                <a:ea typeface="Calibri"/>
              </a:rPr>
              <a:t>React 19 + TanStack Start  |  TypeScript  |  Tailwind CSS  |  Supabase (PostgreSQL, Auth, Storage)</a:t>
            </a:r>
            <a:endParaRPr lang="en-US" sz="1300" b="0" u="none" strike="noStrike">
              <a:solidFill>
                <a:srgbClr val="000000"/>
              </a:solidFill>
              <a:effectLst/>
              <a:uFillTx/>
              <a:latin typeface="Arial"/>
            </a:endParaRPr>
          </a:p>
        </p:txBody>
      </p:sp>
      <p:pic>
        <p:nvPicPr>
          <p:cNvPr id="96" name="Image 0" descr="New OBU-CMS home page"/>
          <p:cNvPicPr/>
          <p:nvPr/>
        </p:nvPicPr>
        <p:blipFill>
          <a:blip r:embed="rId1"/>
          <a:stretch/>
        </p:blipFill>
        <p:spPr>
          <a:xfrm>
            <a:off x="5257800" y="1188720"/>
            <a:ext cx="3291120" cy="1588680"/>
          </a:xfrm>
          <a:prstGeom prst="rect">
            <a:avLst/>
          </a:prstGeom>
          <a:noFill/>
          <a:ln w="0">
            <a:noFill/>
          </a:ln>
          <a:effectLst>
            <a:outerShdw algn="bl" blurRad="76320" dir="5400000" dist="25560" kx="0" ky="0" rotWithShape="0" sx="100000" sy="100000">
              <a:srgbClr val="000000">
                <a:alpha val="12000"/>
              </a:srgbClr>
            </a:outerShdw>
          </a:effectLst>
        </p:spPr>
      </p:pic>
      <p:pic>
        <p:nvPicPr>
          <p:cNvPr id="97" name="Image 1" descr="Admin CMS dashboard"/>
          <p:cNvPicPr/>
          <p:nvPr/>
        </p:nvPicPr>
        <p:blipFill>
          <a:blip r:embed="rId2"/>
          <a:stretch/>
        </p:blipFill>
        <p:spPr>
          <a:xfrm>
            <a:off x="5257800" y="2961000"/>
            <a:ext cx="3291120" cy="1588680"/>
          </a:xfrm>
          <a:prstGeom prst="rect">
            <a:avLst/>
          </a:prstGeom>
          <a:noFill/>
          <a:ln w="0">
            <a:noFill/>
          </a:ln>
          <a:effectLst>
            <a:outerShdw algn="bl" blurRad="76320" dir="5400000" dist="25560" kx="0" ky="0" rotWithShape="0" sx="100000" sy="100000">
              <a:srgbClr val="000000">
                <a:alpha val="12000"/>
              </a:srgbClr>
            </a:outerShdw>
          </a:effectLst>
        </p:spPr>
      </p:pic>
      <p:sp>
        <p:nvSpPr>
          <p:cNvPr id="98" name="PlaceHolder 2"/>
          <p:cNvSpPr>
            <a:spLocks noGrp="1"/>
          </p:cNvSpPr>
          <p:nvPr>
            <p:ph type="sldNum" idx="8"/>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E7ED46CD-4B14-467D-BC1F-59A2132E295F}"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2. Problem and Justification</a:t>
            </a:r>
            <a:endParaRPr lang="en-US" sz="2600" b="0" u="none" strike="noStrike">
              <a:solidFill>
                <a:schemeClr val="dk1"/>
              </a:solidFill>
              <a:effectLst/>
              <a:uFillTx/>
              <a:latin typeface="Calibri"/>
            </a:endParaRPr>
          </a:p>
        </p:txBody>
      </p:sp>
      <p:sp>
        <p:nvSpPr>
          <p:cNvPr id="100"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2</a:t>
            </a:r>
            <a:endParaRPr lang="en-US" sz="1100" b="0" u="none" strike="noStrike">
              <a:solidFill>
                <a:srgbClr val="FFFFFF"/>
              </a:solidFill>
              <a:effectLst/>
              <a:uFillTx/>
              <a:latin typeface="Arial"/>
            </a:endParaRPr>
          </a:p>
        </p:txBody>
      </p:sp>
      <p:sp>
        <p:nvSpPr>
          <p:cNvPr id="101" name="Problem icon 1 bg"/>
          <p:cNvSpPr/>
          <p:nvPr/>
        </p:nvSpPr>
        <p:spPr>
          <a:xfrm>
            <a:off x="457200" y="1143000"/>
            <a:ext cx="547920" cy="547920"/>
          </a:xfrm>
          <a:prstGeom prst="ellipse">
            <a:avLst/>
          </a:prstGeom>
          <a:solidFill>
            <a:srgbClr val="B85C38"/>
          </a:solidFill>
          <a:ln w="12700">
            <a:solidFill>
              <a:srgbClr val="B85C3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2" name="Image 0" descr="FaUserCog"/>
          <p:cNvPicPr/>
          <p:nvPr/>
        </p:nvPicPr>
        <p:blipFill>
          <a:blip r:embed="rId1"/>
          <a:stretch/>
        </p:blipFill>
        <p:spPr>
          <a:xfrm>
            <a:off x="588960" y="1274760"/>
            <a:ext cx="284400" cy="284400"/>
          </a:xfrm>
          <a:prstGeom prst="rect">
            <a:avLst/>
          </a:prstGeom>
          <a:noFill/>
          <a:ln w="0">
            <a:noFill/>
          </a:ln>
        </p:spPr>
      </p:pic>
      <p:sp>
        <p:nvSpPr>
          <p:cNvPr id="103" name="Text 3"/>
          <p:cNvSpPr/>
          <p:nvPr/>
        </p:nvSpPr>
        <p:spPr>
          <a:xfrm>
            <a:off x="1188720" y="1069920"/>
            <a:ext cx="329112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7251F"/>
                </a:solidFill>
                <a:effectLst/>
                <a:uFillTx/>
                <a:latin typeface="Calibri"/>
                <a:ea typeface="Calibri"/>
              </a:rPr>
              <a:t>Content depends on technical staff</a:t>
            </a:r>
            <a:endParaRPr lang="en-US" sz="145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5B6B64"/>
                </a:solidFill>
                <a:effectLst/>
                <a:uFillTx/>
                <a:latin typeface="Calibri"/>
                <a:ea typeface="Calibri"/>
              </a:rPr>
              <a:t>Urgent notices are delayed</a:t>
            </a:r>
            <a:endParaRPr lang="en-US" sz="1200" b="0" u="none" strike="noStrike">
              <a:solidFill>
                <a:srgbClr val="000000"/>
              </a:solidFill>
              <a:effectLst/>
              <a:uFillTx/>
              <a:latin typeface="Arial"/>
            </a:endParaRPr>
          </a:p>
        </p:txBody>
      </p:sp>
      <p:sp>
        <p:nvSpPr>
          <p:cNvPr id="104" name="Problem icon 2 bg"/>
          <p:cNvSpPr/>
          <p:nvPr/>
        </p:nvSpPr>
        <p:spPr>
          <a:xfrm>
            <a:off x="457200" y="2011680"/>
            <a:ext cx="547920" cy="547920"/>
          </a:xfrm>
          <a:prstGeom prst="ellipse">
            <a:avLst/>
          </a:prstGeom>
          <a:solidFill>
            <a:srgbClr val="B85C38"/>
          </a:solidFill>
          <a:ln w="12700">
            <a:solidFill>
              <a:srgbClr val="B85C3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5" name="Image 1" descr="FaThList"/>
          <p:cNvPicPr/>
          <p:nvPr/>
        </p:nvPicPr>
        <p:blipFill>
          <a:blip r:embed="rId2"/>
          <a:stretch/>
        </p:blipFill>
        <p:spPr>
          <a:xfrm>
            <a:off x="588960" y="2143440"/>
            <a:ext cx="284400" cy="284400"/>
          </a:xfrm>
          <a:prstGeom prst="rect">
            <a:avLst/>
          </a:prstGeom>
          <a:noFill/>
          <a:ln w="0">
            <a:noFill/>
          </a:ln>
        </p:spPr>
      </p:pic>
      <p:sp>
        <p:nvSpPr>
          <p:cNvPr id="106" name="Text 5"/>
          <p:cNvSpPr/>
          <p:nvPr/>
        </p:nvSpPr>
        <p:spPr>
          <a:xfrm>
            <a:off x="1188720" y="1938600"/>
            <a:ext cx="329112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7251F"/>
                </a:solidFill>
                <a:effectLst/>
                <a:uFillTx/>
                <a:latin typeface="Calibri"/>
                <a:ea typeface="Calibri"/>
              </a:rPr>
              <a:t>No structured content or clean links</a:t>
            </a:r>
            <a:endParaRPr lang="en-US" sz="145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5B6B64"/>
                </a:solidFill>
                <a:effectLst/>
                <a:uFillTx/>
                <a:latin typeface="Calibri"/>
                <a:ea typeface="Calibri"/>
              </a:rPr>
              <a:t>News, events, vacancies are not managed records</a:t>
            </a:r>
            <a:endParaRPr lang="en-US" sz="1200" b="0" u="none" strike="noStrike">
              <a:solidFill>
                <a:srgbClr val="000000"/>
              </a:solidFill>
              <a:effectLst/>
              <a:uFillTx/>
              <a:latin typeface="Arial"/>
            </a:endParaRPr>
          </a:p>
        </p:txBody>
      </p:sp>
      <p:sp>
        <p:nvSpPr>
          <p:cNvPr id="107" name="Problem icon 3 bg"/>
          <p:cNvSpPr/>
          <p:nvPr/>
        </p:nvSpPr>
        <p:spPr>
          <a:xfrm>
            <a:off x="457200" y="2880360"/>
            <a:ext cx="547920" cy="547920"/>
          </a:xfrm>
          <a:prstGeom prst="ellipse">
            <a:avLst/>
          </a:prstGeom>
          <a:solidFill>
            <a:srgbClr val="B85C38"/>
          </a:solidFill>
          <a:ln w="12700">
            <a:solidFill>
              <a:srgbClr val="B85C3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8" name="Image 2" descr="FaImages"/>
          <p:cNvPicPr/>
          <p:nvPr/>
        </p:nvPicPr>
        <p:blipFill>
          <a:blip r:embed="rId3"/>
          <a:stretch/>
        </p:blipFill>
        <p:spPr>
          <a:xfrm>
            <a:off x="588960" y="3012120"/>
            <a:ext cx="284400" cy="284400"/>
          </a:xfrm>
          <a:prstGeom prst="rect">
            <a:avLst/>
          </a:prstGeom>
          <a:noFill/>
          <a:ln w="0">
            <a:noFill/>
          </a:ln>
        </p:spPr>
      </p:pic>
      <p:sp>
        <p:nvSpPr>
          <p:cNvPr id="109" name="Text 7"/>
          <p:cNvSpPr/>
          <p:nvPr/>
        </p:nvSpPr>
        <p:spPr>
          <a:xfrm>
            <a:off x="1188720" y="2807280"/>
            <a:ext cx="329112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7251F"/>
                </a:solidFill>
                <a:effectLst/>
                <a:uFillTx/>
                <a:latin typeface="Calibri"/>
                <a:ea typeface="Calibri"/>
              </a:rPr>
              <a:t>No media library, roles or audit trail</a:t>
            </a:r>
            <a:endParaRPr lang="en-US" sz="145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5B6B64"/>
                </a:solidFill>
                <a:effectLst/>
                <a:uFillTx/>
                <a:latin typeface="Calibri"/>
                <a:ea typeface="Calibri"/>
              </a:rPr>
              <a:t>Nobody can tell who changed what</a:t>
            </a:r>
            <a:endParaRPr lang="en-US" sz="1200" b="0" u="none" strike="noStrike">
              <a:solidFill>
                <a:srgbClr val="000000"/>
              </a:solidFill>
              <a:effectLst/>
              <a:uFillTx/>
              <a:latin typeface="Arial"/>
            </a:endParaRPr>
          </a:p>
        </p:txBody>
      </p:sp>
      <p:sp>
        <p:nvSpPr>
          <p:cNvPr id="110" name="Problem icon 4 bg"/>
          <p:cNvSpPr/>
          <p:nvPr/>
        </p:nvSpPr>
        <p:spPr>
          <a:xfrm>
            <a:off x="457200" y="3749040"/>
            <a:ext cx="547920" cy="547920"/>
          </a:xfrm>
          <a:prstGeom prst="ellipse">
            <a:avLst/>
          </a:prstGeom>
          <a:solidFill>
            <a:srgbClr val="B85C38"/>
          </a:solidFill>
          <a:ln w="12700">
            <a:solidFill>
              <a:srgbClr val="B85C3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11" name="Image 3" descr="FaMobileAlt"/>
          <p:cNvPicPr/>
          <p:nvPr/>
        </p:nvPicPr>
        <p:blipFill>
          <a:blip r:embed="rId4"/>
          <a:stretch/>
        </p:blipFill>
        <p:spPr>
          <a:xfrm>
            <a:off x="588960" y="3880800"/>
            <a:ext cx="284400" cy="284400"/>
          </a:xfrm>
          <a:prstGeom prst="rect">
            <a:avLst/>
          </a:prstGeom>
          <a:noFill/>
          <a:ln w="0">
            <a:noFill/>
          </a:ln>
        </p:spPr>
      </p:pic>
      <p:sp>
        <p:nvSpPr>
          <p:cNvPr id="112" name="Text 9"/>
          <p:cNvSpPr/>
          <p:nvPr/>
        </p:nvSpPr>
        <p:spPr>
          <a:xfrm>
            <a:off x="1188720" y="3675960"/>
            <a:ext cx="329112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7251F"/>
                </a:solidFill>
                <a:effectLst/>
                <a:uFillTx/>
                <a:latin typeface="Calibri"/>
                <a:ea typeface="Calibri"/>
              </a:rPr>
              <a:t>Hard to read on phones</a:t>
            </a:r>
            <a:endParaRPr lang="en-US" sz="145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5B6B64"/>
                </a:solidFill>
                <a:effectLst/>
                <a:uFillTx/>
                <a:latin typeface="Calibri"/>
                <a:ea typeface="Calibri"/>
              </a:rPr>
              <a:t>Deep menus, low contrast, fixed 2023 footer</a:t>
            </a:r>
            <a:endParaRPr lang="en-US" sz="1200" b="0" u="none" strike="noStrike">
              <a:solidFill>
                <a:srgbClr val="000000"/>
              </a:solidFill>
              <a:effectLst/>
              <a:uFillTx/>
              <a:latin typeface="Arial"/>
            </a:endParaRPr>
          </a:p>
        </p:txBody>
      </p:sp>
      <p:sp>
        <p:nvSpPr>
          <p:cNvPr id="113" name="Justification"/>
          <p:cNvSpPr/>
          <p:nvPr/>
        </p:nvSpPr>
        <p:spPr>
          <a:xfrm>
            <a:off x="4663440" y="1143000"/>
            <a:ext cx="4022640" cy="3428280"/>
          </a:xfrm>
          <a:prstGeom prst="roundRect">
            <a:avLst>
              <a:gd name="adj" fmla="val 2133"/>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4" name="Text 11"/>
          <p:cNvSpPr/>
          <p:nvPr/>
        </p:nvSpPr>
        <p:spPr>
          <a:xfrm>
            <a:off x="4846320" y="1234440"/>
            <a:ext cx="365688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D4A017"/>
                </a:solidFill>
                <a:effectLst/>
                <a:uFillTx/>
                <a:latin typeface="Cambria"/>
                <a:ea typeface="Cambria"/>
              </a:rPr>
              <a:t>Why it is justified</a:t>
            </a:r>
            <a:endParaRPr lang="en-US" sz="1800" b="0" u="none" strike="noStrike">
              <a:solidFill>
                <a:srgbClr val="000000"/>
              </a:solidFill>
              <a:effectLst/>
              <a:uFillTx/>
              <a:latin typeface="Arial"/>
            </a:endParaRPr>
          </a:p>
        </p:txBody>
      </p:sp>
      <p:sp>
        <p:nvSpPr>
          <p:cNvPr id="115" name="Text 12"/>
          <p:cNvSpPr/>
          <p:nvPr/>
        </p:nvSpPr>
        <p:spPr>
          <a:xfrm>
            <a:off x="4846320" y="1691640"/>
            <a:ext cx="3656880" cy="2742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00"/>
              </a:spcAft>
              <a:buClr>
                <a:srgbClr val="FFFFFF"/>
              </a:buClr>
              <a:buFont typeface="Symbol" charset="2"/>
              <a:buChar char=""/>
            </a:pPr>
            <a:r>
              <a:rPr lang="en-US" sz="1350" b="0" u="none" strike="noStrike">
                <a:solidFill>
                  <a:srgbClr val="FFFFFF"/>
                </a:solidFill>
                <a:effectLst/>
                <a:uFillTx/>
                <a:latin typeface="Calibri"/>
                <a:ea typeface="Calibri"/>
              </a:rPr>
              <a:t>Registration and exam notices are time-sensitive</a:t>
            </a:r>
            <a:endParaRPr lang="en-US" sz="13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50" b="0" u="none" strike="noStrike">
                <a:solidFill>
                  <a:srgbClr val="FFFFFF"/>
                </a:solidFill>
                <a:effectLst/>
                <a:uFillTx/>
                <a:latin typeface="Calibri"/>
                <a:ea typeface="Calibri"/>
              </a:rPr>
              <a:t>Many offices must publish independently and safely</a:t>
            </a:r>
            <a:endParaRPr lang="en-US" sz="13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50" b="0" u="none" strike="noStrike">
                <a:solidFill>
                  <a:srgbClr val="FFFFFF"/>
                </a:solidFill>
                <a:effectLst/>
                <a:uFillTx/>
                <a:latin typeface="Calibri"/>
                <a:ea typeface="Calibri"/>
              </a:rPr>
              <a:t>Students mostly use phones</a:t>
            </a:r>
            <a:endParaRPr lang="en-US" sz="13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50" b="0" u="none" strike="noStrike">
                <a:solidFill>
                  <a:srgbClr val="FFFFFF"/>
                </a:solidFill>
                <a:effectLst/>
                <a:uFillTx/>
                <a:latin typeface="Calibri"/>
                <a:ea typeface="Calibri"/>
              </a:rPr>
              <a:t>Accountability: who changed what, and when</a:t>
            </a:r>
            <a:endParaRPr lang="en-US" sz="13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50" b="0" u="none" strike="noStrike">
                <a:solidFill>
                  <a:srgbClr val="FFFFFF"/>
                </a:solidFill>
                <a:effectLst/>
                <a:uFillTx/>
                <a:latin typeface="Calibri"/>
                <a:ea typeface="Calibri"/>
              </a:rPr>
              <a:t>One reusable system lowers maintenance work</a:t>
            </a:r>
            <a:endParaRPr lang="en-US" sz="1350" b="0" u="none" strike="noStrike">
              <a:solidFill>
                <a:srgbClr val="000000"/>
              </a:solidFill>
              <a:effectLst/>
              <a:uFillTx/>
              <a:latin typeface="Arial"/>
            </a:endParaRPr>
          </a:p>
        </p:txBody>
      </p:sp>
      <p:sp>
        <p:nvSpPr>
          <p:cNvPr id="116" name="PlaceHolder 2"/>
          <p:cNvSpPr>
            <a:spLocks noGrp="1"/>
          </p:cNvSpPr>
          <p:nvPr>
            <p:ph type="sldNum" idx="9"/>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A8B87F04-3E3B-4D7C-923E-CB5054370F23}"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3. Objectives of the Project</a:t>
            </a:r>
            <a:endParaRPr lang="en-US" sz="2600" b="0" u="none" strike="noStrike">
              <a:solidFill>
                <a:schemeClr val="dk1"/>
              </a:solidFill>
              <a:effectLst/>
              <a:uFillTx/>
              <a:latin typeface="Calibri"/>
            </a:endParaRPr>
          </a:p>
        </p:txBody>
      </p:sp>
      <p:sp>
        <p:nvSpPr>
          <p:cNvPr id="118"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3</a:t>
            </a:r>
            <a:endParaRPr lang="en-US" sz="1100" b="0" u="none" strike="noStrike">
              <a:solidFill>
                <a:srgbClr val="FFFFFF"/>
              </a:solidFill>
              <a:effectLst/>
              <a:uFillTx/>
              <a:latin typeface="Arial"/>
            </a:endParaRPr>
          </a:p>
        </p:txBody>
      </p:sp>
      <p:sp>
        <p:nvSpPr>
          <p:cNvPr id="119" name="General objective"/>
          <p:cNvSpPr/>
          <p:nvPr/>
        </p:nvSpPr>
        <p:spPr>
          <a:xfrm>
            <a:off x="457200" y="1097280"/>
            <a:ext cx="8228880" cy="959400"/>
          </a:xfrm>
          <a:prstGeom prst="roundRect">
            <a:avLst>
              <a:gd name="adj" fmla="val 7619"/>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0" name="Text 3"/>
          <p:cNvSpPr/>
          <p:nvPr/>
        </p:nvSpPr>
        <p:spPr>
          <a:xfrm>
            <a:off x="685800" y="1143000"/>
            <a:ext cx="777168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D4A017"/>
                </a:solidFill>
                <a:effectLst/>
                <a:uFillTx/>
                <a:latin typeface="Calibri"/>
                <a:ea typeface="Calibri"/>
              </a:rPr>
              <a:t>General objective  </a:t>
            </a:r>
            <a:r>
              <a:rPr lang="en-US" sz="1600" b="0" u="none" strike="noStrike">
                <a:solidFill>
                  <a:srgbClr val="FFFFFF"/>
                </a:solidFill>
                <a:effectLst/>
                <a:uFillTx/>
                <a:latin typeface="Calibri"/>
                <a:ea typeface="Calibri"/>
              </a:rPr>
              <a:t>Build a secure, responsive, database-driven website and CMS so that non-technical staff publish university information themselves.</a:t>
            </a:r>
            <a:endParaRPr lang="en-US" sz="1600" b="0" u="none" strike="noStrike">
              <a:solidFill>
                <a:srgbClr val="000000"/>
              </a:solidFill>
              <a:effectLst/>
              <a:uFillTx/>
              <a:latin typeface="Arial"/>
            </a:endParaRPr>
          </a:p>
        </p:txBody>
      </p:sp>
      <p:sp>
        <p:nvSpPr>
          <p:cNvPr id="121" name="Objective card 1"/>
          <p:cNvSpPr/>
          <p:nvPr/>
        </p:nvSpPr>
        <p:spPr>
          <a:xfrm>
            <a:off x="457200" y="2331720"/>
            <a:ext cx="1937880" cy="2148120"/>
          </a:xfrm>
          <a:prstGeom prst="roundRect">
            <a:avLst>
              <a:gd name="adj" fmla="val 377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2" name="Objective icon 1 bg"/>
          <p:cNvSpPr/>
          <p:nvPr/>
        </p:nvSpPr>
        <p:spPr>
          <a:xfrm>
            <a:off x="621720" y="2487240"/>
            <a:ext cx="566280" cy="566280"/>
          </a:xfrm>
          <a:prstGeom prst="ellipse">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23" name="Image 0" descr="FaGlobe"/>
          <p:cNvPicPr/>
          <p:nvPr/>
        </p:nvPicPr>
        <p:blipFill>
          <a:blip r:embed="rId1"/>
          <a:stretch/>
        </p:blipFill>
        <p:spPr>
          <a:xfrm>
            <a:off x="757800" y="2623320"/>
            <a:ext cx="294120" cy="294120"/>
          </a:xfrm>
          <a:prstGeom prst="rect">
            <a:avLst/>
          </a:prstGeom>
          <a:noFill/>
          <a:ln w="0">
            <a:noFill/>
          </a:ln>
        </p:spPr>
      </p:pic>
      <p:sp>
        <p:nvSpPr>
          <p:cNvPr id="124" name="Text 6"/>
          <p:cNvSpPr/>
          <p:nvPr/>
        </p:nvSpPr>
        <p:spPr>
          <a:xfrm>
            <a:off x="621720" y="3154680"/>
            <a:ext cx="164520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500" b="1" u="none" strike="noStrike">
                <a:solidFill>
                  <a:srgbClr val="0F4C3A"/>
                </a:solidFill>
                <a:effectLst/>
                <a:uFillTx/>
                <a:latin typeface="Calibri"/>
                <a:ea typeface="Calibri"/>
              </a:rPr>
              <a:t>Dynamic website</a:t>
            </a:r>
            <a:endParaRPr lang="en-US" sz="1500" b="0" u="none" strike="noStrike">
              <a:solidFill>
                <a:srgbClr val="000000"/>
              </a:solidFill>
              <a:effectLst/>
              <a:uFillTx/>
              <a:latin typeface="Arial"/>
            </a:endParaRPr>
          </a:p>
          <a:p>
            <a:pPr defTabSz="914400">
              <a:lnSpc>
                <a:spcPct val="100000"/>
              </a:lnSpc>
              <a:spcAft>
                <a:spcPts val="300"/>
              </a:spcAft>
              <a:tabLst>
                <a:tab pos="0" algn="l"/>
              </a:tabLst>
            </a:pPr>
            <a:r>
              <a:rPr lang="en-US" sz="1200" b="0" u="none" strike="noStrike">
                <a:solidFill>
                  <a:srgbClr val="17251F"/>
                </a:solidFill>
                <a:effectLst/>
                <a:uFillTx/>
                <a:latin typeface="Calibri"/>
                <a:ea typeface="Calibri"/>
              </a:rPr>
              <a:t>Slug-based pages for news, events, programs, research, leadership</a:t>
            </a:r>
            <a:endParaRPr lang="en-US" sz="1200" b="0" u="none" strike="noStrike">
              <a:solidFill>
                <a:srgbClr val="000000"/>
              </a:solidFill>
              <a:effectLst/>
              <a:uFillTx/>
              <a:latin typeface="Arial"/>
            </a:endParaRPr>
          </a:p>
        </p:txBody>
      </p:sp>
      <p:sp>
        <p:nvSpPr>
          <p:cNvPr id="125" name="Objective card 2"/>
          <p:cNvSpPr/>
          <p:nvPr/>
        </p:nvSpPr>
        <p:spPr>
          <a:xfrm>
            <a:off x="2541960" y="2331720"/>
            <a:ext cx="1937880" cy="2148120"/>
          </a:xfrm>
          <a:prstGeom prst="roundRect">
            <a:avLst>
              <a:gd name="adj" fmla="val 377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6" name="Objective icon 2 bg"/>
          <p:cNvSpPr/>
          <p:nvPr/>
        </p:nvSpPr>
        <p:spPr>
          <a:xfrm>
            <a:off x="2706480" y="2487240"/>
            <a:ext cx="566280" cy="566280"/>
          </a:xfrm>
          <a:prstGeom prst="ellipse">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27" name="Image 1" descr="FaLock"/>
          <p:cNvPicPr/>
          <p:nvPr/>
        </p:nvPicPr>
        <p:blipFill>
          <a:blip r:embed="rId2"/>
          <a:stretch/>
        </p:blipFill>
        <p:spPr>
          <a:xfrm>
            <a:off x="2842560" y="2623320"/>
            <a:ext cx="294120" cy="294120"/>
          </a:xfrm>
          <a:prstGeom prst="rect">
            <a:avLst/>
          </a:prstGeom>
          <a:noFill/>
          <a:ln w="0">
            <a:noFill/>
          </a:ln>
        </p:spPr>
      </p:pic>
      <p:sp>
        <p:nvSpPr>
          <p:cNvPr id="128" name="Text 9"/>
          <p:cNvSpPr/>
          <p:nvPr/>
        </p:nvSpPr>
        <p:spPr>
          <a:xfrm>
            <a:off x="2706480" y="3154680"/>
            <a:ext cx="164520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500" b="1" u="none" strike="noStrike">
                <a:solidFill>
                  <a:srgbClr val="0F4C3A"/>
                </a:solidFill>
                <a:effectLst/>
                <a:uFillTx/>
                <a:latin typeface="Calibri"/>
                <a:ea typeface="Calibri"/>
              </a:rPr>
              <a:t>Secure Admin CMS</a:t>
            </a:r>
            <a:endParaRPr lang="en-US" sz="1500" b="0" u="none" strike="noStrike">
              <a:solidFill>
                <a:srgbClr val="000000"/>
              </a:solidFill>
              <a:effectLst/>
              <a:uFillTx/>
              <a:latin typeface="Arial"/>
            </a:endParaRPr>
          </a:p>
          <a:p>
            <a:pPr defTabSz="914400">
              <a:lnSpc>
                <a:spcPct val="100000"/>
              </a:lnSpc>
              <a:spcAft>
                <a:spcPts val="300"/>
              </a:spcAft>
              <a:tabLst>
                <a:tab pos="0" algn="l"/>
              </a:tabLst>
            </a:pPr>
            <a:r>
              <a:rPr lang="en-US" sz="1200" b="0" u="none" strike="noStrike">
                <a:solidFill>
                  <a:srgbClr val="17251F"/>
                </a:solidFill>
                <a:effectLst/>
                <a:uFillTx/>
                <a:latin typeface="Calibri"/>
                <a:ea typeface="Calibri"/>
              </a:rPr>
              <a:t>Login, Row Level Security, role-based System menu</a:t>
            </a:r>
            <a:endParaRPr lang="en-US" sz="1200" b="0" u="none" strike="noStrike">
              <a:solidFill>
                <a:srgbClr val="000000"/>
              </a:solidFill>
              <a:effectLst/>
              <a:uFillTx/>
              <a:latin typeface="Arial"/>
            </a:endParaRPr>
          </a:p>
        </p:txBody>
      </p:sp>
      <p:sp>
        <p:nvSpPr>
          <p:cNvPr id="129" name="Objective card 3"/>
          <p:cNvSpPr/>
          <p:nvPr/>
        </p:nvSpPr>
        <p:spPr>
          <a:xfrm>
            <a:off x="4626720" y="2331720"/>
            <a:ext cx="1937880" cy="2148120"/>
          </a:xfrm>
          <a:prstGeom prst="roundRect">
            <a:avLst>
              <a:gd name="adj" fmla="val 377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0" name="Objective icon 3 bg"/>
          <p:cNvSpPr/>
          <p:nvPr/>
        </p:nvSpPr>
        <p:spPr>
          <a:xfrm>
            <a:off x="4791600" y="2487240"/>
            <a:ext cx="566280" cy="566280"/>
          </a:xfrm>
          <a:prstGeom prst="ellipse">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31" name="Image 2" descr="FaImages"/>
          <p:cNvPicPr/>
          <p:nvPr/>
        </p:nvPicPr>
        <p:blipFill>
          <a:blip r:embed="rId3"/>
          <a:stretch/>
        </p:blipFill>
        <p:spPr>
          <a:xfrm>
            <a:off x="4927680" y="2623320"/>
            <a:ext cx="294120" cy="294120"/>
          </a:xfrm>
          <a:prstGeom prst="rect">
            <a:avLst/>
          </a:prstGeom>
          <a:noFill/>
          <a:ln w="0">
            <a:noFill/>
          </a:ln>
        </p:spPr>
      </p:pic>
      <p:sp>
        <p:nvSpPr>
          <p:cNvPr id="132" name="Text 12"/>
          <p:cNvSpPr/>
          <p:nvPr/>
        </p:nvSpPr>
        <p:spPr>
          <a:xfrm>
            <a:off x="4791600" y="3154680"/>
            <a:ext cx="164520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500" b="1" u="none" strike="noStrike">
                <a:solidFill>
                  <a:srgbClr val="0F4C3A"/>
                </a:solidFill>
                <a:effectLst/>
                <a:uFillTx/>
                <a:latin typeface="Calibri"/>
                <a:ea typeface="Calibri"/>
              </a:rPr>
              <a:t>Media library</a:t>
            </a:r>
            <a:endParaRPr lang="en-US" sz="1500" b="0" u="none" strike="noStrike">
              <a:solidFill>
                <a:srgbClr val="000000"/>
              </a:solidFill>
              <a:effectLst/>
              <a:uFillTx/>
              <a:latin typeface="Arial"/>
            </a:endParaRPr>
          </a:p>
          <a:p>
            <a:pPr defTabSz="914400">
              <a:lnSpc>
                <a:spcPct val="100000"/>
              </a:lnSpc>
              <a:spcAft>
                <a:spcPts val="300"/>
              </a:spcAft>
              <a:tabLst>
                <a:tab pos="0" algn="l"/>
              </a:tabLst>
            </a:pPr>
            <a:r>
              <a:rPr lang="en-US" sz="1200" b="0" u="none" strike="noStrike">
                <a:solidFill>
                  <a:srgbClr val="17251F"/>
                </a:solidFill>
                <a:effectLst/>
                <a:uFillTx/>
                <a:latin typeface="Calibri"/>
                <a:ea typeface="Calibri"/>
              </a:rPr>
              <a:t>Upload once, reuse everywhere; type and 10 MB checks</a:t>
            </a:r>
            <a:endParaRPr lang="en-US" sz="1200" b="0" u="none" strike="noStrike">
              <a:solidFill>
                <a:srgbClr val="000000"/>
              </a:solidFill>
              <a:effectLst/>
              <a:uFillTx/>
              <a:latin typeface="Arial"/>
            </a:endParaRPr>
          </a:p>
        </p:txBody>
      </p:sp>
      <p:sp>
        <p:nvSpPr>
          <p:cNvPr id="133" name="Objective card 4"/>
          <p:cNvSpPr/>
          <p:nvPr/>
        </p:nvSpPr>
        <p:spPr>
          <a:xfrm>
            <a:off x="6711840" y="2331720"/>
            <a:ext cx="1937880" cy="2148120"/>
          </a:xfrm>
          <a:prstGeom prst="roundRect">
            <a:avLst>
              <a:gd name="adj" fmla="val 377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4" name="Objective icon 4 bg"/>
          <p:cNvSpPr/>
          <p:nvPr/>
        </p:nvSpPr>
        <p:spPr>
          <a:xfrm>
            <a:off x="6876360" y="2487240"/>
            <a:ext cx="566280" cy="566280"/>
          </a:xfrm>
          <a:prstGeom prst="ellipse">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35" name="Image 3" descr="FaClipboardList"/>
          <p:cNvPicPr/>
          <p:nvPr/>
        </p:nvPicPr>
        <p:blipFill>
          <a:blip r:embed="rId4"/>
          <a:stretch/>
        </p:blipFill>
        <p:spPr>
          <a:xfrm>
            <a:off x="7012440" y="2623320"/>
            <a:ext cx="294120" cy="294120"/>
          </a:xfrm>
          <a:prstGeom prst="rect">
            <a:avLst/>
          </a:prstGeom>
          <a:noFill/>
          <a:ln w="0">
            <a:noFill/>
          </a:ln>
        </p:spPr>
      </p:pic>
      <p:sp>
        <p:nvSpPr>
          <p:cNvPr id="136" name="Text 15"/>
          <p:cNvSpPr/>
          <p:nvPr/>
        </p:nvSpPr>
        <p:spPr>
          <a:xfrm>
            <a:off x="6876360" y="3154680"/>
            <a:ext cx="164520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500" b="1" u="none" strike="noStrike">
                <a:solidFill>
                  <a:srgbClr val="0F4C3A"/>
                </a:solidFill>
                <a:effectLst/>
                <a:uFillTx/>
                <a:latin typeface="Calibri"/>
                <a:ea typeface="Calibri"/>
              </a:rPr>
              <a:t>Audit log</a:t>
            </a:r>
            <a:endParaRPr lang="en-US" sz="1500" b="0" u="none" strike="noStrike">
              <a:solidFill>
                <a:srgbClr val="000000"/>
              </a:solidFill>
              <a:effectLst/>
              <a:uFillTx/>
              <a:latin typeface="Arial"/>
            </a:endParaRPr>
          </a:p>
          <a:p>
            <a:pPr defTabSz="914400">
              <a:lnSpc>
                <a:spcPct val="100000"/>
              </a:lnSpc>
              <a:spcAft>
                <a:spcPts val="300"/>
              </a:spcAft>
              <a:tabLst>
                <a:tab pos="0" algn="l"/>
              </a:tabLst>
            </a:pPr>
            <a:r>
              <a:rPr lang="en-US" sz="1200" b="0" u="none" strike="noStrike">
                <a:solidFill>
                  <a:srgbClr val="17251F"/>
                </a:solidFill>
                <a:effectLst/>
                <a:uFillTx/>
                <a:latin typeface="Calibri"/>
                <a:ea typeface="Calibri"/>
              </a:rPr>
              <a:t>Every create, update, delete and upload is recorded</a:t>
            </a:r>
            <a:endParaRPr lang="en-US" sz="1200" b="0" u="none" strike="noStrike">
              <a:solidFill>
                <a:srgbClr val="000000"/>
              </a:solidFill>
              <a:effectLst/>
              <a:uFillTx/>
              <a:latin typeface="Arial"/>
            </a:endParaRPr>
          </a:p>
        </p:txBody>
      </p:sp>
      <p:sp>
        <p:nvSpPr>
          <p:cNvPr id="137" name="PlaceHolder 2"/>
          <p:cNvSpPr>
            <a:spLocks noGrp="1"/>
          </p:cNvSpPr>
          <p:nvPr>
            <p:ph type="sldNum" idx="10"/>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98640A9E-8623-460D-9839-735E55D438A9}"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4. Literature Review</a:t>
            </a:r>
            <a:endParaRPr lang="en-US" sz="2600" b="0" u="none" strike="noStrike">
              <a:solidFill>
                <a:schemeClr val="dk1"/>
              </a:solidFill>
              <a:effectLst/>
              <a:uFillTx/>
              <a:latin typeface="Calibri"/>
            </a:endParaRPr>
          </a:p>
        </p:txBody>
      </p:sp>
      <p:sp>
        <p:nvSpPr>
          <p:cNvPr id="139"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4</a:t>
            </a:r>
            <a:endParaRPr lang="en-US" sz="1100" b="0" u="none" strike="noStrike">
              <a:solidFill>
                <a:srgbClr val="FFFFFF"/>
              </a:solidFill>
              <a:effectLst/>
              <a:uFillTx/>
              <a:latin typeface="Arial"/>
            </a:endParaRPr>
          </a:p>
        </p:txBody>
      </p:sp>
      <p:sp>
        <p:nvSpPr>
          <p:cNvPr id="140" name="Text 2"/>
          <p:cNvSpPr/>
          <p:nvPr/>
        </p:nvSpPr>
        <p:spPr>
          <a:xfrm>
            <a:off x="530280" y="1097280"/>
            <a:ext cx="22395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F4C3A"/>
                </a:solidFill>
                <a:effectLst/>
                <a:uFillTx/>
                <a:latin typeface="Calibri"/>
                <a:ea typeface="Calibri"/>
              </a:rPr>
              <a:t>Approach</a:t>
            </a:r>
            <a:endParaRPr lang="en-US" sz="1200" b="0" u="none" strike="noStrike">
              <a:solidFill>
                <a:srgbClr val="000000"/>
              </a:solidFill>
              <a:effectLst/>
              <a:uFillTx/>
              <a:latin typeface="Arial"/>
            </a:endParaRPr>
          </a:p>
        </p:txBody>
      </p:sp>
      <p:sp>
        <p:nvSpPr>
          <p:cNvPr id="141" name="Text 3"/>
          <p:cNvSpPr/>
          <p:nvPr/>
        </p:nvSpPr>
        <p:spPr>
          <a:xfrm>
            <a:off x="2816280" y="1097280"/>
            <a:ext cx="22395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F4C3A"/>
                </a:solidFill>
                <a:effectLst/>
                <a:uFillTx/>
                <a:latin typeface="Calibri"/>
                <a:ea typeface="Calibri"/>
              </a:rPr>
              <a:t>Strength</a:t>
            </a:r>
            <a:endParaRPr lang="en-US" sz="1200" b="0" u="none" strike="noStrike">
              <a:solidFill>
                <a:srgbClr val="000000"/>
              </a:solidFill>
              <a:effectLst/>
              <a:uFillTx/>
              <a:latin typeface="Arial"/>
            </a:endParaRPr>
          </a:p>
        </p:txBody>
      </p:sp>
      <p:sp>
        <p:nvSpPr>
          <p:cNvPr id="142" name="Text 4"/>
          <p:cNvSpPr/>
          <p:nvPr/>
        </p:nvSpPr>
        <p:spPr>
          <a:xfrm>
            <a:off x="5102280" y="1097280"/>
            <a:ext cx="23310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F4C3A"/>
                </a:solidFill>
                <a:effectLst/>
                <a:uFillTx/>
                <a:latin typeface="Calibri"/>
                <a:ea typeface="Calibri"/>
              </a:rPr>
              <a:t>Limitation</a:t>
            </a:r>
            <a:endParaRPr lang="en-US" sz="1200" b="0" u="none" strike="noStrike">
              <a:solidFill>
                <a:srgbClr val="000000"/>
              </a:solidFill>
              <a:effectLst/>
              <a:uFillTx/>
              <a:latin typeface="Arial"/>
            </a:endParaRPr>
          </a:p>
        </p:txBody>
      </p:sp>
      <p:sp>
        <p:nvSpPr>
          <p:cNvPr id="143" name="Text 5"/>
          <p:cNvSpPr/>
          <p:nvPr/>
        </p:nvSpPr>
        <p:spPr>
          <a:xfrm>
            <a:off x="7479720" y="1097280"/>
            <a:ext cx="127944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F4C3A"/>
                </a:solidFill>
                <a:effectLst/>
                <a:uFillTx/>
                <a:latin typeface="Calibri"/>
                <a:ea typeface="Calibri"/>
              </a:rPr>
              <a:t>Decision</a:t>
            </a:r>
            <a:endParaRPr lang="en-US" sz="1200" b="0" u="none" strike="noStrike">
              <a:solidFill>
                <a:srgbClr val="000000"/>
              </a:solidFill>
              <a:effectLst/>
              <a:uFillTx/>
              <a:latin typeface="Arial"/>
            </a:endParaRPr>
          </a:p>
        </p:txBody>
      </p:sp>
      <p:sp>
        <p:nvSpPr>
          <p:cNvPr id="144" name="Approach row 1"/>
          <p:cNvSpPr/>
          <p:nvPr/>
        </p:nvSpPr>
        <p:spPr>
          <a:xfrm>
            <a:off x="457200" y="1444680"/>
            <a:ext cx="8228880" cy="657720"/>
          </a:xfrm>
          <a:prstGeom prst="roundRect">
            <a:avLst>
              <a:gd name="adj" fmla="val 11111"/>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5" name="Text 7"/>
          <p:cNvSpPr/>
          <p:nvPr/>
        </p:nvSpPr>
        <p:spPr>
          <a:xfrm>
            <a:off x="530280" y="1444680"/>
            <a:ext cx="214812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7251F"/>
                </a:solidFill>
                <a:effectLst/>
                <a:uFillTx/>
                <a:latin typeface="Calibri"/>
                <a:ea typeface="Calibri"/>
              </a:rPr>
              <a:t>Traditional CMS (e.g. WordPress, Drupal)</a:t>
            </a:r>
            <a:endParaRPr lang="en-US" sz="1200" b="0" u="none" strike="noStrike">
              <a:solidFill>
                <a:srgbClr val="000000"/>
              </a:solidFill>
              <a:effectLst/>
              <a:uFillTx/>
              <a:latin typeface="Arial"/>
            </a:endParaRPr>
          </a:p>
        </p:txBody>
      </p:sp>
      <p:sp>
        <p:nvSpPr>
          <p:cNvPr id="146" name="Text 8"/>
          <p:cNvSpPr/>
          <p:nvPr/>
        </p:nvSpPr>
        <p:spPr>
          <a:xfrm>
            <a:off x="2816280" y="1444680"/>
            <a:ext cx="214812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7251F"/>
                </a:solidFill>
                <a:effectLst/>
                <a:uFillTx/>
                <a:latin typeface="Calibri"/>
                <a:ea typeface="Calibri"/>
              </a:rPr>
              <a:t>Mature; themes and plugins; fast to start</a:t>
            </a:r>
            <a:endParaRPr lang="en-US" sz="1150" b="0" u="none" strike="noStrike">
              <a:solidFill>
                <a:srgbClr val="000000"/>
              </a:solidFill>
              <a:effectLst/>
              <a:uFillTx/>
              <a:latin typeface="Arial"/>
            </a:endParaRPr>
          </a:p>
        </p:txBody>
      </p:sp>
      <p:sp>
        <p:nvSpPr>
          <p:cNvPr id="147" name="Text 9"/>
          <p:cNvSpPr/>
          <p:nvPr/>
        </p:nvSpPr>
        <p:spPr>
          <a:xfrm>
            <a:off x="5102280" y="1444680"/>
            <a:ext cx="223956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7251F"/>
                </a:solidFill>
                <a:effectLst/>
                <a:uFillTx/>
                <a:latin typeface="Calibri"/>
                <a:ea typeface="Calibri"/>
              </a:rPr>
              <a:t>Plugin upkeep and security; generic content model</a:t>
            </a:r>
            <a:endParaRPr lang="en-US" sz="1150" b="0" u="none" strike="noStrike">
              <a:solidFill>
                <a:srgbClr val="000000"/>
              </a:solidFill>
              <a:effectLst/>
              <a:uFillTx/>
              <a:latin typeface="Arial"/>
            </a:endParaRPr>
          </a:p>
        </p:txBody>
      </p:sp>
      <p:sp>
        <p:nvSpPr>
          <p:cNvPr id="148" name="Text 10"/>
          <p:cNvSpPr/>
          <p:nvPr/>
        </p:nvSpPr>
        <p:spPr>
          <a:xfrm>
            <a:off x="7479720" y="1444680"/>
            <a:ext cx="118800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7251F"/>
                </a:solidFill>
                <a:effectLst/>
                <a:uFillTx/>
                <a:latin typeface="Calibri"/>
                <a:ea typeface="Calibri"/>
              </a:rPr>
              <a:t>Not chosen</a:t>
            </a:r>
            <a:endParaRPr lang="en-US" sz="1150" b="0" u="none" strike="noStrike">
              <a:solidFill>
                <a:srgbClr val="000000"/>
              </a:solidFill>
              <a:effectLst/>
              <a:uFillTx/>
              <a:latin typeface="Arial"/>
            </a:endParaRPr>
          </a:p>
        </p:txBody>
      </p:sp>
      <p:sp>
        <p:nvSpPr>
          <p:cNvPr id="149" name="Approach row 2"/>
          <p:cNvSpPr/>
          <p:nvPr/>
        </p:nvSpPr>
        <p:spPr>
          <a:xfrm>
            <a:off x="457200" y="2194560"/>
            <a:ext cx="8228880" cy="657720"/>
          </a:xfrm>
          <a:prstGeom prst="roundRect">
            <a:avLst>
              <a:gd name="adj" fmla="val 11111"/>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0" name="Text 12"/>
          <p:cNvSpPr/>
          <p:nvPr/>
        </p:nvSpPr>
        <p:spPr>
          <a:xfrm>
            <a:off x="530280" y="2194560"/>
            <a:ext cx="214812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7251F"/>
                </a:solidFill>
                <a:effectLst/>
                <a:uFillTx/>
                <a:latin typeface="Calibri"/>
                <a:ea typeface="Calibri"/>
              </a:rPr>
              <a:t>Headless CMS (e.g. Strapi, Contentful)</a:t>
            </a:r>
            <a:endParaRPr lang="en-US" sz="1200" b="0" u="none" strike="noStrike">
              <a:solidFill>
                <a:srgbClr val="000000"/>
              </a:solidFill>
              <a:effectLst/>
              <a:uFillTx/>
              <a:latin typeface="Arial"/>
            </a:endParaRPr>
          </a:p>
        </p:txBody>
      </p:sp>
      <p:sp>
        <p:nvSpPr>
          <p:cNvPr id="151" name="Text 13"/>
          <p:cNvSpPr/>
          <p:nvPr/>
        </p:nvSpPr>
        <p:spPr>
          <a:xfrm>
            <a:off x="2816280" y="2194560"/>
            <a:ext cx="214812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7251F"/>
                </a:solidFill>
                <a:effectLst/>
                <a:uFillTx/>
                <a:latin typeface="Calibri"/>
                <a:ea typeface="Calibri"/>
              </a:rPr>
              <a:t>API-first, structured content</a:t>
            </a:r>
            <a:endParaRPr lang="en-US" sz="1150" b="0" u="none" strike="noStrike">
              <a:solidFill>
                <a:srgbClr val="000000"/>
              </a:solidFill>
              <a:effectLst/>
              <a:uFillTx/>
              <a:latin typeface="Arial"/>
            </a:endParaRPr>
          </a:p>
        </p:txBody>
      </p:sp>
      <p:sp>
        <p:nvSpPr>
          <p:cNvPr id="152" name="Text 14"/>
          <p:cNvSpPr/>
          <p:nvPr/>
        </p:nvSpPr>
        <p:spPr>
          <a:xfrm>
            <a:off x="5102280" y="2194560"/>
            <a:ext cx="223956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7251F"/>
                </a:solidFill>
                <a:effectLst/>
                <a:uFillTx/>
                <a:latin typeface="Calibri"/>
                <a:ea typeface="Calibri"/>
              </a:rPr>
              <a:t>Extra service to host; the website is still to be built</a:t>
            </a:r>
            <a:endParaRPr lang="en-US" sz="1150" b="0" u="none" strike="noStrike">
              <a:solidFill>
                <a:srgbClr val="000000"/>
              </a:solidFill>
              <a:effectLst/>
              <a:uFillTx/>
              <a:latin typeface="Arial"/>
            </a:endParaRPr>
          </a:p>
        </p:txBody>
      </p:sp>
      <p:sp>
        <p:nvSpPr>
          <p:cNvPr id="153" name="Text 15"/>
          <p:cNvSpPr/>
          <p:nvPr/>
        </p:nvSpPr>
        <p:spPr>
          <a:xfrm>
            <a:off x="7479720" y="2194560"/>
            <a:ext cx="118800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7251F"/>
                </a:solidFill>
                <a:effectLst/>
                <a:uFillTx/>
                <a:latin typeface="Calibri"/>
                <a:ea typeface="Calibri"/>
              </a:rPr>
              <a:t>Not chosen</a:t>
            </a:r>
            <a:endParaRPr lang="en-US" sz="1150" b="0" u="none" strike="noStrike">
              <a:solidFill>
                <a:srgbClr val="000000"/>
              </a:solidFill>
              <a:effectLst/>
              <a:uFillTx/>
              <a:latin typeface="Arial"/>
            </a:endParaRPr>
          </a:p>
        </p:txBody>
      </p:sp>
      <p:sp>
        <p:nvSpPr>
          <p:cNvPr id="154" name="Approach row 3"/>
          <p:cNvSpPr/>
          <p:nvPr/>
        </p:nvSpPr>
        <p:spPr>
          <a:xfrm>
            <a:off x="457200" y="2944440"/>
            <a:ext cx="8228880" cy="657720"/>
          </a:xfrm>
          <a:prstGeom prst="roundRect">
            <a:avLst>
              <a:gd name="adj" fmla="val 11111"/>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5" name="Text 17"/>
          <p:cNvSpPr/>
          <p:nvPr/>
        </p:nvSpPr>
        <p:spPr>
          <a:xfrm>
            <a:off x="530280" y="2944440"/>
            <a:ext cx="214812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Custom app on Supabase (this project)</a:t>
            </a:r>
            <a:endParaRPr lang="en-US" sz="1200" b="0" u="none" strike="noStrike">
              <a:solidFill>
                <a:srgbClr val="000000"/>
              </a:solidFill>
              <a:effectLst/>
              <a:uFillTx/>
              <a:latin typeface="Arial"/>
            </a:endParaRPr>
          </a:p>
        </p:txBody>
      </p:sp>
      <p:sp>
        <p:nvSpPr>
          <p:cNvPr id="156" name="Text 18"/>
          <p:cNvSpPr/>
          <p:nvPr/>
        </p:nvSpPr>
        <p:spPr>
          <a:xfrm>
            <a:off x="2816280" y="2944440"/>
            <a:ext cx="214812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FFFFFF"/>
                </a:solidFill>
                <a:effectLst/>
                <a:uFillTx/>
                <a:latin typeface="Calibri"/>
                <a:ea typeface="Calibri"/>
              </a:rPr>
              <a:t>Typed code, database-level security, one codebase</a:t>
            </a:r>
            <a:endParaRPr lang="en-US" sz="1150" b="0" u="none" strike="noStrike">
              <a:solidFill>
                <a:srgbClr val="000000"/>
              </a:solidFill>
              <a:effectLst/>
              <a:uFillTx/>
              <a:latin typeface="Arial"/>
            </a:endParaRPr>
          </a:p>
        </p:txBody>
      </p:sp>
      <p:sp>
        <p:nvSpPr>
          <p:cNvPr id="157" name="Text 19"/>
          <p:cNvSpPr/>
          <p:nvPr/>
        </p:nvSpPr>
        <p:spPr>
          <a:xfrm>
            <a:off x="5102280" y="2944440"/>
            <a:ext cx="223956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FFFFFF"/>
                </a:solidFill>
                <a:effectLst/>
                <a:uFillTx/>
                <a:latin typeface="Calibri"/>
                <a:ea typeface="Calibri"/>
              </a:rPr>
              <a:t>More development effort</a:t>
            </a:r>
            <a:endParaRPr lang="en-US" sz="1150" b="0" u="none" strike="noStrike">
              <a:solidFill>
                <a:srgbClr val="000000"/>
              </a:solidFill>
              <a:effectLst/>
              <a:uFillTx/>
              <a:latin typeface="Arial"/>
            </a:endParaRPr>
          </a:p>
        </p:txBody>
      </p:sp>
      <p:sp>
        <p:nvSpPr>
          <p:cNvPr id="158" name="Text 20"/>
          <p:cNvSpPr/>
          <p:nvPr/>
        </p:nvSpPr>
        <p:spPr>
          <a:xfrm>
            <a:off x="7479720" y="2944440"/>
            <a:ext cx="118800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D4A017"/>
                </a:solidFill>
                <a:effectLst/>
                <a:uFillTx/>
                <a:latin typeface="Calibri"/>
                <a:ea typeface="Calibri"/>
              </a:rPr>
              <a:t>Chosen</a:t>
            </a:r>
            <a:endParaRPr lang="en-US" sz="1150" b="0" u="none" strike="noStrike">
              <a:solidFill>
                <a:srgbClr val="000000"/>
              </a:solidFill>
              <a:effectLst/>
              <a:uFillTx/>
              <a:latin typeface="Arial"/>
            </a:endParaRPr>
          </a:p>
        </p:txBody>
      </p:sp>
      <p:sp>
        <p:nvSpPr>
          <p:cNvPr id="159" name="Idea card 1"/>
          <p:cNvSpPr/>
          <p:nvPr/>
        </p:nvSpPr>
        <p:spPr>
          <a:xfrm>
            <a:off x="457200" y="3794760"/>
            <a:ext cx="1937880" cy="913680"/>
          </a:xfrm>
          <a:prstGeom prst="roundRect">
            <a:avLst>
              <a:gd name="adj" fmla="val 8000"/>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0" name="Idea accent 1"/>
          <p:cNvSpPr/>
          <p:nvPr/>
        </p:nvSpPr>
        <p:spPr>
          <a:xfrm>
            <a:off x="457200" y="3794760"/>
            <a:ext cx="54000" cy="913680"/>
          </a:xfrm>
          <a:prstGeom prst="rect">
            <a:avLst/>
          </a:prstGeom>
          <a:solidFill>
            <a:srgbClr val="D4A017"/>
          </a:solidFill>
          <a:ln w="12700">
            <a:solidFill>
              <a:srgbClr val="D4A017"/>
            </a:solidFill>
            <a:round/>
          </a:ln>
        </p:spPr>
        <p:style>
          <a:lnRef idx="0"/>
          <a:fillRef idx="0"/>
          <a:effectRef idx="0"/>
          <a:fontRef idx="minor"/>
        </p:style>
        <p:txBody>
          <a:bodyPr lIns="27000" tIns="45000" rIns="27000" bIns="45000" anchor="t">
            <a:noAutofit/>
          </a:bodyPr>
          <a:p>
            <a:pPr/>
            <a:endParaRPr lang="en-US" sz="1800" b="0" u="none" strike="noStrike">
              <a:solidFill>
                <a:srgbClr val="000000"/>
              </a:solidFill>
              <a:effectLst/>
              <a:uFillTx/>
              <a:latin typeface="Arial"/>
            </a:endParaRPr>
          </a:p>
        </p:txBody>
      </p:sp>
      <p:sp>
        <p:nvSpPr>
          <p:cNvPr id="161" name="Text 23"/>
          <p:cNvSpPr/>
          <p:nvPr/>
        </p:nvSpPr>
        <p:spPr>
          <a:xfrm>
            <a:off x="594360" y="3794760"/>
            <a:ext cx="1736640" cy="913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0F4C3A"/>
                </a:solidFill>
                <a:effectLst/>
                <a:uFillTx/>
                <a:latin typeface="Calibri"/>
                <a:ea typeface="Calibri"/>
              </a:rPr>
              <a:t>Role-Based Access Control</a:t>
            </a:r>
            <a:endParaRPr lang="en-US" sz="11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7251F"/>
                </a:solidFill>
                <a:effectLst/>
                <a:uFillTx/>
                <a:latin typeface="Calibri"/>
                <a:ea typeface="Calibri"/>
              </a:rPr>
              <a:t>Permissions belong to roles (Sandhu et al., 1996)</a:t>
            </a:r>
            <a:endParaRPr lang="en-US" sz="1050" b="0" u="none" strike="noStrike">
              <a:solidFill>
                <a:srgbClr val="000000"/>
              </a:solidFill>
              <a:effectLst/>
              <a:uFillTx/>
              <a:latin typeface="Arial"/>
            </a:endParaRPr>
          </a:p>
        </p:txBody>
      </p:sp>
      <p:sp>
        <p:nvSpPr>
          <p:cNvPr id="162" name="Idea card 2"/>
          <p:cNvSpPr/>
          <p:nvPr/>
        </p:nvSpPr>
        <p:spPr>
          <a:xfrm>
            <a:off x="2541960" y="3794760"/>
            <a:ext cx="1937880" cy="913680"/>
          </a:xfrm>
          <a:prstGeom prst="roundRect">
            <a:avLst>
              <a:gd name="adj" fmla="val 8000"/>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3" name="Idea accent 2"/>
          <p:cNvSpPr/>
          <p:nvPr/>
        </p:nvSpPr>
        <p:spPr>
          <a:xfrm>
            <a:off x="2541960" y="3794760"/>
            <a:ext cx="54000" cy="913680"/>
          </a:xfrm>
          <a:prstGeom prst="rect">
            <a:avLst/>
          </a:prstGeom>
          <a:solidFill>
            <a:srgbClr val="D4A017"/>
          </a:solidFill>
          <a:ln w="12700">
            <a:solidFill>
              <a:srgbClr val="D4A017"/>
            </a:solidFill>
            <a:round/>
          </a:ln>
        </p:spPr>
        <p:style>
          <a:lnRef idx="0"/>
          <a:fillRef idx="0"/>
          <a:effectRef idx="0"/>
          <a:fontRef idx="minor"/>
        </p:style>
        <p:txBody>
          <a:bodyPr lIns="27000" tIns="45000" rIns="27000" bIns="45000" anchor="t">
            <a:noAutofit/>
          </a:bodyPr>
          <a:p>
            <a:pPr/>
            <a:endParaRPr lang="en-US" sz="1800" b="0" u="none" strike="noStrike">
              <a:solidFill>
                <a:srgbClr val="000000"/>
              </a:solidFill>
              <a:effectLst/>
              <a:uFillTx/>
              <a:latin typeface="Arial"/>
            </a:endParaRPr>
          </a:p>
        </p:txBody>
      </p:sp>
      <p:sp>
        <p:nvSpPr>
          <p:cNvPr id="164" name="Text 26"/>
          <p:cNvSpPr/>
          <p:nvPr/>
        </p:nvSpPr>
        <p:spPr>
          <a:xfrm>
            <a:off x="2679120" y="3794760"/>
            <a:ext cx="1736640" cy="913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0F4C3A"/>
                </a:solidFill>
                <a:effectLst/>
                <a:uFillTx/>
                <a:latin typeface="Calibri"/>
                <a:ea typeface="Calibri"/>
              </a:rPr>
              <a:t>PostgreSQL Row Level Security</a:t>
            </a:r>
            <a:endParaRPr lang="en-US" sz="11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7251F"/>
                </a:solidFill>
                <a:effectLst/>
                <a:uFillTx/>
                <a:latin typeface="Calibri"/>
                <a:ea typeface="Calibri"/>
              </a:rPr>
              <a:t>The database applies per-row policies</a:t>
            </a:r>
            <a:endParaRPr lang="en-US" sz="1050" b="0" u="none" strike="noStrike">
              <a:solidFill>
                <a:srgbClr val="000000"/>
              </a:solidFill>
              <a:effectLst/>
              <a:uFillTx/>
              <a:latin typeface="Arial"/>
            </a:endParaRPr>
          </a:p>
        </p:txBody>
      </p:sp>
      <p:sp>
        <p:nvSpPr>
          <p:cNvPr id="165" name="Idea card 3"/>
          <p:cNvSpPr/>
          <p:nvPr/>
        </p:nvSpPr>
        <p:spPr>
          <a:xfrm>
            <a:off x="4626720" y="3794760"/>
            <a:ext cx="1937880" cy="913680"/>
          </a:xfrm>
          <a:prstGeom prst="roundRect">
            <a:avLst>
              <a:gd name="adj" fmla="val 8000"/>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6" name="Idea accent 3"/>
          <p:cNvSpPr/>
          <p:nvPr/>
        </p:nvSpPr>
        <p:spPr>
          <a:xfrm>
            <a:off x="4626720" y="3794760"/>
            <a:ext cx="54000" cy="913680"/>
          </a:xfrm>
          <a:prstGeom prst="rect">
            <a:avLst/>
          </a:prstGeom>
          <a:solidFill>
            <a:srgbClr val="D4A017"/>
          </a:solidFill>
          <a:ln w="12700">
            <a:solidFill>
              <a:srgbClr val="D4A017"/>
            </a:solidFill>
            <a:round/>
          </a:ln>
        </p:spPr>
        <p:style>
          <a:lnRef idx="0"/>
          <a:fillRef idx="0"/>
          <a:effectRef idx="0"/>
          <a:fontRef idx="minor"/>
        </p:style>
        <p:txBody>
          <a:bodyPr lIns="27000" tIns="45000" rIns="27000" bIns="45000" anchor="t">
            <a:noAutofit/>
          </a:bodyPr>
          <a:p>
            <a:pPr/>
            <a:endParaRPr lang="en-US" sz="1800" b="0" u="none" strike="noStrike">
              <a:solidFill>
                <a:srgbClr val="000000"/>
              </a:solidFill>
              <a:effectLst/>
              <a:uFillTx/>
              <a:latin typeface="Arial"/>
            </a:endParaRPr>
          </a:p>
        </p:txBody>
      </p:sp>
      <p:sp>
        <p:nvSpPr>
          <p:cNvPr id="167" name="Text 29"/>
          <p:cNvSpPr/>
          <p:nvPr/>
        </p:nvSpPr>
        <p:spPr>
          <a:xfrm>
            <a:off x="4763880" y="3794760"/>
            <a:ext cx="1736640" cy="913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0F4C3A"/>
                </a:solidFill>
                <a:effectLst/>
                <a:uFillTx/>
                <a:latin typeface="Calibri"/>
                <a:ea typeface="Calibri"/>
              </a:rPr>
              <a:t>OWASP Top 10</a:t>
            </a:r>
            <a:endParaRPr lang="en-US" sz="11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7251F"/>
                </a:solidFill>
                <a:effectLst/>
                <a:uFillTx/>
                <a:latin typeface="Calibri"/>
                <a:ea typeface="Calibri"/>
              </a:rPr>
              <a:t>Broken access control is a top web risk</a:t>
            </a:r>
            <a:endParaRPr lang="en-US" sz="1050" b="0" u="none" strike="noStrike">
              <a:solidFill>
                <a:srgbClr val="000000"/>
              </a:solidFill>
              <a:effectLst/>
              <a:uFillTx/>
              <a:latin typeface="Arial"/>
            </a:endParaRPr>
          </a:p>
        </p:txBody>
      </p:sp>
      <p:sp>
        <p:nvSpPr>
          <p:cNvPr id="168" name="Idea card 4"/>
          <p:cNvSpPr/>
          <p:nvPr/>
        </p:nvSpPr>
        <p:spPr>
          <a:xfrm>
            <a:off x="6711840" y="3794760"/>
            <a:ext cx="1937880" cy="913680"/>
          </a:xfrm>
          <a:prstGeom prst="roundRect">
            <a:avLst>
              <a:gd name="adj" fmla="val 8000"/>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9" name="Idea accent 4"/>
          <p:cNvSpPr/>
          <p:nvPr/>
        </p:nvSpPr>
        <p:spPr>
          <a:xfrm>
            <a:off x="6711840" y="3794760"/>
            <a:ext cx="54000" cy="913680"/>
          </a:xfrm>
          <a:prstGeom prst="rect">
            <a:avLst/>
          </a:prstGeom>
          <a:solidFill>
            <a:srgbClr val="D4A017"/>
          </a:solidFill>
          <a:ln w="12700">
            <a:solidFill>
              <a:srgbClr val="D4A017"/>
            </a:solidFill>
            <a:round/>
          </a:ln>
        </p:spPr>
        <p:style>
          <a:lnRef idx="0"/>
          <a:fillRef idx="0"/>
          <a:effectRef idx="0"/>
          <a:fontRef idx="minor"/>
        </p:style>
        <p:txBody>
          <a:bodyPr lIns="27000" tIns="45000" rIns="27000" bIns="45000" anchor="t">
            <a:noAutofit/>
          </a:bodyPr>
          <a:p>
            <a:pPr/>
            <a:endParaRPr lang="en-US" sz="1800" b="0" u="none" strike="noStrike">
              <a:solidFill>
                <a:srgbClr val="000000"/>
              </a:solidFill>
              <a:effectLst/>
              <a:uFillTx/>
              <a:latin typeface="Arial"/>
            </a:endParaRPr>
          </a:p>
        </p:txBody>
      </p:sp>
      <p:sp>
        <p:nvSpPr>
          <p:cNvPr id="170" name="Text 32"/>
          <p:cNvSpPr/>
          <p:nvPr/>
        </p:nvSpPr>
        <p:spPr>
          <a:xfrm>
            <a:off x="6849000" y="3794760"/>
            <a:ext cx="1736640" cy="913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0F4C3A"/>
                </a:solidFill>
                <a:effectLst/>
                <a:uFillTx/>
                <a:latin typeface="Calibri"/>
                <a:ea typeface="Calibri"/>
              </a:rPr>
              <a:t>Scrum Guide (2020)</a:t>
            </a:r>
            <a:endParaRPr lang="en-US" sz="11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7251F"/>
                </a:solidFill>
                <a:effectLst/>
                <a:uFillTx/>
                <a:latin typeface="Calibri"/>
                <a:ea typeface="Calibri"/>
              </a:rPr>
              <a:t>Short sprints with reviews</a:t>
            </a:r>
            <a:endParaRPr lang="en-US" sz="1050" b="0" u="none" strike="noStrike">
              <a:solidFill>
                <a:srgbClr val="000000"/>
              </a:solidFill>
              <a:effectLst/>
              <a:uFillTx/>
              <a:latin typeface="Arial"/>
            </a:endParaRPr>
          </a:p>
        </p:txBody>
      </p:sp>
      <p:sp>
        <p:nvSpPr>
          <p:cNvPr id="171" name="PlaceHolder 2"/>
          <p:cNvSpPr>
            <a:spLocks noGrp="1"/>
          </p:cNvSpPr>
          <p:nvPr>
            <p:ph type="sldNum" idx="11"/>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F43BF361-EAD2-4872-9170-7B59B8E28D13}"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5. Functional Requirements</a:t>
            </a:r>
            <a:endParaRPr lang="en-US" sz="2600" b="0" u="none" strike="noStrike">
              <a:solidFill>
                <a:schemeClr val="dk1"/>
              </a:solidFill>
              <a:effectLst/>
              <a:uFillTx/>
              <a:latin typeface="Calibri"/>
            </a:endParaRPr>
          </a:p>
        </p:txBody>
      </p:sp>
      <p:sp>
        <p:nvSpPr>
          <p:cNvPr id="173"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5</a:t>
            </a:r>
            <a:endParaRPr lang="en-US" sz="1100" b="0" u="none" strike="noStrike">
              <a:solidFill>
                <a:srgbClr val="FFFFFF"/>
              </a:solidFill>
              <a:effectLst/>
              <a:uFillTx/>
              <a:latin typeface="Arial"/>
            </a:endParaRPr>
          </a:p>
        </p:txBody>
      </p:sp>
      <p:sp>
        <p:nvSpPr>
          <p:cNvPr id="174" name="FR card 1"/>
          <p:cNvSpPr/>
          <p:nvPr/>
        </p:nvSpPr>
        <p:spPr>
          <a:xfrm>
            <a:off x="457200" y="1143000"/>
            <a:ext cx="4022640" cy="3245400"/>
          </a:xfrm>
          <a:prstGeom prst="roundRect">
            <a:avLst>
              <a:gd name="adj" fmla="val 225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5" name="FR header 1"/>
          <p:cNvSpPr/>
          <p:nvPr/>
        </p:nvSpPr>
        <p:spPr>
          <a:xfrm>
            <a:off x="457200" y="1143000"/>
            <a:ext cx="4022640" cy="502200"/>
          </a:xfrm>
          <a:prstGeom prst="rect">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6" name="Text 4"/>
          <p:cNvSpPr/>
          <p:nvPr/>
        </p:nvSpPr>
        <p:spPr>
          <a:xfrm>
            <a:off x="640080" y="1143000"/>
            <a:ext cx="365688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Public website (16)</a:t>
            </a:r>
            <a:endParaRPr lang="en-US" sz="1700" b="0" u="none" strike="noStrike">
              <a:solidFill>
                <a:srgbClr val="000000"/>
              </a:solidFill>
              <a:effectLst/>
              <a:uFillTx/>
              <a:latin typeface="Arial"/>
            </a:endParaRPr>
          </a:p>
        </p:txBody>
      </p:sp>
      <p:sp>
        <p:nvSpPr>
          <p:cNvPr id="177" name="Text 5"/>
          <p:cNvSpPr/>
          <p:nvPr/>
        </p:nvSpPr>
        <p:spPr>
          <a:xfrm>
            <a:off x="640080" y="1783080"/>
            <a:ext cx="3656880" cy="2651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Dynamic home page with hero slides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News, events, announcements with slugs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Colleges, departments, programs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Leadership, services, vacancies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Registrar documents and notices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Contact form, galleries, pages</a:t>
            </a:r>
            <a:endParaRPr lang="en-US" sz="1500" b="0" u="none" strike="noStrike">
              <a:solidFill>
                <a:srgbClr val="000000"/>
              </a:solidFill>
              <a:effectLst/>
              <a:uFillTx/>
              <a:latin typeface="Arial"/>
            </a:endParaRPr>
          </a:p>
        </p:txBody>
      </p:sp>
      <p:sp>
        <p:nvSpPr>
          <p:cNvPr id="178" name="FR card 2"/>
          <p:cNvSpPr/>
          <p:nvPr/>
        </p:nvSpPr>
        <p:spPr>
          <a:xfrm>
            <a:off x="4663440" y="1143000"/>
            <a:ext cx="4022640" cy="3245400"/>
          </a:xfrm>
          <a:prstGeom prst="roundRect">
            <a:avLst>
              <a:gd name="adj" fmla="val 225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9" name="FR header 2"/>
          <p:cNvSpPr/>
          <p:nvPr/>
        </p:nvSpPr>
        <p:spPr>
          <a:xfrm>
            <a:off x="4663440" y="1143000"/>
            <a:ext cx="4022640" cy="502200"/>
          </a:xfrm>
          <a:prstGeom prst="rect">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0" name="Text 8"/>
          <p:cNvSpPr/>
          <p:nvPr/>
        </p:nvSpPr>
        <p:spPr>
          <a:xfrm>
            <a:off x="4846320" y="1143000"/>
            <a:ext cx="365688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Admin CMS (14)</a:t>
            </a:r>
            <a:endParaRPr lang="en-US" sz="1700" b="0" u="none" strike="noStrike">
              <a:solidFill>
                <a:srgbClr val="000000"/>
              </a:solidFill>
              <a:effectLst/>
              <a:uFillTx/>
              <a:latin typeface="Arial"/>
            </a:endParaRPr>
          </a:p>
        </p:txBody>
      </p:sp>
      <p:sp>
        <p:nvSpPr>
          <p:cNvPr id="181" name="Text 9"/>
          <p:cNvSpPr/>
          <p:nvPr/>
        </p:nvSpPr>
        <p:spPr>
          <a:xfrm>
            <a:off x="4846320" y="1783080"/>
            <a:ext cx="3656880" cy="2651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Secure login and route guard</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Dashboard with live statistics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CRUD for the content modules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Media library and unique slugs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Users, roles, navigation, settings</a:t>
            </a:r>
            <a:endParaRPr lang="en-US" sz="1500" b="0" u="none" strike="noStrike">
              <a:solidFill>
                <a:srgbClr val="000000"/>
              </a:solidFill>
              <a:effectLst/>
              <a:uFillTx/>
              <a:latin typeface="Arial"/>
            </a:endParaRPr>
          </a:p>
          <a:p>
            <a:pPr marL="343080" indent="-343080" defTabSz="914400">
              <a:lnSpc>
                <a:spcPct val="100000"/>
              </a:lnSpc>
              <a:spcAft>
                <a:spcPts val="1001"/>
              </a:spcAft>
              <a:buClr>
                <a:srgbClr val="17251F"/>
              </a:buClr>
              <a:buFont typeface="Symbol" charset="2"/>
              <a:buChar char=""/>
            </a:pPr>
            <a:r>
              <a:rPr lang="en-US" sz="1500" b="0" u="none" strike="noStrike">
                <a:solidFill>
                  <a:srgbClr val="17251F"/>
                </a:solidFill>
                <a:effectLst/>
                <a:uFillTx/>
                <a:latin typeface="Calibri"/>
                <a:ea typeface="Calibri"/>
              </a:rPr>
              <a:t>Activity log and contact messages</a:t>
            </a:r>
            <a:endParaRPr lang="en-US" sz="1500" b="0" u="none" strike="noStrike">
              <a:solidFill>
                <a:srgbClr val="000000"/>
              </a:solidFill>
              <a:effectLst/>
              <a:uFillTx/>
              <a:latin typeface="Arial"/>
            </a:endParaRPr>
          </a:p>
        </p:txBody>
      </p:sp>
      <p:sp>
        <p:nvSpPr>
          <p:cNvPr id="182" name="PlaceHolder 2"/>
          <p:cNvSpPr>
            <a:spLocks noGrp="1"/>
          </p:cNvSpPr>
          <p:nvPr>
            <p:ph type="sldNum" idx="12"/>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210C4E78-68D9-4099-A53E-1160A1DE6CCB}"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6.i System Model: Use Cases</a:t>
            </a:r>
            <a:endParaRPr lang="en-US" sz="2600" b="0" u="none" strike="noStrike">
              <a:solidFill>
                <a:schemeClr val="dk1"/>
              </a:solidFill>
              <a:effectLst/>
              <a:uFillTx/>
              <a:latin typeface="Calibri"/>
            </a:endParaRPr>
          </a:p>
        </p:txBody>
      </p:sp>
      <p:sp>
        <p:nvSpPr>
          <p:cNvPr id="184"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6</a:t>
            </a:r>
            <a:endParaRPr lang="en-US" sz="1100" b="0" u="none" strike="noStrike">
              <a:solidFill>
                <a:srgbClr val="FFFFFF"/>
              </a:solidFill>
              <a:effectLst/>
              <a:uFillTx/>
              <a:latin typeface="Arial"/>
            </a:endParaRPr>
          </a:p>
        </p:txBody>
      </p:sp>
      <p:sp>
        <p:nvSpPr>
          <p:cNvPr id="185" name="Actor icon 1 bg"/>
          <p:cNvSpPr/>
          <p:nvPr/>
        </p:nvSpPr>
        <p:spPr>
          <a:xfrm>
            <a:off x="457200" y="1143000"/>
            <a:ext cx="593640" cy="59364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86" name="Image 0" descr="FaUser"/>
          <p:cNvPicPr/>
          <p:nvPr/>
        </p:nvPicPr>
        <p:blipFill>
          <a:blip r:embed="rId1"/>
          <a:stretch/>
        </p:blipFill>
        <p:spPr>
          <a:xfrm>
            <a:off x="599760" y="1285560"/>
            <a:ext cx="308520" cy="308520"/>
          </a:xfrm>
          <a:prstGeom prst="rect">
            <a:avLst/>
          </a:prstGeom>
          <a:noFill/>
          <a:ln w="0">
            <a:noFill/>
          </a:ln>
        </p:spPr>
      </p:pic>
      <p:sp>
        <p:nvSpPr>
          <p:cNvPr id="187" name="Text 3"/>
          <p:cNvSpPr/>
          <p:nvPr/>
        </p:nvSpPr>
        <p:spPr>
          <a:xfrm>
            <a:off x="1234440" y="1051560"/>
            <a:ext cx="338256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4C3A"/>
                </a:solidFill>
                <a:effectLst/>
                <a:uFillTx/>
                <a:latin typeface="Calibri"/>
                <a:ea typeface="Calibri"/>
              </a:rPr>
              <a:t>Public User</a:t>
            </a:r>
            <a:endParaRPr lang="en-US" sz="160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7251F"/>
                </a:solidFill>
                <a:effectLst/>
                <a:uFillTx/>
                <a:latin typeface="Calibri"/>
                <a:ea typeface="Calibri"/>
              </a:rPr>
              <a:t>Reads published content, downloads Registrar documents, sends a contact message</a:t>
            </a:r>
            <a:endParaRPr lang="en-US" sz="1250" b="0" u="none" strike="noStrike">
              <a:solidFill>
                <a:srgbClr val="000000"/>
              </a:solidFill>
              <a:effectLst/>
              <a:uFillTx/>
              <a:latin typeface="Arial"/>
            </a:endParaRPr>
          </a:p>
        </p:txBody>
      </p:sp>
      <p:sp>
        <p:nvSpPr>
          <p:cNvPr id="188" name="Actor icon 2 bg"/>
          <p:cNvSpPr/>
          <p:nvPr/>
        </p:nvSpPr>
        <p:spPr>
          <a:xfrm>
            <a:off x="457200" y="2240280"/>
            <a:ext cx="593640" cy="59364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89" name="Image 1" descr="FaUserEdit"/>
          <p:cNvPicPr/>
          <p:nvPr/>
        </p:nvPicPr>
        <p:blipFill>
          <a:blip r:embed="rId2"/>
          <a:stretch/>
        </p:blipFill>
        <p:spPr>
          <a:xfrm>
            <a:off x="599760" y="2382840"/>
            <a:ext cx="308520" cy="308520"/>
          </a:xfrm>
          <a:prstGeom prst="rect">
            <a:avLst/>
          </a:prstGeom>
          <a:noFill/>
          <a:ln w="0">
            <a:noFill/>
          </a:ln>
        </p:spPr>
      </p:pic>
      <p:sp>
        <p:nvSpPr>
          <p:cNvPr id="190" name="Text 5"/>
          <p:cNvSpPr/>
          <p:nvPr/>
        </p:nvSpPr>
        <p:spPr>
          <a:xfrm>
            <a:off x="1234440" y="2148840"/>
            <a:ext cx="338256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4C3A"/>
                </a:solidFill>
                <a:effectLst/>
                <a:uFillTx/>
                <a:latin typeface="Calibri"/>
                <a:ea typeface="Calibri"/>
              </a:rPr>
              <a:t>Admin User</a:t>
            </a:r>
            <a:endParaRPr lang="en-US" sz="160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7251F"/>
                </a:solidFill>
                <a:effectLst/>
                <a:uFillTx/>
                <a:latin typeface="Calibri"/>
                <a:ea typeface="Calibri"/>
              </a:rPr>
              <a:t>Logs in; manages content, media, pages and navigation</a:t>
            </a:r>
            <a:endParaRPr lang="en-US" sz="1250" b="0" u="none" strike="noStrike">
              <a:solidFill>
                <a:srgbClr val="000000"/>
              </a:solidFill>
              <a:effectLst/>
              <a:uFillTx/>
              <a:latin typeface="Arial"/>
            </a:endParaRPr>
          </a:p>
        </p:txBody>
      </p:sp>
      <p:sp>
        <p:nvSpPr>
          <p:cNvPr id="191" name="Actor icon 3 bg"/>
          <p:cNvSpPr/>
          <p:nvPr/>
        </p:nvSpPr>
        <p:spPr>
          <a:xfrm>
            <a:off x="457200" y="3337560"/>
            <a:ext cx="593640" cy="59364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92" name="Image 2" descr="FaUserShield"/>
          <p:cNvPicPr/>
          <p:nvPr/>
        </p:nvPicPr>
        <p:blipFill>
          <a:blip r:embed="rId3"/>
          <a:stretch/>
        </p:blipFill>
        <p:spPr>
          <a:xfrm>
            <a:off x="599760" y="3480120"/>
            <a:ext cx="308520" cy="308520"/>
          </a:xfrm>
          <a:prstGeom prst="rect">
            <a:avLst/>
          </a:prstGeom>
          <a:noFill/>
          <a:ln w="0">
            <a:noFill/>
          </a:ln>
        </p:spPr>
      </p:pic>
      <p:sp>
        <p:nvSpPr>
          <p:cNvPr id="193" name="Text 7"/>
          <p:cNvSpPr/>
          <p:nvPr/>
        </p:nvSpPr>
        <p:spPr>
          <a:xfrm>
            <a:off x="1234440" y="3246120"/>
            <a:ext cx="338256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4C3A"/>
                </a:solidFill>
                <a:effectLst/>
                <a:uFillTx/>
                <a:latin typeface="Calibri"/>
                <a:ea typeface="Calibri"/>
              </a:rPr>
              <a:t>System Admin</a:t>
            </a:r>
            <a:endParaRPr lang="en-US" sz="160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7251F"/>
                </a:solidFill>
                <a:effectLst/>
                <a:uFillTx/>
                <a:latin typeface="Calibri"/>
                <a:ea typeface="Calibri"/>
              </a:rPr>
              <a:t>Also manages users, roles, activity logs and settings</a:t>
            </a:r>
            <a:endParaRPr lang="en-US" sz="1250" b="0" u="none" strike="noStrike">
              <a:solidFill>
                <a:srgbClr val="000000"/>
              </a:solidFill>
              <a:effectLst/>
              <a:uFillTx/>
              <a:latin typeface="Arial"/>
            </a:endParaRPr>
          </a:p>
        </p:txBody>
      </p:sp>
      <p:sp>
        <p:nvSpPr>
          <p:cNvPr id="194" name="Use case panel"/>
          <p:cNvSpPr/>
          <p:nvPr/>
        </p:nvSpPr>
        <p:spPr>
          <a:xfrm>
            <a:off x="4892040" y="1051560"/>
            <a:ext cx="3839760" cy="3656880"/>
          </a:xfrm>
          <a:prstGeom prst="roundRect">
            <a:avLst>
              <a:gd name="adj" fmla="val 1500"/>
            </a:avLst>
          </a:prstGeom>
          <a:solidFill>
            <a:srgbClr val="FFFFFF"/>
          </a:solidFill>
          <a:ln w="12700">
            <a:solidFill>
              <a:srgbClr val="CFE3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95" name="Image 3" descr="Use case diagram with Public User, Admin User and System Admin"/>
          <p:cNvPicPr/>
          <p:nvPr/>
        </p:nvPicPr>
        <p:blipFill>
          <a:blip r:embed="rId4"/>
          <a:stretch/>
        </p:blipFill>
        <p:spPr>
          <a:xfrm>
            <a:off x="5228640" y="1074600"/>
            <a:ext cx="3166200" cy="3611160"/>
          </a:xfrm>
          <a:prstGeom prst="rect">
            <a:avLst/>
          </a:prstGeom>
          <a:noFill/>
          <a:ln w="0">
            <a:noFill/>
          </a:ln>
        </p:spPr>
      </p:pic>
      <p:sp>
        <p:nvSpPr>
          <p:cNvPr id="196" name="PlaceHolder 2"/>
          <p:cNvSpPr>
            <a:spLocks noGrp="1"/>
          </p:cNvSpPr>
          <p:nvPr>
            <p:ph type="sldNum" idx="13"/>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42DD8B5F-ECA8-4B50-9D1A-4726F6F2D833}"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6.ii System Model: Class Diagram</a:t>
            </a:r>
            <a:endParaRPr lang="en-US" sz="2600" b="0" u="none" strike="noStrike">
              <a:solidFill>
                <a:schemeClr val="dk1"/>
              </a:solidFill>
              <a:effectLst/>
              <a:uFillTx/>
              <a:latin typeface="Calibri"/>
            </a:endParaRPr>
          </a:p>
        </p:txBody>
      </p:sp>
      <p:sp>
        <p:nvSpPr>
          <p:cNvPr id="198"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6</a:t>
            </a:r>
            <a:endParaRPr lang="en-US" sz="1100" b="0" u="none" strike="noStrike">
              <a:solidFill>
                <a:srgbClr val="FFFFFF"/>
              </a:solidFill>
              <a:effectLst/>
              <a:uFillTx/>
              <a:latin typeface="Arial"/>
            </a:endParaRPr>
          </a:p>
        </p:txBody>
      </p:sp>
      <p:sp>
        <p:nvSpPr>
          <p:cNvPr id="199" name="Class diagram panel"/>
          <p:cNvSpPr/>
          <p:nvPr/>
        </p:nvSpPr>
        <p:spPr>
          <a:xfrm>
            <a:off x="457200" y="1097280"/>
            <a:ext cx="8228880" cy="3611160"/>
          </a:xfrm>
          <a:prstGeom prst="roundRect">
            <a:avLst>
              <a:gd name="adj" fmla="val 1519"/>
            </a:avLst>
          </a:prstGeom>
          <a:solidFill>
            <a:srgbClr val="FFFFFF"/>
          </a:solidFill>
          <a:ln w="12700">
            <a:solidFill>
              <a:srgbClr val="CFE3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00" name="Image 0" descr="Class diagram of the core domain: User, Role, Media, ActivityLog, News, Event, Announcement, Program"/>
          <p:cNvPicPr/>
          <p:nvPr/>
        </p:nvPicPr>
        <p:blipFill>
          <a:blip r:embed="rId1"/>
          <a:stretch/>
        </p:blipFill>
        <p:spPr>
          <a:xfrm>
            <a:off x="-228600" y="1166040"/>
            <a:ext cx="10286640" cy="3474000"/>
          </a:xfrm>
          <a:prstGeom prst="rect">
            <a:avLst/>
          </a:prstGeom>
          <a:noFill/>
          <a:ln w="0">
            <a:noFill/>
          </a:ln>
        </p:spPr>
      </p:pic>
      <p:sp>
        <p:nvSpPr>
          <p:cNvPr id="201" name="PlaceHolder 2"/>
          <p:cNvSpPr>
            <a:spLocks noGrp="1"/>
          </p:cNvSpPr>
          <p:nvPr>
            <p:ph type="sldNum" idx="14"/>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25784548-3040-4C19-B684-77DD45B43E9E}"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7. Methodology</a:t>
            </a:r>
            <a:endParaRPr lang="en-US" sz="2600" b="0" u="none" strike="noStrike">
              <a:solidFill>
                <a:schemeClr val="dk1"/>
              </a:solidFill>
              <a:effectLst/>
              <a:uFillTx/>
              <a:latin typeface="Calibri"/>
            </a:endParaRPr>
          </a:p>
        </p:txBody>
      </p:sp>
      <p:sp>
        <p:nvSpPr>
          <p:cNvPr id="203"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7</a:t>
            </a:r>
            <a:endParaRPr lang="en-US" sz="1100" b="0" u="none" strike="noStrike">
              <a:solidFill>
                <a:srgbClr val="FFFFFF"/>
              </a:solidFill>
              <a:effectLst/>
              <a:uFillTx/>
              <a:latin typeface="Arial"/>
            </a:endParaRPr>
          </a:p>
        </p:txBody>
      </p:sp>
      <p:sp>
        <p:nvSpPr>
          <p:cNvPr id="204" name="Method card 1"/>
          <p:cNvSpPr/>
          <p:nvPr/>
        </p:nvSpPr>
        <p:spPr>
          <a:xfrm>
            <a:off x="457200" y="114300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5" name="Method icon 1 bg"/>
          <p:cNvSpPr/>
          <p:nvPr/>
        </p:nvSpPr>
        <p:spPr>
          <a:xfrm>
            <a:off x="621720" y="128016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06" name="Image 0" descr="FaComments"/>
          <p:cNvPicPr/>
          <p:nvPr/>
        </p:nvPicPr>
        <p:blipFill>
          <a:blip r:embed="rId1"/>
          <a:stretch/>
        </p:blipFill>
        <p:spPr>
          <a:xfrm>
            <a:off x="742320" y="1400760"/>
            <a:ext cx="260640" cy="260640"/>
          </a:xfrm>
          <a:prstGeom prst="rect">
            <a:avLst/>
          </a:prstGeom>
          <a:noFill/>
          <a:ln w="0">
            <a:noFill/>
          </a:ln>
        </p:spPr>
      </p:pic>
      <p:sp>
        <p:nvSpPr>
          <p:cNvPr id="207" name="Text 4"/>
          <p:cNvSpPr/>
          <p:nvPr/>
        </p:nvSpPr>
        <p:spPr>
          <a:xfrm>
            <a:off x="1234440" y="125280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Data collection</a:t>
            </a:r>
            <a:endParaRPr lang="en-US" sz="1550" b="0" u="none" strike="noStrike">
              <a:solidFill>
                <a:srgbClr val="000000"/>
              </a:solidFill>
              <a:effectLst/>
              <a:uFillTx/>
              <a:latin typeface="Arial"/>
            </a:endParaRPr>
          </a:p>
        </p:txBody>
      </p:sp>
      <p:sp>
        <p:nvSpPr>
          <p:cNvPr id="208" name="Text 5"/>
          <p:cNvSpPr/>
          <p:nvPr/>
        </p:nvSpPr>
        <p:spPr>
          <a:xfrm>
            <a:off x="640080" y="187452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Interviews with the ICT Director, Content Officer, Communications and Registrar staff; study of the old website obu.edu.et</a:t>
            </a:r>
            <a:endParaRPr lang="en-US" sz="1200" b="0" u="none" strike="noStrike">
              <a:solidFill>
                <a:srgbClr val="000000"/>
              </a:solidFill>
              <a:effectLst/>
              <a:uFillTx/>
              <a:latin typeface="Arial"/>
            </a:endParaRPr>
          </a:p>
        </p:txBody>
      </p:sp>
      <p:sp>
        <p:nvSpPr>
          <p:cNvPr id="209" name="Method card 2"/>
          <p:cNvSpPr/>
          <p:nvPr/>
        </p:nvSpPr>
        <p:spPr>
          <a:xfrm>
            <a:off x="4663440" y="114300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0" name="Method icon 2 bg"/>
          <p:cNvSpPr/>
          <p:nvPr/>
        </p:nvSpPr>
        <p:spPr>
          <a:xfrm>
            <a:off x="4827960" y="128016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11" name="Image 1" descr="FaLayerGroup"/>
          <p:cNvPicPr/>
          <p:nvPr/>
        </p:nvPicPr>
        <p:blipFill>
          <a:blip r:embed="rId2"/>
          <a:stretch/>
        </p:blipFill>
        <p:spPr>
          <a:xfrm>
            <a:off x="4948560" y="1400760"/>
            <a:ext cx="260640" cy="260640"/>
          </a:xfrm>
          <a:prstGeom prst="rect">
            <a:avLst/>
          </a:prstGeom>
          <a:noFill/>
          <a:ln w="0">
            <a:noFill/>
          </a:ln>
        </p:spPr>
      </p:pic>
      <p:sp>
        <p:nvSpPr>
          <p:cNvPr id="212" name="Text 8"/>
          <p:cNvSpPr/>
          <p:nvPr/>
        </p:nvSpPr>
        <p:spPr>
          <a:xfrm>
            <a:off x="5440680" y="125280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Technologies</a:t>
            </a:r>
            <a:endParaRPr lang="en-US" sz="1550" b="0" u="none" strike="noStrike">
              <a:solidFill>
                <a:srgbClr val="000000"/>
              </a:solidFill>
              <a:effectLst/>
              <a:uFillTx/>
              <a:latin typeface="Arial"/>
            </a:endParaRPr>
          </a:p>
        </p:txBody>
      </p:sp>
      <p:sp>
        <p:nvSpPr>
          <p:cNvPr id="213" name="Text 9"/>
          <p:cNvSpPr/>
          <p:nvPr/>
        </p:nvSpPr>
        <p:spPr>
          <a:xfrm>
            <a:off x="4846320" y="187452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React 19, TanStack Start, Tailwind CSS v4, Radix UI, Supabase (PostgreSQL, Auth, Storage), Vite</a:t>
            </a:r>
            <a:endParaRPr lang="en-US" sz="1200" b="0" u="none" strike="noStrike">
              <a:solidFill>
                <a:srgbClr val="000000"/>
              </a:solidFill>
              <a:effectLst/>
              <a:uFillTx/>
              <a:latin typeface="Arial"/>
            </a:endParaRPr>
          </a:p>
        </p:txBody>
      </p:sp>
      <p:sp>
        <p:nvSpPr>
          <p:cNvPr id="214" name="Method card 3"/>
          <p:cNvSpPr/>
          <p:nvPr/>
        </p:nvSpPr>
        <p:spPr>
          <a:xfrm>
            <a:off x="457200" y="292608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5" name="Method icon 3 bg"/>
          <p:cNvSpPr/>
          <p:nvPr/>
        </p:nvSpPr>
        <p:spPr>
          <a:xfrm>
            <a:off x="621720" y="306324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16" name="Image 2" descr="FaCode"/>
          <p:cNvPicPr/>
          <p:nvPr/>
        </p:nvPicPr>
        <p:blipFill>
          <a:blip r:embed="rId3"/>
          <a:stretch/>
        </p:blipFill>
        <p:spPr>
          <a:xfrm>
            <a:off x="742320" y="3183840"/>
            <a:ext cx="260640" cy="260640"/>
          </a:xfrm>
          <a:prstGeom prst="rect">
            <a:avLst/>
          </a:prstGeom>
          <a:noFill/>
          <a:ln w="0">
            <a:noFill/>
          </a:ln>
        </p:spPr>
      </p:pic>
      <p:sp>
        <p:nvSpPr>
          <p:cNvPr id="217" name="Text 12"/>
          <p:cNvSpPr/>
          <p:nvPr/>
        </p:nvSpPr>
        <p:spPr>
          <a:xfrm>
            <a:off x="1234440" y="303588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Languages, tools, techniques</a:t>
            </a:r>
            <a:endParaRPr lang="en-US" sz="1550" b="0" u="none" strike="noStrike">
              <a:solidFill>
                <a:srgbClr val="000000"/>
              </a:solidFill>
              <a:effectLst/>
              <a:uFillTx/>
              <a:latin typeface="Arial"/>
            </a:endParaRPr>
          </a:p>
        </p:txBody>
      </p:sp>
      <p:sp>
        <p:nvSpPr>
          <p:cNvPr id="218" name="Text 13"/>
          <p:cNvSpPr/>
          <p:nvPr/>
        </p:nvSpPr>
        <p:spPr>
          <a:xfrm>
            <a:off x="640080" y="365760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TypeScript, SQL; Git, VS Code, Postman; UML, ER design, migrations, Row Level Security</a:t>
            </a:r>
            <a:endParaRPr lang="en-US" sz="1200" b="0" u="none" strike="noStrike">
              <a:solidFill>
                <a:srgbClr val="000000"/>
              </a:solidFill>
              <a:effectLst/>
              <a:uFillTx/>
              <a:latin typeface="Arial"/>
            </a:endParaRPr>
          </a:p>
        </p:txBody>
      </p:sp>
      <p:sp>
        <p:nvSpPr>
          <p:cNvPr id="219" name="Method card 4"/>
          <p:cNvSpPr/>
          <p:nvPr/>
        </p:nvSpPr>
        <p:spPr>
          <a:xfrm>
            <a:off x="4663440" y="292608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0" name="Method icon 4 bg"/>
          <p:cNvSpPr/>
          <p:nvPr/>
        </p:nvSpPr>
        <p:spPr>
          <a:xfrm>
            <a:off x="4827960" y="3063240"/>
            <a:ext cx="502200" cy="50220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21" name="Image 3" descr="FaSyncAlt"/>
          <p:cNvPicPr/>
          <p:nvPr/>
        </p:nvPicPr>
        <p:blipFill>
          <a:blip r:embed="rId4"/>
          <a:stretch/>
        </p:blipFill>
        <p:spPr>
          <a:xfrm>
            <a:off x="4948560" y="3183840"/>
            <a:ext cx="260640" cy="260640"/>
          </a:xfrm>
          <a:prstGeom prst="rect">
            <a:avLst/>
          </a:prstGeom>
          <a:noFill/>
          <a:ln w="0">
            <a:noFill/>
          </a:ln>
        </p:spPr>
      </p:pic>
      <p:sp>
        <p:nvSpPr>
          <p:cNvPr id="222" name="Text 16"/>
          <p:cNvSpPr/>
          <p:nvPr/>
        </p:nvSpPr>
        <p:spPr>
          <a:xfrm>
            <a:off x="5440680" y="303588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Development methodology</a:t>
            </a:r>
            <a:endParaRPr lang="en-US" sz="1550" b="0" u="none" strike="noStrike">
              <a:solidFill>
                <a:srgbClr val="000000"/>
              </a:solidFill>
              <a:effectLst/>
              <a:uFillTx/>
              <a:latin typeface="Arial"/>
            </a:endParaRPr>
          </a:p>
        </p:txBody>
      </p:sp>
      <p:sp>
        <p:nvSpPr>
          <p:cNvPr id="223" name="Text 17"/>
          <p:cNvSpPr/>
          <p:nvPr/>
        </p:nvSpPr>
        <p:spPr>
          <a:xfrm>
            <a:off x="4846320" y="365760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Agile Scrum: 4 sprints in 45 days, each ending with a demo to the ICT Director</a:t>
            </a:r>
            <a:endParaRPr lang="en-US" sz="1200" b="0" u="none" strike="noStrike">
              <a:solidFill>
                <a:srgbClr val="000000"/>
              </a:solidFill>
              <a:effectLst/>
              <a:uFillTx/>
              <a:latin typeface="Arial"/>
            </a:endParaRPr>
          </a:p>
        </p:txBody>
      </p:sp>
      <p:sp>
        <p:nvSpPr>
          <p:cNvPr id="224" name="PlaceHolder 2"/>
          <p:cNvSpPr>
            <a:spLocks noGrp="1"/>
          </p:cNvSpPr>
          <p:nvPr>
            <p:ph type="sldNum" idx="15"/>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7D9FE54E-37EB-46CB-ADC8-1DA1514ADD13}"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System Design Overview</a:t>
            </a:r>
            <a:endParaRPr lang="en-US" sz="2600" b="0" u="none" strike="noStrike">
              <a:solidFill>
                <a:schemeClr val="dk1"/>
              </a:solidFill>
              <a:effectLst/>
              <a:uFillTx/>
              <a:latin typeface="Calibri"/>
            </a:endParaRPr>
          </a:p>
        </p:txBody>
      </p:sp>
      <p:sp>
        <p:nvSpPr>
          <p:cNvPr id="226" name="Architecture panel"/>
          <p:cNvSpPr/>
          <p:nvPr/>
        </p:nvSpPr>
        <p:spPr>
          <a:xfrm>
            <a:off x="457200" y="1097280"/>
            <a:ext cx="5302800" cy="3519720"/>
          </a:xfrm>
          <a:prstGeom prst="roundRect">
            <a:avLst>
              <a:gd name="adj" fmla="val 2078"/>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27" name="Image 0" descr="Three-tier architecture: presentation, application and data tiers"/>
          <p:cNvPicPr/>
          <p:nvPr/>
        </p:nvPicPr>
        <p:blipFill>
          <a:blip r:embed="rId1"/>
          <a:stretch/>
        </p:blipFill>
        <p:spPr>
          <a:xfrm>
            <a:off x="502920" y="1160640"/>
            <a:ext cx="5211360" cy="3393360"/>
          </a:xfrm>
          <a:prstGeom prst="rect">
            <a:avLst/>
          </a:prstGeom>
          <a:noFill/>
          <a:ln w="0">
            <a:noFill/>
          </a:ln>
        </p:spPr>
      </p:pic>
      <p:sp>
        <p:nvSpPr>
          <p:cNvPr id="228" name="Design card 1"/>
          <p:cNvSpPr/>
          <p:nvPr/>
        </p:nvSpPr>
        <p:spPr>
          <a:xfrm>
            <a:off x="5989320" y="1097280"/>
            <a:ext cx="2742480" cy="1050840"/>
          </a:xfrm>
          <a:prstGeom prst="roundRect">
            <a:avLst>
              <a:gd name="adj" fmla="val 6957"/>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9" name="Text 3"/>
          <p:cNvSpPr/>
          <p:nvPr/>
        </p:nvSpPr>
        <p:spPr>
          <a:xfrm>
            <a:off x="6126480" y="1143000"/>
            <a:ext cx="251388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Three tiers</a:t>
            </a:r>
            <a:endParaRPr lang="en-US" sz="1500" b="0" u="none" strike="noStrike">
              <a:solidFill>
                <a:srgbClr val="000000"/>
              </a:solidFill>
              <a:effectLst/>
              <a:uFillTx/>
              <a:latin typeface="Arial"/>
            </a:endParaRPr>
          </a:p>
          <a:p>
            <a:pPr defTabSz="914400">
              <a:lnSpc>
                <a:spcPct val="100000"/>
              </a:lnSpc>
              <a:tabLst>
                <a:tab pos="0" algn="l"/>
              </a:tabLst>
            </a:pPr>
            <a:r>
              <a:rPr lang="en-US" sz="1150" b="0" u="none" strike="noStrike">
                <a:solidFill>
                  <a:srgbClr val="E6F0EA"/>
                </a:solidFill>
                <a:effectLst/>
                <a:uFillTx/>
                <a:latin typeface="Calibri"/>
                <a:ea typeface="Calibri"/>
              </a:rPr>
              <a:t>Browser UI, TanStack Start server, Supabase data tier</a:t>
            </a:r>
            <a:endParaRPr lang="en-US" sz="1150" b="0" u="none" strike="noStrike">
              <a:solidFill>
                <a:srgbClr val="000000"/>
              </a:solidFill>
              <a:effectLst/>
              <a:uFillTx/>
              <a:latin typeface="Arial"/>
            </a:endParaRPr>
          </a:p>
        </p:txBody>
      </p:sp>
      <p:sp>
        <p:nvSpPr>
          <p:cNvPr id="230" name="Design card 2"/>
          <p:cNvSpPr/>
          <p:nvPr/>
        </p:nvSpPr>
        <p:spPr>
          <a:xfrm>
            <a:off x="5989320" y="2286000"/>
            <a:ext cx="2742480" cy="1050840"/>
          </a:xfrm>
          <a:prstGeom prst="roundRect">
            <a:avLst>
              <a:gd name="adj" fmla="val 6957"/>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1" name="Text 5"/>
          <p:cNvSpPr/>
          <p:nvPr/>
        </p:nvSpPr>
        <p:spPr>
          <a:xfrm>
            <a:off x="6126480" y="2331720"/>
            <a:ext cx="251388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27 tables</a:t>
            </a:r>
            <a:endParaRPr lang="en-US" sz="1500" b="0" u="none" strike="noStrike">
              <a:solidFill>
                <a:srgbClr val="000000"/>
              </a:solidFill>
              <a:effectLst/>
              <a:uFillTx/>
              <a:latin typeface="Arial"/>
            </a:endParaRPr>
          </a:p>
          <a:p>
            <a:pPr defTabSz="914400">
              <a:lnSpc>
                <a:spcPct val="100000"/>
              </a:lnSpc>
              <a:tabLst>
                <a:tab pos="0" algn="l"/>
              </a:tabLst>
            </a:pPr>
            <a:r>
              <a:rPr lang="en-US" sz="1150" b="0" u="none" strike="noStrike">
                <a:solidFill>
                  <a:srgbClr val="E6F0EA"/>
                </a:solidFill>
                <a:effectLst/>
                <a:uFillTx/>
                <a:latin typeface="Calibri"/>
                <a:ea typeface="Calibri"/>
              </a:rPr>
              <a:t>One central media table; slugs, status, foreign keys</a:t>
            </a:r>
            <a:endParaRPr lang="en-US" sz="1150" b="0" u="none" strike="noStrike">
              <a:solidFill>
                <a:srgbClr val="000000"/>
              </a:solidFill>
              <a:effectLst/>
              <a:uFillTx/>
              <a:latin typeface="Arial"/>
            </a:endParaRPr>
          </a:p>
        </p:txBody>
      </p:sp>
      <p:sp>
        <p:nvSpPr>
          <p:cNvPr id="232" name="Design card 3"/>
          <p:cNvSpPr/>
          <p:nvPr/>
        </p:nvSpPr>
        <p:spPr>
          <a:xfrm>
            <a:off x="5989320" y="3474720"/>
            <a:ext cx="2742480" cy="1050840"/>
          </a:xfrm>
          <a:prstGeom prst="roundRect">
            <a:avLst>
              <a:gd name="adj" fmla="val 6957"/>
            </a:avLst>
          </a:prstGeom>
          <a:solidFill>
            <a:srgbClr val="D4A017"/>
          </a:solidFill>
          <a:ln w="12700">
            <a:solidFill>
              <a:srgbClr val="D4A01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3" name="Text 7"/>
          <p:cNvSpPr/>
          <p:nvPr/>
        </p:nvSpPr>
        <p:spPr>
          <a:xfrm>
            <a:off x="6126480" y="3520440"/>
            <a:ext cx="251388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7251F"/>
                </a:solidFill>
                <a:effectLst/>
                <a:uFillTx/>
                <a:latin typeface="Calibri"/>
                <a:ea typeface="Calibri"/>
              </a:rPr>
              <a:t>Layered security</a:t>
            </a:r>
            <a:endParaRPr lang="en-US" sz="1500" b="0" u="none" strike="noStrike">
              <a:solidFill>
                <a:srgbClr val="000000"/>
              </a:solidFill>
              <a:effectLst/>
              <a:uFillTx/>
              <a:latin typeface="Arial"/>
            </a:endParaRPr>
          </a:p>
          <a:p>
            <a:pPr defTabSz="914400">
              <a:lnSpc>
                <a:spcPct val="100000"/>
              </a:lnSpc>
              <a:tabLst>
                <a:tab pos="0" algn="l"/>
              </a:tabLst>
            </a:pPr>
            <a:r>
              <a:rPr lang="en-US" sz="1150" b="0" u="none" strike="noStrike">
                <a:solidFill>
                  <a:srgbClr val="17251F"/>
                </a:solidFill>
                <a:effectLst/>
                <a:uFillTx/>
                <a:latin typeface="Calibri"/>
                <a:ea typeface="Calibri"/>
              </a:rPr>
              <a:t>Supabase Auth, Row Level Security, CSRF, upload checks, audit log</a:t>
            </a:r>
            <a:endParaRPr lang="en-US" sz="1150" b="0" u="none" strike="noStrike">
              <a:solidFill>
                <a:srgbClr val="000000"/>
              </a:solidFill>
              <a:effectLst/>
              <a:uFillTx/>
              <a:latin typeface="Arial"/>
            </a:endParaRPr>
          </a:p>
        </p:txBody>
      </p:sp>
      <p:sp>
        <p:nvSpPr>
          <p:cNvPr id="234" name="PlaceHolder 2"/>
          <p:cNvSpPr>
            <a:spLocks noGrp="1"/>
          </p:cNvSpPr>
          <p:nvPr>
            <p:ph type="sldNum" idx="16"/>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DD9AD0E2-7D3A-4660-897F-E30D0876FA27}"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8. Benefit: Skills Gained</a:t>
            </a:r>
            <a:endParaRPr lang="en-US" sz="2600" b="0" u="none" strike="noStrike">
              <a:solidFill>
                <a:schemeClr val="dk1"/>
              </a:solidFill>
              <a:effectLst/>
              <a:uFillTx/>
              <a:latin typeface="Calibri"/>
            </a:endParaRPr>
          </a:p>
        </p:txBody>
      </p:sp>
      <p:sp>
        <p:nvSpPr>
          <p:cNvPr id="236"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8</a:t>
            </a:r>
            <a:endParaRPr lang="en-US" sz="1100" b="0" u="none" strike="noStrike">
              <a:solidFill>
                <a:srgbClr val="FFFFFF"/>
              </a:solidFill>
              <a:effectLst/>
              <a:uFillTx/>
              <a:latin typeface="Arial"/>
            </a:endParaRPr>
          </a:p>
        </p:txBody>
      </p:sp>
      <p:sp>
        <p:nvSpPr>
          <p:cNvPr id="237" name="Benefit row 1"/>
          <p:cNvSpPr/>
          <p:nvPr/>
        </p:nvSpPr>
        <p:spPr>
          <a:xfrm>
            <a:off x="457200" y="1097280"/>
            <a:ext cx="8228880" cy="520560"/>
          </a:xfrm>
          <a:prstGeom prst="roundRect">
            <a:avLst>
              <a:gd name="adj" fmla="val 14035"/>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8" name="Benefit icon 1 bg"/>
          <p:cNvSpPr/>
          <p:nvPr/>
        </p:nvSpPr>
        <p:spPr>
          <a:xfrm>
            <a:off x="548640" y="1143000"/>
            <a:ext cx="429120" cy="42912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39" name="Image 0" descr="FaLaptopCode"/>
          <p:cNvPicPr/>
          <p:nvPr/>
        </p:nvPicPr>
        <p:blipFill>
          <a:blip r:embed="rId1"/>
          <a:stretch/>
        </p:blipFill>
        <p:spPr>
          <a:xfrm>
            <a:off x="651960" y="1246320"/>
            <a:ext cx="222840" cy="222840"/>
          </a:xfrm>
          <a:prstGeom prst="rect">
            <a:avLst/>
          </a:prstGeom>
          <a:noFill/>
          <a:ln w="0">
            <a:noFill/>
          </a:ln>
        </p:spPr>
      </p:pic>
      <p:sp>
        <p:nvSpPr>
          <p:cNvPr id="240" name="Text 4"/>
          <p:cNvSpPr/>
          <p:nvPr/>
        </p:nvSpPr>
        <p:spPr>
          <a:xfrm>
            <a:off x="1188720" y="1097280"/>
            <a:ext cx="21938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4C3A"/>
                </a:solidFill>
                <a:effectLst/>
                <a:uFillTx/>
                <a:latin typeface="Cambria"/>
                <a:ea typeface="Cambria"/>
              </a:rPr>
              <a:t>Practical skills</a:t>
            </a:r>
            <a:endParaRPr lang="en-US" sz="1400" b="0" u="none" strike="noStrike">
              <a:solidFill>
                <a:srgbClr val="000000"/>
              </a:solidFill>
              <a:effectLst/>
              <a:uFillTx/>
              <a:latin typeface="Arial"/>
            </a:endParaRPr>
          </a:p>
        </p:txBody>
      </p:sp>
      <p:sp>
        <p:nvSpPr>
          <p:cNvPr id="241" name="Text 5"/>
          <p:cNvSpPr/>
          <p:nvPr/>
        </p:nvSpPr>
        <p:spPr>
          <a:xfrm>
            <a:off x="3429000" y="1097280"/>
            <a:ext cx="51656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Built a full-stack system from database to user interface</a:t>
            </a:r>
            <a:endParaRPr lang="en-US" sz="1250" b="0" u="none" strike="noStrike">
              <a:solidFill>
                <a:srgbClr val="000000"/>
              </a:solidFill>
              <a:effectLst/>
              <a:uFillTx/>
              <a:latin typeface="Arial"/>
            </a:endParaRPr>
          </a:p>
        </p:txBody>
      </p:sp>
      <p:sp>
        <p:nvSpPr>
          <p:cNvPr id="242" name="Benefit row 2"/>
          <p:cNvSpPr/>
          <p:nvPr/>
        </p:nvSpPr>
        <p:spPr>
          <a:xfrm>
            <a:off x="457200" y="1691640"/>
            <a:ext cx="8228880" cy="520560"/>
          </a:xfrm>
          <a:prstGeom prst="roundRect">
            <a:avLst>
              <a:gd name="adj" fmla="val 14035"/>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3" name="Benefit icon 2 bg"/>
          <p:cNvSpPr/>
          <p:nvPr/>
        </p:nvSpPr>
        <p:spPr>
          <a:xfrm>
            <a:off x="548640" y="1737360"/>
            <a:ext cx="429120" cy="42912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44" name="Image 1" descr="FaBookOpen"/>
          <p:cNvPicPr/>
          <p:nvPr/>
        </p:nvPicPr>
        <p:blipFill>
          <a:blip r:embed="rId2"/>
          <a:stretch/>
        </p:blipFill>
        <p:spPr>
          <a:xfrm>
            <a:off x="651960" y="1840680"/>
            <a:ext cx="222840" cy="222840"/>
          </a:xfrm>
          <a:prstGeom prst="rect">
            <a:avLst/>
          </a:prstGeom>
          <a:noFill/>
          <a:ln w="0">
            <a:noFill/>
          </a:ln>
        </p:spPr>
      </p:pic>
      <p:sp>
        <p:nvSpPr>
          <p:cNvPr id="245" name="Text 8"/>
          <p:cNvSpPr/>
          <p:nvPr/>
        </p:nvSpPr>
        <p:spPr>
          <a:xfrm>
            <a:off x="1188720" y="1691640"/>
            <a:ext cx="21938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4C3A"/>
                </a:solidFill>
                <a:effectLst/>
                <a:uFillTx/>
                <a:latin typeface="Cambria"/>
                <a:ea typeface="Cambria"/>
              </a:rPr>
              <a:t>Theoretical knowledge</a:t>
            </a:r>
            <a:endParaRPr lang="en-US" sz="1400" b="0" u="none" strike="noStrike">
              <a:solidFill>
                <a:srgbClr val="000000"/>
              </a:solidFill>
              <a:effectLst/>
              <a:uFillTx/>
              <a:latin typeface="Arial"/>
            </a:endParaRPr>
          </a:p>
        </p:txBody>
      </p:sp>
      <p:sp>
        <p:nvSpPr>
          <p:cNvPr id="246" name="Text 9"/>
          <p:cNvSpPr/>
          <p:nvPr/>
        </p:nvSpPr>
        <p:spPr>
          <a:xfrm>
            <a:off x="3429000" y="1691640"/>
            <a:ext cx="51656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Normalization, UML, architecture patterns and security principles in real use</a:t>
            </a:r>
            <a:endParaRPr lang="en-US" sz="1250" b="0" u="none" strike="noStrike">
              <a:solidFill>
                <a:srgbClr val="000000"/>
              </a:solidFill>
              <a:effectLst/>
              <a:uFillTx/>
              <a:latin typeface="Arial"/>
            </a:endParaRPr>
          </a:p>
        </p:txBody>
      </p:sp>
      <p:sp>
        <p:nvSpPr>
          <p:cNvPr id="247" name="Benefit row 3"/>
          <p:cNvSpPr/>
          <p:nvPr/>
        </p:nvSpPr>
        <p:spPr>
          <a:xfrm>
            <a:off x="457200" y="2286000"/>
            <a:ext cx="8228880" cy="520560"/>
          </a:xfrm>
          <a:prstGeom prst="roundRect">
            <a:avLst>
              <a:gd name="adj" fmla="val 14035"/>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8" name="Benefit icon 3 bg"/>
          <p:cNvSpPr/>
          <p:nvPr/>
        </p:nvSpPr>
        <p:spPr>
          <a:xfrm>
            <a:off x="548640" y="2331720"/>
            <a:ext cx="429120" cy="42912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49" name="Image 2" descr="FaPuzzlePiece"/>
          <p:cNvPicPr/>
          <p:nvPr/>
        </p:nvPicPr>
        <p:blipFill>
          <a:blip r:embed="rId3"/>
          <a:stretch/>
        </p:blipFill>
        <p:spPr>
          <a:xfrm>
            <a:off x="651960" y="2435040"/>
            <a:ext cx="222840" cy="222840"/>
          </a:xfrm>
          <a:prstGeom prst="rect">
            <a:avLst/>
          </a:prstGeom>
          <a:noFill/>
          <a:ln w="0">
            <a:noFill/>
          </a:ln>
        </p:spPr>
      </p:pic>
      <p:sp>
        <p:nvSpPr>
          <p:cNvPr id="250" name="Text 12"/>
          <p:cNvSpPr/>
          <p:nvPr/>
        </p:nvSpPr>
        <p:spPr>
          <a:xfrm>
            <a:off x="1188720" y="2286000"/>
            <a:ext cx="21938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4C3A"/>
                </a:solidFill>
                <a:effectLst/>
                <a:uFillTx/>
                <a:latin typeface="Cambria"/>
                <a:ea typeface="Cambria"/>
              </a:rPr>
              <a:t>Problem-solving</a:t>
            </a:r>
            <a:endParaRPr lang="en-US" sz="1400" b="0" u="none" strike="noStrike">
              <a:solidFill>
                <a:srgbClr val="000000"/>
              </a:solidFill>
              <a:effectLst/>
              <a:uFillTx/>
              <a:latin typeface="Arial"/>
            </a:endParaRPr>
          </a:p>
        </p:txBody>
      </p:sp>
      <p:sp>
        <p:nvSpPr>
          <p:cNvPr id="251" name="Text 13"/>
          <p:cNvSpPr/>
          <p:nvPr/>
        </p:nvSpPr>
        <p:spPr>
          <a:xfrm>
            <a:off x="3429000" y="2286000"/>
            <a:ext cx="51656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Turned vague office needs into requirements and working modules</a:t>
            </a:r>
            <a:endParaRPr lang="en-US" sz="1250" b="0" u="none" strike="noStrike">
              <a:solidFill>
                <a:srgbClr val="000000"/>
              </a:solidFill>
              <a:effectLst/>
              <a:uFillTx/>
              <a:latin typeface="Arial"/>
            </a:endParaRPr>
          </a:p>
        </p:txBody>
      </p:sp>
      <p:sp>
        <p:nvSpPr>
          <p:cNvPr id="252" name="Benefit row 4"/>
          <p:cNvSpPr/>
          <p:nvPr/>
        </p:nvSpPr>
        <p:spPr>
          <a:xfrm>
            <a:off x="457200" y="2880360"/>
            <a:ext cx="8228880" cy="520560"/>
          </a:xfrm>
          <a:prstGeom prst="roundRect">
            <a:avLst>
              <a:gd name="adj" fmla="val 14035"/>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3" name="Benefit icon 4 bg"/>
          <p:cNvSpPr/>
          <p:nvPr/>
        </p:nvSpPr>
        <p:spPr>
          <a:xfrm>
            <a:off x="548640" y="2926080"/>
            <a:ext cx="429120" cy="42912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54" name="Image 3" descr="FaUsers"/>
          <p:cNvPicPr/>
          <p:nvPr/>
        </p:nvPicPr>
        <p:blipFill>
          <a:blip r:embed="rId4"/>
          <a:stretch/>
        </p:blipFill>
        <p:spPr>
          <a:xfrm>
            <a:off x="651960" y="3029400"/>
            <a:ext cx="222840" cy="222840"/>
          </a:xfrm>
          <a:prstGeom prst="rect">
            <a:avLst/>
          </a:prstGeom>
          <a:noFill/>
          <a:ln w="0">
            <a:noFill/>
          </a:ln>
        </p:spPr>
      </p:pic>
      <p:sp>
        <p:nvSpPr>
          <p:cNvPr id="255" name="Text 16"/>
          <p:cNvSpPr/>
          <p:nvPr/>
        </p:nvSpPr>
        <p:spPr>
          <a:xfrm>
            <a:off x="1188720" y="2880360"/>
            <a:ext cx="21938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4C3A"/>
                </a:solidFill>
                <a:effectLst/>
                <a:uFillTx/>
                <a:latin typeface="Cambria"/>
                <a:ea typeface="Cambria"/>
              </a:rPr>
              <a:t>Teamwork</a:t>
            </a:r>
            <a:endParaRPr lang="en-US" sz="1400" b="0" u="none" strike="noStrike">
              <a:solidFill>
                <a:srgbClr val="000000"/>
              </a:solidFill>
              <a:effectLst/>
              <a:uFillTx/>
              <a:latin typeface="Arial"/>
            </a:endParaRPr>
          </a:p>
        </p:txBody>
      </p:sp>
      <p:sp>
        <p:nvSpPr>
          <p:cNvPr id="256" name="Text 17"/>
          <p:cNvSpPr/>
          <p:nvPr/>
        </p:nvSpPr>
        <p:spPr>
          <a:xfrm>
            <a:off x="3429000" y="2880360"/>
            <a:ext cx="51656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Worked with ICT, Registrar and Communications; used sprint feedback</a:t>
            </a:r>
            <a:endParaRPr lang="en-US" sz="1250" b="0" u="none" strike="noStrike">
              <a:solidFill>
                <a:srgbClr val="000000"/>
              </a:solidFill>
              <a:effectLst/>
              <a:uFillTx/>
              <a:latin typeface="Arial"/>
            </a:endParaRPr>
          </a:p>
        </p:txBody>
      </p:sp>
      <p:sp>
        <p:nvSpPr>
          <p:cNvPr id="257" name="Benefit row 5"/>
          <p:cNvSpPr/>
          <p:nvPr/>
        </p:nvSpPr>
        <p:spPr>
          <a:xfrm>
            <a:off x="457200" y="3474720"/>
            <a:ext cx="8228880" cy="520560"/>
          </a:xfrm>
          <a:prstGeom prst="roundRect">
            <a:avLst>
              <a:gd name="adj" fmla="val 14035"/>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8" name="Benefit icon 5 bg"/>
          <p:cNvSpPr/>
          <p:nvPr/>
        </p:nvSpPr>
        <p:spPr>
          <a:xfrm>
            <a:off x="548640" y="3520440"/>
            <a:ext cx="429120" cy="42912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59" name="Image 4" descr="FaCompass"/>
          <p:cNvPicPr/>
          <p:nvPr/>
        </p:nvPicPr>
        <p:blipFill>
          <a:blip r:embed="rId5"/>
          <a:stretch/>
        </p:blipFill>
        <p:spPr>
          <a:xfrm>
            <a:off x="651960" y="3623760"/>
            <a:ext cx="222840" cy="222840"/>
          </a:xfrm>
          <a:prstGeom prst="rect">
            <a:avLst/>
          </a:prstGeom>
          <a:noFill/>
          <a:ln w="0">
            <a:noFill/>
          </a:ln>
        </p:spPr>
      </p:pic>
      <p:sp>
        <p:nvSpPr>
          <p:cNvPr id="260" name="Text 20"/>
          <p:cNvSpPr/>
          <p:nvPr/>
        </p:nvSpPr>
        <p:spPr>
          <a:xfrm>
            <a:off x="1188720" y="3474720"/>
            <a:ext cx="21938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4C3A"/>
                </a:solidFill>
                <a:effectLst/>
                <a:uFillTx/>
                <a:latin typeface="Cambria"/>
                <a:ea typeface="Cambria"/>
              </a:rPr>
              <a:t>Leadership</a:t>
            </a:r>
            <a:endParaRPr lang="en-US" sz="1400" b="0" u="none" strike="noStrike">
              <a:solidFill>
                <a:srgbClr val="000000"/>
              </a:solidFill>
              <a:effectLst/>
              <a:uFillTx/>
              <a:latin typeface="Arial"/>
            </a:endParaRPr>
          </a:p>
        </p:txBody>
      </p:sp>
      <p:sp>
        <p:nvSpPr>
          <p:cNvPr id="261" name="Text 21"/>
          <p:cNvSpPr/>
          <p:nvPr/>
        </p:nvSpPr>
        <p:spPr>
          <a:xfrm>
            <a:off x="3429000" y="3474720"/>
            <a:ext cx="51656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Owned planning, demos, decisions and priorities</a:t>
            </a:r>
            <a:endParaRPr lang="en-US" sz="1250" b="0" u="none" strike="noStrike">
              <a:solidFill>
                <a:srgbClr val="000000"/>
              </a:solidFill>
              <a:effectLst/>
              <a:uFillTx/>
              <a:latin typeface="Arial"/>
            </a:endParaRPr>
          </a:p>
        </p:txBody>
      </p:sp>
      <p:sp>
        <p:nvSpPr>
          <p:cNvPr id="262" name="Benefit row 6"/>
          <p:cNvSpPr/>
          <p:nvPr/>
        </p:nvSpPr>
        <p:spPr>
          <a:xfrm>
            <a:off x="457200" y="4069080"/>
            <a:ext cx="8228880" cy="520560"/>
          </a:xfrm>
          <a:prstGeom prst="roundRect">
            <a:avLst>
              <a:gd name="adj" fmla="val 14035"/>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3" name="Benefit icon 6 bg"/>
          <p:cNvSpPr/>
          <p:nvPr/>
        </p:nvSpPr>
        <p:spPr>
          <a:xfrm>
            <a:off x="548640" y="4114800"/>
            <a:ext cx="429120" cy="42912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64" name="Image 5" descr="FaCommentDots"/>
          <p:cNvPicPr/>
          <p:nvPr/>
        </p:nvPicPr>
        <p:blipFill>
          <a:blip r:embed="rId6"/>
          <a:stretch/>
        </p:blipFill>
        <p:spPr>
          <a:xfrm>
            <a:off x="651960" y="4218120"/>
            <a:ext cx="222840" cy="222840"/>
          </a:xfrm>
          <a:prstGeom prst="rect">
            <a:avLst/>
          </a:prstGeom>
          <a:noFill/>
          <a:ln w="0">
            <a:noFill/>
          </a:ln>
        </p:spPr>
      </p:pic>
      <p:sp>
        <p:nvSpPr>
          <p:cNvPr id="265" name="Text 24"/>
          <p:cNvSpPr/>
          <p:nvPr/>
        </p:nvSpPr>
        <p:spPr>
          <a:xfrm>
            <a:off x="1188720" y="4069080"/>
            <a:ext cx="21938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4C3A"/>
                </a:solidFill>
                <a:effectLst/>
                <a:uFillTx/>
                <a:latin typeface="Cambria"/>
                <a:ea typeface="Cambria"/>
              </a:rPr>
              <a:t>Communication</a:t>
            </a:r>
            <a:endParaRPr lang="en-US" sz="1400" b="0" u="none" strike="noStrike">
              <a:solidFill>
                <a:srgbClr val="000000"/>
              </a:solidFill>
              <a:effectLst/>
              <a:uFillTx/>
              <a:latin typeface="Arial"/>
            </a:endParaRPr>
          </a:p>
        </p:txBody>
      </p:sp>
      <p:sp>
        <p:nvSpPr>
          <p:cNvPr id="266" name="Text 25"/>
          <p:cNvSpPr/>
          <p:nvPr/>
        </p:nvSpPr>
        <p:spPr>
          <a:xfrm>
            <a:off x="3429000" y="4069080"/>
            <a:ext cx="5165640" cy="520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7251F"/>
                </a:solidFill>
                <a:effectLst/>
                <a:uFillTx/>
                <a:latin typeface="Calibri"/>
                <a:ea typeface="Calibri"/>
              </a:rPr>
              <a:t>Interviews, demos and progress reports for technical and non-technical people</a:t>
            </a:r>
            <a:endParaRPr lang="en-US" sz="1250" b="0" u="none" strike="noStrike">
              <a:solidFill>
                <a:srgbClr val="000000"/>
              </a:solidFill>
              <a:effectLst/>
              <a:uFillTx/>
              <a:latin typeface="Arial"/>
            </a:endParaRPr>
          </a:p>
        </p:txBody>
      </p:sp>
      <p:sp>
        <p:nvSpPr>
          <p:cNvPr id="267" name="PlaceHolder 2"/>
          <p:cNvSpPr>
            <a:spLocks noGrp="1"/>
          </p:cNvSpPr>
          <p:nvPr>
            <p:ph type="sldNum" idx="17"/>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D6E94B96-CFAF-4739-B719-DB6FABE36EF2}"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8. Benefit: Growth and Career</a:t>
            </a:r>
            <a:endParaRPr lang="en-US" sz="2600" b="0" u="none" strike="noStrike">
              <a:solidFill>
                <a:schemeClr val="dk1"/>
              </a:solidFill>
              <a:effectLst/>
              <a:uFillTx/>
              <a:latin typeface="Calibri"/>
            </a:endParaRPr>
          </a:p>
        </p:txBody>
      </p:sp>
      <p:sp>
        <p:nvSpPr>
          <p:cNvPr id="269"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8</a:t>
            </a:r>
            <a:endParaRPr lang="en-US" sz="1100" b="0" u="none" strike="noStrike">
              <a:solidFill>
                <a:srgbClr val="FFFFFF"/>
              </a:solidFill>
              <a:effectLst/>
              <a:uFillTx/>
              <a:latin typeface="Arial"/>
            </a:endParaRPr>
          </a:p>
        </p:txBody>
      </p:sp>
      <p:sp>
        <p:nvSpPr>
          <p:cNvPr id="270" name="Growth card 1"/>
          <p:cNvSpPr/>
          <p:nvPr/>
        </p:nvSpPr>
        <p:spPr>
          <a:xfrm>
            <a:off x="457200" y="114300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1" name="Growth icon 1 bg"/>
          <p:cNvSpPr/>
          <p:nvPr/>
        </p:nvSpPr>
        <p:spPr>
          <a:xfrm>
            <a:off x="621720" y="1280160"/>
            <a:ext cx="456480" cy="45648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72" name="Image 0" descr="FaBalanceScale"/>
          <p:cNvPicPr/>
          <p:nvPr/>
        </p:nvPicPr>
        <p:blipFill>
          <a:blip r:embed="rId1"/>
          <a:stretch/>
        </p:blipFill>
        <p:spPr>
          <a:xfrm>
            <a:off x="731520" y="1389960"/>
            <a:ext cx="236880" cy="236880"/>
          </a:xfrm>
          <a:prstGeom prst="rect">
            <a:avLst/>
          </a:prstGeom>
          <a:noFill/>
          <a:ln w="0">
            <a:noFill/>
          </a:ln>
        </p:spPr>
      </p:pic>
      <p:sp>
        <p:nvSpPr>
          <p:cNvPr id="273" name="Text 4"/>
          <p:cNvSpPr/>
          <p:nvPr/>
        </p:nvSpPr>
        <p:spPr>
          <a:xfrm>
            <a:off x="1234440" y="125280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Work Ethics and Psychology</a:t>
            </a:r>
            <a:endParaRPr lang="en-US" sz="1550" b="0" u="none" strike="noStrike">
              <a:solidFill>
                <a:srgbClr val="000000"/>
              </a:solidFill>
              <a:effectLst/>
              <a:uFillTx/>
              <a:latin typeface="Arial"/>
            </a:endParaRPr>
          </a:p>
        </p:txBody>
      </p:sp>
      <p:sp>
        <p:nvSpPr>
          <p:cNvPr id="274" name="Text 5"/>
          <p:cNvSpPr/>
          <p:nvPr/>
        </p:nvSpPr>
        <p:spPr>
          <a:xfrm>
            <a:off x="640080" y="187452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Formal approvals, no credentials in shared code, honest reporting of my own weaknesses; stakeholders need patience and clear words</a:t>
            </a:r>
            <a:endParaRPr lang="en-US" sz="1200" b="0" u="none" strike="noStrike">
              <a:solidFill>
                <a:srgbClr val="000000"/>
              </a:solidFill>
              <a:effectLst/>
              <a:uFillTx/>
              <a:latin typeface="Arial"/>
            </a:endParaRPr>
          </a:p>
        </p:txBody>
      </p:sp>
      <p:sp>
        <p:nvSpPr>
          <p:cNvPr id="275" name="Growth card 2"/>
          <p:cNvSpPr/>
          <p:nvPr/>
        </p:nvSpPr>
        <p:spPr>
          <a:xfrm>
            <a:off x="4663440" y="114300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6" name="Growth icon 2 bg"/>
          <p:cNvSpPr/>
          <p:nvPr/>
        </p:nvSpPr>
        <p:spPr>
          <a:xfrm>
            <a:off x="4827960" y="1280160"/>
            <a:ext cx="456480" cy="45648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77" name="Image 1" descr="FaLightbulb"/>
          <p:cNvPicPr/>
          <p:nvPr/>
        </p:nvPicPr>
        <p:blipFill>
          <a:blip r:embed="rId2"/>
          <a:stretch/>
        </p:blipFill>
        <p:spPr>
          <a:xfrm>
            <a:off x="4937760" y="1389960"/>
            <a:ext cx="236880" cy="236880"/>
          </a:xfrm>
          <a:prstGeom prst="rect">
            <a:avLst/>
          </a:prstGeom>
          <a:noFill/>
          <a:ln w="0">
            <a:noFill/>
          </a:ln>
        </p:spPr>
      </p:pic>
      <p:sp>
        <p:nvSpPr>
          <p:cNvPr id="278" name="Text 8"/>
          <p:cNvSpPr/>
          <p:nvPr/>
        </p:nvSpPr>
        <p:spPr>
          <a:xfrm>
            <a:off x="5440680" y="125280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Entrepreneurship</a:t>
            </a:r>
            <a:endParaRPr lang="en-US" sz="1550" b="0" u="none" strike="noStrike">
              <a:solidFill>
                <a:srgbClr val="000000"/>
              </a:solidFill>
              <a:effectLst/>
              <a:uFillTx/>
              <a:latin typeface="Arial"/>
            </a:endParaRPr>
          </a:p>
        </p:txBody>
      </p:sp>
      <p:sp>
        <p:nvSpPr>
          <p:cNvPr id="279" name="Text 9"/>
          <p:cNvSpPr/>
          <p:nvPr/>
        </p:nvSpPr>
        <p:spPr>
          <a:xfrm>
            <a:off x="4846320" y="187452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Find a real need, build a first version, improve it with users; OBU-CMS can be adapted for other institutions</a:t>
            </a:r>
            <a:endParaRPr lang="en-US" sz="1200" b="0" u="none" strike="noStrike">
              <a:solidFill>
                <a:srgbClr val="000000"/>
              </a:solidFill>
              <a:effectLst/>
              <a:uFillTx/>
              <a:latin typeface="Arial"/>
            </a:endParaRPr>
          </a:p>
        </p:txBody>
      </p:sp>
      <p:sp>
        <p:nvSpPr>
          <p:cNvPr id="280" name="Growth card 3"/>
          <p:cNvSpPr/>
          <p:nvPr/>
        </p:nvSpPr>
        <p:spPr>
          <a:xfrm>
            <a:off x="457200" y="292608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1" name="Growth icon 3 bg"/>
          <p:cNvSpPr/>
          <p:nvPr/>
        </p:nvSpPr>
        <p:spPr>
          <a:xfrm>
            <a:off x="621720" y="3063240"/>
            <a:ext cx="456480" cy="45648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2" name="Image 2" descr="FaRoute"/>
          <p:cNvPicPr/>
          <p:nvPr/>
        </p:nvPicPr>
        <p:blipFill>
          <a:blip r:embed="rId3"/>
          <a:stretch/>
        </p:blipFill>
        <p:spPr>
          <a:xfrm>
            <a:off x="731520" y="3173040"/>
            <a:ext cx="236880" cy="236880"/>
          </a:xfrm>
          <a:prstGeom prst="rect">
            <a:avLst/>
          </a:prstGeom>
          <a:noFill/>
          <a:ln w="0">
            <a:noFill/>
          </a:ln>
        </p:spPr>
      </p:pic>
      <p:sp>
        <p:nvSpPr>
          <p:cNvPr id="283" name="Text 12"/>
          <p:cNvSpPr/>
          <p:nvPr/>
        </p:nvSpPr>
        <p:spPr>
          <a:xfrm>
            <a:off x="1234440" y="303588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Career Goals and Value</a:t>
            </a:r>
            <a:endParaRPr lang="en-US" sz="1550" b="0" u="none" strike="noStrike">
              <a:solidFill>
                <a:srgbClr val="000000"/>
              </a:solidFill>
              <a:effectLst/>
              <a:uFillTx/>
              <a:latin typeface="Arial"/>
            </a:endParaRPr>
          </a:p>
        </p:txBody>
      </p:sp>
      <p:sp>
        <p:nvSpPr>
          <p:cNvPr id="284" name="Text 13"/>
          <p:cNvSpPr/>
          <p:nvPr/>
        </p:nvSpPr>
        <p:spPr>
          <a:xfrm>
            <a:off x="640080" y="365760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Fits my goal in software development; direction is now clearer: full-stack web and secure systems; value of the internship is very high</a:t>
            </a:r>
            <a:endParaRPr lang="en-US" sz="1200" b="0" u="none" strike="noStrike">
              <a:solidFill>
                <a:srgbClr val="000000"/>
              </a:solidFill>
              <a:effectLst/>
              <a:uFillTx/>
              <a:latin typeface="Arial"/>
            </a:endParaRPr>
          </a:p>
        </p:txBody>
      </p:sp>
      <p:sp>
        <p:nvSpPr>
          <p:cNvPr id="285" name="Growth card 4"/>
          <p:cNvSpPr/>
          <p:nvPr/>
        </p:nvSpPr>
        <p:spPr>
          <a:xfrm>
            <a:off x="4663440" y="2926080"/>
            <a:ext cx="4022640" cy="1645200"/>
          </a:xfrm>
          <a:prstGeom prst="roundRect">
            <a:avLst>
              <a:gd name="adj" fmla="val 4444"/>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6" name="Growth icon 4 bg"/>
          <p:cNvSpPr/>
          <p:nvPr/>
        </p:nvSpPr>
        <p:spPr>
          <a:xfrm>
            <a:off x="4827960" y="3063240"/>
            <a:ext cx="456480" cy="456480"/>
          </a:xfrm>
          <a:prstGeom prst="ellipse">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7" name="Image 3" descr="FaChartLine"/>
          <p:cNvPicPr/>
          <p:nvPr/>
        </p:nvPicPr>
        <p:blipFill>
          <a:blip r:embed="rId4"/>
          <a:stretch/>
        </p:blipFill>
        <p:spPr>
          <a:xfrm>
            <a:off x="4937760" y="3173040"/>
            <a:ext cx="236880" cy="236880"/>
          </a:xfrm>
          <a:prstGeom prst="rect">
            <a:avLst/>
          </a:prstGeom>
          <a:noFill/>
          <a:ln w="0">
            <a:noFill/>
          </a:ln>
        </p:spPr>
      </p:pic>
      <p:sp>
        <p:nvSpPr>
          <p:cNvPr id="288" name="Text 16"/>
          <p:cNvSpPr/>
          <p:nvPr/>
        </p:nvSpPr>
        <p:spPr>
          <a:xfrm>
            <a:off x="5440680" y="3035880"/>
            <a:ext cx="31082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F4C3A"/>
                </a:solidFill>
                <a:effectLst/>
                <a:uFillTx/>
                <a:latin typeface="Cambria"/>
                <a:ea typeface="Cambria"/>
              </a:rPr>
              <a:t>Self-Evaluation</a:t>
            </a:r>
            <a:endParaRPr lang="en-US" sz="1550" b="0" u="none" strike="noStrike">
              <a:solidFill>
                <a:srgbClr val="000000"/>
              </a:solidFill>
              <a:effectLst/>
              <a:uFillTx/>
              <a:latin typeface="Arial"/>
            </a:endParaRPr>
          </a:p>
        </p:txBody>
      </p:sp>
      <p:sp>
        <p:nvSpPr>
          <p:cNvPr id="289" name="Text 17"/>
          <p:cNvSpPr/>
          <p:nvPr/>
        </p:nvSpPr>
        <p:spPr>
          <a:xfrm>
            <a:off x="4846320" y="3657600"/>
            <a:ext cx="3656880" cy="86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7251F"/>
                </a:solidFill>
                <a:effectLst/>
                <a:uFillTx/>
                <a:latin typeface="Calibri"/>
                <a:ea typeface="Calibri"/>
              </a:rPr>
              <a:t>Strengths: database design, fast learning, security awareness. To improve: automated testing, time estimates, larger-team work</a:t>
            </a:r>
            <a:endParaRPr lang="en-US" sz="1200" b="0" u="none" strike="noStrike">
              <a:solidFill>
                <a:srgbClr val="000000"/>
              </a:solidFill>
              <a:effectLst/>
              <a:uFillTx/>
              <a:latin typeface="Arial"/>
            </a:endParaRPr>
          </a:p>
        </p:txBody>
      </p:sp>
      <p:sp>
        <p:nvSpPr>
          <p:cNvPr id="290" name="PlaceHolder 2"/>
          <p:cNvSpPr>
            <a:spLocks noGrp="1"/>
          </p:cNvSpPr>
          <p:nvPr>
            <p:ph type="sldNum" idx="18"/>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A5EE8121-B354-4812-B25C-5361AC62BB91}"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9. Conclusion and Recommendations</a:t>
            </a:r>
            <a:endParaRPr lang="en-US" sz="2600" b="0" u="none" strike="noStrike">
              <a:solidFill>
                <a:schemeClr val="dk1"/>
              </a:solidFill>
              <a:effectLst/>
              <a:uFillTx/>
              <a:latin typeface="Calibri"/>
            </a:endParaRPr>
          </a:p>
        </p:txBody>
      </p:sp>
      <p:sp>
        <p:nvSpPr>
          <p:cNvPr id="292"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9</a:t>
            </a:r>
            <a:endParaRPr lang="en-US" sz="1100" b="0" u="none" strike="noStrike">
              <a:solidFill>
                <a:srgbClr val="FFFFFF"/>
              </a:solidFill>
              <a:effectLst/>
              <a:uFillTx/>
              <a:latin typeface="Arial"/>
            </a:endParaRPr>
          </a:p>
        </p:txBody>
      </p:sp>
      <p:sp>
        <p:nvSpPr>
          <p:cNvPr id="293" name="Conclusion card 1"/>
          <p:cNvSpPr/>
          <p:nvPr/>
        </p:nvSpPr>
        <p:spPr>
          <a:xfrm>
            <a:off x="457200" y="1143000"/>
            <a:ext cx="2651040" cy="3382560"/>
          </a:xfrm>
          <a:prstGeom prst="roundRect">
            <a:avLst>
              <a:gd name="adj" fmla="val 2759"/>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4" name="Text 3"/>
          <p:cNvSpPr/>
          <p:nvPr/>
        </p:nvSpPr>
        <p:spPr>
          <a:xfrm>
            <a:off x="640080" y="1234440"/>
            <a:ext cx="228528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D4A017"/>
                </a:solidFill>
                <a:effectLst/>
                <a:uFillTx/>
                <a:latin typeface="Cambria"/>
                <a:ea typeface="Cambria"/>
              </a:rPr>
              <a:t>Overall conclusion</a:t>
            </a:r>
            <a:endParaRPr lang="en-US" sz="1600" b="0" u="none" strike="noStrike">
              <a:solidFill>
                <a:srgbClr val="000000"/>
              </a:solidFill>
              <a:effectLst/>
              <a:uFillTx/>
              <a:latin typeface="Arial"/>
            </a:endParaRPr>
          </a:p>
        </p:txBody>
      </p:sp>
      <p:sp>
        <p:nvSpPr>
          <p:cNvPr id="295" name="Text 4"/>
          <p:cNvSpPr/>
          <p:nvPr/>
        </p:nvSpPr>
        <p:spPr>
          <a:xfrm>
            <a:off x="640080" y="1828800"/>
            <a:ext cx="2331000" cy="2651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00"/>
              </a:spcAft>
              <a:buClr>
                <a:srgbClr val="FFFFFF"/>
              </a:buClr>
              <a:buFont typeface="Symbol" charset="2"/>
              <a:buChar char=""/>
            </a:pPr>
            <a:r>
              <a:rPr lang="en-US" sz="1250" b="0" u="none" strike="noStrike">
                <a:solidFill>
                  <a:srgbClr val="FFFFFF"/>
                </a:solidFill>
                <a:effectLst/>
                <a:uFillTx/>
                <a:latin typeface="Calibri"/>
                <a:ea typeface="Calibri"/>
              </a:rPr>
              <a:t>OBU-CMS replaces a content process that depended on technical staff</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250" b="0" u="none" strike="noStrike">
                <a:solidFill>
                  <a:srgbClr val="FFFFFF"/>
                </a:solidFill>
                <a:effectLst/>
                <a:uFillTx/>
                <a:latin typeface="Calibri"/>
                <a:ea typeface="Calibri"/>
              </a:rPr>
              <a:t>27 tables, 73 routes, RLS, media library, audit log</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250" b="0" u="none" strike="noStrike">
                <a:solidFill>
                  <a:srgbClr val="FFFFFF"/>
                </a:solidFill>
                <a:effectLst/>
                <a:uFillTx/>
                <a:latin typeface="Calibri"/>
                <a:ea typeface="Calibri"/>
              </a:rPr>
              <a:t>Remaining work is listed: legacy functions, role-aware policies, Zod</a:t>
            </a:r>
            <a:endParaRPr lang="en-US" sz="1250" b="0" u="none" strike="noStrike">
              <a:solidFill>
                <a:srgbClr val="000000"/>
              </a:solidFill>
              <a:effectLst/>
              <a:uFillTx/>
              <a:latin typeface="Arial"/>
            </a:endParaRPr>
          </a:p>
        </p:txBody>
      </p:sp>
      <p:sp>
        <p:nvSpPr>
          <p:cNvPr id="296" name="Conclusion card 2"/>
          <p:cNvSpPr/>
          <p:nvPr/>
        </p:nvSpPr>
        <p:spPr>
          <a:xfrm>
            <a:off x="3246120" y="1143000"/>
            <a:ext cx="2651040" cy="3382560"/>
          </a:xfrm>
          <a:prstGeom prst="roundRect">
            <a:avLst>
              <a:gd name="adj" fmla="val 2759"/>
            </a:avLst>
          </a:prstGeom>
          <a:solidFill>
            <a:srgbClr val="287A5D"/>
          </a:solidFill>
          <a:ln w="12700">
            <a:solidFill>
              <a:srgbClr val="287A5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7" name="Text 6"/>
          <p:cNvSpPr/>
          <p:nvPr/>
        </p:nvSpPr>
        <p:spPr>
          <a:xfrm>
            <a:off x="3429000" y="1234440"/>
            <a:ext cx="228528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mbria"/>
                <a:ea typeface="Cambria"/>
              </a:rPr>
              <a:t>The host company</a:t>
            </a:r>
            <a:endParaRPr lang="en-US" sz="1600" b="0" u="none" strike="noStrike">
              <a:solidFill>
                <a:srgbClr val="000000"/>
              </a:solidFill>
              <a:effectLst/>
              <a:uFillTx/>
              <a:latin typeface="Arial"/>
            </a:endParaRPr>
          </a:p>
        </p:txBody>
      </p:sp>
      <p:sp>
        <p:nvSpPr>
          <p:cNvPr id="298" name="Text 7"/>
          <p:cNvSpPr/>
          <p:nvPr/>
        </p:nvSpPr>
        <p:spPr>
          <a:xfrm>
            <a:off x="3429000" y="1828800"/>
            <a:ext cx="2331000" cy="2651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00"/>
              </a:spcAft>
              <a:buClr>
                <a:srgbClr val="FFFFFF"/>
              </a:buClr>
              <a:buFont typeface="Symbol" charset="2"/>
              <a:buChar char=""/>
            </a:pPr>
            <a:r>
              <a:rPr lang="en-US" sz="1250" b="0" u="none" strike="noStrike">
                <a:solidFill>
                  <a:srgbClr val="FFFFFF"/>
                </a:solidFill>
                <a:effectLst/>
                <a:uFillTx/>
                <a:latin typeface="Calibri"/>
                <a:ea typeface="Calibri"/>
              </a:rPr>
              <a:t>Recommended for future placement</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250" b="0" u="none" strike="noStrike">
                <a:solidFill>
                  <a:srgbClr val="FFFFFF"/>
                </a:solidFill>
                <a:effectLst/>
                <a:uFillTx/>
                <a:latin typeface="Calibri"/>
                <a:ea typeface="Calibri"/>
              </a:rPr>
              <a:t>Real projects and supportive staff</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250" b="0" u="none" strike="noStrike">
                <a:solidFill>
                  <a:srgbClr val="FFFFFF"/>
                </a:solidFill>
                <a:effectLst/>
                <a:uFillTx/>
                <a:latin typeface="Calibri"/>
                <a:ea typeface="Calibri"/>
              </a:rPr>
              <a:t>Needs a named supervisor and early server access</a:t>
            </a:r>
            <a:endParaRPr lang="en-US" sz="1250" b="0" u="none" strike="noStrike">
              <a:solidFill>
                <a:srgbClr val="000000"/>
              </a:solidFill>
              <a:effectLst/>
              <a:uFillTx/>
              <a:latin typeface="Arial"/>
            </a:endParaRPr>
          </a:p>
        </p:txBody>
      </p:sp>
      <p:sp>
        <p:nvSpPr>
          <p:cNvPr id="299" name="Conclusion card 3"/>
          <p:cNvSpPr/>
          <p:nvPr/>
        </p:nvSpPr>
        <p:spPr>
          <a:xfrm>
            <a:off x="6035040" y="1143000"/>
            <a:ext cx="2651040" cy="3382560"/>
          </a:xfrm>
          <a:prstGeom prst="roundRect">
            <a:avLst>
              <a:gd name="adj" fmla="val 2759"/>
            </a:avLst>
          </a:prstGeom>
          <a:solidFill>
            <a:srgbClr val="EEF5F1"/>
          </a:solidFill>
          <a:ln w="12700">
            <a:solidFill>
              <a:srgbClr val="EEF5F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0" name="Text 9"/>
          <p:cNvSpPr/>
          <p:nvPr/>
        </p:nvSpPr>
        <p:spPr>
          <a:xfrm>
            <a:off x="6217920" y="1234440"/>
            <a:ext cx="228528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4C3A"/>
                </a:solidFill>
                <a:effectLst/>
                <a:uFillTx/>
                <a:latin typeface="Cambria"/>
                <a:ea typeface="Cambria"/>
              </a:rPr>
              <a:t>Improving the internship</a:t>
            </a:r>
            <a:endParaRPr lang="en-US" sz="1600" b="0" u="none" strike="noStrike">
              <a:solidFill>
                <a:srgbClr val="000000"/>
              </a:solidFill>
              <a:effectLst/>
              <a:uFillTx/>
              <a:latin typeface="Arial"/>
            </a:endParaRPr>
          </a:p>
        </p:txBody>
      </p:sp>
      <p:sp>
        <p:nvSpPr>
          <p:cNvPr id="301" name="Text 10"/>
          <p:cNvSpPr/>
          <p:nvPr/>
        </p:nvSpPr>
        <p:spPr>
          <a:xfrm>
            <a:off x="6217920" y="1828800"/>
            <a:ext cx="2331000" cy="2651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00"/>
              </a:spcAft>
              <a:buClr>
                <a:srgbClr val="17251F"/>
              </a:buClr>
              <a:buFont typeface="Symbol" charset="2"/>
              <a:buChar char=""/>
            </a:pPr>
            <a:r>
              <a:rPr lang="en-US" sz="1250" b="0" u="none" strike="noStrike">
                <a:solidFill>
                  <a:srgbClr val="17251F"/>
                </a:solidFill>
                <a:effectLst/>
                <a:uFillTx/>
                <a:latin typeface="Calibri"/>
                <a:ea typeface="Calibri"/>
              </a:rPr>
              <a:t>Extend from 45 to 90 days</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17251F"/>
              </a:buClr>
              <a:buFont typeface="Symbol" charset="2"/>
              <a:buChar char=""/>
            </a:pPr>
            <a:r>
              <a:rPr lang="en-US" sz="1250" b="0" u="none" strike="noStrike">
                <a:solidFill>
                  <a:srgbClr val="17251F"/>
                </a:solidFill>
                <a:effectLst/>
                <a:uFillTx/>
                <a:latin typeface="Calibri"/>
                <a:ea typeface="Calibri"/>
              </a:rPr>
              <a:t>Mid-internship review with advisor and host</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17251F"/>
              </a:buClr>
              <a:buFont typeface="Symbol" charset="2"/>
              <a:buChar char=""/>
            </a:pPr>
            <a:r>
              <a:rPr lang="en-US" sz="1250" b="0" u="none" strike="noStrike">
                <a:solidFill>
                  <a:srgbClr val="17251F"/>
                </a:solidFill>
                <a:effectLst/>
                <a:uFillTx/>
                <a:latin typeface="Calibri"/>
                <a:ea typeface="Calibri"/>
              </a:rPr>
              <a:t>Database design unit before the internship</a:t>
            </a:r>
            <a:endParaRPr lang="en-US" sz="1250" b="0" u="none" strike="noStrike">
              <a:solidFill>
                <a:srgbClr val="000000"/>
              </a:solidFill>
              <a:effectLst/>
              <a:uFillTx/>
              <a:latin typeface="Arial"/>
            </a:endParaRPr>
          </a:p>
          <a:p>
            <a:pPr marL="343080" indent="-343080" defTabSz="914400">
              <a:lnSpc>
                <a:spcPct val="100000"/>
              </a:lnSpc>
              <a:spcAft>
                <a:spcPts val="700"/>
              </a:spcAft>
              <a:buClr>
                <a:srgbClr val="17251F"/>
              </a:buClr>
              <a:buFont typeface="Symbol" charset="2"/>
              <a:buChar char=""/>
            </a:pPr>
            <a:r>
              <a:rPr lang="en-US" sz="1250" b="0" u="none" strike="noStrike">
                <a:solidFill>
                  <a:srgbClr val="17251F"/>
                </a:solidFill>
                <a:effectLst/>
                <a:uFillTx/>
                <a:latin typeface="Calibri"/>
                <a:ea typeface="Calibri"/>
              </a:rPr>
              <a:t>Keep an archive of project repositories</a:t>
            </a:r>
            <a:endParaRPr lang="en-US" sz="1250" b="0" u="none" strike="noStrike">
              <a:solidFill>
                <a:srgbClr val="000000"/>
              </a:solidFill>
              <a:effectLst/>
              <a:uFillTx/>
              <a:latin typeface="Arial"/>
            </a:endParaRPr>
          </a:p>
        </p:txBody>
      </p:sp>
      <p:sp>
        <p:nvSpPr>
          <p:cNvPr id="302" name="PlaceHolder 2"/>
          <p:cNvSpPr>
            <a:spLocks noGrp="1"/>
          </p:cNvSpPr>
          <p:nvPr>
            <p:ph type="sldNum" idx="19"/>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A38D7D36-70F7-4E7C-B616-B1697D553182}"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hasCustomPrompt="1"/>
          </p:nvPr>
        </p:nvSpPr>
        <p:spPr>
          <a:xfrm>
            <a:off x="457200" y="274320"/>
            <a:ext cx="640008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600" b="1" u="none" strike="noStrike">
                <a:solidFill>
                  <a:srgbClr val="0F4C3A"/>
                </a:solidFill>
                <a:effectLst/>
                <a:uFillTx/>
                <a:latin typeface="Cambria"/>
                <a:ea typeface="Cambria"/>
              </a:rPr>
              <a:t>10. Prototype Demonstration</a:t>
            </a:r>
            <a:endParaRPr lang="en-US" sz="2600" b="0" u="none" strike="noStrike">
              <a:solidFill>
                <a:schemeClr val="dk1"/>
              </a:solidFill>
              <a:effectLst/>
              <a:uFillTx/>
              <a:latin typeface="Calibri"/>
            </a:endParaRPr>
          </a:p>
        </p:txBody>
      </p:sp>
      <p:sp>
        <p:nvSpPr>
          <p:cNvPr id="304" name="Text 1"/>
          <p:cNvSpPr/>
          <p:nvPr/>
        </p:nvSpPr>
        <p:spPr>
          <a:xfrm>
            <a:off x="6949440" y="384120"/>
            <a:ext cx="1736640" cy="273600"/>
          </a:xfrm>
          <a:prstGeom prst="roundRect">
            <a:avLst>
              <a:gd name="adj" fmla="val 50000"/>
            </a:avLst>
          </a:prstGeom>
          <a:solidFill>
            <a:srgbClr val="287A5D"/>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Template 10</a:t>
            </a:r>
            <a:endParaRPr lang="en-US" sz="1100" b="0" u="none" strike="noStrike">
              <a:solidFill>
                <a:srgbClr val="FFFFFF"/>
              </a:solidFill>
              <a:effectLst/>
              <a:uFillTx/>
              <a:latin typeface="Arial"/>
            </a:endParaRPr>
          </a:p>
        </p:txBody>
      </p:sp>
      <p:pic>
        <p:nvPicPr>
          <p:cNvPr id="305" name="Image 0" descr="Public site screen"/>
          <p:cNvPicPr/>
          <p:nvPr/>
        </p:nvPicPr>
        <p:blipFill>
          <a:blip r:embed="rId1"/>
          <a:stretch/>
        </p:blipFill>
        <p:spPr>
          <a:xfrm>
            <a:off x="457200" y="1097280"/>
            <a:ext cx="1937880" cy="935280"/>
          </a:xfrm>
          <a:prstGeom prst="rect">
            <a:avLst/>
          </a:prstGeom>
          <a:noFill/>
          <a:ln w="0">
            <a:noFill/>
          </a:ln>
          <a:effectLst>
            <a:outerShdw algn="bl" blurRad="76320" dir="5400000" dist="25560" kx="0" ky="0" rotWithShape="0" sx="100000" sy="100000">
              <a:srgbClr val="000000">
                <a:alpha val="12000"/>
              </a:srgbClr>
            </a:outerShdw>
          </a:effectLst>
        </p:spPr>
      </p:pic>
      <p:sp>
        <p:nvSpPr>
          <p:cNvPr id="306" name="Text 2"/>
          <p:cNvSpPr/>
          <p:nvPr/>
        </p:nvSpPr>
        <p:spPr>
          <a:xfrm>
            <a:off x="457200" y="2079000"/>
            <a:ext cx="193788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0" i="1" u="none" strike="noStrike">
                <a:solidFill>
                  <a:srgbClr val="5B6B64"/>
                </a:solidFill>
                <a:effectLst/>
                <a:uFillTx/>
                <a:latin typeface="Calibri"/>
                <a:ea typeface="Calibri"/>
              </a:rPr>
              <a:t>Public site</a:t>
            </a:r>
            <a:endParaRPr lang="en-US" sz="1150" b="0" u="none" strike="noStrike">
              <a:solidFill>
                <a:srgbClr val="000000"/>
              </a:solidFill>
              <a:effectLst/>
              <a:uFillTx/>
              <a:latin typeface="Arial"/>
            </a:endParaRPr>
          </a:p>
        </p:txBody>
      </p:sp>
      <p:pic>
        <p:nvPicPr>
          <p:cNvPr id="307" name="Image 1" descr="Admin login screen"/>
          <p:cNvPicPr/>
          <p:nvPr/>
        </p:nvPicPr>
        <p:blipFill>
          <a:blip r:embed="rId2"/>
          <a:stretch/>
        </p:blipFill>
        <p:spPr>
          <a:xfrm>
            <a:off x="2541960" y="1097280"/>
            <a:ext cx="1937880" cy="935280"/>
          </a:xfrm>
          <a:prstGeom prst="rect">
            <a:avLst/>
          </a:prstGeom>
          <a:noFill/>
          <a:ln w="0">
            <a:noFill/>
          </a:ln>
          <a:effectLst>
            <a:outerShdw algn="bl" blurRad="76320" dir="5400000" dist="25560" kx="0" ky="0" rotWithShape="0" sx="100000" sy="100000">
              <a:srgbClr val="000000">
                <a:alpha val="12000"/>
              </a:srgbClr>
            </a:outerShdw>
          </a:effectLst>
        </p:spPr>
      </p:pic>
      <p:sp>
        <p:nvSpPr>
          <p:cNvPr id="308" name="Text 3"/>
          <p:cNvSpPr/>
          <p:nvPr/>
        </p:nvSpPr>
        <p:spPr>
          <a:xfrm>
            <a:off x="2541960" y="2079000"/>
            <a:ext cx="193788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0" i="1" u="none" strike="noStrike">
                <a:solidFill>
                  <a:srgbClr val="5B6B64"/>
                </a:solidFill>
                <a:effectLst/>
                <a:uFillTx/>
                <a:latin typeface="Calibri"/>
                <a:ea typeface="Calibri"/>
              </a:rPr>
              <a:t>Admin login</a:t>
            </a:r>
            <a:endParaRPr lang="en-US" sz="1150" b="0" u="none" strike="noStrike">
              <a:solidFill>
                <a:srgbClr val="000000"/>
              </a:solidFill>
              <a:effectLst/>
              <a:uFillTx/>
              <a:latin typeface="Arial"/>
            </a:endParaRPr>
          </a:p>
        </p:txBody>
      </p:sp>
      <p:pic>
        <p:nvPicPr>
          <p:cNvPr id="309" name="Image 2" descr="Dashboard screen"/>
          <p:cNvPicPr/>
          <p:nvPr/>
        </p:nvPicPr>
        <p:blipFill>
          <a:blip r:embed="rId3"/>
          <a:stretch/>
        </p:blipFill>
        <p:spPr>
          <a:xfrm>
            <a:off x="4626720" y="1097280"/>
            <a:ext cx="1937880" cy="935280"/>
          </a:xfrm>
          <a:prstGeom prst="rect">
            <a:avLst/>
          </a:prstGeom>
          <a:noFill/>
          <a:ln w="0">
            <a:noFill/>
          </a:ln>
          <a:effectLst>
            <a:outerShdw algn="bl" blurRad="76320" dir="5400000" dist="25560" kx="0" ky="0" rotWithShape="0" sx="100000" sy="100000">
              <a:srgbClr val="000000">
                <a:alpha val="12000"/>
              </a:srgbClr>
            </a:outerShdw>
          </a:effectLst>
        </p:spPr>
      </p:pic>
      <p:sp>
        <p:nvSpPr>
          <p:cNvPr id="310" name="Text 4"/>
          <p:cNvSpPr/>
          <p:nvPr/>
        </p:nvSpPr>
        <p:spPr>
          <a:xfrm>
            <a:off x="4626720" y="2079000"/>
            <a:ext cx="193788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0" i="1" u="none" strike="noStrike">
                <a:solidFill>
                  <a:srgbClr val="5B6B64"/>
                </a:solidFill>
                <a:effectLst/>
                <a:uFillTx/>
                <a:latin typeface="Calibri"/>
                <a:ea typeface="Calibri"/>
              </a:rPr>
              <a:t>Dashboard</a:t>
            </a:r>
            <a:endParaRPr lang="en-US" sz="1150" b="0" u="none" strike="noStrike">
              <a:solidFill>
                <a:srgbClr val="000000"/>
              </a:solidFill>
              <a:effectLst/>
              <a:uFillTx/>
              <a:latin typeface="Arial"/>
            </a:endParaRPr>
          </a:p>
        </p:txBody>
      </p:sp>
      <p:pic>
        <p:nvPicPr>
          <p:cNvPr id="311" name="Image 3" descr="Homepage manager screen"/>
          <p:cNvPicPr/>
          <p:nvPr/>
        </p:nvPicPr>
        <p:blipFill>
          <a:blip r:embed="rId4"/>
          <a:stretch/>
        </p:blipFill>
        <p:spPr>
          <a:xfrm>
            <a:off x="6711840" y="1097280"/>
            <a:ext cx="1937880" cy="935280"/>
          </a:xfrm>
          <a:prstGeom prst="rect">
            <a:avLst/>
          </a:prstGeom>
          <a:noFill/>
          <a:ln w="0">
            <a:noFill/>
          </a:ln>
          <a:effectLst>
            <a:outerShdw algn="bl" blurRad="76320" dir="5400000" dist="25560" kx="0" ky="0" rotWithShape="0" sx="100000" sy="100000">
              <a:srgbClr val="000000">
                <a:alpha val="12000"/>
              </a:srgbClr>
            </a:outerShdw>
          </a:effectLst>
        </p:spPr>
      </p:pic>
      <p:sp>
        <p:nvSpPr>
          <p:cNvPr id="312" name="Text 5"/>
          <p:cNvSpPr/>
          <p:nvPr/>
        </p:nvSpPr>
        <p:spPr>
          <a:xfrm>
            <a:off x="6711840" y="2079000"/>
            <a:ext cx="193788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0" i="1" u="none" strike="noStrike">
                <a:solidFill>
                  <a:srgbClr val="5B6B64"/>
                </a:solidFill>
                <a:effectLst/>
                <a:uFillTx/>
                <a:latin typeface="Calibri"/>
                <a:ea typeface="Calibri"/>
              </a:rPr>
              <a:t>Homepage manager</a:t>
            </a:r>
            <a:endParaRPr lang="en-US" sz="1150" b="0" u="none" strike="noStrike">
              <a:solidFill>
                <a:srgbClr val="000000"/>
              </a:solidFill>
              <a:effectLst/>
              <a:uFillTx/>
              <a:latin typeface="Arial"/>
            </a:endParaRPr>
          </a:p>
        </p:txBody>
      </p:sp>
      <p:sp>
        <p:nvSpPr>
          <p:cNvPr id="313" name="Demo script"/>
          <p:cNvSpPr/>
          <p:nvPr/>
        </p:nvSpPr>
        <p:spPr>
          <a:xfrm>
            <a:off x="457200" y="2651760"/>
            <a:ext cx="8228880" cy="2010960"/>
          </a:xfrm>
          <a:prstGeom prst="roundRect">
            <a:avLst>
              <a:gd name="adj" fmla="val 3636"/>
            </a:avLst>
          </a:prstGeom>
          <a:solidFill>
            <a:srgbClr val="0F4C3A"/>
          </a:solidFill>
          <a:ln w="12700">
            <a:solidFill>
              <a:srgbClr val="0F4C3A"/>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4" name="Text 7"/>
          <p:cNvSpPr/>
          <p:nvPr/>
        </p:nvSpPr>
        <p:spPr>
          <a:xfrm>
            <a:off x="685800" y="2715840"/>
            <a:ext cx="777168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D4A017"/>
                </a:solidFill>
                <a:effectLst/>
                <a:uFillTx/>
                <a:latin typeface="Cambria"/>
                <a:ea typeface="Cambria"/>
              </a:rPr>
              <a:t>Live demo on my machine</a:t>
            </a:r>
            <a:endParaRPr lang="en-US" sz="1800" b="0" u="none" strike="noStrike">
              <a:solidFill>
                <a:srgbClr val="000000"/>
              </a:solidFill>
              <a:effectLst/>
              <a:uFillTx/>
              <a:latin typeface="Arial"/>
            </a:endParaRPr>
          </a:p>
        </p:txBody>
      </p:sp>
      <p:sp>
        <p:nvSpPr>
          <p:cNvPr id="315" name="Text 8"/>
          <p:cNvSpPr/>
          <p:nvPr/>
        </p:nvSpPr>
        <p:spPr>
          <a:xfrm>
            <a:off x="685800" y="3154680"/>
            <a:ext cx="7771680" cy="14166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350" b="0" u="none" strike="noStrike">
                <a:solidFill>
                  <a:srgbClr val="FFFFFF"/>
                </a:solidFill>
                <a:effectLst/>
                <a:uFillTx/>
                <a:latin typeface="Calibri"/>
                <a:ea typeface="Calibri"/>
              </a:rPr>
              <a:t>1. Open the public site and show the news page</a:t>
            </a:r>
            <a:endParaRPr lang="en-US" sz="1350" b="0" u="none" strike="noStrike">
              <a:solidFill>
                <a:srgbClr val="000000"/>
              </a:solidFill>
              <a:effectLst/>
              <a:uFillTx/>
              <a:latin typeface="Arial"/>
            </a:endParaRPr>
          </a:p>
          <a:p>
            <a:pPr defTabSz="914400">
              <a:lnSpc>
                <a:spcPct val="100000"/>
              </a:lnSpc>
              <a:spcAft>
                <a:spcPts val="300"/>
              </a:spcAft>
              <a:tabLst>
                <a:tab pos="0" algn="l"/>
              </a:tabLst>
            </a:pPr>
            <a:r>
              <a:rPr lang="en-US" sz="1350" b="0" u="none" strike="noStrike">
                <a:solidFill>
                  <a:srgbClr val="FFFFFF"/>
                </a:solidFill>
                <a:effectLst/>
                <a:uFillTx/>
                <a:latin typeface="Calibri"/>
                <a:ea typeface="Calibri"/>
              </a:rPr>
              <a:t>2. Log in to /admin as an administrator</a:t>
            </a:r>
            <a:endParaRPr lang="en-US" sz="1350" b="0" u="none" strike="noStrike">
              <a:solidFill>
                <a:srgbClr val="000000"/>
              </a:solidFill>
              <a:effectLst/>
              <a:uFillTx/>
              <a:latin typeface="Arial"/>
            </a:endParaRPr>
          </a:p>
          <a:p>
            <a:pPr defTabSz="914400">
              <a:lnSpc>
                <a:spcPct val="100000"/>
              </a:lnSpc>
              <a:spcAft>
                <a:spcPts val="300"/>
              </a:spcAft>
              <a:tabLst>
                <a:tab pos="0" algn="l"/>
              </a:tabLst>
            </a:pPr>
            <a:r>
              <a:rPr lang="en-US" sz="1350" b="0" u="none" strike="noStrike">
                <a:solidFill>
                  <a:srgbClr val="FFFFFF"/>
                </a:solidFill>
                <a:effectLst/>
                <a:uFillTx/>
                <a:latin typeface="Calibri"/>
                <a:ea typeface="Calibri"/>
              </a:rPr>
              <a:t>3. Create a news article with a cover image and publish it</a:t>
            </a:r>
            <a:endParaRPr lang="en-US" sz="1350" b="0" u="none" strike="noStrike">
              <a:solidFill>
                <a:srgbClr val="000000"/>
              </a:solidFill>
              <a:effectLst/>
              <a:uFillTx/>
              <a:latin typeface="Arial"/>
            </a:endParaRPr>
          </a:p>
          <a:p>
            <a:pPr defTabSz="914400">
              <a:lnSpc>
                <a:spcPct val="100000"/>
              </a:lnSpc>
              <a:spcAft>
                <a:spcPts val="300"/>
              </a:spcAft>
              <a:tabLst>
                <a:tab pos="0" algn="l"/>
              </a:tabLst>
            </a:pPr>
            <a:r>
              <a:rPr lang="en-US" sz="1350" b="0" u="none" strike="noStrike">
                <a:solidFill>
                  <a:srgbClr val="FFFFFF"/>
                </a:solidFill>
                <a:effectLst/>
                <a:uFillTx/>
                <a:latin typeface="Calibri"/>
                <a:ea typeface="Calibri"/>
              </a:rPr>
              <a:t>4. Refresh the public site and show the new article</a:t>
            </a:r>
            <a:endParaRPr lang="en-US" sz="1350" b="0" u="none" strike="noStrike">
              <a:solidFill>
                <a:srgbClr val="000000"/>
              </a:solidFill>
              <a:effectLst/>
              <a:uFillTx/>
              <a:latin typeface="Arial"/>
            </a:endParaRPr>
          </a:p>
          <a:p>
            <a:pPr defTabSz="914400">
              <a:lnSpc>
                <a:spcPct val="100000"/>
              </a:lnSpc>
              <a:spcAft>
                <a:spcPts val="300"/>
              </a:spcAft>
              <a:tabLst>
                <a:tab pos="0" algn="l"/>
              </a:tabLst>
            </a:pPr>
            <a:r>
              <a:rPr lang="en-US" sz="1350" b="0" u="none" strike="noStrike">
                <a:solidFill>
                  <a:srgbClr val="FFFFFF"/>
                </a:solidFill>
                <a:effectLst/>
                <a:uFillTx/>
                <a:latin typeface="Calibri"/>
                <a:ea typeface="Calibri"/>
              </a:rPr>
              <a:t>5. Show the activity log and the role-restricted System menu</a:t>
            </a:r>
            <a:endParaRPr lang="en-US" sz="1350" b="0" u="none" strike="noStrike">
              <a:solidFill>
                <a:srgbClr val="000000"/>
              </a:solidFill>
              <a:effectLst/>
              <a:uFillTx/>
              <a:latin typeface="Arial"/>
            </a:endParaRPr>
          </a:p>
        </p:txBody>
      </p:sp>
      <p:sp>
        <p:nvSpPr>
          <p:cNvPr id="316" name="PlaceHolder 2"/>
          <p:cNvSpPr>
            <a:spLocks noGrp="1"/>
          </p:cNvSpPr>
          <p:nvPr>
            <p:ph type="sldNum" idx="20"/>
          </p:nvPr>
        </p:nvSpPr>
        <p:spPr>
          <a:xfrm>
            <a:off x="8321040" y="475488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5B6B64"/>
                </a:solidFill>
                <a:effectLst/>
                <a:uFillTx/>
                <a:latin typeface="Calibri"/>
                <a:ea typeface="Calibri"/>
              </a:defRPr>
            </a:lvl1pPr>
          </a:lstStyle>
          <a:p>
            <a:pPr indent="0" algn="r" defTabSz="914400">
              <a:lnSpc>
                <a:spcPct val="100000"/>
              </a:lnSpc>
              <a:buNone/>
              <a:tabLst>
                <a:tab pos="0" algn="l"/>
              </a:tabLst>
            </a:pPr>
            <a:fld id="{CB4EA220-3D05-43E9-9314-21A0895A87BB}" type="slidenum">
              <a:rPr lang="en-US" sz="1000" b="0" u="none" strike="noStrike">
                <a:solidFill>
                  <a:srgbClr val="5B6B64"/>
                </a:solidFill>
                <a:effectLst/>
                <a:uFillTx/>
                <a:latin typeface="Calibri"/>
                <a:ea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Text 0"/>
          <p:cNvSpPr/>
          <p:nvPr/>
        </p:nvSpPr>
        <p:spPr>
          <a:xfrm>
            <a:off x="457200" y="1325880"/>
            <a:ext cx="8228880" cy="1005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rgbClr val="FFFFFF"/>
                </a:solidFill>
                <a:effectLst/>
                <a:uFillTx/>
                <a:latin typeface="Cambria"/>
                <a:ea typeface="Cambria"/>
              </a:rPr>
              <a:t>Thank you</a:t>
            </a:r>
            <a:endParaRPr lang="en-US" sz="5400" b="0" u="none" strike="noStrike">
              <a:solidFill>
                <a:srgbClr val="FFFFFF"/>
              </a:solidFill>
              <a:effectLst/>
              <a:uFillTx/>
              <a:latin typeface="Arial"/>
            </a:endParaRPr>
          </a:p>
        </p:txBody>
      </p:sp>
      <p:sp>
        <p:nvSpPr>
          <p:cNvPr id="318" name="Text 1"/>
          <p:cNvSpPr/>
          <p:nvPr/>
        </p:nvSpPr>
        <p:spPr>
          <a:xfrm>
            <a:off x="457200" y="2377440"/>
            <a:ext cx="822888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D4A017"/>
                </a:solidFill>
                <a:effectLst/>
                <a:uFillTx/>
                <a:latin typeface="Cambria"/>
                <a:ea typeface="Cambria"/>
              </a:rPr>
              <a:t>Questions and discussion</a:t>
            </a:r>
            <a:endParaRPr lang="en-US" sz="2600" b="0" u="none" strike="noStrike">
              <a:solidFill>
                <a:srgbClr val="FFFFFF"/>
              </a:solidFill>
              <a:effectLst/>
              <a:uFillTx/>
              <a:latin typeface="Arial"/>
            </a:endParaRPr>
          </a:p>
        </p:txBody>
      </p:sp>
      <p:sp>
        <p:nvSpPr>
          <p:cNvPr id="319" name="Text 2"/>
          <p:cNvSpPr/>
          <p:nvPr/>
        </p:nvSpPr>
        <p:spPr>
          <a:xfrm>
            <a:off x="457200" y="3474720"/>
            <a:ext cx="8228880" cy="7308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400"/>
              </a:spcAft>
              <a:tabLst>
                <a:tab pos="0" algn="l"/>
              </a:tabLst>
            </a:pPr>
            <a:r>
              <a:rPr lang="en-US" sz="1600" b="1" u="none" strike="noStrike">
                <a:solidFill>
                  <a:srgbClr val="E6F0EA"/>
                </a:solidFill>
                <a:effectLst/>
                <a:uFillTx/>
                <a:latin typeface="Calibri"/>
                <a:ea typeface="Calibri"/>
              </a:rPr>
              <a:t>Nedi Usman Hussen  |  2184/16</a:t>
            </a:r>
            <a:endParaRPr lang="en-US" sz="1600" b="0" u="none" strike="noStrike">
              <a:solidFill>
                <a:srgbClr val="FFFFFF"/>
              </a:solidFill>
              <a:effectLst/>
              <a:uFillTx/>
              <a:latin typeface="Arial"/>
            </a:endParaRPr>
          </a:p>
          <a:p>
            <a:pPr defTabSz="914400">
              <a:lnSpc>
                <a:spcPct val="100000"/>
              </a:lnSpc>
              <a:spcAft>
                <a:spcPts val="400"/>
              </a:spcAft>
              <a:tabLst>
                <a:tab pos="0" algn="l"/>
              </a:tabLst>
            </a:pPr>
            <a:r>
              <a:rPr lang="en-US" sz="1600" b="0" u="none" strike="noStrike">
                <a:solidFill>
                  <a:srgbClr val="E6F0EA"/>
                </a:solidFill>
                <a:effectLst/>
                <a:uFillTx/>
                <a:latin typeface="Calibri"/>
                <a:ea typeface="Calibri"/>
              </a:rPr>
              <a:t>Advisor: Mr. Kibru G.  |  ICT Directorate, Oda Bultum University</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BU Green">
  <a:themeElements>
    <a:clrScheme name="OBU Green">
      <a:dk1>
        <a:srgbClr val="17251F"/>
      </a:dk1>
      <a:lt1>
        <a:srgbClr val="FFFFFF"/>
      </a:lt1>
      <a:dk2>
        <a:srgbClr val="0F4C3A"/>
      </a:dk2>
      <a:lt2>
        <a:srgbClr val="EEF5F1"/>
      </a:lt2>
      <a:accent1>
        <a:srgbClr val="0F4C3A"/>
      </a:accent1>
      <a:accent2>
        <a:srgbClr val="D4A017"/>
      </a:accent2>
      <a:accent3>
        <a:srgbClr val="287A5D"/>
      </a:accent3>
      <a:accent4>
        <a:srgbClr val="1B6B50"/>
      </a:accent4>
      <a:accent5>
        <a:srgbClr val="B85C38"/>
      </a:accent5>
      <a:accent6>
        <a:srgbClr val="5B7F95"/>
      </a:accent6>
      <a:hlink>
        <a:srgbClr val="1B6B50"/>
      </a:hlink>
      <a:folHlink>
        <a:srgbClr val="5B7F95"/>
      </a:folHlink>
    </a:clrScheme>
    <a:fontScheme name="OBU Green">
      <a:majorFont>
        <a:latin typeface="Cambria"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182</TotalTime>
  <Application>LibreOffice/26.8.0.3$Linux_X86_64 LibreOffice_project/680$Build-3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2026-10-25T21:27:20Z</dcterms:created>
  <dc:creator>Nedi Usman Hussen</dc:creator>
  <dc:description/>
  <dc:language>en-US</dc:language>
  <cp:lastModifiedBy/>
  <dcterms:modified xsi:type="dcterms:W3CDTF">2026-10-26T07:35:14Z</dcterms:modified>
  <cp:revision>3</cp:revision>
  <dc:subject>PptxGenJS Presentation</dc:subject>
  <dc:title>OBU-CMS - Industrial Practice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On-screen Show (16:9)</vt:lpwstr>
  </property>
  <property fmtid="{D5CDD505-2E9C-101B-9397-08002B2CF9AE}" pid="4" name="Slides">
    <vt:i4>18</vt:i4>
  </property>
</Properties>
</file>