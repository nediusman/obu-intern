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ntroduction" id="{bdfa1fda-7848-84b1-5213-ebf981f7d14c}">
          <p14:sldIdLst>
            <p14:sldId id="256"/>
            <p14:sldId id="257"/>
            <p14:sldId id="258"/>
            <p14:sldId id="259"/>
          </p14:sldIdLst>
        </p14:section>
        <p14:section name="2. Project" id="{a6e21a9d-63a6-e3be-5cf5-a4ba214f4911}">
          <p14:sldIdLst>
            <p14:sldId id="260"/>
            <p14:sldId id="261"/>
            <p14:sldId id="262"/>
            <p14:sldId id="263"/>
          </p14:sldIdLst>
        </p14:section>
        <p14:section name="3. Development" id="{d2fd0226-d585-d69b-3717-5ec31f703ff6}">
          <p14:sldIdLst>
            <p14:sldId id="264"/>
            <p14:sldId id="265"/>
            <p14:sldId id="266"/>
            <p14:sldId id="267"/>
            <p14:sldId id="268"/>
          </p14:sldIdLst>
        </p14:section>
        <p14:section name="4. Benefit and Conclusion" id="{75a2e5c6-1b79-21a0-346b-e4712101ea05}">
          <p14:sldIdLst>
            <p14:sldId id="269"/>
            <p14:sldId id="270"/>
            <p14:sldId id="271"/>
          </p14:sldIdLst>
        </p14:section>
        <p14:section name="5. Demonstration" id="{22fa4513-abc8-b9fb-dced-d60aef24c05f}">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Nedi Usman Hussen. My industrial practice was at the ICT Directorate of Oda Bultum University, where I designed and built OBU-CMS, a dynamic website with a content management system. I follow the department presentation template: organization background, the project, problem and objectives, literature review, requirements, system model, methodology, benefits of the internship, conclusion and recommendations, and a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Oda Bultum University is a public university founded in 2015 in Chiro, West Hararghe. I worked in the ICT Directorate because it is the technical owner of the university website. The Directorate works with a ticket system for support and written approval for infrastructure changes, and I met the ICT Director every Monday and Thursday to demonstrate progress. My tasks covered the full life cycle: requirements, database design, backend, frontend, the admin panel, testing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systems gave me normalization, keys and SQL for the 27-table design. Software engineering gave me requirements and UML. Web development and security courses helped with server-side rendering, authentication, Row Level Security, CSRF and SQL injection prevention. The languages and tools are TypeScript, SQL, React with TanStack Start, Supabase, Tailwind, Git and Postman, with an Agile Scrum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challenges and measures: public reading versus admin writing was solved with Row Level Security; clean and unique URLs with a SQL slug function and unique constraints; image reuse with one central media table; and scope growth with a prioritized Agile backlog. At work I also had to fit review cycles into the Directorate formal approval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 in one slide. OBU-CMS is a dynamic website for Oda Bultum University with a secure Admin CMS. It has 27 database tables, 73 route files (38 public and 35 admin) and 30 functional requirements, built with React, TanStack Start, TypeScript, Tailwind and Supabase. On the right: the new public site and the admin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website was template-based. Content updates needed technical help, content had no structure, there was no media library, roles or audit trail, and some pages were hard to read on phones, with a fixed copyright year of 2023. Justification: registration and exam notices are time-sensitive, many offices must publish on their own, students mostly use phones, and the university needs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general objective is a secure, responsive, database-driven website and CMS. Four specific objectives are shown; the report lists eight measurable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work: traditional CMSs such as WordPress and Drupal are mature but depend on plugins and a generic content model. Headless CMSs are API-first but still need a separate website and extra hosting. I chose a custom application on Supabase because the content is structured academic data and I wanted type safety and database-level security. The ideas behind it: role-based access control by Sandhu and colleagues, PostgreSQL Row Level Security, the OWASP Top 10 warning on broken access control, and the Scrum Guide. The full references are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30 functional requirements: 16 for the public website and 14 for the Admin CMS. Non-functional requirements include usability, performance, reliability, security, scalability, responsiveness, maintainability and legal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 case diagram shows actors and what they do with the system. Actors are external users: the public user who only reads, the admin user who manages content, and the system administrator who also manages users, roles and logs. The full diagram with all use cases 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 describes a group of similar objects. This is the core domain: User with a Role, ActivityLog entries written by users, and the content classes News, Event, Announcement and Program, each referencing the central Media class. The attributes are the real columns of the database tables. A second class diagram of the application modules 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collection: interviews with the ICT Director, the Senior Web and Content Officer, the Communications office and the Registrar, plus study of the existing website. Technologies and tools are listed. The development methodology was Agile Scrum: four sprints over 45 days: authentication and database, public website, admin core modules, and extended modules, then testing, user acceptance testing and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three-tier design: browser interface, TanStack Start server with loaders and server functions, and Supabase for data. The database has 27 tables with one central media table. Security works in layers: Supabase Auth login, Row Level Security so the public reads only published rows, a role check for the System menu, CSRF middleware, upload validation and an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skills: a full-stack system from database to interface. Theoretical knowledge: normalization, UML, architecture and security became concrete. Problem-solving: vague office needs became requirements and working modules. Teamwork: I worked with ICT, Registrar and Communications and used sprint feedback. Leadership: I owned planning, demonstrations and priorities. Communication: interviews, demos and progress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ethics: I followed formal approvals, kept credentials out of shared code, and reported my own weaknesses honestly. Entrepreneurship: I found a real need, built a first version and improved it with users; the system can be adapted for other institutions. Career: the internship fits my goal in software development and made my direction clearer: full-stack web and secure systems. Self-evaluation: strengths are database design, fast learning and security awareness; I want to improve automated testing, time estimates and teamwork in larger teams. The challenges I faced were covered earlier on the challenges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conclusion: OBU-CMS replaces a content process that depended on technical staff with one where each office publishes its own information. Remaining work is listed honestly in the report. Recommendation on the host: I recommend the ICT Directorate for future placements, provided a named supervisor and early server access are arranged. To improve the internship: extend it to 90 days, add a mid-internship review, teach database design earlier, and keep an archive of project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demonstrate the prototype on my machine. If the live demo fails, these screenshots are my backup. Steps: open the public site, log in to the admin, create and publish a news article with an image, refresh the public site to see it, and show the activity log and the role-restricted System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thank my advisor Mr. Kibru, the ICT Directorate, and the Registrar office. I am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4C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rtlCol="0"/>
          <a:lstStyle>
            <a:lvl1pPr algn="l" indent="0" marL="0">
              <a:buNone/>
              <a:defRPr lang="en-US" sz="2600" b="1" dirty="0">
                <a:solidFill>
                  <a:srgbClr val="0F4C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anel"/>
          <p:cNvSpPr/>
          <p:nvPr/>
        </p:nvSpPr>
        <p:spPr>
          <a:xfrm>
            <a:off x="457200" y="411480"/>
            <a:ext cx="8229600" cy="868680"/>
          </a:xfrm>
          <a:prstGeom prst="roundRect">
            <a:avLst>
              <a:gd name="adj" fmla="val 12632"/>
            </a:avLst>
          </a:prstGeom>
          <a:solidFill>
            <a:srgbClr val="FFFFFF"/>
          </a:solidFill>
          <a:ln w="12700">
            <a:solidFill>
              <a:srgbClr val="FFFFFF"/>
            </a:solidFill>
            <a:prstDash val="solid"/>
          </a:ln>
        </p:spPr>
      </p:sp>
      <p:pic>
        <p:nvPicPr>
          <p:cNvPr id="3" name="Image 0" descr="Oda Bultum University logo">    </p:cNvPr>
          <p:cNvPicPr>
            <a:picLocks noChangeAspect="1"/>
          </p:cNvPicPr>
          <p:nvPr/>
        </p:nvPicPr>
        <p:blipFill>
          <a:blip r:embed="rId1"/>
          <a:stretch>
            <a:fillRect/>
          </a:stretch>
        </p:blipFill>
        <p:spPr>
          <a:xfrm>
            <a:off x="640080" y="475488"/>
            <a:ext cx="731520" cy="731520"/>
          </a:xfrm>
          <a:prstGeom prst="rect">
            <a:avLst/>
          </a:prstGeom>
        </p:spPr>
      </p:pic>
      <p:pic>
        <p:nvPicPr>
          <p:cNvPr id="4" name="Image 1" descr="Haramaya University logo">    </p:cNvPr>
          <p:cNvPicPr>
            <a:picLocks noChangeAspect="1"/>
          </p:cNvPicPr>
          <p:nvPr/>
        </p:nvPicPr>
        <p:blipFill>
          <a:blip r:embed="rId2"/>
          <a:stretch>
            <a:fillRect/>
          </a:stretch>
        </p:blipFill>
        <p:spPr>
          <a:xfrm>
            <a:off x="4846320" y="530352"/>
            <a:ext cx="2743200" cy="498584"/>
          </a:xfrm>
          <a:prstGeom prst="rect">
            <a:avLst/>
          </a:prstGeom>
        </p:spPr>
      </p:pic>
      <p:sp>
        <p:nvSpPr>
          <p:cNvPr id="5" name="Text 1"/>
          <p:cNvSpPr txBox="1"/>
          <p:nvPr/>
        </p:nvSpPr>
        <p:spPr>
          <a:xfrm>
            <a:off x="457200" y="1600200"/>
            <a:ext cx="8229600" cy="365760"/>
          </a:xfrm>
          <a:prstGeom prst="rect">
            <a:avLst/>
          </a:prstGeom>
          <a:noFill/>
          <a:ln/>
        </p:spPr>
        <p:txBody>
          <a:bodyPr wrap="square" lIns="0" tIns="0" rIns="0" bIns="0" rtlCol="0" anchor="ctr"/>
          <a:lstStyle/>
          <a:p>
            <a:pPr indent="0" marL="0">
              <a:buNone/>
            </a:pPr>
            <a:r>
              <a:rPr lang="en-US" sz="1600" b="1" dirty="0">
                <a:solidFill>
                  <a:srgbClr val="D4A017"/>
                </a:solidFill>
                <a:latin typeface="Calibri" pitchFamily="34" charset="0"/>
                <a:ea typeface="Calibri" pitchFamily="34" charset="-122"/>
                <a:cs typeface="Calibri" pitchFamily="34" charset="-120"/>
              </a:rPr>
              <a:t>Industrial Practice (CoSc3122) Presentation</a:t>
            </a:r>
            <a:endParaRPr lang="en-US" sz="1600" dirty="0"/>
          </a:p>
        </p:txBody>
      </p:sp>
      <p:sp>
        <p:nvSpPr>
          <p:cNvPr id="6" name="Text 2"/>
          <p:cNvSpPr txBox="1"/>
          <p:nvPr/>
        </p:nvSpPr>
        <p:spPr>
          <a:xfrm>
            <a:off x="457200" y="1965960"/>
            <a:ext cx="8229600" cy="12344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Design and Development of a Dynamic Website and Content Management System for Oda Bultum University (OBU-CMS)</a:t>
            </a:r>
            <a:endParaRPr lang="en-US" sz="2800" dirty="0"/>
          </a:p>
        </p:txBody>
      </p:sp>
      <p:sp>
        <p:nvSpPr>
          <p:cNvPr id="7" name="Text 3"/>
          <p:cNvSpPr txBox="1"/>
          <p:nvPr/>
        </p:nvSpPr>
        <p:spPr>
          <a:xfrm>
            <a:off x="457200" y="3429000"/>
            <a:ext cx="8229600" cy="868680"/>
          </a:xfrm>
          <a:prstGeom prst="rect">
            <a:avLst/>
          </a:prstGeom>
          <a:noFill/>
          <a:ln/>
        </p:spPr>
        <p:txBody>
          <a:bodyPr wrap="square" lIns="0" tIns="0" rIns="0" bIns="0" rtlCol="0" anchor="ctr"/>
          <a:lstStyle/>
          <a:p>
            <a:pPr indent="0" marL="0">
              <a:spcAft>
                <a:spcPts val="400"/>
              </a:spcAft>
              <a:buNone/>
            </a:pPr>
            <a:r>
              <a:rPr lang="en-US" sz="1500" b="1" dirty="0">
                <a:solidFill>
                  <a:srgbClr val="E6F0EA"/>
                </a:solidFill>
                <a:latin typeface="Calibri" pitchFamily="34" charset="0"/>
                <a:ea typeface="Calibri" pitchFamily="34" charset="-122"/>
                <a:cs typeface="Calibri" pitchFamily="34" charset="-120"/>
              </a:rPr>
              <a:t>Nedi Usman Hussen</a:t>
            </a:r>
            <a:endParaRPr lang="en-US" sz="1500" dirty="0"/>
          </a:p>
          <a:p>
            <a:pPr indent="0" marL="0">
              <a:spcAft>
                <a:spcPts val="400"/>
              </a:spcAft>
              <a:buNone/>
            </a:pPr>
            <a:r>
              <a:rPr lang="en-US" sz="1500" dirty="0">
                <a:solidFill>
                  <a:srgbClr val="E6F0EA"/>
                </a:solidFill>
                <a:latin typeface="Calibri" pitchFamily="34" charset="0"/>
                <a:ea typeface="Calibri" pitchFamily="34" charset="-122"/>
                <a:cs typeface="Calibri" pitchFamily="34" charset="-120"/>
              </a:rPr>
              <a:t>Student ID: 2184/16  |  Department of Computer Science, Haramaya University</a:t>
            </a:r>
            <a:endParaRPr lang="en-US" sz="1500" dirty="0"/>
          </a:p>
          <a:p>
            <a:pPr indent="0" marL="0">
              <a:spcAft>
                <a:spcPts val="400"/>
              </a:spcAft>
              <a:buNone/>
            </a:pPr>
            <a:r>
              <a:rPr lang="en-US" sz="1500" dirty="0">
                <a:solidFill>
                  <a:srgbClr val="E6F0EA"/>
                </a:solidFill>
                <a:latin typeface="Calibri" pitchFamily="34" charset="0"/>
                <a:ea typeface="Calibri" pitchFamily="34" charset="-122"/>
                <a:cs typeface="Calibri" pitchFamily="34" charset="-120"/>
              </a:rPr>
              <a:t>Advisor: Mr. Kibru G.  |  Host: ICT Directorate, Oda Bultum University</a:t>
            </a:r>
            <a:endParaRPr lang="en-US" sz="1500" dirty="0"/>
          </a:p>
        </p:txBody>
      </p:sp>
      <p:sp>
        <p:nvSpPr>
          <p:cNvPr id="8" name="Text 4"/>
          <p:cNvSpPr txBox="1"/>
          <p:nvPr/>
        </p:nvSpPr>
        <p:spPr>
          <a:xfrm>
            <a:off x="457200" y="4526280"/>
            <a:ext cx="4572000" cy="320040"/>
          </a:xfrm>
          <a:prstGeom prst="rect">
            <a:avLst/>
          </a:prstGeom>
          <a:noFill/>
          <a:ln/>
        </p:spPr>
        <p:txBody>
          <a:bodyPr wrap="square" lIns="0" tIns="0" rIns="0" bIns="0" rtlCol="0" anchor="ctr"/>
          <a:lstStyle/>
          <a:p>
            <a:pPr indent="0" marL="0">
              <a:buNone/>
            </a:pPr>
            <a:r>
              <a:rPr lang="en-US" sz="1400" b="1" dirty="0">
                <a:solidFill>
                  <a:srgbClr val="D4A017"/>
                </a:solidFill>
                <a:latin typeface="Calibri" pitchFamily="34" charset="0"/>
                <a:ea typeface="Calibri" pitchFamily="34" charset="-122"/>
                <a:cs typeface="Calibri" pitchFamily="34" charset="-120"/>
              </a:rPr>
              <a:t>Monday, October 26,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1.1 Organization Background</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1.1</a:t>
            </a:r>
            <a:endParaRPr lang="en-US" sz="1100" dirty="0"/>
          </a:p>
        </p:txBody>
      </p:sp>
      <p:sp>
        <p:nvSpPr>
          <p:cNvPr id="4" name="QA card 1"/>
          <p:cNvSpPr/>
          <p:nvPr/>
        </p:nvSpPr>
        <p:spPr>
          <a:xfrm>
            <a:off x="457200" y="1143000"/>
            <a:ext cx="4023360" cy="1645920"/>
          </a:xfrm>
          <a:prstGeom prst="roundRect">
            <a:avLst>
              <a:gd name="adj" fmla="val 4444"/>
            </a:avLst>
          </a:prstGeom>
          <a:solidFill>
            <a:srgbClr val="EEF5F1"/>
          </a:solidFill>
          <a:ln w="12700">
            <a:solidFill>
              <a:srgbClr val="EEF5F1"/>
            </a:solidFill>
            <a:prstDash val="solid"/>
          </a:ln>
        </p:spPr>
      </p:sp>
      <p:sp>
        <p:nvSpPr>
          <p:cNvPr id="5" name="QA icon 1 bg"/>
          <p:cNvSpPr/>
          <p:nvPr/>
        </p:nvSpPr>
        <p:spPr>
          <a:xfrm>
            <a:off x="621792" y="1280160"/>
            <a:ext cx="502920" cy="502920"/>
          </a:xfrm>
          <a:prstGeom prst="ellipse">
            <a:avLst/>
          </a:prstGeom>
          <a:solidFill>
            <a:srgbClr val="0F4C3A"/>
          </a:solidFill>
          <a:ln w="12700">
            <a:solidFill>
              <a:srgbClr val="0F4C3A"/>
            </a:solidFill>
            <a:prstDash val="solid"/>
          </a:ln>
        </p:spPr>
      </p:sp>
      <p:pic>
        <p:nvPicPr>
          <p:cNvPr id="6" name="Image 0" descr="FaBuilding">    </p:cNvPr>
          <p:cNvPicPr>
            <a:picLocks noChangeAspect="1"/>
          </p:cNvPicPr>
          <p:nvPr/>
        </p:nvPicPr>
        <p:blipFill>
          <a:blip r:embed="rId1"/>
          <a:stretch>
            <a:fillRect/>
          </a:stretch>
        </p:blipFill>
        <p:spPr>
          <a:xfrm>
            <a:off x="742493" y="1400861"/>
            <a:ext cx="261518" cy="261518"/>
          </a:xfrm>
          <a:prstGeom prst="rect">
            <a:avLst/>
          </a:prstGeom>
        </p:spPr>
      </p:pic>
      <p:sp>
        <p:nvSpPr>
          <p:cNvPr id="7" name="Text 4"/>
          <p:cNvSpPr txBox="1"/>
          <p:nvPr/>
        </p:nvSpPr>
        <p:spPr>
          <a:xfrm>
            <a:off x="123444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Host Company</a:t>
            </a:r>
            <a:endParaRPr lang="en-US" sz="1550" dirty="0"/>
          </a:p>
        </p:txBody>
      </p:sp>
      <p:sp>
        <p:nvSpPr>
          <p:cNvPr id="8" name="Text 5"/>
          <p:cNvSpPr txBox="1"/>
          <p:nvPr/>
        </p:nvSpPr>
        <p:spPr>
          <a:xfrm>
            <a:off x="64008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Oda Bultum University: a real client with a real need, a website used daily by staff and students</a:t>
            </a:r>
            <a:endParaRPr lang="en-US" sz="1200" dirty="0"/>
          </a:p>
        </p:txBody>
      </p:sp>
      <p:sp>
        <p:nvSpPr>
          <p:cNvPr id="9" name="QA card 2"/>
          <p:cNvSpPr/>
          <p:nvPr/>
        </p:nvSpPr>
        <p:spPr>
          <a:xfrm>
            <a:off x="4663440" y="1143000"/>
            <a:ext cx="4023360" cy="1645920"/>
          </a:xfrm>
          <a:prstGeom prst="roundRect">
            <a:avLst>
              <a:gd name="adj" fmla="val 4444"/>
            </a:avLst>
          </a:prstGeom>
          <a:solidFill>
            <a:srgbClr val="EEF5F1"/>
          </a:solidFill>
          <a:ln w="12700">
            <a:solidFill>
              <a:srgbClr val="EEF5F1"/>
            </a:solidFill>
            <a:prstDash val="solid"/>
          </a:ln>
        </p:spPr>
      </p:sp>
      <p:sp>
        <p:nvSpPr>
          <p:cNvPr id="10" name="QA icon 2 bg"/>
          <p:cNvSpPr/>
          <p:nvPr/>
        </p:nvSpPr>
        <p:spPr>
          <a:xfrm>
            <a:off x="4828032" y="1280160"/>
            <a:ext cx="502920" cy="502920"/>
          </a:xfrm>
          <a:prstGeom prst="ellipse">
            <a:avLst/>
          </a:prstGeom>
          <a:solidFill>
            <a:srgbClr val="0F4C3A"/>
          </a:solidFill>
          <a:ln w="12700">
            <a:solidFill>
              <a:srgbClr val="0F4C3A"/>
            </a:solidFill>
            <a:prstDash val="solid"/>
          </a:ln>
        </p:spPr>
      </p:sp>
      <p:pic>
        <p:nvPicPr>
          <p:cNvPr id="11" name="Image 1" descr="FaSitemap">    </p:cNvPr>
          <p:cNvPicPr>
            <a:picLocks noChangeAspect="1"/>
          </p:cNvPicPr>
          <p:nvPr/>
        </p:nvPicPr>
        <p:blipFill>
          <a:blip r:embed="rId2"/>
          <a:stretch>
            <a:fillRect/>
          </a:stretch>
        </p:blipFill>
        <p:spPr>
          <a:xfrm>
            <a:off x="4948733" y="1400861"/>
            <a:ext cx="261518" cy="261518"/>
          </a:xfrm>
          <a:prstGeom prst="rect">
            <a:avLst/>
          </a:prstGeom>
        </p:spPr>
      </p:pic>
      <p:sp>
        <p:nvSpPr>
          <p:cNvPr id="12" name="Text 8"/>
          <p:cNvSpPr txBox="1"/>
          <p:nvPr/>
        </p:nvSpPr>
        <p:spPr>
          <a:xfrm>
            <a:off x="544068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Section: ICT Directorate</a:t>
            </a:r>
            <a:endParaRPr lang="en-US" sz="1550" dirty="0"/>
          </a:p>
        </p:txBody>
      </p:sp>
      <p:sp>
        <p:nvSpPr>
          <p:cNvPr id="13" name="Text 9"/>
          <p:cNvSpPr txBox="1"/>
          <p:nvPr/>
        </p:nvSpPr>
        <p:spPr>
          <a:xfrm>
            <a:off x="484632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Owns the servers, network and the website, so a web system belongs there</a:t>
            </a:r>
            <a:endParaRPr lang="en-US" sz="1200" dirty="0"/>
          </a:p>
        </p:txBody>
      </p:sp>
      <p:sp>
        <p:nvSpPr>
          <p:cNvPr id="14" name="QA card 3"/>
          <p:cNvSpPr/>
          <p:nvPr/>
        </p:nvSpPr>
        <p:spPr>
          <a:xfrm>
            <a:off x="457200" y="2926080"/>
            <a:ext cx="4023360" cy="1645920"/>
          </a:xfrm>
          <a:prstGeom prst="roundRect">
            <a:avLst>
              <a:gd name="adj" fmla="val 4444"/>
            </a:avLst>
          </a:prstGeom>
          <a:solidFill>
            <a:srgbClr val="EEF5F1"/>
          </a:solidFill>
          <a:ln w="12700">
            <a:solidFill>
              <a:srgbClr val="EEF5F1"/>
            </a:solidFill>
            <a:prstDash val="solid"/>
          </a:ln>
        </p:spPr>
      </p:sp>
      <p:sp>
        <p:nvSpPr>
          <p:cNvPr id="15" name="QA icon 3 bg"/>
          <p:cNvSpPr/>
          <p:nvPr/>
        </p:nvSpPr>
        <p:spPr>
          <a:xfrm>
            <a:off x="621792" y="3063240"/>
            <a:ext cx="502920" cy="502920"/>
          </a:xfrm>
          <a:prstGeom prst="ellipse">
            <a:avLst/>
          </a:prstGeom>
          <a:solidFill>
            <a:srgbClr val="0F4C3A"/>
          </a:solidFill>
          <a:ln w="12700">
            <a:solidFill>
              <a:srgbClr val="0F4C3A"/>
            </a:solidFill>
            <a:prstDash val="solid"/>
          </a:ln>
        </p:spPr>
      </p:sp>
      <p:pic>
        <p:nvPicPr>
          <p:cNvPr id="16" name="Image 2" descr="FaProjectDiagram">    </p:cNvPr>
          <p:cNvPicPr>
            <a:picLocks noChangeAspect="1"/>
          </p:cNvPicPr>
          <p:nvPr/>
        </p:nvPicPr>
        <p:blipFill>
          <a:blip r:embed="rId3"/>
          <a:stretch>
            <a:fillRect/>
          </a:stretch>
        </p:blipFill>
        <p:spPr>
          <a:xfrm>
            <a:off x="742493" y="3183941"/>
            <a:ext cx="261518" cy="261518"/>
          </a:xfrm>
          <a:prstGeom prst="rect">
            <a:avLst/>
          </a:prstGeom>
        </p:spPr>
      </p:pic>
      <p:sp>
        <p:nvSpPr>
          <p:cNvPr id="17" name="Text 12"/>
          <p:cNvSpPr txBox="1"/>
          <p:nvPr/>
        </p:nvSpPr>
        <p:spPr>
          <a:xfrm>
            <a:off x="123444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Work Flow of the Section</a:t>
            </a:r>
            <a:endParaRPr lang="en-US" sz="1550" dirty="0"/>
          </a:p>
        </p:txBody>
      </p:sp>
      <p:sp>
        <p:nvSpPr>
          <p:cNvPr id="18" name="Text 13"/>
          <p:cNvSpPr txBox="1"/>
          <p:nvPr/>
        </p:nvSpPr>
        <p:spPr>
          <a:xfrm>
            <a:off x="64008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Support requests by tickets; infrastructure changes need written approval of the ICT Director; progress meetings every Monday and Thursday</a:t>
            </a:r>
            <a:endParaRPr lang="en-US" sz="1200" dirty="0"/>
          </a:p>
        </p:txBody>
      </p:sp>
      <p:sp>
        <p:nvSpPr>
          <p:cNvPr id="19" name="QA card 4"/>
          <p:cNvSpPr/>
          <p:nvPr/>
        </p:nvSpPr>
        <p:spPr>
          <a:xfrm>
            <a:off x="4663440" y="2926080"/>
            <a:ext cx="4023360" cy="1645920"/>
          </a:xfrm>
          <a:prstGeom prst="roundRect">
            <a:avLst>
              <a:gd name="adj" fmla="val 4444"/>
            </a:avLst>
          </a:prstGeom>
          <a:solidFill>
            <a:srgbClr val="EEF5F1"/>
          </a:solidFill>
          <a:ln w="12700">
            <a:solidFill>
              <a:srgbClr val="EEF5F1"/>
            </a:solidFill>
            <a:prstDash val="solid"/>
          </a:ln>
        </p:spPr>
      </p:sp>
      <p:sp>
        <p:nvSpPr>
          <p:cNvPr id="20" name="QA icon 4 bg"/>
          <p:cNvSpPr/>
          <p:nvPr/>
        </p:nvSpPr>
        <p:spPr>
          <a:xfrm>
            <a:off x="4828032" y="3063240"/>
            <a:ext cx="502920" cy="502920"/>
          </a:xfrm>
          <a:prstGeom prst="ellipse">
            <a:avLst/>
          </a:prstGeom>
          <a:solidFill>
            <a:srgbClr val="0F4C3A"/>
          </a:solidFill>
          <a:ln w="12700">
            <a:solidFill>
              <a:srgbClr val="0F4C3A"/>
            </a:solidFill>
            <a:prstDash val="solid"/>
          </a:ln>
        </p:spPr>
      </p:sp>
      <p:pic>
        <p:nvPicPr>
          <p:cNvPr id="21" name="Image 3" descr="FaTasks">    </p:cNvPr>
          <p:cNvPicPr>
            <a:picLocks noChangeAspect="1"/>
          </p:cNvPicPr>
          <p:nvPr/>
        </p:nvPicPr>
        <p:blipFill>
          <a:blip r:embed="rId4"/>
          <a:stretch>
            <a:fillRect/>
          </a:stretch>
        </p:blipFill>
        <p:spPr>
          <a:xfrm>
            <a:off x="4948733" y="3183941"/>
            <a:ext cx="261518" cy="261518"/>
          </a:xfrm>
          <a:prstGeom prst="rect">
            <a:avLst/>
          </a:prstGeom>
        </p:spPr>
      </p:pic>
      <p:sp>
        <p:nvSpPr>
          <p:cNvPr id="22" name="Text 16"/>
          <p:cNvSpPr txBox="1"/>
          <p:nvPr/>
        </p:nvSpPr>
        <p:spPr>
          <a:xfrm>
            <a:off x="544068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My Tasks</a:t>
            </a:r>
            <a:endParaRPr lang="en-US" sz="1550" dirty="0"/>
          </a:p>
        </p:txBody>
      </p:sp>
      <p:sp>
        <p:nvSpPr>
          <p:cNvPr id="23" name="Text 17"/>
          <p:cNvSpPr txBox="1"/>
          <p:nvPr/>
        </p:nvSpPr>
        <p:spPr>
          <a:xfrm>
            <a:off x="484632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Requirements, database design, backend and frontend, Admin CMS, testing, documentation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Skills and Tools from Coursework</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1.1</a:t>
            </a:r>
            <a:endParaRPr lang="en-US" sz="1100" dirty="0"/>
          </a:p>
        </p:txBody>
      </p:sp>
      <p:sp>
        <p:nvSpPr>
          <p:cNvPr id="4" name="Skills card 1"/>
          <p:cNvSpPr/>
          <p:nvPr/>
        </p:nvSpPr>
        <p:spPr>
          <a:xfrm>
            <a:off x="457200" y="1143000"/>
            <a:ext cx="2651760" cy="3383280"/>
          </a:xfrm>
          <a:prstGeom prst="roundRect">
            <a:avLst>
              <a:gd name="adj" fmla="val 2759"/>
            </a:avLst>
          </a:prstGeom>
          <a:solidFill>
            <a:srgbClr val="EEF5F1"/>
          </a:solidFill>
          <a:ln w="12700">
            <a:solidFill>
              <a:srgbClr val="EEF5F1"/>
            </a:solidFill>
            <a:prstDash val="solid"/>
          </a:ln>
        </p:spPr>
      </p:sp>
      <p:sp>
        <p:nvSpPr>
          <p:cNvPr id="5" name="Skills icon 1 bg"/>
          <p:cNvSpPr/>
          <p:nvPr/>
        </p:nvSpPr>
        <p:spPr>
          <a:xfrm>
            <a:off x="640080" y="1325880"/>
            <a:ext cx="594360" cy="594360"/>
          </a:xfrm>
          <a:prstGeom prst="ellipse">
            <a:avLst/>
          </a:prstGeom>
          <a:solidFill>
            <a:srgbClr val="0F4C3A"/>
          </a:solidFill>
          <a:ln w="12700">
            <a:solidFill>
              <a:srgbClr val="0F4C3A"/>
            </a:solidFill>
            <a:prstDash val="solid"/>
          </a:ln>
        </p:spPr>
      </p:sp>
      <p:pic>
        <p:nvPicPr>
          <p:cNvPr id="6" name="Image 0" descr="FaGraduationCap">    </p:cNvPr>
          <p:cNvPicPr>
            <a:picLocks noChangeAspect="1"/>
          </p:cNvPicPr>
          <p:nvPr/>
        </p:nvPicPr>
        <p:blipFill>
          <a:blip r:embed="rId1"/>
          <a:stretch>
            <a:fillRect/>
          </a:stretch>
        </p:blipFill>
        <p:spPr>
          <a:xfrm>
            <a:off x="782726" y="1468526"/>
            <a:ext cx="309067" cy="309067"/>
          </a:xfrm>
          <a:prstGeom prst="rect">
            <a:avLst/>
          </a:prstGeom>
        </p:spPr>
      </p:pic>
      <p:sp>
        <p:nvSpPr>
          <p:cNvPr id="7" name="Text 4"/>
          <p:cNvSpPr txBox="1"/>
          <p:nvPr/>
        </p:nvSpPr>
        <p:spPr>
          <a:xfrm>
            <a:off x="640080" y="2011680"/>
            <a:ext cx="2286000" cy="45720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Course knowledge that helped</a:t>
            </a:r>
            <a:endParaRPr lang="en-US" sz="1550" dirty="0"/>
          </a:p>
        </p:txBody>
      </p:sp>
      <p:sp>
        <p:nvSpPr>
          <p:cNvPr id="8" name="Text 5"/>
          <p:cNvSpPr txBox="1"/>
          <p:nvPr/>
        </p:nvSpPr>
        <p:spPr>
          <a:xfrm>
            <a:off x="640080" y="2560320"/>
            <a:ext cx="2331720" cy="18745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Database systems: normalization, keys, SQL</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Software engineering: requirements, UML</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Web development: HTTP, rendering, REST</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Information security: least privilege, CSRF, SQL injection</a:t>
            </a:r>
            <a:endParaRPr lang="en-US" sz="1250" dirty="0"/>
          </a:p>
        </p:txBody>
      </p:sp>
      <p:sp>
        <p:nvSpPr>
          <p:cNvPr id="9" name="Skills card 2"/>
          <p:cNvSpPr/>
          <p:nvPr/>
        </p:nvSpPr>
        <p:spPr>
          <a:xfrm>
            <a:off x="3246120" y="1143000"/>
            <a:ext cx="2651760" cy="3383280"/>
          </a:xfrm>
          <a:prstGeom prst="roundRect">
            <a:avLst>
              <a:gd name="adj" fmla="val 2759"/>
            </a:avLst>
          </a:prstGeom>
          <a:solidFill>
            <a:srgbClr val="EEF5F1"/>
          </a:solidFill>
          <a:ln w="12700">
            <a:solidFill>
              <a:srgbClr val="EEF5F1"/>
            </a:solidFill>
            <a:prstDash val="solid"/>
          </a:ln>
        </p:spPr>
      </p:sp>
      <p:sp>
        <p:nvSpPr>
          <p:cNvPr id="10" name="Skills icon 2 bg"/>
          <p:cNvSpPr/>
          <p:nvPr/>
        </p:nvSpPr>
        <p:spPr>
          <a:xfrm>
            <a:off x="3429000" y="1325880"/>
            <a:ext cx="594360" cy="594360"/>
          </a:xfrm>
          <a:prstGeom prst="ellipse">
            <a:avLst/>
          </a:prstGeom>
          <a:solidFill>
            <a:srgbClr val="0F4C3A"/>
          </a:solidFill>
          <a:ln w="12700">
            <a:solidFill>
              <a:srgbClr val="0F4C3A"/>
            </a:solidFill>
            <a:prstDash val="solid"/>
          </a:ln>
        </p:spPr>
      </p:sp>
      <p:pic>
        <p:nvPicPr>
          <p:cNvPr id="11" name="Image 1" descr="FaCode">    </p:cNvPr>
          <p:cNvPicPr>
            <a:picLocks noChangeAspect="1"/>
          </p:cNvPicPr>
          <p:nvPr/>
        </p:nvPicPr>
        <p:blipFill>
          <a:blip r:embed="rId2"/>
          <a:stretch>
            <a:fillRect/>
          </a:stretch>
        </p:blipFill>
        <p:spPr>
          <a:xfrm>
            <a:off x="3571646" y="1468526"/>
            <a:ext cx="309067" cy="309067"/>
          </a:xfrm>
          <a:prstGeom prst="rect">
            <a:avLst/>
          </a:prstGeom>
        </p:spPr>
      </p:pic>
      <p:sp>
        <p:nvSpPr>
          <p:cNvPr id="12" name="Text 8"/>
          <p:cNvSpPr txBox="1"/>
          <p:nvPr/>
        </p:nvSpPr>
        <p:spPr>
          <a:xfrm>
            <a:off x="3429000" y="2011680"/>
            <a:ext cx="2286000" cy="45720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Languages and techniques</a:t>
            </a:r>
            <a:endParaRPr lang="en-US" sz="1550" dirty="0"/>
          </a:p>
        </p:txBody>
      </p:sp>
      <p:sp>
        <p:nvSpPr>
          <p:cNvPr id="13" name="Text 9"/>
          <p:cNvSpPr txBox="1"/>
          <p:nvPr/>
        </p:nvSpPr>
        <p:spPr>
          <a:xfrm>
            <a:off x="3429000" y="2560320"/>
            <a:ext cx="2331720" cy="18745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TypeScript, JavaScript, SQL</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HTML and CSS (Tailwind)</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UML modeling, ER design, migrations</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Row Level Security and role-based access</a:t>
            </a:r>
            <a:endParaRPr lang="en-US" sz="1250" dirty="0"/>
          </a:p>
        </p:txBody>
      </p:sp>
      <p:sp>
        <p:nvSpPr>
          <p:cNvPr id="14" name="Skills card 3"/>
          <p:cNvSpPr/>
          <p:nvPr/>
        </p:nvSpPr>
        <p:spPr>
          <a:xfrm>
            <a:off x="6035040" y="1143000"/>
            <a:ext cx="2651760" cy="3383280"/>
          </a:xfrm>
          <a:prstGeom prst="roundRect">
            <a:avLst>
              <a:gd name="adj" fmla="val 2759"/>
            </a:avLst>
          </a:prstGeom>
          <a:solidFill>
            <a:srgbClr val="EEF5F1"/>
          </a:solidFill>
          <a:ln w="12700">
            <a:solidFill>
              <a:srgbClr val="EEF5F1"/>
            </a:solidFill>
            <a:prstDash val="solid"/>
          </a:ln>
        </p:spPr>
      </p:sp>
      <p:sp>
        <p:nvSpPr>
          <p:cNvPr id="15" name="Skills icon 3 bg"/>
          <p:cNvSpPr/>
          <p:nvPr/>
        </p:nvSpPr>
        <p:spPr>
          <a:xfrm>
            <a:off x="6217920" y="1325880"/>
            <a:ext cx="594360" cy="594360"/>
          </a:xfrm>
          <a:prstGeom prst="ellipse">
            <a:avLst/>
          </a:prstGeom>
          <a:solidFill>
            <a:srgbClr val="0F4C3A"/>
          </a:solidFill>
          <a:ln w="12700">
            <a:solidFill>
              <a:srgbClr val="0F4C3A"/>
            </a:solidFill>
            <a:prstDash val="solid"/>
          </a:ln>
        </p:spPr>
      </p:sp>
      <p:pic>
        <p:nvPicPr>
          <p:cNvPr id="16" name="Image 2" descr="FaTools">    </p:cNvPr>
          <p:cNvPicPr>
            <a:picLocks noChangeAspect="1"/>
          </p:cNvPicPr>
          <p:nvPr/>
        </p:nvPicPr>
        <p:blipFill>
          <a:blip r:embed="rId3"/>
          <a:stretch>
            <a:fillRect/>
          </a:stretch>
        </p:blipFill>
        <p:spPr>
          <a:xfrm>
            <a:off x="6360566" y="1468526"/>
            <a:ext cx="309067" cy="309067"/>
          </a:xfrm>
          <a:prstGeom prst="rect">
            <a:avLst/>
          </a:prstGeom>
        </p:spPr>
      </p:pic>
      <p:sp>
        <p:nvSpPr>
          <p:cNvPr id="17" name="Text 12"/>
          <p:cNvSpPr txBox="1"/>
          <p:nvPr/>
        </p:nvSpPr>
        <p:spPr>
          <a:xfrm>
            <a:off x="6217920" y="2011680"/>
            <a:ext cx="2286000" cy="45720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Tools and methods</a:t>
            </a:r>
            <a:endParaRPr lang="en-US" sz="1550" dirty="0"/>
          </a:p>
        </p:txBody>
      </p:sp>
      <p:sp>
        <p:nvSpPr>
          <p:cNvPr id="18" name="Text 13"/>
          <p:cNvSpPr txBox="1"/>
          <p:nvPr/>
        </p:nvSpPr>
        <p:spPr>
          <a:xfrm>
            <a:off x="6217920" y="2560320"/>
            <a:ext cx="2331720" cy="18745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React 19, TanStack Start, Supabase</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Git, VS Code, Postman, ESLint</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Agile Scrum with sprint reviews</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curl scripts and SQL inspection</a:t>
            </a:r>
            <a:endParaRPr lang="en-US" sz="12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Challenges and Measures</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1.1</a:t>
            </a:r>
            <a:endParaRPr lang="en-US" sz="1100" dirty="0"/>
          </a:p>
        </p:txBody>
      </p:sp>
      <p:sp>
        <p:nvSpPr>
          <p:cNvPr id="4" name="Text 2"/>
          <p:cNvSpPr txBox="1"/>
          <p:nvPr/>
        </p:nvSpPr>
        <p:spPr>
          <a:xfrm>
            <a:off x="457200" y="1097280"/>
            <a:ext cx="3291840" cy="274320"/>
          </a:xfrm>
          <a:prstGeom prst="rect">
            <a:avLst/>
          </a:prstGeom>
          <a:noFill/>
          <a:ln/>
        </p:spPr>
        <p:txBody>
          <a:bodyPr wrap="square" lIns="0" tIns="0" rIns="0" bIns="0" rtlCol="0" anchor="ctr"/>
          <a:lstStyle/>
          <a:p>
            <a:pPr indent="0" marL="0">
              <a:buNone/>
            </a:pPr>
            <a:r>
              <a:rPr lang="en-US" sz="1200" b="1" dirty="0">
                <a:solidFill>
                  <a:srgbClr val="B85C38"/>
                </a:solidFill>
                <a:latin typeface="Calibri" pitchFamily="34" charset="0"/>
                <a:ea typeface="Calibri" pitchFamily="34" charset="-122"/>
                <a:cs typeface="Calibri" pitchFamily="34" charset="-120"/>
              </a:rPr>
              <a:t>Challenge</a:t>
            </a:r>
            <a:endParaRPr lang="en-US" sz="1200" dirty="0"/>
          </a:p>
        </p:txBody>
      </p:sp>
      <p:sp>
        <p:nvSpPr>
          <p:cNvPr id="5" name="Text 3"/>
          <p:cNvSpPr txBox="1"/>
          <p:nvPr/>
        </p:nvSpPr>
        <p:spPr>
          <a:xfrm>
            <a:off x="4480560" y="1097280"/>
            <a:ext cx="4206240" cy="274320"/>
          </a:xfrm>
          <a:prstGeom prst="rect">
            <a:avLst/>
          </a:prstGeom>
          <a:noFill/>
          <a:ln/>
        </p:spPr>
        <p:txBody>
          <a:bodyPr wrap="square" lIns="0" tIns="0" rIns="0" bIns="0" rtlCol="0" anchor="ctr"/>
          <a:lstStyle/>
          <a:p>
            <a:pPr indent="0" marL="0">
              <a:buNone/>
            </a:pPr>
            <a:r>
              <a:rPr lang="en-US" sz="1200" b="1" dirty="0">
                <a:solidFill>
                  <a:srgbClr val="287A5D"/>
                </a:solidFill>
                <a:latin typeface="Calibri" pitchFamily="34" charset="0"/>
                <a:ea typeface="Calibri" pitchFamily="34" charset="-122"/>
                <a:cs typeface="Calibri" pitchFamily="34" charset="-120"/>
              </a:rPr>
              <a:t>Measure taken</a:t>
            </a:r>
            <a:endParaRPr lang="en-US" sz="1200" dirty="0"/>
          </a:p>
        </p:txBody>
      </p:sp>
      <p:sp>
        <p:nvSpPr>
          <p:cNvPr id="6" name="Challenge 1"/>
          <p:cNvSpPr/>
          <p:nvPr/>
        </p:nvSpPr>
        <p:spPr>
          <a:xfrm>
            <a:off x="457200" y="1417320"/>
            <a:ext cx="3566160" cy="676656"/>
          </a:xfrm>
          <a:prstGeom prst="roundRect">
            <a:avLst>
              <a:gd name="adj" fmla="val 10811"/>
            </a:avLst>
          </a:prstGeom>
          <a:solidFill>
            <a:srgbClr val="F6E7E0"/>
          </a:solidFill>
          <a:ln w="12700">
            <a:solidFill>
              <a:srgbClr val="F6E7E0"/>
            </a:solidFill>
            <a:prstDash val="solid"/>
          </a:ln>
        </p:spPr>
      </p:sp>
      <p:sp>
        <p:nvSpPr>
          <p:cNvPr id="7" name="Text 5"/>
          <p:cNvSpPr txBox="1"/>
          <p:nvPr/>
        </p:nvSpPr>
        <p:spPr>
          <a:xfrm>
            <a:off x="594360" y="1417320"/>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Public reads vs admin writes</a:t>
            </a:r>
            <a:endParaRPr lang="en-US" sz="1400" dirty="0"/>
          </a:p>
        </p:txBody>
      </p:sp>
      <p:sp>
        <p:nvSpPr>
          <p:cNvPr id="8" name="Arrow 1"/>
          <p:cNvSpPr/>
          <p:nvPr/>
        </p:nvSpPr>
        <p:spPr>
          <a:xfrm>
            <a:off x="4114800" y="1572768"/>
            <a:ext cx="274320" cy="365760"/>
          </a:xfrm>
          <a:prstGeom prst="rightArrow">
            <a:avLst/>
          </a:prstGeom>
          <a:solidFill>
            <a:srgbClr val="287A5D"/>
          </a:solidFill>
          <a:ln w="12700">
            <a:solidFill>
              <a:srgbClr val="287A5D"/>
            </a:solidFill>
            <a:prstDash val="solid"/>
          </a:ln>
        </p:spPr>
      </p:sp>
      <p:sp>
        <p:nvSpPr>
          <p:cNvPr id="9" name="Measure 1"/>
          <p:cNvSpPr/>
          <p:nvPr/>
        </p:nvSpPr>
        <p:spPr>
          <a:xfrm>
            <a:off x="4480560" y="1417320"/>
            <a:ext cx="4206240" cy="676656"/>
          </a:xfrm>
          <a:prstGeom prst="roundRect">
            <a:avLst>
              <a:gd name="adj" fmla="val 10811"/>
            </a:avLst>
          </a:prstGeom>
          <a:solidFill>
            <a:srgbClr val="EEF5F1"/>
          </a:solidFill>
          <a:ln w="12700">
            <a:solidFill>
              <a:srgbClr val="EEF5F1"/>
            </a:solidFill>
            <a:prstDash val="solid"/>
          </a:ln>
        </p:spPr>
      </p:sp>
      <p:sp>
        <p:nvSpPr>
          <p:cNvPr id="10" name="Text 8"/>
          <p:cNvSpPr txBox="1"/>
          <p:nvPr/>
        </p:nvSpPr>
        <p:spPr>
          <a:xfrm>
            <a:off x="4617720" y="1417320"/>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Row Level Security as the main rule; Supabase client for pages, few server functions</a:t>
            </a:r>
            <a:endParaRPr lang="en-US" sz="1250" dirty="0"/>
          </a:p>
        </p:txBody>
      </p:sp>
      <p:sp>
        <p:nvSpPr>
          <p:cNvPr id="11" name="Challenge 2"/>
          <p:cNvSpPr/>
          <p:nvPr/>
        </p:nvSpPr>
        <p:spPr>
          <a:xfrm>
            <a:off x="457200" y="2221992"/>
            <a:ext cx="3566160" cy="676656"/>
          </a:xfrm>
          <a:prstGeom prst="roundRect">
            <a:avLst>
              <a:gd name="adj" fmla="val 10811"/>
            </a:avLst>
          </a:prstGeom>
          <a:solidFill>
            <a:srgbClr val="F6E7E0"/>
          </a:solidFill>
          <a:ln w="12700">
            <a:solidFill>
              <a:srgbClr val="F6E7E0"/>
            </a:solidFill>
            <a:prstDash val="solid"/>
          </a:ln>
        </p:spPr>
      </p:sp>
      <p:sp>
        <p:nvSpPr>
          <p:cNvPr id="12" name="Text 10"/>
          <p:cNvSpPr txBox="1"/>
          <p:nvPr/>
        </p:nvSpPr>
        <p:spPr>
          <a:xfrm>
            <a:off x="594360" y="2221992"/>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Clean, unique URLs</a:t>
            </a:r>
            <a:endParaRPr lang="en-US" sz="1400" dirty="0"/>
          </a:p>
        </p:txBody>
      </p:sp>
      <p:sp>
        <p:nvSpPr>
          <p:cNvPr id="13" name="Arrow 2"/>
          <p:cNvSpPr/>
          <p:nvPr/>
        </p:nvSpPr>
        <p:spPr>
          <a:xfrm>
            <a:off x="4114800" y="2377440"/>
            <a:ext cx="274320" cy="365760"/>
          </a:xfrm>
          <a:prstGeom prst="rightArrow">
            <a:avLst/>
          </a:prstGeom>
          <a:solidFill>
            <a:srgbClr val="287A5D"/>
          </a:solidFill>
          <a:ln w="12700">
            <a:solidFill>
              <a:srgbClr val="287A5D"/>
            </a:solidFill>
            <a:prstDash val="solid"/>
          </a:ln>
        </p:spPr>
      </p:sp>
      <p:sp>
        <p:nvSpPr>
          <p:cNvPr id="14" name="Measure 2"/>
          <p:cNvSpPr/>
          <p:nvPr/>
        </p:nvSpPr>
        <p:spPr>
          <a:xfrm>
            <a:off x="4480560" y="2221992"/>
            <a:ext cx="4206240" cy="676656"/>
          </a:xfrm>
          <a:prstGeom prst="roundRect">
            <a:avLst>
              <a:gd name="adj" fmla="val 10811"/>
            </a:avLst>
          </a:prstGeom>
          <a:solidFill>
            <a:srgbClr val="EEF5F1"/>
          </a:solidFill>
          <a:ln w="12700">
            <a:solidFill>
              <a:srgbClr val="EEF5F1"/>
            </a:solidFill>
            <a:prstDash val="solid"/>
          </a:ln>
        </p:spPr>
      </p:sp>
      <p:sp>
        <p:nvSpPr>
          <p:cNvPr id="15" name="Text 13"/>
          <p:cNvSpPr txBox="1"/>
          <p:nvPr/>
        </p:nvSpPr>
        <p:spPr>
          <a:xfrm>
            <a:off x="4617720" y="2221992"/>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generate_slug() SQL function, unique constraints, -2/-3 check in hooks</a:t>
            </a:r>
            <a:endParaRPr lang="en-US" sz="1250" dirty="0"/>
          </a:p>
        </p:txBody>
      </p:sp>
      <p:sp>
        <p:nvSpPr>
          <p:cNvPr id="16" name="Challenge 3"/>
          <p:cNvSpPr/>
          <p:nvPr/>
        </p:nvSpPr>
        <p:spPr>
          <a:xfrm>
            <a:off x="457200" y="3026664"/>
            <a:ext cx="3566160" cy="676656"/>
          </a:xfrm>
          <a:prstGeom prst="roundRect">
            <a:avLst>
              <a:gd name="adj" fmla="val 10811"/>
            </a:avLst>
          </a:prstGeom>
          <a:solidFill>
            <a:srgbClr val="F6E7E0"/>
          </a:solidFill>
          <a:ln w="12700">
            <a:solidFill>
              <a:srgbClr val="F6E7E0"/>
            </a:solidFill>
            <a:prstDash val="solid"/>
          </a:ln>
        </p:spPr>
      </p:sp>
      <p:sp>
        <p:nvSpPr>
          <p:cNvPr id="17" name="Text 15"/>
          <p:cNvSpPr txBox="1"/>
          <p:nvPr/>
        </p:nvSpPr>
        <p:spPr>
          <a:xfrm>
            <a:off x="594360" y="3026664"/>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Images used by many modules</a:t>
            </a:r>
            <a:endParaRPr lang="en-US" sz="1400" dirty="0"/>
          </a:p>
        </p:txBody>
      </p:sp>
      <p:sp>
        <p:nvSpPr>
          <p:cNvPr id="18" name="Arrow 3"/>
          <p:cNvSpPr/>
          <p:nvPr/>
        </p:nvSpPr>
        <p:spPr>
          <a:xfrm>
            <a:off x="4114800" y="3182112"/>
            <a:ext cx="274320" cy="365760"/>
          </a:xfrm>
          <a:prstGeom prst="rightArrow">
            <a:avLst/>
          </a:prstGeom>
          <a:solidFill>
            <a:srgbClr val="287A5D"/>
          </a:solidFill>
          <a:ln w="12700">
            <a:solidFill>
              <a:srgbClr val="287A5D"/>
            </a:solidFill>
            <a:prstDash val="solid"/>
          </a:ln>
        </p:spPr>
      </p:sp>
      <p:sp>
        <p:nvSpPr>
          <p:cNvPr id="19" name="Measure 3"/>
          <p:cNvSpPr/>
          <p:nvPr/>
        </p:nvSpPr>
        <p:spPr>
          <a:xfrm>
            <a:off x="4480560" y="3026664"/>
            <a:ext cx="4206240" cy="676656"/>
          </a:xfrm>
          <a:prstGeom prst="roundRect">
            <a:avLst>
              <a:gd name="adj" fmla="val 10811"/>
            </a:avLst>
          </a:prstGeom>
          <a:solidFill>
            <a:srgbClr val="EEF5F1"/>
          </a:solidFill>
          <a:ln w="12700">
            <a:solidFill>
              <a:srgbClr val="EEF5F1"/>
            </a:solidFill>
            <a:prstDash val="solid"/>
          </a:ln>
        </p:spPr>
      </p:sp>
      <p:sp>
        <p:nvSpPr>
          <p:cNvPr id="20" name="Text 18"/>
          <p:cNvSpPr txBox="1"/>
          <p:nvPr/>
        </p:nvSpPr>
        <p:spPr>
          <a:xfrm>
            <a:off x="4617720" y="3026664"/>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One central media table and the AdminImageUpload component</a:t>
            </a:r>
            <a:endParaRPr lang="en-US" sz="1250" dirty="0"/>
          </a:p>
        </p:txBody>
      </p:sp>
      <p:sp>
        <p:nvSpPr>
          <p:cNvPr id="21" name="Challenge 4"/>
          <p:cNvSpPr/>
          <p:nvPr/>
        </p:nvSpPr>
        <p:spPr>
          <a:xfrm>
            <a:off x="457200" y="3831336"/>
            <a:ext cx="3566160" cy="676656"/>
          </a:xfrm>
          <a:prstGeom prst="roundRect">
            <a:avLst>
              <a:gd name="adj" fmla="val 10811"/>
            </a:avLst>
          </a:prstGeom>
          <a:solidFill>
            <a:srgbClr val="F6E7E0"/>
          </a:solidFill>
          <a:ln w="12700">
            <a:solidFill>
              <a:srgbClr val="F6E7E0"/>
            </a:solidFill>
            <a:prstDash val="solid"/>
          </a:ln>
        </p:spPr>
      </p:sp>
      <p:sp>
        <p:nvSpPr>
          <p:cNvPr id="22" name="Text 20"/>
          <p:cNvSpPr txBox="1"/>
          <p:nvPr/>
        </p:nvSpPr>
        <p:spPr>
          <a:xfrm>
            <a:off x="594360" y="3831336"/>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Scope growth from every office</a:t>
            </a:r>
            <a:endParaRPr lang="en-US" sz="1400" dirty="0"/>
          </a:p>
        </p:txBody>
      </p:sp>
      <p:sp>
        <p:nvSpPr>
          <p:cNvPr id="23" name="Arrow 4"/>
          <p:cNvSpPr/>
          <p:nvPr/>
        </p:nvSpPr>
        <p:spPr>
          <a:xfrm>
            <a:off x="4114800" y="3986784"/>
            <a:ext cx="274320" cy="365760"/>
          </a:xfrm>
          <a:prstGeom prst="rightArrow">
            <a:avLst/>
          </a:prstGeom>
          <a:solidFill>
            <a:srgbClr val="287A5D"/>
          </a:solidFill>
          <a:ln w="12700">
            <a:solidFill>
              <a:srgbClr val="287A5D"/>
            </a:solidFill>
            <a:prstDash val="solid"/>
          </a:ln>
        </p:spPr>
      </p:sp>
      <p:sp>
        <p:nvSpPr>
          <p:cNvPr id="24" name="Measure 4"/>
          <p:cNvSpPr/>
          <p:nvPr/>
        </p:nvSpPr>
        <p:spPr>
          <a:xfrm>
            <a:off x="4480560" y="3831336"/>
            <a:ext cx="4206240" cy="676656"/>
          </a:xfrm>
          <a:prstGeom prst="roundRect">
            <a:avLst>
              <a:gd name="adj" fmla="val 10811"/>
            </a:avLst>
          </a:prstGeom>
          <a:solidFill>
            <a:srgbClr val="EEF5F1"/>
          </a:solidFill>
          <a:ln w="12700">
            <a:solidFill>
              <a:srgbClr val="EEF5F1"/>
            </a:solidFill>
            <a:prstDash val="solid"/>
          </a:ln>
        </p:spPr>
      </p:sp>
      <p:sp>
        <p:nvSpPr>
          <p:cNvPr id="25" name="Text 23"/>
          <p:cNvSpPr txBox="1"/>
          <p:nvPr/>
        </p:nvSpPr>
        <p:spPr>
          <a:xfrm>
            <a:off x="4617720" y="3831336"/>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Agile backlog: core modules first, extra requests postponed</a:t>
            </a:r>
            <a:endParaRPr lang="en-US" sz="12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1.2 Introduction of the Project</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1.2</a:t>
            </a:r>
            <a:endParaRPr lang="en-US" sz="1100" dirty="0"/>
          </a:p>
        </p:txBody>
      </p:sp>
      <p:sp>
        <p:nvSpPr>
          <p:cNvPr id="4" name="Text 2"/>
          <p:cNvSpPr txBox="1"/>
          <p:nvPr/>
        </p:nvSpPr>
        <p:spPr>
          <a:xfrm>
            <a:off x="457200" y="1097280"/>
            <a:ext cx="4389120" cy="1097280"/>
          </a:xfrm>
          <a:prstGeom prst="rect">
            <a:avLst/>
          </a:prstGeom>
          <a:noFill/>
          <a:ln/>
        </p:spPr>
        <p:txBody>
          <a:bodyPr wrap="square" lIns="0" tIns="0" rIns="0" bIns="0" rtlCol="0" anchor="t"/>
          <a:lstStyle/>
          <a:p>
            <a:pPr indent="0" marL="0">
              <a:buNone/>
            </a:pPr>
            <a:r>
              <a:rPr lang="en-US" sz="1600" dirty="0">
                <a:solidFill>
                  <a:srgbClr val="17251F"/>
                </a:solidFill>
                <a:latin typeface="Calibri" pitchFamily="34" charset="0"/>
                <a:ea typeface="Calibri" pitchFamily="34" charset="-122"/>
                <a:cs typeface="Calibri" pitchFamily="34" charset="-120"/>
              </a:rPr>
              <a:t>OBU-CMS: a dynamic university website with a secure Admin CMS, so that staff publish news, events, programs, research and vacancies without writing code.</a:t>
            </a:r>
            <a:endParaRPr lang="en-US" sz="1600" dirty="0"/>
          </a:p>
        </p:txBody>
      </p:sp>
      <p:sp>
        <p:nvSpPr>
          <p:cNvPr id="5" name="Project stat 1"/>
          <p:cNvSpPr/>
          <p:nvPr/>
        </p:nvSpPr>
        <p:spPr>
          <a:xfrm>
            <a:off x="457200" y="2331720"/>
            <a:ext cx="1371600" cy="1097280"/>
          </a:xfrm>
          <a:prstGeom prst="roundRect">
            <a:avLst>
              <a:gd name="adj" fmla="val 6667"/>
            </a:avLst>
          </a:prstGeom>
          <a:solidFill>
            <a:srgbClr val="0F4C3A"/>
          </a:solidFill>
          <a:ln w="12700">
            <a:solidFill>
              <a:srgbClr val="0F4C3A"/>
            </a:solidFill>
            <a:prstDash val="solid"/>
          </a:ln>
        </p:spPr>
      </p:sp>
      <p:sp>
        <p:nvSpPr>
          <p:cNvPr id="6" name="Text 4"/>
          <p:cNvSpPr txBox="1"/>
          <p:nvPr/>
        </p:nvSpPr>
        <p:spPr>
          <a:xfrm>
            <a:off x="457200" y="2331720"/>
            <a:ext cx="1371600" cy="1097280"/>
          </a:xfrm>
          <a:prstGeom prst="rect">
            <a:avLst/>
          </a:prstGeom>
          <a:noFill/>
          <a:ln/>
        </p:spPr>
        <p:txBody>
          <a:bodyPr wrap="square" lIns="635" tIns="635" rIns="635" bIns="635"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27</a:t>
            </a:r>
            <a:endParaRPr lang="en-US" sz="3000" dirty="0"/>
          </a:p>
          <a:p>
            <a:pPr algn="ctr" indent="0" marL="0">
              <a:buNone/>
            </a:pPr>
            <a:r>
              <a:rPr lang="en-US" sz="1100" dirty="0">
                <a:solidFill>
                  <a:srgbClr val="D4A017"/>
                </a:solidFill>
                <a:latin typeface="Calibri" pitchFamily="34" charset="0"/>
                <a:ea typeface="Calibri" pitchFamily="34" charset="-122"/>
                <a:cs typeface="Calibri" pitchFamily="34" charset="-120"/>
              </a:rPr>
              <a:t>database tables</a:t>
            </a:r>
            <a:endParaRPr lang="en-US" sz="3000" dirty="0"/>
          </a:p>
        </p:txBody>
      </p:sp>
      <p:sp>
        <p:nvSpPr>
          <p:cNvPr id="7" name="Project stat 2"/>
          <p:cNvSpPr/>
          <p:nvPr/>
        </p:nvSpPr>
        <p:spPr>
          <a:xfrm>
            <a:off x="1920240" y="2331720"/>
            <a:ext cx="1371600" cy="1097280"/>
          </a:xfrm>
          <a:prstGeom prst="roundRect">
            <a:avLst>
              <a:gd name="adj" fmla="val 6667"/>
            </a:avLst>
          </a:prstGeom>
          <a:solidFill>
            <a:srgbClr val="0F4C3A"/>
          </a:solidFill>
          <a:ln w="12700">
            <a:solidFill>
              <a:srgbClr val="0F4C3A"/>
            </a:solidFill>
            <a:prstDash val="solid"/>
          </a:ln>
        </p:spPr>
      </p:sp>
      <p:sp>
        <p:nvSpPr>
          <p:cNvPr id="8" name="Text 6"/>
          <p:cNvSpPr txBox="1"/>
          <p:nvPr/>
        </p:nvSpPr>
        <p:spPr>
          <a:xfrm>
            <a:off x="1920240" y="2331720"/>
            <a:ext cx="1371600" cy="1097280"/>
          </a:xfrm>
          <a:prstGeom prst="rect">
            <a:avLst/>
          </a:prstGeom>
          <a:noFill/>
          <a:ln/>
        </p:spPr>
        <p:txBody>
          <a:bodyPr wrap="square" lIns="635" tIns="635" rIns="635" bIns="635"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73</a:t>
            </a:r>
            <a:endParaRPr lang="en-US" sz="3000" dirty="0"/>
          </a:p>
          <a:p>
            <a:pPr algn="ctr" indent="0" marL="0">
              <a:buNone/>
            </a:pPr>
            <a:r>
              <a:rPr lang="en-US" sz="1100" dirty="0">
                <a:solidFill>
                  <a:srgbClr val="D4A017"/>
                </a:solidFill>
                <a:latin typeface="Calibri" pitchFamily="34" charset="0"/>
                <a:ea typeface="Calibri" pitchFamily="34" charset="-122"/>
                <a:cs typeface="Calibri" pitchFamily="34" charset="-120"/>
              </a:rPr>
              <a:t>route files</a:t>
            </a:r>
            <a:endParaRPr lang="en-US" sz="3000" dirty="0"/>
          </a:p>
        </p:txBody>
      </p:sp>
      <p:sp>
        <p:nvSpPr>
          <p:cNvPr id="9" name="Project stat 3"/>
          <p:cNvSpPr/>
          <p:nvPr/>
        </p:nvSpPr>
        <p:spPr>
          <a:xfrm>
            <a:off x="3383280" y="2331720"/>
            <a:ext cx="1371600" cy="1097280"/>
          </a:xfrm>
          <a:prstGeom prst="roundRect">
            <a:avLst>
              <a:gd name="adj" fmla="val 6667"/>
            </a:avLst>
          </a:prstGeom>
          <a:solidFill>
            <a:srgbClr val="0F4C3A"/>
          </a:solidFill>
          <a:ln w="12700">
            <a:solidFill>
              <a:srgbClr val="0F4C3A"/>
            </a:solidFill>
            <a:prstDash val="solid"/>
          </a:ln>
        </p:spPr>
      </p:sp>
      <p:sp>
        <p:nvSpPr>
          <p:cNvPr id="10" name="Text 8"/>
          <p:cNvSpPr txBox="1"/>
          <p:nvPr/>
        </p:nvSpPr>
        <p:spPr>
          <a:xfrm>
            <a:off x="3383280" y="2331720"/>
            <a:ext cx="1371600" cy="1097280"/>
          </a:xfrm>
          <a:prstGeom prst="rect">
            <a:avLst/>
          </a:prstGeom>
          <a:noFill/>
          <a:ln/>
        </p:spPr>
        <p:txBody>
          <a:bodyPr wrap="square" lIns="635" tIns="635" rIns="635" bIns="635"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30</a:t>
            </a:r>
            <a:endParaRPr lang="en-US" sz="3000" dirty="0"/>
          </a:p>
          <a:p>
            <a:pPr algn="ctr" indent="0" marL="0">
              <a:buNone/>
            </a:pPr>
            <a:r>
              <a:rPr lang="en-US" sz="1100" dirty="0">
                <a:solidFill>
                  <a:srgbClr val="D4A017"/>
                </a:solidFill>
                <a:latin typeface="Calibri" pitchFamily="34" charset="0"/>
                <a:ea typeface="Calibri" pitchFamily="34" charset="-122"/>
                <a:cs typeface="Calibri" pitchFamily="34" charset="-120"/>
              </a:rPr>
              <a:t>functional requirements</a:t>
            </a:r>
            <a:endParaRPr lang="en-US" sz="3000" dirty="0"/>
          </a:p>
        </p:txBody>
      </p:sp>
      <p:sp>
        <p:nvSpPr>
          <p:cNvPr id="11" name="Text 9"/>
          <p:cNvSpPr txBox="1"/>
          <p:nvPr/>
        </p:nvSpPr>
        <p:spPr>
          <a:xfrm>
            <a:off x="457200" y="3611880"/>
            <a:ext cx="4389120" cy="82296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React 19 + TanStack Start  |  TypeScript  |  Tailwind CSS  |  Supabase (PostgreSQL, Auth, Storage)</a:t>
            </a:r>
            <a:endParaRPr lang="en-US" sz="1300" dirty="0"/>
          </a:p>
        </p:txBody>
      </p:sp>
      <p:pic>
        <p:nvPicPr>
          <p:cNvPr id="12" name="Image 0" descr="New OBU-CMS home page">    </p:cNvPr>
          <p:cNvPicPr>
            <a:picLocks noChangeAspect="1"/>
          </p:cNvPicPr>
          <p:nvPr/>
        </p:nvPicPr>
        <p:blipFill>
          <a:blip r:embed="rId1"/>
          <a:stretch>
            <a:fillRect/>
          </a:stretch>
        </p:blipFill>
        <p:spPr>
          <a:xfrm>
            <a:off x="5257800" y="1188720"/>
            <a:ext cx="3291840" cy="1589488"/>
          </a:xfrm>
          <a:prstGeom prst="rect">
            <a:avLst/>
          </a:prstGeom>
          <a:effectLst>
            <a:outerShdw sx="100000" sy="100000" kx="0" ky="0" algn="bl" rotWithShape="0" blurRad="76200" dist="25400" dir="5400000">
              <a:srgbClr val="000000">
                <a:alpha val="12000"/>
              </a:srgbClr>
            </a:outerShdw>
          </a:effectLst>
        </p:spPr>
      </p:pic>
      <p:pic>
        <p:nvPicPr>
          <p:cNvPr id="13" name="Image 1" descr="Admin CMS dashboard">    </p:cNvPr>
          <p:cNvPicPr>
            <a:picLocks noChangeAspect="1"/>
          </p:cNvPicPr>
          <p:nvPr/>
        </p:nvPicPr>
        <p:blipFill>
          <a:blip r:embed="rId2"/>
          <a:stretch>
            <a:fillRect/>
          </a:stretch>
        </p:blipFill>
        <p:spPr>
          <a:xfrm>
            <a:off x="5257800" y="2961088"/>
            <a:ext cx="3291840" cy="1589488"/>
          </a:xfrm>
          <a:prstGeom prst="rect">
            <a:avLst/>
          </a:prstGeom>
          <a:effectLst>
            <a:outerShdw sx="100000" sy="100000" kx="0" ky="0" algn="bl" rotWithShape="0" blurRad="76200" dist="25400" dir="5400000">
              <a:srgbClr val="000000">
                <a:alpha val="12000"/>
              </a:srgbClr>
            </a:outerShdw>
          </a:effectLst>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2. Problem and Justification</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2</a:t>
            </a:r>
            <a:endParaRPr lang="en-US" sz="1100" dirty="0"/>
          </a:p>
        </p:txBody>
      </p:sp>
      <p:sp>
        <p:nvSpPr>
          <p:cNvPr id="4" name="Problem icon 1 bg"/>
          <p:cNvSpPr/>
          <p:nvPr/>
        </p:nvSpPr>
        <p:spPr>
          <a:xfrm>
            <a:off x="457200" y="1143000"/>
            <a:ext cx="548640" cy="548640"/>
          </a:xfrm>
          <a:prstGeom prst="ellipse">
            <a:avLst/>
          </a:prstGeom>
          <a:solidFill>
            <a:srgbClr val="B85C38"/>
          </a:solidFill>
          <a:ln w="12700">
            <a:solidFill>
              <a:srgbClr val="B85C38"/>
            </a:solidFill>
            <a:prstDash val="solid"/>
          </a:ln>
        </p:spPr>
      </p:sp>
      <p:pic>
        <p:nvPicPr>
          <p:cNvPr id="5" name="Image 0" descr="FaUserCog">    </p:cNvPr>
          <p:cNvPicPr>
            <a:picLocks noChangeAspect="1"/>
          </p:cNvPicPr>
          <p:nvPr/>
        </p:nvPicPr>
        <p:blipFill>
          <a:blip r:embed="rId1"/>
          <a:stretch>
            <a:fillRect/>
          </a:stretch>
        </p:blipFill>
        <p:spPr>
          <a:xfrm>
            <a:off x="588874" y="1274674"/>
            <a:ext cx="285293" cy="285293"/>
          </a:xfrm>
          <a:prstGeom prst="rect">
            <a:avLst/>
          </a:prstGeom>
        </p:spPr>
      </p:pic>
      <p:sp>
        <p:nvSpPr>
          <p:cNvPr id="6" name="Text 3"/>
          <p:cNvSpPr txBox="1"/>
          <p:nvPr/>
        </p:nvSpPr>
        <p:spPr>
          <a:xfrm>
            <a:off x="1188720" y="1069848"/>
            <a:ext cx="3291840" cy="713232"/>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Content depends on technical staff</a:t>
            </a:r>
            <a:endParaRPr lang="en-US" sz="1450" dirty="0"/>
          </a:p>
          <a:p>
            <a:pPr indent="0" marL="0">
              <a:buNone/>
            </a:pPr>
            <a:r>
              <a:rPr lang="en-US" sz="1200" dirty="0">
                <a:solidFill>
                  <a:srgbClr val="5B6B64"/>
                </a:solidFill>
                <a:latin typeface="Calibri" pitchFamily="34" charset="0"/>
                <a:ea typeface="Calibri" pitchFamily="34" charset="-122"/>
                <a:cs typeface="Calibri" pitchFamily="34" charset="-120"/>
              </a:rPr>
              <a:t>Urgent notices are delayed</a:t>
            </a:r>
            <a:endParaRPr lang="en-US" sz="1450" dirty="0"/>
          </a:p>
        </p:txBody>
      </p:sp>
      <p:sp>
        <p:nvSpPr>
          <p:cNvPr id="7" name="Problem icon 2 bg"/>
          <p:cNvSpPr/>
          <p:nvPr/>
        </p:nvSpPr>
        <p:spPr>
          <a:xfrm>
            <a:off x="457200" y="2011680"/>
            <a:ext cx="548640" cy="548640"/>
          </a:xfrm>
          <a:prstGeom prst="ellipse">
            <a:avLst/>
          </a:prstGeom>
          <a:solidFill>
            <a:srgbClr val="B85C38"/>
          </a:solidFill>
          <a:ln w="12700">
            <a:solidFill>
              <a:srgbClr val="B85C38"/>
            </a:solidFill>
            <a:prstDash val="solid"/>
          </a:ln>
        </p:spPr>
      </p:sp>
      <p:pic>
        <p:nvPicPr>
          <p:cNvPr id="8" name="Image 1" descr="FaThList">    </p:cNvPr>
          <p:cNvPicPr>
            <a:picLocks noChangeAspect="1"/>
          </p:cNvPicPr>
          <p:nvPr/>
        </p:nvPicPr>
        <p:blipFill>
          <a:blip r:embed="rId2"/>
          <a:stretch>
            <a:fillRect/>
          </a:stretch>
        </p:blipFill>
        <p:spPr>
          <a:xfrm>
            <a:off x="588874" y="2143354"/>
            <a:ext cx="285293" cy="285293"/>
          </a:xfrm>
          <a:prstGeom prst="rect">
            <a:avLst/>
          </a:prstGeom>
        </p:spPr>
      </p:pic>
      <p:sp>
        <p:nvSpPr>
          <p:cNvPr id="9" name="Text 5"/>
          <p:cNvSpPr txBox="1"/>
          <p:nvPr/>
        </p:nvSpPr>
        <p:spPr>
          <a:xfrm>
            <a:off x="1188720" y="1938528"/>
            <a:ext cx="3291840" cy="713232"/>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No structured content or clean links</a:t>
            </a:r>
            <a:endParaRPr lang="en-US" sz="1450" dirty="0"/>
          </a:p>
          <a:p>
            <a:pPr indent="0" marL="0">
              <a:buNone/>
            </a:pPr>
            <a:r>
              <a:rPr lang="en-US" sz="1200" dirty="0">
                <a:solidFill>
                  <a:srgbClr val="5B6B64"/>
                </a:solidFill>
                <a:latin typeface="Calibri" pitchFamily="34" charset="0"/>
                <a:ea typeface="Calibri" pitchFamily="34" charset="-122"/>
                <a:cs typeface="Calibri" pitchFamily="34" charset="-120"/>
              </a:rPr>
              <a:t>News, events, vacancies are not managed records</a:t>
            </a:r>
            <a:endParaRPr lang="en-US" sz="1450" dirty="0"/>
          </a:p>
        </p:txBody>
      </p:sp>
      <p:sp>
        <p:nvSpPr>
          <p:cNvPr id="10" name="Problem icon 3 bg"/>
          <p:cNvSpPr/>
          <p:nvPr/>
        </p:nvSpPr>
        <p:spPr>
          <a:xfrm>
            <a:off x="457200" y="2880360"/>
            <a:ext cx="548640" cy="548640"/>
          </a:xfrm>
          <a:prstGeom prst="ellipse">
            <a:avLst/>
          </a:prstGeom>
          <a:solidFill>
            <a:srgbClr val="B85C38"/>
          </a:solidFill>
          <a:ln w="12700">
            <a:solidFill>
              <a:srgbClr val="B85C38"/>
            </a:solidFill>
            <a:prstDash val="solid"/>
          </a:ln>
        </p:spPr>
      </p:sp>
      <p:pic>
        <p:nvPicPr>
          <p:cNvPr id="11" name="Image 2" descr="FaImages">    </p:cNvPr>
          <p:cNvPicPr>
            <a:picLocks noChangeAspect="1"/>
          </p:cNvPicPr>
          <p:nvPr/>
        </p:nvPicPr>
        <p:blipFill>
          <a:blip r:embed="rId3"/>
          <a:stretch>
            <a:fillRect/>
          </a:stretch>
        </p:blipFill>
        <p:spPr>
          <a:xfrm>
            <a:off x="588874" y="3012034"/>
            <a:ext cx="285293" cy="285293"/>
          </a:xfrm>
          <a:prstGeom prst="rect">
            <a:avLst/>
          </a:prstGeom>
        </p:spPr>
      </p:pic>
      <p:sp>
        <p:nvSpPr>
          <p:cNvPr id="12" name="Text 7"/>
          <p:cNvSpPr txBox="1"/>
          <p:nvPr/>
        </p:nvSpPr>
        <p:spPr>
          <a:xfrm>
            <a:off x="1188720" y="2807208"/>
            <a:ext cx="3291840" cy="713232"/>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No media library, roles or audit trail</a:t>
            </a:r>
            <a:endParaRPr lang="en-US" sz="1450" dirty="0"/>
          </a:p>
          <a:p>
            <a:pPr indent="0" marL="0">
              <a:buNone/>
            </a:pPr>
            <a:r>
              <a:rPr lang="en-US" sz="1200" dirty="0">
                <a:solidFill>
                  <a:srgbClr val="5B6B64"/>
                </a:solidFill>
                <a:latin typeface="Calibri" pitchFamily="34" charset="0"/>
                <a:ea typeface="Calibri" pitchFamily="34" charset="-122"/>
                <a:cs typeface="Calibri" pitchFamily="34" charset="-120"/>
              </a:rPr>
              <a:t>Nobody can tell who changed what</a:t>
            </a:r>
            <a:endParaRPr lang="en-US" sz="1450" dirty="0"/>
          </a:p>
        </p:txBody>
      </p:sp>
      <p:sp>
        <p:nvSpPr>
          <p:cNvPr id="13" name="Problem icon 4 bg"/>
          <p:cNvSpPr/>
          <p:nvPr/>
        </p:nvSpPr>
        <p:spPr>
          <a:xfrm>
            <a:off x="457200" y="3749040"/>
            <a:ext cx="548640" cy="548640"/>
          </a:xfrm>
          <a:prstGeom prst="ellipse">
            <a:avLst/>
          </a:prstGeom>
          <a:solidFill>
            <a:srgbClr val="B85C38"/>
          </a:solidFill>
          <a:ln w="12700">
            <a:solidFill>
              <a:srgbClr val="B85C38"/>
            </a:solidFill>
            <a:prstDash val="solid"/>
          </a:ln>
        </p:spPr>
      </p:sp>
      <p:pic>
        <p:nvPicPr>
          <p:cNvPr id="14" name="Image 3" descr="FaMobileAlt">    </p:cNvPr>
          <p:cNvPicPr>
            <a:picLocks noChangeAspect="1"/>
          </p:cNvPicPr>
          <p:nvPr/>
        </p:nvPicPr>
        <p:blipFill>
          <a:blip r:embed="rId4"/>
          <a:stretch>
            <a:fillRect/>
          </a:stretch>
        </p:blipFill>
        <p:spPr>
          <a:xfrm>
            <a:off x="588874" y="3880714"/>
            <a:ext cx="285293" cy="285293"/>
          </a:xfrm>
          <a:prstGeom prst="rect">
            <a:avLst/>
          </a:prstGeom>
        </p:spPr>
      </p:pic>
      <p:sp>
        <p:nvSpPr>
          <p:cNvPr id="15" name="Text 9"/>
          <p:cNvSpPr txBox="1"/>
          <p:nvPr/>
        </p:nvSpPr>
        <p:spPr>
          <a:xfrm>
            <a:off x="1188720" y="3675888"/>
            <a:ext cx="3291840" cy="713232"/>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Hard to read on phones</a:t>
            </a:r>
            <a:endParaRPr lang="en-US" sz="1450" dirty="0"/>
          </a:p>
          <a:p>
            <a:pPr indent="0" marL="0">
              <a:buNone/>
            </a:pPr>
            <a:r>
              <a:rPr lang="en-US" sz="1200" dirty="0">
                <a:solidFill>
                  <a:srgbClr val="5B6B64"/>
                </a:solidFill>
                <a:latin typeface="Calibri" pitchFamily="34" charset="0"/>
                <a:ea typeface="Calibri" pitchFamily="34" charset="-122"/>
                <a:cs typeface="Calibri" pitchFamily="34" charset="-120"/>
              </a:rPr>
              <a:t>Deep menus, low contrast, fixed 2023 footer</a:t>
            </a:r>
            <a:endParaRPr lang="en-US" sz="1450" dirty="0"/>
          </a:p>
        </p:txBody>
      </p:sp>
      <p:sp>
        <p:nvSpPr>
          <p:cNvPr id="16" name="Justification"/>
          <p:cNvSpPr/>
          <p:nvPr/>
        </p:nvSpPr>
        <p:spPr>
          <a:xfrm>
            <a:off x="4663440" y="1143000"/>
            <a:ext cx="4023360" cy="3429000"/>
          </a:xfrm>
          <a:prstGeom prst="roundRect">
            <a:avLst>
              <a:gd name="adj" fmla="val 2133"/>
            </a:avLst>
          </a:prstGeom>
          <a:solidFill>
            <a:srgbClr val="0F4C3A"/>
          </a:solidFill>
          <a:ln w="12700">
            <a:solidFill>
              <a:srgbClr val="0F4C3A"/>
            </a:solidFill>
            <a:prstDash val="solid"/>
          </a:ln>
        </p:spPr>
      </p:sp>
      <p:sp>
        <p:nvSpPr>
          <p:cNvPr id="17" name="Text 11"/>
          <p:cNvSpPr txBox="1"/>
          <p:nvPr/>
        </p:nvSpPr>
        <p:spPr>
          <a:xfrm>
            <a:off x="4846320" y="1234440"/>
            <a:ext cx="3657600" cy="411480"/>
          </a:xfrm>
          <a:prstGeom prst="rect">
            <a:avLst/>
          </a:prstGeom>
          <a:noFill/>
          <a:ln/>
        </p:spPr>
        <p:txBody>
          <a:bodyPr wrap="square" lIns="0" tIns="0" rIns="0" bIns="0" rtlCol="0" anchor="ctr"/>
          <a:lstStyle/>
          <a:p>
            <a:pPr indent="0" marL="0">
              <a:buNone/>
            </a:pPr>
            <a:r>
              <a:rPr lang="en-US" sz="1800" b="1" dirty="0">
                <a:solidFill>
                  <a:srgbClr val="D4A017"/>
                </a:solidFill>
                <a:latin typeface="Cambria" pitchFamily="34" charset="0"/>
                <a:ea typeface="Cambria" pitchFamily="34" charset="-122"/>
                <a:cs typeface="Cambria" pitchFamily="34" charset="-120"/>
              </a:rPr>
              <a:t>Why it is justified</a:t>
            </a:r>
            <a:endParaRPr lang="en-US" sz="1800" dirty="0"/>
          </a:p>
        </p:txBody>
      </p:sp>
      <p:sp>
        <p:nvSpPr>
          <p:cNvPr id="18" name="Text 12"/>
          <p:cNvSpPr txBox="1"/>
          <p:nvPr/>
        </p:nvSpPr>
        <p:spPr>
          <a:xfrm>
            <a:off x="4846320" y="1691640"/>
            <a:ext cx="3657600" cy="27432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Registration and exam notices are time-sensitive</a:t>
            </a:r>
            <a:endParaRPr lang="en-US" sz="1350" dirty="0"/>
          </a:p>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Many offices must publish independently and safely</a:t>
            </a:r>
            <a:endParaRPr lang="en-US" sz="1350" dirty="0"/>
          </a:p>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Students mostly use phones</a:t>
            </a:r>
            <a:endParaRPr lang="en-US" sz="1350" dirty="0"/>
          </a:p>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Accountability: who changed what, and when</a:t>
            </a:r>
            <a:endParaRPr lang="en-US" sz="1350" dirty="0"/>
          </a:p>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One reusable system lowers maintenance work</a:t>
            </a:r>
            <a:endParaRPr lang="en-US" sz="13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3. Objectives of the Project</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3</a:t>
            </a:r>
            <a:endParaRPr lang="en-US" sz="1100" dirty="0"/>
          </a:p>
        </p:txBody>
      </p:sp>
      <p:sp>
        <p:nvSpPr>
          <p:cNvPr id="4" name="General objective"/>
          <p:cNvSpPr/>
          <p:nvPr/>
        </p:nvSpPr>
        <p:spPr>
          <a:xfrm>
            <a:off x="457200" y="1097280"/>
            <a:ext cx="8229600" cy="960120"/>
          </a:xfrm>
          <a:prstGeom prst="roundRect">
            <a:avLst>
              <a:gd name="adj" fmla="val 7619"/>
            </a:avLst>
          </a:prstGeom>
          <a:solidFill>
            <a:srgbClr val="0F4C3A"/>
          </a:solidFill>
          <a:ln w="12700">
            <a:solidFill>
              <a:srgbClr val="0F4C3A"/>
            </a:solidFill>
            <a:prstDash val="solid"/>
          </a:ln>
        </p:spPr>
      </p:sp>
      <p:sp>
        <p:nvSpPr>
          <p:cNvPr id="5" name="Text 3"/>
          <p:cNvSpPr txBox="1"/>
          <p:nvPr/>
        </p:nvSpPr>
        <p:spPr>
          <a:xfrm>
            <a:off x="685800" y="1143000"/>
            <a:ext cx="7772400" cy="868680"/>
          </a:xfrm>
          <a:prstGeom prst="rect">
            <a:avLst/>
          </a:prstGeom>
          <a:noFill/>
          <a:ln/>
        </p:spPr>
        <p:txBody>
          <a:bodyPr wrap="square" lIns="0" tIns="0" rIns="0" bIns="0" rtlCol="0" anchor="ctr"/>
          <a:lstStyle/>
          <a:p>
            <a:pPr indent="0" marL="0">
              <a:buNone/>
            </a:pPr>
            <a:r>
              <a:rPr lang="en-US" sz="1600" b="1" dirty="0">
                <a:solidFill>
                  <a:srgbClr val="D4A017"/>
                </a:solidFill>
                <a:latin typeface="Calibri" pitchFamily="34" charset="0"/>
                <a:ea typeface="Calibri" pitchFamily="34" charset="-122"/>
                <a:cs typeface="Calibri" pitchFamily="34" charset="-120"/>
              </a:rPr>
              <a:t>General objective  </a:t>
            </a:r>
            <a:pPr indent="0" marL="0">
              <a:buNone/>
            </a:pPr>
            <a:r>
              <a:rPr lang="en-US" sz="1600" dirty="0">
                <a:solidFill>
                  <a:srgbClr val="FFFFFF"/>
                </a:solidFill>
                <a:latin typeface="Calibri" pitchFamily="34" charset="0"/>
                <a:ea typeface="Calibri" pitchFamily="34" charset="-122"/>
                <a:cs typeface="Calibri" pitchFamily="34" charset="-120"/>
              </a:rPr>
              <a:t>Build a secure, responsive, database-driven website and CMS so that non-technical staff publish university information themselves.</a:t>
            </a:r>
            <a:endParaRPr lang="en-US" sz="1600" dirty="0"/>
          </a:p>
        </p:txBody>
      </p:sp>
      <p:sp>
        <p:nvSpPr>
          <p:cNvPr id="6" name="Objective card 1"/>
          <p:cNvSpPr/>
          <p:nvPr/>
        </p:nvSpPr>
        <p:spPr>
          <a:xfrm>
            <a:off x="457200" y="2331720"/>
            <a:ext cx="1938528" cy="2148840"/>
          </a:xfrm>
          <a:prstGeom prst="roundRect">
            <a:avLst>
              <a:gd name="adj" fmla="val 3774"/>
            </a:avLst>
          </a:prstGeom>
          <a:solidFill>
            <a:srgbClr val="EEF5F1"/>
          </a:solidFill>
          <a:ln w="12700">
            <a:solidFill>
              <a:srgbClr val="EEF5F1"/>
            </a:solidFill>
            <a:prstDash val="solid"/>
          </a:ln>
        </p:spPr>
      </p:sp>
      <p:sp>
        <p:nvSpPr>
          <p:cNvPr id="7" name="Objective icon 1 bg"/>
          <p:cNvSpPr/>
          <p:nvPr/>
        </p:nvSpPr>
        <p:spPr>
          <a:xfrm>
            <a:off x="621792" y="2487168"/>
            <a:ext cx="566928" cy="566928"/>
          </a:xfrm>
          <a:prstGeom prst="ellipse">
            <a:avLst/>
          </a:prstGeom>
          <a:solidFill>
            <a:srgbClr val="287A5D"/>
          </a:solidFill>
          <a:ln w="12700">
            <a:solidFill>
              <a:srgbClr val="287A5D"/>
            </a:solidFill>
            <a:prstDash val="solid"/>
          </a:ln>
        </p:spPr>
      </p:sp>
      <p:pic>
        <p:nvPicPr>
          <p:cNvPr id="8" name="Image 0" descr="FaGlobe">    </p:cNvPr>
          <p:cNvPicPr>
            <a:picLocks noChangeAspect="1"/>
          </p:cNvPicPr>
          <p:nvPr/>
        </p:nvPicPr>
        <p:blipFill>
          <a:blip r:embed="rId1"/>
          <a:stretch>
            <a:fillRect/>
          </a:stretch>
        </p:blipFill>
        <p:spPr>
          <a:xfrm>
            <a:off x="757855" y="2623231"/>
            <a:ext cx="294803" cy="294803"/>
          </a:xfrm>
          <a:prstGeom prst="rect">
            <a:avLst/>
          </a:prstGeom>
        </p:spPr>
      </p:pic>
      <p:sp>
        <p:nvSpPr>
          <p:cNvPr id="9" name="Text 6"/>
          <p:cNvSpPr txBox="1"/>
          <p:nvPr/>
        </p:nvSpPr>
        <p:spPr>
          <a:xfrm>
            <a:off x="621792"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Dynamic website</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Slug-based pages for news, events, programs, research, leadership</a:t>
            </a:r>
            <a:endParaRPr lang="en-US" sz="1500" dirty="0"/>
          </a:p>
        </p:txBody>
      </p:sp>
      <p:sp>
        <p:nvSpPr>
          <p:cNvPr id="10" name="Objective card 2"/>
          <p:cNvSpPr/>
          <p:nvPr/>
        </p:nvSpPr>
        <p:spPr>
          <a:xfrm>
            <a:off x="2542032" y="2331720"/>
            <a:ext cx="1938528" cy="2148840"/>
          </a:xfrm>
          <a:prstGeom prst="roundRect">
            <a:avLst>
              <a:gd name="adj" fmla="val 3774"/>
            </a:avLst>
          </a:prstGeom>
          <a:solidFill>
            <a:srgbClr val="EEF5F1"/>
          </a:solidFill>
          <a:ln w="12700">
            <a:solidFill>
              <a:srgbClr val="EEF5F1"/>
            </a:solidFill>
            <a:prstDash val="solid"/>
          </a:ln>
        </p:spPr>
      </p:sp>
      <p:sp>
        <p:nvSpPr>
          <p:cNvPr id="11" name="Objective icon 2 bg"/>
          <p:cNvSpPr/>
          <p:nvPr/>
        </p:nvSpPr>
        <p:spPr>
          <a:xfrm>
            <a:off x="2706624" y="2487168"/>
            <a:ext cx="566928" cy="566928"/>
          </a:xfrm>
          <a:prstGeom prst="ellipse">
            <a:avLst/>
          </a:prstGeom>
          <a:solidFill>
            <a:srgbClr val="287A5D"/>
          </a:solidFill>
          <a:ln w="12700">
            <a:solidFill>
              <a:srgbClr val="287A5D"/>
            </a:solidFill>
            <a:prstDash val="solid"/>
          </a:ln>
        </p:spPr>
      </p:sp>
      <p:pic>
        <p:nvPicPr>
          <p:cNvPr id="12" name="Image 1" descr="FaLock">    </p:cNvPr>
          <p:cNvPicPr>
            <a:picLocks noChangeAspect="1"/>
          </p:cNvPicPr>
          <p:nvPr/>
        </p:nvPicPr>
        <p:blipFill>
          <a:blip r:embed="rId2"/>
          <a:stretch>
            <a:fillRect/>
          </a:stretch>
        </p:blipFill>
        <p:spPr>
          <a:xfrm>
            <a:off x="2842687" y="2623231"/>
            <a:ext cx="294803" cy="294803"/>
          </a:xfrm>
          <a:prstGeom prst="rect">
            <a:avLst/>
          </a:prstGeom>
        </p:spPr>
      </p:pic>
      <p:sp>
        <p:nvSpPr>
          <p:cNvPr id="13" name="Text 9"/>
          <p:cNvSpPr txBox="1"/>
          <p:nvPr/>
        </p:nvSpPr>
        <p:spPr>
          <a:xfrm>
            <a:off x="2706624"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Secure Admin CMS</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Login, Row Level Security, role-based System menu</a:t>
            </a:r>
            <a:endParaRPr lang="en-US" sz="1500" dirty="0"/>
          </a:p>
        </p:txBody>
      </p:sp>
      <p:sp>
        <p:nvSpPr>
          <p:cNvPr id="14" name="Objective card 3"/>
          <p:cNvSpPr/>
          <p:nvPr/>
        </p:nvSpPr>
        <p:spPr>
          <a:xfrm>
            <a:off x="4626864" y="2331720"/>
            <a:ext cx="1938528" cy="2148840"/>
          </a:xfrm>
          <a:prstGeom prst="roundRect">
            <a:avLst>
              <a:gd name="adj" fmla="val 3774"/>
            </a:avLst>
          </a:prstGeom>
          <a:solidFill>
            <a:srgbClr val="EEF5F1"/>
          </a:solidFill>
          <a:ln w="12700">
            <a:solidFill>
              <a:srgbClr val="EEF5F1"/>
            </a:solidFill>
            <a:prstDash val="solid"/>
          </a:ln>
        </p:spPr>
      </p:sp>
      <p:sp>
        <p:nvSpPr>
          <p:cNvPr id="15" name="Objective icon 3 bg"/>
          <p:cNvSpPr/>
          <p:nvPr/>
        </p:nvSpPr>
        <p:spPr>
          <a:xfrm>
            <a:off x="4791456" y="2487168"/>
            <a:ext cx="566928" cy="566928"/>
          </a:xfrm>
          <a:prstGeom prst="ellipse">
            <a:avLst/>
          </a:prstGeom>
          <a:solidFill>
            <a:srgbClr val="287A5D"/>
          </a:solidFill>
          <a:ln w="12700">
            <a:solidFill>
              <a:srgbClr val="287A5D"/>
            </a:solidFill>
            <a:prstDash val="solid"/>
          </a:ln>
        </p:spPr>
      </p:sp>
      <p:pic>
        <p:nvPicPr>
          <p:cNvPr id="16" name="Image 2" descr="FaImages">    </p:cNvPr>
          <p:cNvPicPr>
            <a:picLocks noChangeAspect="1"/>
          </p:cNvPicPr>
          <p:nvPr/>
        </p:nvPicPr>
        <p:blipFill>
          <a:blip r:embed="rId3"/>
          <a:stretch>
            <a:fillRect/>
          </a:stretch>
        </p:blipFill>
        <p:spPr>
          <a:xfrm>
            <a:off x="4927519" y="2623231"/>
            <a:ext cx="294803" cy="294803"/>
          </a:xfrm>
          <a:prstGeom prst="rect">
            <a:avLst/>
          </a:prstGeom>
        </p:spPr>
      </p:pic>
      <p:sp>
        <p:nvSpPr>
          <p:cNvPr id="17" name="Text 12"/>
          <p:cNvSpPr txBox="1"/>
          <p:nvPr/>
        </p:nvSpPr>
        <p:spPr>
          <a:xfrm>
            <a:off x="4791456"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Media library</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Upload once, reuse everywhere; type and 10 MB checks</a:t>
            </a:r>
            <a:endParaRPr lang="en-US" sz="1500" dirty="0"/>
          </a:p>
        </p:txBody>
      </p:sp>
      <p:sp>
        <p:nvSpPr>
          <p:cNvPr id="18" name="Objective card 4"/>
          <p:cNvSpPr/>
          <p:nvPr/>
        </p:nvSpPr>
        <p:spPr>
          <a:xfrm>
            <a:off x="6711696" y="2331720"/>
            <a:ext cx="1938528" cy="2148840"/>
          </a:xfrm>
          <a:prstGeom prst="roundRect">
            <a:avLst>
              <a:gd name="adj" fmla="val 3774"/>
            </a:avLst>
          </a:prstGeom>
          <a:solidFill>
            <a:srgbClr val="EEF5F1"/>
          </a:solidFill>
          <a:ln w="12700">
            <a:solidFill>
              <a:srgbClr val="EEF5F1"/>
            </a:solidFill>
            <a:prstDash val="solid"/>
          </a:ln>
        </p:spPr>
      </p:sp>
      <p:sp>
        <p:nvSpPr>
          <p:cNvPr id="19" name="Objective icon 4 bg"/>
          <p:cNvSpPr/>
          <p:nvPr/>
        </p:nvSpPr>
        <p:spPr>
          <a:xfrm>
            <a:off x="6876288" y="2487168"/>
            <a:ext cx="566928" cy="566928"/>
          </a:xfrm>
          <a:prstGeom prst="ellipse">
            <a:avLst/>
          </a:prstGeom>
          <a:solidFill>
            <a:srgbClr val="287A5D"/>
          </a:solidFill>
          <a:ln w="12700">
            <a:solidFill>
              <a:srgbClr val="287A5D"/>
            </a:solidFill>
            <a:prstDash val="solid"/>
          </a:ln>
        </p:spPr>
      </p:sp>
      <p:pic>
        <p:nvPicPr>
          <p:cNvPr id="20" name="Image 3" descr="FaClipboardList">    </p:cNvPr>
          <p:cNvPicPr>
            <a:picLocks noChangeAspect="1"/>
          </p:cNvPicPr>
          <p:nvPr/>
        </p:nvPicPr>
        <p:blipFill>
          <a:blip r:embed="rId4"/>
          <a:stretch>
            <a:fillRect/>
          </a:stretch>
        </p:blipFill>
        <p:spPr>
          <a:xfrm>
            <a:off x="7012351" y="2623231"/>
            <a:ext cx="294803" cy="294803"/>
          </a:xfrm>
          <a:prstGeom prst="rect">
            <a:avLst/>
          </a:prstGeom>
        </p:spPr>
      </p:pic>
      <p:sp>
        <p:nvSpPr>
          <p:cNvPr id="21" name="Text 15"/>
          <p:cNvSpPr txBox="1"/>
          <p:nvPr/>
        </p:nvSpPr>
        <p:spPr>
          <a:xfrm>
            <a:off x="6876288"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Audit log</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Every create, update, delete and upload is recorded</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4. Literature Review</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4</a:t>
            </a:r>
            <a:endParaRPr lang="en-US" sz="1100" dirty="0"/>
          </a:p>
        </p:txBody>
      </p:sp>
      <p:sp>
        <p:nvSpPr>
          <p:cNvPr id="4" name="Text 2"/>
          <p:cNvSpPr txBox="1"/>
          <p:nvPr/>
        </p:nvSpPr>
        <p:spPr>
          <a:xfrm>
            <a:off x="530352" y="1097280"/>
            <a:ext cx="2240280" cy="32004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Approach</a:t>
            </a:r>
            <a:endParaRPr lang="en-US" sz="1200" dirty="0"/>
          </a:p>
        </p:txBody>
      </p:sp>
      <p:sp>
        <p:nvSpPr>
          <p:cNvPr id="5" name="Text 3"/>
          <p:cNvSpPr txBox="1"/>
          <p:nvPr/>
        </p:nvSpPr>
        <p:spPr>
          <a:xfrm>
            <a:off x="2816352" y="1097280"/>
            <a:ext cx="2240280" cy="32004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Strength</a:t>
            </a:r>
            <a:endParaRPr lang="en-US" sz="1200" dirty="0"/>
          </a:p>
        </p:txBody>
      </p:sp>
      <p:sp>
        <p:nvSpPr>
          <p:cNvPr id="6" name="Text 4"/>
          <p:cNvSpPr txBox="1"/>
          <p:nvPr/>
        </p:nvSpPr>
        <p:spPr>
          <a:xfrm>
            <a:off x="5102352" y="1097280"/>
            <a:ext cx="2331720" cy="32004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Limitation</a:t>
            </a:r>
            <a:endParaRPr lang="en-US" sz="1200" dirty="0"/>
          </a:p>
        </p:txBody>
      </p:sp>
      <p:sp>
        <p:nvSpPr>
          <p:cNvPr id="7" name="Text 5"/>
          <p:cNvSpPr txBox="1"/>
          <p:nvPr/>
        </p:nvSpPr>
        <p:spPr>
          <a:xfrm>
            <a:off x="7479792" y="1097280"/>
            <a:ext cx="1280160" cy="32004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Decision</a:t>
            </a:r>
            <a:endParaRPr lang="en-US" sz="1200" dirty="0"/>
          </a:p>
        </p:txBody>
      </p:sp>
      <p:sp>
        <p:nvSpPr>
          <p:cNvPr id="8" name="Approach row 1"/>
          <p:cNvSpPr/>
          <p:nvPr/>
        </p:nvSpPr>
        <p:spPr>
          <a:xfrm>
            <a:off x="457200" y="1444752"/>
            <a:ext cx="8229600" cy="658368"/>
          </a:xfrm>
          <a:prstGeom prst="roundRect">
            <a:avLst>
              <a:gd name="adj" fmla="val 11111"/>
            </a:avLst>
          </a:prstGeom>
          <a:solidFill>
            <a:srgbClr val="EEF5F1"/>
          </a:solidFill>
          <a:ln w="12700">
            <a:solidFill>
              <a:srgbClr val="EEF5F1"/>
            </a:solidFill>
            <a:prstDash val="solid"/>
          </a:ln>
        </p:spPr>
      </p:sp>
      <p:sp>
        <p:nvSpPr>
          <p:cNvPr id="9" name="Text 7"/>
          <p:cNvSpPr txBox="1"/>
          <p:nvPr/>
        </p:nvSpPr>
        <p:spPr>
          <a:xfrm>
            <a:off x="530352" y="1444752"/>
            <a:ext cx="2148840" cy="658368"/>
          </a:xfrm>
          <a:prstGeom prst="rect">
            <a:avLst/>
          </a:prstGeom>
          <a:noFill/>
          <a:ln/>
        </p:spPr>
        <p:txBody>
          <a:bodyPr wrap="square" lIns="0" tIns="0" rIns="0" bIns="0" rtlCol="0" anchor="ctr"/>
          <a:lstStyle/>
          <a:p>
            <a:pPr indent="0" marL="0">
              <a:buNone/>
            </a:pPr>
            <a:r>
              <a:rPr lang="en-US" sz="1200" b="1" dirty="0">
                <a:solidFill>
                  <a:srgbClr val="17251F"/>
                </a:solidFill>
                <a:latin typeface="Calibri" pitchFamily="34" charset="0"/>
                <a:ea typeface="Calibri" pitchFamily="34" charset="-122"/>
                <a:cs typeface="Calibri" pitchFamily="34" charset="-120"/>
              </a:rPr>
              <a:t>Traditional CMS (e.g. WordPress, Drupal)</a:t>
            </a:r>
            <a:endParaRPr lang="en-US" sz="1200" dirty="0"/>
          </a:p>
        </p:txBody>
      </p:sp>
      <p:sp>
        <p:nvSpPr>
          <p:cNvPr id="10" name="Text 8"/>
          <p:cNvSpPr txBox="1"/>
          <p:nvPr/>
        </p:nvSpPr>
        <p:spPr>
          <a:xfrm>
            <a:off x="2816352" y="1444752"/>
            <a:ext cx="2148840" cy="658368"/>
          </a:xfrm>
          <a:prstGeom prst="rect">
            <a:avLst/>
          </a:prstGeom>
          <a:noFill/>
          <a:ln/>
        </p:spPr>
        <p:txBody>
          <a:bodyPr wrap="square" lIns="0" tIns="0" rIns="0" bIns="0" rtlCol="0" anchor="ctr"/>
          <a:lstStyle/>
          <a:p>
            <a:pPr indent="0" marL="0">
              <a:buNone/>
            </a:pPr>
            <a:r>
              <a:rPr lang="en-US" sz="1150" dirty="0">
                <a:solidFill>
                  <a:srgbClr val="17251F"/>
                </a:solidFill>
                <a:latin typeface="Calibri" pitchFamily="34" charset="0"/>
                <a:ea typeface="Calibri" pitchFamily="34" charset="-122"/>
                <a:cs typeface="Calibri" pitchFamily="34" charset="-120"/>
              </a:rPr>
              <a:t>Mature; themes and plugins; fast to start</a:t>
            </a:r>
            <a:endParaRPr lang="en-US" sz="1150" dirty="0"/>
          </a:p>
        </p:txBody>
      </p:sp>
      <p:sp>
        <p:nvSpPr>
          <p:cNvPr id="11" name="Text 9"/>
          <p:cNvSpPr txBox="1"/>
          <p:nvPr/>
        </p:nvSpPr>
        <p:spPr>
          <a:xfrm>
            <a:off x="5102352" y="1444752"/>
            <a:ext cx="2240280" cy="658368"/>
          </a:xfrm>
          <a:prstGeom prst="rect">
            <a:avLst/>
          </a:prstGeom>
          <a:noFill/>
          <a:ln/>
        </p:spPr>
        <p:txBody>
          <a:bodyPr wrap="square" lIns="0" tIns="0" rIns="0" bIns="0" rtlCol="0" anchor="ctr"/>
          <a:lstStyle/>
          <a:p>
            <a:pPr indent="0" marL="0">
              <a:buNone/>
            </a:pPr>
            <a:r>
              <a:rPr lang="en-US" sz="1150" dirty="0">
                <a:solidFill>
                  <a:srgbClr val="17251F"/>
                </a:solidFill>
                <a:latin typeface="Calibri" pitchFamily="34" charset="0"/>
                <a:ea typeface="Calibri" pitchFamily="34" charset="-122"/>
                <a:cs typeface="Calibri" pitchFamily="34" charset="-120"/>
              </a:rPr>
              <a:t>Plugin upkeep and security; generic content model</a:t>
            </a:r>
            <a:endParaRPr lang="en-US" sz="1150" dirty="0"/>
          </a:p>
        </p:txBody>
      </p:sp>
      <p:sp>
        <p:nvSpPr>
          <p:cNvPr id="12" name="Text 10"/>
          <p:cNvSpPr txBox="1"/>
          <p:nvPr/>
        </p:nvSpPr>
        <p:spPr>
          <a:xfrm>
            <a:off x="7479792" y="1444752"/>
            <a:ext cx="1188720" cy="658368"/>
          </a:xfrm>
          <a:prstGeom prst="rect">
            <a:avLst/>
          </a:prstGeom>
          <a:noFill/>
          <a:ln/>
        </p:spPr>
        <p:txBody>
          <a:bodyPr wrap="square" lIns="0" tIns="0" rIns="0" bIns="0" rtlCol="0" anchor="ctr"/>
          <a:lstStyle/>
          <a:p>
            <a:pPr indent="0" marL="0">
              <a:buNone/>
            </a:pPr>
            <a:r>
              <a:rPr lang="en-US" sz="1150" b="1" dirty="0">
                <a:solidFill>
                  <a:srgbClr val="17251F"/>
                </a:solidFill>
                <a:latin typeface="Calibri" pitchFamily="34" charset="0"/>
                <a:ea typeface="Calibri" pitchFamily="34" charset="-122"/>
                <a:cs typeface="Calibri" pitchFamily="34" charset="-120"/>
              </a:rPr>
              <a:t>Not chosen</a:t>
            </a:r>
            <a:endParaRPr lang="en-US" sz="1150" dirty="0"/>
          </a:p>
        </p:txBody>
      </p:sp>
      <p:sp>
        <p:nvSpPr>
          <p:cNvPr id="13" name="Approach row 2"/>
          <p:cNvSpPr/>
          <p:nvPr/>
        </p:nvSpPr>
        <p:spPr>
          <a:xfrm>
            <a:off x="457200" y="2194560"/>
            <a:ext cx="8229600" cy="658368"/>
          </a:xfrm>
          <a:prstGeom prst="roundRect">
            <a:avLst>
              <a:gd name="adj" fmla="val 11111"/>
            </a:avLst>
          </a:prstGeom>
          <a:solidFill>
            <a:srgbClr val="EEF5F1"/>
          </a:solidFill>
          <a:ln w="12700">
            <a:solidFill>
              <a:srgbClr val="EEF5F1"/>
            </a:solidFill>
            <a:prstDash val="solid"/>
          </a:ln>
        </p:spPr>
      </p:sp>
      <p:sp>
        <p:nvSpPr>
          <p:cNvPr id="14" name="Text 12"/>
          <p:cNvSpPr txBox="1"/>
          <p:nvPr/>
        </p:nvSpPr>
        <p:spPr>
          <a:xfrm>
            <a:off x="530352" y="2194560"/>
            <a:ext cx="2148840" cy="658368"/>
          </a:xfrm>
          <a:prstGeom prst="rect">
            <a:avLst/>
          </a:prstGeom>
          <a:noFill/>
          <a:ln/>
        </p:spPr>
        <p:txBody>
          <a:bodyPr wrap="square" lIns="0" tIns="0" rIns="0" bIns="0" rtlCol="0" anchor="ctr"/>
          <a:lstStyle/>
          <a:p>
            <a:pPr indent="0" marL="0">
              <a:buNone/>
            </a:pPr>
            <a:r>
              <a:rPr lang="en-US" sz="1200" b="1" dirty="0">
                <a:solidFill>
                  <a:srgbClr val="17251F"/>
                </a:solidFill>
                <a:latin typeface="Calibri" pitchFamily="34" charset="0"/>
                <a:ea typeface="Calibri" pitchFamily="34" charset="-122"/>
                <a:cs typeface="Calibri" pitchFamily="34" charset="-120"/>
              </a:rPr>
              <a:t>Headless CMS (e.g. Strapi, Contentful)</a:t>
            </a:r>
            <a:endParaRPr lang="en-US" sz="1200" dirty="0"/>
          </a:p>
        </p:txBody>
      </p:sp>
      <p:sp>
        <p:nvSpPr>
          <p:cNvPr id="15" name="Text 13"/>
          <p:cNvSpPr txBox="1"/>
          <p:nvPr/>
        </p:nvSpPr>
        <p:spPr>
          <a:xfrm>
            <a:off x="2816352" y="2194560"/>
            <a:ext cx="2148840" cy="658368"/>
          </a:xfrm>
          <a:prstGeom prst="rect">
            <a:avLst/>
          </a:prstGeom>
          <a:noFill/>
          <a:ln/>
        </p:spPr>
        <p:txBody>
          <a:bodyPr wrap="square" lIns="0" tIns="0" rIns="0" bIns="0" rtlCol="0" anchor="ctr"/>
          <a:lstStyle/>
          <a:p>
            <a:pPr indent="0" marL="0">
              <a:buNone/>
            </a:pPr>
            <a:r>
              <a:rPr lang="en-US" sz="1150" dirty="0">
                <a:solidFill>
                  <a:srgbClr val="17251F"/>
                </a:solidFill>
                <a:latin typeface="Calibri" pitchFamily="34" charset="0"/>
                <a:ea typeface="Calibri" pitchFamily="34" charset="-122"/>
                <a:cs typeface="Calibri" pitchFamily="34" charset="-120"/>
              </a:rPr>
              <a:t>API-first, structured content</a:t>
            </a:r>
            <a:endParaRPr lang="en-US" sz="1150" dirty="0"/>
          </a:p>
        </p:txBody>
      </p:sp>
      <p:sp>
        <p:nvSpPr>
          <p:cNvPr id="16" name="Text 14"/>
          <p:cNvSpPr txBox="1"/>
          <p:nvPr/>
        </p:nvSpPr>
        <p:spPr>
          <a:xfrm>
            <a:off x="5102352" y="2194560"/>
            <a:ext cx="2240280" cy="658368"/>
          </a:xfrm>
          <a:prstGeom prst="rect">
            <a:avLst/>
          </a:prstGeom>
          <a:noFill/>
          <a:ln/>
        </p:spPr>
        <p:txBody>
          <a:bodyPr wrap="square" lIns="0" tIns="0" rIns="0" bIns="0" rtlCol="0" anchor="ctr"/>
          <a:lstStyle/>
          <a:p>
            <a:pPr indent="0" marL="0">
              <a:buNone/>
            </a:pPr>
            <a:r>
              <a:rPr lang="en-US" sz="1150" dirty="0">
                <a:solidFill>
                  <a:srgbClr val="17251F"/>
                </a:solidFill>
                <a:latin typeface="Calibri" pitchFamily="34" charset="0"/>
                <a:ea typeface="Calibri" pitchFamily="34" charset="-122"/>
                <a:cs typeface="Calibri" pitchFamily="34" charset="-120"/>
              </a:rPr>
              <a:t>Extra service to host; the website is still to be built</a:t>
            </a:r>
            <a:endParaRPr lang="en-US" sz="1150" dirty="0"/>
          </a:p>
        </p:txBody>
      </p:sp>
      <p:sp>
        <p:nvSpPr>
          <p:cNvPr id="17" name="Text 15"/>
          <p:cNvSpPr txBox="1"/>
          <p:nvPr/>
        </p:nvSpPr>
        <p:spPr>
          <a:xfrm>
            <a:off x="7479792" y="2194560"/>
            <a:ext cx="1188720" cy="658368"/>
          </a:xfrm>
          <a:prstGeom prst="rect">
            <a:avLst/>
          </a:prstGeom>
          <a:noFill/>
          <a:ln/>
        </p:spPr>
        <p:txBody>
          <a:bodyPr wrap="square" lIns="0" tIns="0" rIns="0" bIns="0" rtlCol="0" anchor="ctr"/>
          <a:lstStyle/>
          <a:p>
            <a:pPr indent="0" marL="0">
              <a:buNone/>
            </a:pPr>
            <a:r>
              <a:rPr lang="en-US" sz="1150" b="1" dirty="0">
                <a:solidFill>
                  <a:srgbClr val="17251F"/>
                </a:solidFill>
                <a:latin typeface="Calibri" pitchFamily="34" charset="0"/>
                <a:ea typeface="Calibri" pitchFamily="34" charset="-122"/>
                <a:cs typeface="Calibri" pitchFamily="34" charset="-120"/>
              </a:rPr>
              <a:t>Not chosen</a:t>
            </a:r>
            <a:endParaRPr lang="en-US" sz="1150" dirty="0"/>
          </a:p>
        </p:txBody>
      </p:sp>
      <p:sp>
        <p:nvSpPr>
          <p:cNvPr id="18" name="Approach row 3"/>
          <p:cNvSpPr/>
          <p:nvPr/>
        </p:nvSpPr>
        <p:spPr>
          <a:xfrm>
            <a:off x="457200" y="2944368"/>
            <a:ext cx="8229600" cy="658368"/>
          </a:xfrm>
          <a:prstGeom prst="roundRect">
            <a:avLst>
              <a:gd name="adj" fmla="val 11111"/>
            </a:avLst>
          </a:prstGeom>
          <a:solidFill>
            <a:srgbClr val="0F4C3A"/>
          </a:solidFill>
          <a:ln w="12700">
            <a:solidFill>
              <a:srgbClr val="0F4C3A"/>
            </a:solidFill>
            <a:prstDash val="solid"/>
          </a:ln>
        </p:spPr>
      </p:sp>
      <p:sp>
        <p:nvSpPr>
          <p:cNvPr id="19" name="Text 17"/>
          <p:cNvSpPr txBox="1"/>
          <p:nvPr/>
        </p:nvSpPr>
        <p:spPr>
          <a:xfrm>
            <a:off x="530352" y="2944368"/>
            <a:ext cx="214884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Custom app on Supabase (this project)</a:t>
            </a:r>
            <a:endParaRPr lang="en-US" sz="1200" dirty="0"/>
          </a:p>
        </p:txBody>
      </p:sp>
      <p:sp>
        <p:nvSpPr>
          <p:cNvPr id="20" name="Text 18"/>
          <p:cNvSpPr txBox="1"/>
          <p:nvPr/>
        </p:nvSpPr>
        <p:spPr>
          <a:xfrm>
            <a:off x="2816352" y="2944368"/>
            <a:ext cx="2148840" cy="65836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Typed code, database-level security, one codebase</a:t>
            </a:r>
            <a:endParaRPr lang="en-US" sz="1150" dirty="0"/>
          </a:p>
        </p:txBody>
      </p:sp>
      <p:sp>
        <p:nvSpPr>
          <p:cNvPr id="21" name="Text 19"/>
          <p:cNvSpPr txBox="1"/>
          <p:nvPr/>
        </p:nvSpPr>
        <p:spPr>
          <a:xfrm>
            <a:off x="5102352" y="2944368"/>
            <a:ext cx="2240280" cy="65836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More development effort</a:t>
            </a:r>
            <a:endParaRPr lang="en-US" sz="1150" dirty="0"/>
          </a:p>
        </p:txBody>
      </p:sp>
      <p:sp>
        <p:nvSpPr>
          <p:cNvPr id="22" name="Text 20"/>
          <p:cNvSpPr txBox="1"/>
          <p:nvPr/>
        </p:nvSpPr>
        <p:spPr>
          <a:xfrm>
            <a:off x="7479792" y="2944368"/>
            <a:ext cx="1188720" cy="658368"/>
          </a:xfrm>
          <a:prstGeom prst="rect">
            <a:avLst/>
          </a:prstGeom>
          <a:noFill/>
          <a:ln/>
        </p:spPr>
        <p:txBody>
          <a:bodyPr wrap="square" lIns="0" tIns="0" rIns="0" bIns="0" rtlCol="0" anchor="ctr"/>
          <a:lstStyle/>
          <a:p>
            <a:pPr indent="0" marL="0">
              <a:buNone/>
            </a:pPr>
            <a:r>
              <a:rPr lang="en-US" sz="1150" b="1" dirty="0">
                <a:solidFill>
                  <a:srgbClr val="D4A017"/>
                </a:solidFill>
                <a:latin typeface="Calibri" pitchFamily="34" charset="0"/>
                <a:ea typeface="Calibri" pitchFamily="34" charset="-122"/>
                <a:cs typeface="Calibri" pitchFamily="34" charset="-120"/>
              </a:rPr>
              <a:t>Chosen</a:t>
            </a:r>
            <a:endParaRPr lang="en-US" sz="1150" dirty="0"/>
          </a:p>
        </p:txBody>
      </p:sp>
      <p:sp>
        <p:nvSpPr>
          <p:cNvPr id="23" name="Idea card 1"/>
          <p:cNvSpPr/>
          <p:nvPr/>
        </p:nvSpPr>
        <p:spPr>
          <a:xfrm>
            <a:off x="457200" y="3794760"/>
            <a:ext cx="1938528" cy="914400"/>
          </a:xfrm>
          <a:prstGeom prst="roundRect">
            <a:avLst>
              <a:gd name="adj" fmla="val 8000"/>
            </a:avLst>
          </a:prstGeom>
          <a:solidFill>
            <a:srgbClr val="EEF5F1"/>
          </a:solidFill>
          <a:ln w="12700">
            <a:solidFill>
              <a:srgbClr val="EEF5F1"/>
            </a:solidFill>
            <a:prstDash val="solid"/>
          </a:ln>
        </p:spPr>
      </p:sp>
      <p:sp>
        <p:nvSpPr>
          <p:cNvPr id="24" name="Idea accent 1"/>
          <p:cNvSpPr/>
          <p:nvPr/>
        </p:nvSpPr>
        <p:spPr>
          <a:xfrm>
            <a:off x="457200" y="3794760"/>
            <a:ext cx="54864" cy="914400"/>
          </a:xfrm>
          <a:prstGeom prst="rect">
            <a:avLst/>
          </a:prstGeom>
          <a:solidFill>
            <a:srgbClr val="D4A017"/>
          </a:solidFill>
          <a:ln w="12700">
            <a:solidFill>
              <a:srgbClr val="D4A017"/>
            </a:solidFill>
            <a:prstDash val="solid"/>
          </a:ln>
        </p:spPr>
      </p:sp>
      <p:sp>
        <p:nvSpPr>
          <p:cNvPr id="25" name="Text 23"/>
          <p:cNvSpPr txBox="1"/>
          <p:nvPr/>
        </p:nvSpPr>
        <p:spPr>
          <a:xfrm>
            <a:off x="594360" y="3794760"/>
            <a:ext cx="1737360" cy="914400"/>
          </a:xfrm>
          <a:prstGeom prst="rect">
            <a:avLst/>
          </a:prstGeom>
          <a:noFill/>
          <a:ln/>
        </p:spPr>
        <p:txBody>
          <a:bodyPr wrap="square" lIns="0" tIns="0" rIns="0" bIns="0" rtlCol="0" anchor="ctr"/>
          <a:lstStyle/>
          <a:p>
            <a:pPr indent="0" marL="0">
              <a:buNone/>
            </a:pPr>
            <a:r>
              <a:rPr lang="en-US" sz="1150" b="1" dirty="0">
                <a:solidFill>
                  <a:srgbClr val="0F4C3A"/>
                </a:solidFill>
                <a:latin typeface="Calibri" pitchFamily="34" charset="0"/>
                <a:ea typeface="Calibri" pitchFamily="34" charset="-122"/>
                <a:cs typeface="Calibri" pitchFamily="34" charset="-120"/>
              </a:rPr>
              <a:t>Role-Based Access Control</a:t>
            </a:r>
            <a:endParaRPr lang="en-US" sz="1150" dirty="0"/>
          </a:p>
          <a:p>
            <a:pPr indent="0" marL="0">
              <a:buNone/>
            </a:pPr>
            <a:r>
              <a:rPr lang="en-US" sz="1050" dirty="0">
                <a:solidFill>
                  <a:srgbClr val="17251F"/>
                </a:solidFill>
                <a:latin typeface="Calibri" pitchFamily="34" charset="0"/>
                <a:ea typeface="Calibri" pitchFamily="34" charset="-122"/>
                <a:cs typeface="Calibri" pitchFamily="34" charset="-120"/>
              </a:rPr>
              <a:t>Permissions belong to roles (Sandhu et al., 1996)</a:t>
            </a:r>
            <a:endParaRPr lang="en-US" sz="1150" dirty="0"/>
          </a:p>
        </p:txBody>
      </p:sp>
      <p:sp>
        <p:nvSpPr>
          <p:cNvPr id="26" name="Idea card 2"/>
          <p:cNvSpPr/>
          <p:nvPr/>
        </p:nvSpPr>
        <p:spPr>
          <a:xfrm>
            <a:off x="2542032" y="3794760"/>
            <a:ext cx="1938528" cy="914400"/>
          </a:xfrm>
          <a:prstGeom prst="roundRect">
            <a:avLst>
              <a:gd name="adj" fmla="val 8000"/>
            </a:avLst>
          </a:prstGeom>
          <a:solidFill>
            <a:srgbClr val="EEF5F1"/>
          </a:solidFill>
          <a:ln w="12700">
            <a:solidFill>
              <a:srgbClr val="EEF5F1"/>
            </a:solidFill>
            <a:prstDash val="solid"/>
          </a:ln>
        </p:spPr>
      </p:sp>
      <p:sp>
        <p:nvSpPr>
          <p:cNvPr id="27" name="Idea accent 2"/>
          <p:cNvSpPr/>
          <p:nvPr/>
        </p:nvSpPr>
        <p:spPr>
          <a:xfrm>
            <a:off x="2542032" y="3794760"/>
            <a:ext cx="54864" cy="914400"/>
          </a:xfrm>
          <a:prstGeom prst="rect">
            <a:avLst/>
          </a:prstGeom>
          <a:solidFill>
            <a:srgbClr val="D4A017"/>
          </a:solidFill>
          <a:ln w="12700">
            <a:solidFill>
              <a:srgbClr val="D4A017"/>
            </a:solidFill>
            <a:prstDash val="solid"/>
          </a:ln>
        </p:spPr>
      </p:sp>
      <p:sp>
        <p:nvSpPr>
          <p:cNvPr id="28" name="Text 26"/>
          <p:cNvSpPr txBox="1"/>
          <p:nvPr/>
        </p:nvSpPr>
        <p:spPr>
          <a:xfrm>
            <a:off x="2679192" y="3794760"/>
            <a:ext cx="1737360" cy="914400"/>
          </a:xfrm>
          <a:prstGeom prst="rect">
            <a:avLst/>
          </a:prstGeom>
          <a:noFill/>
          <a:ln/>
        </p:spPr>
        <p:txBody>
          <a:bodyPr wrap="square" lIns="0" tIns="0" rIns="0" bIns="0" rtlCol="0" anchor="ctr"/>
          <a:lstStyle/>
          <a:p>
            <a:pPr indent="0" marL="0">
              <a:buNone/>
            </a:pPr>
            <a:r>
              <a:rPr lang="en-US" sz="1150" b="1" dirty="0">
                <a:solidFill>
                  <a:srgbClr val="0F4C3A"/>
                </a:solidFill>
                <a:latin typeface="Calibri" pitchFamily="34" charset="0"/>
                <a:ea typeface="Calibri" pitchFamily="34" charset="-122"/>
                <a:cs typeface="Calibri" pitchFamily="34" charset="-120"/>
              </a:rPr>
              <a:t>PostgreSQL Row Level Security</a:t>
            </a:r>
            <a:endParaRPr lang="en-US" sz="1150" dirty="0"/>
          </a:p>
          <a:p>
            <a:pPr indent="0" marL="0">
              <a:buNone/>
            </a:pPr>
            <a:r>
              <a:rPr lang="en-US" sz="1050" dirty="0">
                <a:solidFill>
                  <a:srgbClr val="17251F"/>
                </a:solidFill>
                <a:latin typeface="Calibri" pitchFamily="34" charset="0"/>
                <a:ea typeface="Calibri" pitchFamily="34" charset="-122"/>
                <a:cs typeface="Calibri" pitchFamily="34" charset="-120"/>
              </a:rPr>
              <a:t>The database applies per-row policies</a:t>
            </a:r>
            <a:endParaRPr lang="en-US" sz="1150" dirty="0"/>
          </a:p>
        </p:txBody>
      </p:sp>
      <p:sp>
        <p:nvSpPr>
          <p:cNvPr id="29" name="Idea card 3"/>
          <p:cNvSpPr/>
          <p:nvPr/>
        </p:nvSpPr>
        <p:spPr>
          <a:xfrm>
            <a:off x="4626864" y="3794760"/>
            <a:ext cx="1938528" cy="914400"/>
          </a:xfrm>
          <a:prstGeom prst="roundRect">
            <a:avLst>
              <a:gd name="adj" fmla="val 8000"/>
            </a:avLst>
          </a:prstGeom>
          <a:solidFill>
            <a:srgbClr val="EEF5F1"/>
          </a:solidFill>
          <a:ln w="12700">
            <a:solidFill>
              <a:srgbClr val="EEF5F1"/>
            </a:solidFill>
            <a:prstDash val="solid"/>
          </a:ln>
        </p:spPr>
      </p:sp>
      <p:sp>
        <p:nvSpPr>
          <p:cNvPr id="30" name="Idea accent 3"/>
          <p:cNvSpPr/>
          <p:nvPr/>
        </p:nvSpPr>
        <p:spPr>
          <a:xfrm>
            <a:off x="4626864" y="3794760"/>
            <a:ext cx="54864" cy="914400"/>
          </a:xfrm>
          <a:prstGeom prst="rect">
            <a:avLst/>
          </a:prstGeom>
          <a:solidFill>
            <a:srgbClr val="D4A017"/>
          </a:solidFill>
          <a:ln w="12700">
            <a:solidFill>
              <a:srgbClr val="D4A017"/>
            </a:solidFill>
            <a:prstDash val="solid"/>
          </a:ln>
        </p:spPr>
      </p:sp>
      <p:sp>
        <p:nvSpPr>
          <p:cNvPr id="31" name="Text 29"/>
          <p:cNvSpPr txBox="1"/>
          <p:nvPr/>
        </p:nvSpPr>
        <p:spPr>
          <a:xfrm>
            <a:off x="4764024" y="3794760"/>
            <a:ext cx="1737360" cy="914400"/>
          </a:xfrm>
          <a:prstGeom prst="rect">
            <a:avLst/>
          </a:prstGeom>
          <a:noFill/>
          <a:ln/>
        </p:spPr>
        <p:txBody>
          <a:bodyPr wrap="square" lIns="0" tIns="0" rIns="0" bIns="0" rtlCol="0" anchor="ctr"/>
          <a:lstStyle/>
          <a:p>
            <a:pPr indent="0" marL="0">
              <a:buNone/>
            </a:pPr>
            <a:r>
              <a:rPr lang="en-US" sz="1150" b="1" dirty="0">
                <a:solidFill>
                  <a:srgbClr val="0F4C3A"/>
                </a:solidFill>
                <a:latin typeface="Calibri" pitchFamily="34" charset="0"/>
                <a:ea typeface="Calibri" pitchFamily="34" charset="-122"/>
                <a:cs typeface="Calibri" pitchFamily="34" charset="-120"/>
              </a:rPr>
              <a:t>OWASP Top 10</a:t>
            </a:r>
            <a:endParaRPr lang="en-US" sz="1150" dirty="0"/>
          </a:p>
          <a:p>
            <a:pPr indent="0" marL="0">
              <a:buNone/>
            </a:pPr>
            <a:r>
              <a:rPr lang="en-US" sz="1050" dirty="0">
                <a:solidFill>
                  <a:srgbClr val="17251F"/>
                </a:solidFill>
                <a:latin typeface="Calibri" pitchFamily="34" charset="0"/>
                <a:ea typeface="Calibri" pitchFamily="34" charset="-122"/>
                <a:cs typeface="Calibri" pitchFamily="34" charset="-120"/>
              </a:rPr>
              <a:t>Broken access control is a top web risk</a:t>
            </a:r>
            <a:endParaRPr lang="en-US" sz="1150" dirty="0"/>
          </a:p>
        </p:txBody>
      </p:sp>
      <p:sp>
        <p:nvSpPr>
          <p:cNvPr id="32" name="Idea card 4"/>
          <p:cNvSpPr/>
          <p:nvPr/>
        </p:nvSpPr>
        <p:spPr>
          <a:xfrm>
            <a:off x="6711696" y="3794760"/>
            <a:ext cx="1938528" cy="914400"/>
          </a:xfrm>
          <a:prstGeom prst="roundRect">
            <a:avLst>
              <a:gd name="adj" fmla="val 8000"/>
            </a:avLst>
          </a:prstGeom>
          <a:solidFill>
            <a:srgbClr val="EEF5F1"/>
          </a:solidFill>
          <a:ln w="12700">
            <a:solidFill>
              <a:srgbClr val="EEF5F1"/>
            </a:solidFill>
            <a:prstDash val="solid"/>
          </a:ln>
        </p:spPr>
      </p:sp>
      <p:sp>
        <p:nvSpPr>
          <p:cNvPr id="33" name="Idea accent 4"/>
          <p:cNvSpPr/>
          <p:nvPr/>
        </p:nvSpPr>
        <p:spPr>
          <a:xfrm>
            <a:off x="6711696" y="3794760"/>
            <a:ext cx="54864" cy="914400"/>
          </a:xfrm>
          <a:prstGeom prst="rect">
            <a:avLst/>
          </a:prstGeom>
          <a:solidFill>
            <a:srgbClr val="D4A017"/>
          </a:solidFill>
          <a:ln w="12700">
            <a:solidFill>
              <a:srgbClr val="D4A017"/>
            </a:solidFill>
            <a:prstDash val="solid"/>
          </a:ln>
        </p:spPr>
      </p:sp>
      <p:sp>
        <p:nvSpPr>
          <p:cNvPr id="34" name="Text 32"/>
          <p:cNvSpPr txBox="1"/>
          <p:nvPr/>
        </p:nvSpPr>
        <p:spPr>
          <a:xfrm>
            <a:off x="6848856" y="3794760"/>
            <a:ext cx="1737360" cy="914400"/>
          </a:xfrm>
          <a:prstGeom prst="rect">
            <a:avLst/>
          </a:prstGeom>
          <a:noFill/>
          <a:ln/>
        </p:spPr>
        <p:txBody>
          <a:bodyPr wrap="square" lIns="0" tIns="0" rIns="0" bIns="0" rtlCol="0" anchor="ctr"/>
          <a:lstStyle/>
          <a:p>
            <a:pPr indent="0" marL="0">
              <a:buNone/>
            </a:pPr>
            <a:r>
              <a:rPr lang="en-US" sz="1150" b="1" dirty="0">
                <a:solidFill>
                  <a:srgbClr val="0F4C3A"/>
                </a:solidFill>
                <a:latin typeface="Calibri" pitchFamily="34" charset="0"/>
                <a:ea typeface="Calibri" pitchFamily="34" charset="-122"/>
                <a:cs typeface="Calibri" pitchFamily="34" charset="-120"/>
              </a:rPr>
              <a:t>Scrum Guide (2020)</a:t>
            </a:r>
            <a:endParaRPr lang="en-US" sz="1150" dirty="0"/>
          </a:p>
          <a:p>
            <a:pPr indent="0" marL="0">
              <a:buNone/>
            </a:pPr>
            <a:r>
              <a:rPr lang="en-US" sz="1050" dirty="0">
                <a:solidFill>
                  <a:srgbClr val="17251F"/>
                </a:solidFill>
                <a:latin typeface="Calibri" pitchFamily="34" charset="0"/>
                <a:ea typeface="Calibri" pitchFamily="34" charset="-122"/>
                <a:cs typeface="Calibri" pitchFamily="34" charset="-120"/>
              </a:rPr>
              <a:t>Short sprints with reviews</a:t>
            </a:r>
            <a:endParaRPr lang="en-US" sz="11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5. Functional Requirements</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5</a:t>
            </a:r>
            <a:endParaRPr lang="en-US" sz="1100" dirty="0"/>
          </a:p>
        </p:txBody>
      </p:sp>
      <p:sp>
        <p:nvSpPr>
          <p:cNvPr id="4" name="FR card 1"/>
          <p:cNvSpPr/>
          <p:nvPr/>
        </p:nvSpPr>
        <p:spPr>
          <a:xfrm>
            <a:off x="457200" y="1143000"/>
            <a:ext cx="4023360" cy="3246120"/>
          </a:xfrm>
          <a:prstGeom prst="roundRect">
            <a:avLst>
              <a:gd name="adj" fmla="val 2254"/>
            </a:avLst>
          </a:prstGeom>
          <a:solidFill>
            <a:srgbClr val="EEF5F1"/>
          </a:solidFill>
          <a:ln w="12700">
            <a:solidFill>
              <a:srgbClr val="EEF5F1"/>
            </a:solidFill>
            <a:prstDash val="solid"/>
          </a:ln>
        </p:spPr>
      </p:sp>
      <p:sp>
        <p:nvSpPr>
          <p:cNvPr id="5" name="FR header 1"/>
          <p:cNvSpPr/>
          <p:nvPr/>
        </p:nvSpPr>
        <p:spPr>
          <a:xfrm>
            <a:off x="457200" y="1143000"/>
            <a:ext cx="4023360" cy="502920"/>
          </a:xfrm>
          <a:prstGeom prst="rect">
            <a:avLst/>
          </a:prstGeom>
          <a:solidFill>
            <a:srgbClr val="287A5D"/>
          </a:solidFill>
          <a:ln w="12700">
            <a:solidFill>
              <a:srgbClr val="287A5D"/>
            </a:solidFill>
            <a:prstDash val="solid"/>
          </a:ln>
        </p:spPr>
      </p:sp>
      <p:sp>
        <p:nvSpPr>
          <p:cNvPr id="6" name="Text 4"/>
          <p:cNvSpPr txBox="1"/>
          <p:nvPr/>
        </p:nvSpPr>
        <p:spPr>
          <a:xfrm>
            <a:off x="640080" y="1143000"/>
            <a:ext cx="3657600" cy="502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Public website (16)</a:t>
            </a:r>
            <a:endParaRPr lang="en-US" sz="1700" dirty="0"/>
          </a:p>
        </p:txBody>
      </p:sp>
      <p:sp>
        <p:nvSpPr>
          <p:cNvPr id="7" name="Text 5"/>
          <p:cNvSpPr txBox="1"/>
          <p:nvPr/>
        </p:nvSpPr>
        <p:spPr>
          <a:xfrm>
            <a:off x="640080" y="1783080"/>
            <a:ext cx="365760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Dynamic home page with hero slides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News, events, announcements with slugs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Colleges, departments, programs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Leadership, services, vacancies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Registrar documents and notices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Contact form, galleries, pages</a:t>
            </a:r>
            <a:endParaRPr lang="en-US" sz="1500" dirty="0"/>
          </a:p>
        </p:txBody>
      </p:sp>
      <p:sp>
        <p:nvSpPr>
          <p:cNvPr id="8" name="FR card 2"/>
          <p:cNvSpPr/>
          <p:nvPr/>
        </p:nvSpPr>
        <p:spPr>
          <a:xfrm>
            <a:off x="4663440" y="1143000"/>
            <a:ext cx="4023360" cy="3246120"/>
          </a:xfrm>
          <a:prstGeom prst="roundRect">
            <a:avLst>
              <a:gd name="adj" fmla="val 2254"/>
            </a:avLst>
          </a:prstGeom>
          <a:solidFill>
            <a:srgbClr val="EEF5F1"/>
          </a:solidFill>
          <a:ln w="12700">
            <a:solidFill>
              <a:srgbClr val="EEF5F1"/>
            </a:solidFill>
            <a:prstDash val="solid"/>
          </a:ln>
        </p:spPr>
      </p:sp>
      <p:sp>
        <p:nvSpPr>
          <p:cNvPr id="9" name="FR header 2"/>
          <p:cNvSpPr/>
          <p:nvPr/>
        </p:nvSpPr>
        <p:spPr>
          <a:xfrm>
            <a:off x="4663440" y="1143000"/>
            <a:ext cx="4023360" cy="502920"/>
          </a:xfrm>
          <a:prstGeom prst="rect">
            <a:avLst/>
          </a:prstGeom>
          <a:solidFill>
            <a:srgbClr val="0F4C3A"/>
          </a:solidFill>
          <a:ln w="12700">
            <a:solidFill>
              <a:srgbClr val="0F4C3A"/>
            </a:solidFill>
            <a:prstDash val="solid"/>
          </a:ln>
        </p:spPr>
      </p:sp>
      <p:sp>
        <p:nvSpPr>
          <p:cNvPr id="10" name="Text 8"/>
          <p:cNvSpPr txBox="1"/>
          <p:nvPr/>
        </p:nvSpPr>
        <p:spPr>
          <a:xfrm>
            <a:off x="4846320" y="1143000"/>
            <a:ext cx="3657600" cy="502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Admin CMS (14)</a:t>
            </a:r>
            <a:endParaRPr lang="en-US" sz="1700" dirty="0"/>
          </a:p>
        </p:txBody>
      </p:sp>
      <p:sp>
        <p:nvSpPr>
          <p:cNvPr id="11" name="Text 9"/>
          <p:cNvSpPr txBox="1"/>
          <p:nvPr/>
        </p:nvSpPr>
        <p:spPr>
          <a:xfrm>
            <a:off x="4846320" y="1783080"/>
            <a:ext cx="365760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Secure login and route guard</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Dashboard with live statistics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CRUD for the content modules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Media library and unique slugs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Users, roles, navigation, settings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Activity log and contact messages</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6.i System Model: Use Cases</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6</a:t>
            </a:r>
            <a:endParaRPr lang="en-US" sz="1100" dirty="0"/>
          </a:p>
        </p:txBody>
      </p:sp>
      <p:sp>
        <p:nvSpPr>
          <p:cNvPr id="4" name="Actor icon 1 bg"/>
          <p:cNvSpPr/>
          <p:nvPr/>
        </p:nvSpPr>
        <p:spPr>
          <a:xfrm>
            <a:off x="457200" y="1143000"/>
            <a:ext cx="594360" cy="594360"/>
          </a:xfrm>
          <a:prstGeom prst="ellipse">
            <a:avLst/>
          </a:prstGeom>
          <a:solidFill>
            <a:srgbClr val="0F4C3A"/>
          </a:solidFill>
          <a:ln w="12700">
            <a:solidFill>
              <a:srgbClr val="0F4C3A"/>
            </a:solidFill>
            <a:prstDash val="solid"/>
          </a:ln>
        </p:spPr>
      </p:sp>
      <p:pic>
        <p:nvPicPr>
          <p:cNvPr id="5" name="Image 0" descr="FaUser">    </p:cNvPr>
          <p:cNvPicPr>
            <a:picLocks noChangeAspect="1"/>
          </p:cNvPicPr>
          <p:nvPr/>
        </p:nvPicPr>
        <p:blipFill>
          <a:blip r:embed="rId1"/>
          <a:stretch>
            <a:fillRect/>
          </a:stretch>
        </p:blipFill>
        <p:spPr>
          <a:xfrm>
            <a:off x="599846" y="1285646"/>
            <a:ext cx="309067" cy="309067"/>
          </a:xfrm>
          <a:prstGeom prst="rect">
            <a:avLst/>
          </a:prstGeom>
        </p:spPr>
      </p:pic>
      <p:sp>
        <p:nvSpPr>
          <p:cNvPr id="6" name="Text 3"/>
          <p:cNvSpPr txBox="1"/>
          <p:nvPr/>
        </p:nvSpPr>
        <p:spPr>
          <a:xfrm>
            <a:off x="1234440" y="1051560"/>
            <a:ext cx="3383280" cy="868680"/>
          </a:xfrm>
          <a:prstGeom prst="rect">
            <a:avLst/>
          </a:prstGeom>
          <a:noFill/>
          <a:ln/>
        </p:spPr>
        <p:txBody>
          <a:bodyPr wrap="square" lIns="0" tIns="0" rIns="0" bIns="0" rtlCol="0" anchor="ctr"/>
          <a:lstStyle/>
          <a:p>
            <a:pPr indent="0" marL="0">
              <a:buNone/>
            </a:pPr>
            <a:r>
              <a:rPr lang="en-US" sz="1600" b="1" dirty="0">
                <a:solidFill>
                  <a:srgbClr val="0F4C3A"/>
                </a:solidFill>
                <a:latin typeface="Calibri" pitchFamily="34" charset="0"/>
                <a:ea typeface="Calibri" pitchFamily="34" charset="-122"/>
                <a:cs typeface="Calibri" pitchFamily="34" charset="-120"/>
              </a:rPr>
              <a:t>Public User</a:t>
            </a:r>
            <a:endParaRPr lang="en-US" sz="1600" dirty="0"/>
          </a:p>
          <a:p>
            <a:pPr indent="0" marL="0">
              <a:buNone/>
            </a:pPr>
            <a:r>
              <a:rPr lang="en-US" sz="1250" dirty="0">
                <a:solidFill>
                  <a:srgbClr val="17251F"/>
                </a:solidFill>
                <a:latin typeface="Calibri" pitchFamily="34" charset="0"/>
                <a:ea typeface="Calibri" pitchFamily="34" charset="-122"/>
                <a:cs typeface="Calibri" pitchFamily="34" charset="-120"/>
              </a:rPr>
              <a:t>Reads published content, downloads Registrar documents, sends a contact message</a:t>
            </a:r>
            <a:endParaRPr lang="en-US" sz="1600" dirty="0"/>
          </a:p>
        </p:txBody>
      </p:sp>
      <p:sp>
        <p:nvSpPr>
          <p:cNvPr id="7" name="Actor icon 2 bg"/>
          <p:cNvSpPr/>
          <p:nvPr/>
        </p:nvSpPr>
        <p:spPr>
          <a:xfrm>
            <a:off x="457200" y="2240280"/>
            <a:ext cx="594360" cy="594360"/>
          </a:xfrm>
          <a:prstGeom prst="ellipse">
            <a:avLst/>
          </a:prstGeom>
          <a:solidFill>
            <a:srgbClr val="0F4C3A"/>
          </a:solidFill>
          <a:ln w="12700">
            <a:solidFill>
              <a:srgbClr val="0F4C3A"/>
            </a:solidFill>
            <a:prstDash val="solid"/>
          </a:ln>
        </p:spPr>
      </p:sp>
      <p:pic>
        <p:nvPicPr>
          <p:cNvPr id="8" name="Image 1" descr="FaUserEdit">    </p:cNvPr>
          <p:cNvPicPr>
            <a:picLocks noChangeAspect="1"/>
          </p:cNvPicPr>
          <p:nvPr/>
        </p:nvPicPr>
        <p:blipFill>
          <a:blip r:embed="rId2"/>
          <a:stretch>
            <a:fillRect/>
          </a:stretch>
        </p:blipFill>
        <p:spPr>
          <a:xfrm>
            <a:off x="599846" y="2382926"/>
            <a:ext cx="309067" cy="309067"/>
          </a:xfrm>
          <a:prstGeom prst="rect">
            <a:avLst/>
          </a:prstGeom>
        </p:spPr>
      </p:pic>
      <p:sp>
        <p:nvSpPr>
          <p:cNvPr id="9" name="Text 5"/>
          <p:cNvSpPr txBox="1"/>
          <p:nvPr/>
        </p:nvSpPr>
        <p:spPr>
          <a:xfrm>
            <a:off x="1234440" y="2148840"/>
            <a:ext cx="3383280" cy="868680"/>
          </a:xfrm>
          <a:prstGeom prst="rect">
            <a:avLst/>
          </a:prstGeom>
          <a:noFill/>
          <a:ln/>
        </p:spPr>
        <p:txBody>
          <a:bodyPr wrap="square" lIns="0" tIns="0" rIns="0" bIns="0" rtlCol="0" anchor="ctr"/>
          <a:lstStyle/>
          <a:p>
            <a:pPr indent="0" marL="0">
              <a:buNone/>
            </a:pPr>
            <a:r>
              <a:rPr lang="en-US" sz="1600" b="1" dirty="0">
                <a:solidFill>
                  <a:srgbClr val="0F4C3A"/>
                </a:solidFill>
                <a:latin typeface="Calibri" pitchFamily="34" charset="0"/>
                <a:ea typeface="Calibri" pitchFamily="34" charset="-122"/>
                <a:cs typeface="Calibri" pitchFamily="34" charset="-120"/>
              </a:rPr>
              <a:t>Admin User</a:t>
            </a:r>
            <a:endParaRPr lang="en-US" sz="1600" dirty="0"/>
          </a:p>
          <a:p>
            <a:pPr indent="0" marL="0">
              <a:buNone/>
            </a:pPr>
            <a:r>
              <a:rPr lang="en-US" sz="1250" dirty="0">
                <a:solidFill>
                  <a:srgbClr val="17251F"/>
                </a:solidFill>
                <a:latin typeface="Calibri" pitchFamily="34" charset="0"/>
                <a:ea typeface="Calibri" pitchFamily="34" charset="-122"/>
                <a:cs typeface="Calibri" pitchFamily="34" charset="-120"/>
              </a:rPr>
              <a:t>Logs in; manages content, media, pages and navigation</a:t>
            </a:r>
            <a:endParaRPr lang="en-US" sz="1600" dirty="0"/>
          </a:p>
        </p:txBody>
      </p:sp>
      <p:sp>
        <p:nvSpPr>
          <p:cNvPr id="10" name="Actor icon 3 bg"/>
          <p:cNvSpPr/>
          <p:nvPr/>
        </p:nvSpPr>
        <p:spPr>
          <a:xfrm>
            <a:off x="457200" y="3337560"/>
            <a:ext cx="594360" cy="594360"/>
          </a:xfrm>
          <a:prstGeom prst="ellipse">
            <a:avLst/>
          </a:prstGeom>
          <a:solidFill>
            <a:srgbClr val="0F4C3A"/>
          </a:solidFill>
          <a:ln w="12700">
            <a:solidFill>
              <a:srgbClr val="0F4C3A"/>
            </a:solidFill>
            <a:prstDash val="solid"/>
          </a:ln>
        </p:spPr>
      </p:sp>
      <p:pic>
        <p:nvPicPr>
          <p:cNvPr id="11" name="Image 2" descr="FaUserShield">    </p:cNvPr>
          <p:cNvPicPr>
            <a:picLocks noChangeAspect="1"/>
          </p:cNvPicPr>
          <p:nvPr/>
        </p:nvPicPr>
        <p:blipFill>
          <a:blip r:embed="rId3"/>
          <a:stretch>
            <a:fillRect/>
          </a:stretch>
        </p:blipFill>
        <p:spPr>
          <a:xfrm>
            <a:off x="599846" y="3480206"/>
            <a:ext cx="309067" cy="309067"/>
          </a:xfrm>
          <a:prstGeom prst="rect">
            <a:avLst/>
          </a:prstGeom>
        </p:spPr>
      </p:pic>
      <p:sp>
        <p:nvSpPr>
          <p:cNvPr id="12" name="Text 7"/>
          <p:cNvSpPr txBox="1"/>
          <p:nvPr/>
        </p:nvSpPr>
        <p:spPr>
          <a:xfrm>
            <a:off x="1234440" y="3246120"/>
            <a:ext cx="3383280" cy="868680"/>
          </a:xfrm>
          <a:prstGeom prst="rect">
            <a:avLst/>
          </a:prstGeom>
          <a:noFill/>
          <a:ln/>
        </p:spPr>
        <p:txBody>
          <a:bodyPr wrap="square" lIns="0" tIns="0" rIns="0" bIns="0" rtlCol="0" anchor="ctr"/>
          <a:lstStyle/>
          <a:p>
            <a:pPr indent="0" marL="0">
              <a:buNone/>
            </a:pPr>
            <a:r>
              <a:rPr lang="en-US" sz="1600" b="1" dirty="0">
                <a:solidFill>
                  <a:srgbClr val="0F4C3A"/>
                </a:solidFill>
                <a:latin typeface="Calibri" pitchFamily="34" charset="0"/>
                <a:ea typeface="Calibri" pitchFamily="34" charset="-122"/>
                <a:cs typeface="Calibri" pitchFamily="34" charset="-120"/>
              </a:rPr>
              <a:t>System Admin</a:t>
            </a:r>
            <a:endParaRPr lang="en-US" sz="1600" dirty="0"/>
          </a:p>
          <a:p>
            <a:pPr indent="0" marL="0">
              <a:buNone/>
            </a:pPr>
            <a:r>
              <a:rPr lang="en-US" sz="1250" dirty="0">
                <a:solidFill>
                  <a:srgbClr val="17251F"/>
                </a:solidFill>
                <a:latin typeface="Calibri" pitchFamily="34" charset="0"/>
                <a:ea typeface="Calibri" pitchFamily="34" charset="-122"/>
                <a:cs typeface="Calibri" pitchFamily="34" charset="-120"/>
              </a:rPr>
              <a:t>Also manages users, roles, activity logs and settings</a:t>
            </a:r>
            <a:endParaRPr lang="en-US" sz="1600" dirty="0"/>
          </a:p>
        </p:txBody>
      </p:sp>
      <p:sp>
        <p:nvSpPr>
          <p:cNvPr id="13" name="Use case panel"/>
          <p:cNvSpPr/>
          <p:nvPr/>
        </p:nvSpPr>
        <p:spPr>
          <a:xfrm>
            <a:off x="4892040" y="1051560"/>
            <a:ext cx="3840480" cy="3657600"/>
          </a:xfrm>
          <a:prstGeom prst="roundRect">
            <a:avLst>
              <a:gd name="adj" fmla="val 1500"/>
            </a:avLst>
          </a:prstGeom>
          <a:solidFill>
            <a:srgbClr val="FFFFFF"/>
          </a:solidFill>
          <a:ln w="12700">
            <a:solidFill>
              <a:srgbClr val="CFE3D8"/>
            </a:solidFill>
            <a:prstDash val="solid"/>
          </a:ln>
        </p:spPr>
      </p:sp>
      <p:pic>
        <p:nvPicPr>
          <p:cNvPr id="14" name="Image 3" descr="Use case diagram with Public User, Admin User and System Admin">    </p:cNvPr>
          <p:cNvPicPr>
            <a:picLocks noChangeAspect="1"/>
          </p:cNvPicPr>
          <p:nvPr/>
        </p:nvPicPr>
        <p:blipFill>
          <a:blip r:embed="rId4"/>
          <a:stretch>
            <a:fillRect/>
          </a:stretch>
        </p:blipFill>
        <p:spPr>
          <a:xfrm>
            <a:off x="5228746" y="1074420"/>
            <a:ext cx="3167067" cy="361188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6.ii System Model: Class Diagram</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6</a:t>
            </a:r>
            <a:endParaRPr lang="en-US" sz="1100" dirty="0"/>
          </a:p>
        </p:txBody>
      </p:sp>
      <p:sp>
        <p:nvSpPr>
          <p:cNvPr id="4" name="Class diagram panel"/>
          <p:cNvSpPr/>
          <p:nvPr/>
        </p:nvSpPr>
        <p:spPr>
          <a:xfrm>
            <a:off x="457200" y="1097280"/>
            <a:ext cx="8229600" cy="3611880"/>
          </a:xfrm>
          <a:prstGeom prst="roundRect">
            <a:avLst>
              <a:gd name="adj" fmla="val 1519"/>
            </a:avLst>
          </a:prstGeom>
          <a:solidFill>
            <a:srgbClr val="FFFFFF"/>
          </a:solidFill>
          <a:ln w="12700">
            <a:solidFill>
              <a:srgbClr val="CFE3D8"/>
            </a:solidFill>
            <a:prstDash val="solid"/>
          </a:ln>
        </p:spPr>
      </p:sp>
      <p:pic>
        <p:nvPicPr>
          <p:cNvPr id="5" name="Image 0" descr="Class diagram of the core domain: User, Role, Media, ActivityLog, News, Event, Announcement, Program">    </p:cNvPr>
          <p:cNvPicPr>
            <a:picLocks noChangeAspect="1"/>
          </p:cNvPicPr>
          <p:nvPr/>
        </p:nvPicPr>
        <p:blipFill>
          <a:blip r:embed="rId1"/>
          <a:stretch>
            <a:fillRect/>
          </a:stretch>
        </p:blipFill>
        <p:spPr>
          <a:xfrm>
            <a:off x="1170551" y="1165860"/>
            <a:ext cx="6802899" cy="347472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7. Methodology</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7</a:t>
            </a:r>
            <a:endParaRPr lang="en-US" sz="1100" dirty="0"/>
          </a:p>
        </p:txBody>
      </p:sp>
      <p:sp>
        <p:nvSpPr>
          <p:cNvPr id="4" name="Method card 1"/>
          <p:cNvSpPr/>
          <p:nvPr/>
        </p:nvSpPr>
        <p:spPr>
          <a:xfrm>
            <a:off x="457200" y="1143000"/>
            <a:ext cx="4023360" cy="1645920"/>
          </a:xfrm>
          <a:prstGeom prst="roundRect">
            <a:avLst>
              <a:gd name="adj" fmla="val 4444"/>
            </a:avLst>
          </a:prstGeom>
          <a:solidFill>
            <a:srgbClr val="EEF5F1"/>
          </a:solidFill>
          <a:ln w="12700">
            <a:solidFill>
              <a:srgbClr val="EEF5F1"/>
            </a:solidFill>
            <a:prstDash val="solid"/>
          </a:ln>
        </p:spPr>
      </p:sp>
      <p:sp>
        <p:nvSpPr>
          <p:cNvPr id="5" name="Method icon 1 bg"/>
          <p:cNvSpPr/>
          <p:nvPr/>
        </p:nvSpPr>
        <p:spPr>
          <a:xfrm>
            <a:off x="621792" y="1280160"/>
            <a:ext cx="502920" cy="502920"/>
          </a:xfrm>
          <a:prstGeom prst="ellipse">
            <a:avLst/>
          </a:prstGeom>
          <a:solidFill>
            <a:srgbClr val="0F4C3A"/>
          </a:solidFill>
          <a:ln w="12700">
            <a:solidFill>
              <a:srgbClr val="0F4C3A"/>
            </a:solidFill>
            <a:prstDash val="solid"/>
          </a:ln>
        </p:spPr>
      </p:sp>
      <p:pic>
        <p:nvPicPr>
          <p:cNvPr id="6" name="Image 0" descr="FaComments">    </p:cNvPr>
          <p:cNvPicPr>
            <a:picLocks noChangeAspect="1"/>
          </p:cNvPicPr>
          <p:nvPr/>
        </p:nvPicPr>
        <p:blipFill>
          <a:blip r:embed="rId1"/>
          <a:stretch>
            <a:fillRect/>
          </a:stretch>
        </p:blipFill>
        <p:spPr>
          <a:xfrm>
            <a:off x="742493" y="1400861"/>
            <a:ext cx="261518" cy="261518"/>
          </a:xfrm>
          <a:prstGeom prst="rect">
            <a:avLst/>
          </a:prstGeom>
        </p:spPr>
      </p:pic>
      <p:sp>
        <p:nvSpPr>
          <p:cNvPr id="7" name="Text 4"/>
          <p:cNvSpPr txBox="1"/>
          <p:nvPr/>
        </p:nvSpPr>
        <p:spPr>
          <a:xfrm>
            <a:off x="123444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Data collection</a:t>
            </a:r>
            <a:endParaRPr lang="en-US" sz="1550" dirty="0"/>
          </a:p>
        </p:txBody>
      </p:sp>
      <p:sp>
        <p:nvSpPr>
          <p:cNvPr id="8" name="Text 5"/>
          <p:cNvSpPr txBox="1"/>
          <p:nvPr/>
        </p:nvSpPr>
        <p:spPr>
          <a:xfrm>
            <a:off x="64008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Interviews with the ICT Director, Content Officer, Communications and Registrar staff; study of the old website obu.edu.et</a:t>
            </a:r>
            <a:endParaRPr lang="en-US" sz="1200" dirty="0"/>
          </a:p>
        </p:txBody>
      </p:sp>
      <p:sp>
        <p:nvSpPr>
          <p:cNvPr id="9" name="Method card 2"/>
          <p:cNvSpPr/>
          <p:nvPr/>
        </p:nvSpPr>
        <p:spPr>
          <a:xfrm>
            <a:off x="4663440" y="1143000"/>
            <a:ext cx="4023360" cy="1645920"/>
          </a:xfrm>
          <a:prstGeom prst="roundRect">
            <a:avLst>
              <a:gd name="adj" fmla="val 4444"/>
            </a:avLst>
          </a:prstGeom>
          <a:solidFill>
            <a:srgbClr val="EEF5F1"/>
          </a:solidFill>
          <a:ln w="12700">
            <a:solidFill>
              <a:srgbClr val="EEF5F1"/>
            </a:solidFill>
            <a:prstDash val="solid"/>
          </a:ln>
        </p:spPr>
      </p:sp>
      <p:sp>
        <p:nvSpPr>
          <p:cNvPr id="10" name="Method icon 2 bg"/>
          <p:cNvSpPr/>
          <p:nvPr/>
        </p:nvSpPr>
        <p:spPr>
          <a:xfrm>
            <a:off x="4828032" y="1280160"/>
            <a:ext cx="502920" cy="502920"/>
          </a:xfrm>
          <a:prstGeom prst="ellipse">
            <a:avLst/>
          </a:prstGeom>
          <a:solidFill>
            <a:srgbClr val="0F4C3A"/>
          </a:solidFill>
          <a:ln w="12700">
            <a:solidFill>
              <a:srgbClr val="0F4C3A"/>
            </a:solidFill>
            <a:prstDash val="solid"/>
          </a:ln>
        </p:spPr>
      </p:sp>
      <p:pic>
        <p:nvPicPr>
          <p:cNvPr id="11" name="Image 1" descr="FaLayerGroup">    </p:cNvPr>
          <p:cNvPicPr>
            <a:picLocks noChangeAspect="1"/>
          </p:cNvPicPr>
          <p:nvPr/>
        </p:nvPicPr>
        <p:blipFill>
          <a:blip r:embed="rId2"/>
          <a:stretch>
            <a:fillRect/>
          </a:stretch>
        </p:blipFill>
        <p:spPr>
          <a:xfrm>
            <a:off x="4948733" y="1400861"/>
            <a:ext cx="261518" cy="261518"/>
          </a:xfrm>
          <a:prstGeom prst="rect">
            <a:avLst/>
          </a:prstGeom>
        </p:spPr>
      </p:pic>
      <p:sp>
        <p:nvSpPr>
          <p:cNvPr id="12" name="Text 8"/>
          <p:cNvSpPr txBox="1"/>
          <p:nvPr/>
        </p:nvSpPr>
        <p:spPr>
          <a:xfrm>
            <a:off x="544068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Technologies</a:t>
            </a:r>
            <a:endParaRPr lang="en-US" sz="1550" dirty="0"/>
          </a:p>
        </p:txBody>
      </p:sp>
      <p:sp>
        <p:nvSpPr>
          <p:cNvPr id="13" name="Text 9"/>
          <p:cNvSpPr txBox="1"/>
          <p:nvPr/>
        </p:nvSpPr>
        <p:spPr>
          <a:xfrm>
            <a:off x="484632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React 19, TanStack Start, Tailwind CSS v4, Radix UI, Supabase (PostgreSQL, Auth, Storage), Vite</a:t>
            </a:r>
            <a:endParaRPr lang="en-US" sz="1200" dirty="0"/>
          </a:p>
        </p:txBody>
      </p:sp>
      <p:sp>
        <p:nvSpPr>
          <p:cNvPr id="14" name="Method card 3"/>
          <p:cNvSpPr/>
          <p:nvPr/>
        </p:nvSpPr>
        <p:spPr>
          <a:xfrm>
            <a:off x="457200" y="2926080"/>
            <a:ext cx="4023360" cy="1645920"/>
          </a:xfrm>
          <a:prstGeom prst="roundRect">
            <a:avLst>
              <a:gd name="adj" fmla="val 4444"/>
            </a:avLst>
          </a:prstGeom>
          <a:solidFill>
            <a:srgbClr val="EEF5F1"/>
          </a:solidFill>
          <a:ln w="12700">
            <a:solidFill>
              <a:srgbClr val="EEF5F1"/>
            </a:solidFill>
            <a:prstDash val="solid"/>
          </a:ln>
        </p:spPr>
      </p:sp>
      <p:sp>
        <p:nvSpPr>
          <p:cNvPr id="15" name="Method icon 3 bg"/>
          <p:cNvSpPr/>
          <p:nvPr/>
        </p:nvSpPr>
        <p:spPr>
          <a:xfrm>
            <a:off x="621792" y="3063240"/>
            <a:ext cx="502920" cy="502920"/>
          </a:xfrm>
          <a:prstGeom prst="ellipse">
            <a:avLst/>
          </a:prstGeom>
          <a:solidFill>
            <a:srgbClr val="0F4C3A"/>
          </a:solidFill>
          <a:ln w="12700">
            <a:solidFill>
              <a:srgbClr val="0F4C3A"/>
            </a:solidFill>
            <a:prstDash val="solid"/>
          </a:ln>
        </p:spPr>
      </p:sp>
      <p:pic>
        <p:nvPicPr>
          <p:cNvPr id="16" name="Image 2" descr="FaCode">    </p:cNvPr>
          <p:cNvPicPr>
            <a:picLocks noChangeAspect="1"/>
          </p:cNvPicPr>
          <p:nvPr/>
        </p:nvPicPr>
        <p:blipFill>
          <a:blip r:embed="rId3"/>
          <a:stretch>
            <a:fillRect/>
          </a:stretch>
        </p:blipFill>
        <p:spPr>
          <a:xfrm>
            <a:off x="742493" y="3183941"/>
            <a:ext cx="261518" cy="261518"/>
          </a:xfrm>
          <a:prstGeom prst="rect">
            <a:avLst/>
          </a:prstGeom>
        </p:spPr>
      </p:pic>
      <p:sp>
        <p:nvSpPr>
          <p:cNvPr id="17" name="Text 12"/>
          <p:cNvSpPr txBox="1"/>
          <p:nvPr/>
        </p:nvSpPr>
        <p:spPr>
          <a:xfrm>
            <a:off x="123444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Languages, tools, techniques</a:t>
            </a:r>
            <a:endParaRPr lang="en-US" sz="1550" dirty="0"/>
          </a:p>
        </p:txBody>
      </p:sp>
      <p:sp>
        <p:nvSpPr>
          <p:cNvPr id="18" name="Text 13"/>
          <p:cNvSpPr txBox="1"/>
          <p:nvPr/>
        </p:nvSpPr>
        <p:spPr>
          <a:xfrm>
            <a:off x="64008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TypeScript, SQL; Git, VS Code, Postman; UML, ER design, migrations, Row Level Security</a:t>
            </a:r>
            <a:endParaRPr lang="en-US" sz="1200" dirty="0"/>
          </a:p>
        </p:txBody>
      </p:sp>
      <p:sp>
        <p:nvSpPr>
          <p:cNvPr id="19" name="Method card 4"/>
          <p:cNvSpPr/>
          <p:nvPr/>
        </p:nvSpPr>
        <p:spPr>
          <a:xfrm>
            <a:off x="4663440" y="2926080"/>
            <a:ext cx="4023360" cy="1645920"/>
          </a:xfrm>
          <a:prstGeom prst="roundRect">
            <a:avLst>
              <a:gd name="adj" fmla="val 4444"/>
            </a:avLst>
          </a:prstGeom>
          <a:solidFill>
            <a:srgbClr val="EEF5F1"/>
          </a:solidFill>
          <a:ln w="12700">
            <a:solidFill>
              <a:srgbClr val="EEF5F1"/>
            </a:solidFill>
            <a:prstDash val="solid"/>
          </a:ln>
        </p:spPr>
      </p:sp>
      <p:sp>
        <p:nvSpPr>
          <p:cNvPr id="20" name="Method icon 4 bg"/>
          <p:cNvSpPr/>
          <p:nvPr/>
        </p:nvSpPr>
        <p:spPr>
          <a:xfrm>
            <a:off x="4828032" y="3063240"/>
            <a:ext cx="502920" cy="502920"/>
          </a:xfrm>
          <a:prstGeom prst="ellipse">
            <a:avLst/>
          </a:prstGeom>
          <a:solidFill>
            <a:srgbClr val="0F4C3A"/>
          </a:solidFill>
          <a:ln w="12700">
            <a:solidFill>
              <a:srgbClr val="0F4C3A"/>
            </a:solidFill>
            <a:prstDash val="solid"/>
          </a:ln>
        </p:spPr>
      </p:sp>
      <p:pic>
        <p:nvPicPr>
          <p:cNvPr id="21" name="Image 3" descr="FaSyncAlt">    </p:cNvPr>
          <p:cNvPicPr>
            <a:picLocks noChangeAspect="1"/>
          </p:cNvPicPr>
          <p:nvPr/>
        </p:nvPicPr>
        <p:blipFill>
          <a:blip r:embed="rId4"/>
          <a:stretch>
            <a:fillRect/>
          </a:stretch>
        </p:blipFill>
        <p:spPr>
          <a:xfrm>
            <a:off x="4948733" y="3183941"/>
            <a:ext cx="261518" cy="261518"/>
          </a:xfrm>
          <a:prstGeom prst="rect">
            <a:avLst/>
          </a:prstGeom>
        </p:spPr>
      </p:pic>
      <p:sp>
        <p:nvSpPr>
          <p:cNvPr id="22" name="Text 16"/>
          <p:cNvSpPr txBox="1"/>
          <p:nvPr/>
        </p:nvSpPr>
        <p:spPr>
          <a:xfrm>
            <a:off x="544068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Development methodology</a:t>
            </a:r>
            <a:endParaRPr lang="en-US" sz="1550" dirty="0"/>
          </a:p>
        </p:txBody>
      </p:sp>
      <p:sp>
        <p:nvSpPr>
          <p:cNvPr id="23" name="Text 17"/>
          <p:cNvSpPr txBox="1"/>
          <p:nvPr/>
        </p:nvSpPr>
        <p:spPr>
          <a:xfrm>
            <a:off x="484632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Agile Scrum: 4 sprints in 45 days, each ending with a demo to the ICT Director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System Design Overview</a:t>
            </a:r>
            <a:endParaRPr lang="en-US" sz="2600" dirty="0"/>
          </a:p>
        </p:txBody>
      </p:sp>
      <p:sp>
        <p:nvSpPr>
          <p:cNvPr id="3" name="Architecture panel"/>
          <p:cNvSpPr/>
          <p:nvPr/>
        </p:nvSpPr>
        <p:spPr>
          <a:xfrm>
            <a:off x="457200" y="1097280"/>
            <a:ext cx="5303520" cy="3520440"/>
          </a:xfrm>
          <a:prstGeom prst="roundRect">
            <a:avLst>
              <a:gd name="adj" fmla="val 2078"/>
            </a:avLst>
          </a:prstGeom>
          <a:solidFill>
            <a:srgbClr val="EEF5F1"/>
          </a:solidFill>
          <a:ln w="12700">
            <a:solidFill>
              <a:srgbClr val="EEF5F1"/>
            </a:solidFill>
            <a:prstDash val="solid"/>
          </a:ln>
        </p:spPr>
      </p:sp>
      <p:pic>
        <p:nvPicPr>
          <p:cNvPr id="4" name="Image 0" descr="Three-tier architecture: presentation, application and data tiers">    </p:cNvPr>
          <p:cNvPicPr>
            <a:picLocks noChangeAspect="1"/>
          </p:cNvPicPr>
          <p:nvPr/>
        </p:nvPicPr>
        <p:blipFill>
          <a:blip r:embed="rId1"/>
          <a:stretch>
            <a:fillRect/>
          </a:stretch>
        </p:blipFill>
        <p:spPr>
          <a:xfrm>
            <a:off x="502920" y="1160472"/>
            <a:ext cx="5212080" cy="3394057"/>
          </a:xfrm>
          <a:prstGeom prst="rect">
            <a:avLst/>
          </a:prstGeom>
        </p:spPr>
      </p:pic>
      <p:sp>
        <p:nvSpPr>
          <p:cNvPr id="5" name="Design card 1"/>
          <p:cNvSpPr/>
          <p:nvPr/>
        </p:nvSpPr>
        <p:spPr>
          <a:xfrm>
            <a:off x="5989320" y="1097280"/>
            <a:ext cx="2743200" cy="1051560"/>
          </a:xfrm>
          <a:prstGeom prst="roundRect">
            <a:avLst>
              <a:gd name="adj" fmla="val 6957"/>
            </a:avLst>
          </a:prstGeom>
          <a:solidFill>
            <a:srgbClr val="0F4C3A"/>
          </a:solidFill>
          <a:ln w="12700">
            <a:solidFill>
              <a:srgbClr val="0F4C3A"/>
            </a:solidFill>
            <a:prstDash val="solid"/>
          </a:ln>
        </p:spPr>
      </p:sp>
      <p:sp>
        <p:nvSpPr>
          <p:cNvPr id="6" name="Text 3"/>
          <p:cNvSpPr txBox="1"/>
          <p:nvPr/>
        </p:nvSpPr>
        <p:spPr>
          <a:xfrm>
            <a:off x="6126480" y="1143000"/>
            <a:ext cx="251460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Three tiers</a:t>
            </a:r>
            <a:endParaRPr lang="en-US" sz="1500" dirty="0"/>
          </a:p>
          <a:p>
            <a:pPr indent="0" marL="0">
              <a:buNone/>
            </a:pPr>
            <a:r>
              <a:rPr lang="en-US" sz="1150" dirty="0">
                <a:solidFill>
                  <a:srgbClr val="E6F0EA"/>
                </a:solidFill>
                <a:latin typeface="Calibri" pitchFamily="34" charset="0"/>
                <a:ea typeface="Calibri" pitchFamily="34" charset="-122"/>
                <a:cs typeface="Calibri" pitchFamily="34" charset="-120"/>
              </a:rPr>
              <a:t>Browser UI, TanStack Start server, Supabase data tier</a:t>
            </a:r>
            <a:endParaRPr lang="en-US" sz="1500" dirty="0"/>
          </a:p>
        </p:txBody>
      </p:sp>
      <p:sp>
        <p:nvSpPr>
          <p:cNvPr id="7" name="Design card 2"/>
          <p:cNvSpPr/>
          <p:nvPr/>
        </p:nvSpPr>
        <p:spPr>
          <a:xfrm>
            <a:off x="5989320" y="2286000"/>
            <a:ext cx="2743200" cy="1051560"/>
          </a:xfrm>
          <a:prstGeom prst="roundRect">
            <a:avLst>
              <a:gd name="adj" fmla="val 6957"/>
            </a:avLst>
          </a:prstGeom>
          <a:solidFill>
            <a:srgbClr val="287A5D"/>
          </a:solidFill>
          <a:ln w="12700">
            <a:solidFill>
              <a:srgbClr val="287A5D"/>
            </a:solidFill>
            <a:prstDash val="solid"/>
          </a:ln>
        </p:spPr>
      </p:sp>
      <p:sp>
        <p:nvSpPr>
          <p:cNvPr id="8" name="Text 5"/>
          <p:cNvSpPr txBox="1"/>
          <p:nvPr/>
        </p:nvSpPr>
        <p:spPr>
          <a:xfrm>
            <a:off x="6126480" y="2331720"/>
            <a:ext cx="251460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27 tables</a:t>
            </a:r>
            <a:endParaRPr lang="en-US" sz="1500" dirty="0"/>
          </a:p>
          <a:p>
            <a:pPr indent="0" marL="0">
              <a:buNone/>
            </a:pPr>
            <a:r>
              <a:rPr lang="en-US" sz="1150" dirty="0">
                <a:solidFill>
                  <a:srgbClr val="E6F0EA"/>
                </a:solidFill>
                <a:latin typeface="Calibri" pitchFamily="34" charset="0"/>
                <a:ea typeface="Calibri" pitchFamily="34" charset="-122"/>
                <a:cs typeface="Calibri" pitchFamily="34" charset="-120"/>
              </a:rPr>
              <a:t>One central media table; slugs, status, foreign keys</a:t>
            </a:r>
            <a:endParaRPr lang="en-US" sz="1500" dirty="0"/>
          </a:p>
        </p:txBody>
      </p:sp>
      <p:sp>
        <p:nvSpPr>
          <p:cNvPr id="9" name="Design card 3"/>
          <p:cNvSpPr/>
          <p:nvPr/>
        </p:nvSpPr>
        <p:spPr>
          <a:xfrm>
            <a:off x="5989320" y="3474720"/>
            <a:ext cx="2743200" cy="1051560"/>
          </a:xfrm>
          <a:prstGeom prst="roundRect">
            <a:avLst>
              <a:gd name="adj" fmla="val 6957"/>
            </a:avLst>
          </a:prstGeom>
          <a:solidFill>
            <a:srgbClr val="D4A017"/>
          </a:solidFill>
          <a:ln w="12700">
            <a:solidFill>
              <a:srgbClr val="D4A017"/>
            </a:solidFill>
            <a:prstDash val="solid"/>
          </a:ln>
        </p:spPr>
      </p:sp>
      <p:sp>
        <p:nvSpPr>
          <p:cNvPr id="10" name="Text 7"/>
          <p:cNvSpPr txBox="1"/>
          <p:nvPr/>
        </p:nvSpPr>
        <p:spPr>
          <a:xfrm>
            <a:off x="6126480" y="3520440"/>
            <a:ext cx="2514600" cy="960120"/>
          </a:xfrm>
          <a:prstGeom prst="rect">
            <a:avLst/>
          </a:prstGeom>
          <a:noFill/>
          <a:ln/>
        </p:spPr>
        <p:txBody>
          <a:bodyPr wrap="square" lIns="0" tIns="0" rIns="0" bIns="0" rtlCol="0" anchor="ctr"/>
          <a:lstStyle/>
          <a:p>
            <a:pPr indent="0" marL="0">
              <a:buNone/>
            </a:pPr>
            <a:r>
              <a:rPr lang="en-US" sz="1500" b="1" dirty="0">
                <a:solidFill>
                  <a:srgbClr val="17251F"/>
                </a:solidFill>
                <a:latin typeface="Calibri" pitchFamily="34" charset="0"/>
                <a:ea typeface="Calibri" pitchFamily="34" charset="-122"/>
                <a:cs typeface="Calibri" pitchFamily="34" charset="-120"/>
              </a:rPr>
              <a:t>Layered security</a:t>
            </a:r>
            <a:endParaRPr lang="en-US" sz="1500" dirty="0"/>
          </a:p>
          <a:p>
            <a:pPr indent="0" marL="0">
              <a:buNone/>
            </a:pPr>
            <a:r>
              <a:rPr lang="en-US" sz="1150" dirty="0">
                <a:solidFill>
                  <a:srgbClr val="17251F"/>
                </a:solidFill>
                <a:latin typeface="Calibri" pitchFamily="34" charset="0"/>
                <a:ea typeface="Calibri" pitchFamily="34" charset="-122"/>
                <a:cs typeface="Calibri" pitchFamily="34" charset="-120"/>
              </a:rPr>
              <a:t>Supabase Auth, Row Level Security, CSRF, upload checks, audit log</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8. Benefit: Skills Gained</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8</a:t>
            </a:r>
            <a:endParaRPr lang="en-US" sz="1100" dirty="0"/>
          </a:p>
        </p:txBody>
      </p:sp>
      <p:sp>
        <p:nvSpPr>
          <p:cNvPr id="4" name="Benefit row 1"/>
          <p:cNvSpPr/>
          <p:nvPr/>
        </p:nvSpPr>
        <p:spPr>
          <a:xfrm>
            <a:off x="457200" y="1097280"/>
            <a:ext cx="8229600" cy="521208"/>
          </a:xfrm>
          <a:prstGeom prst="roundRect">
            <a:avLst>
              <a:gd name="adj" fmla="val 14035"/>
            </a:avLst>
          </a:prstGeom>
          <a:solidFill>
            <a:srgbClr val="EEF5F1"/>
          </a:solidFill>
          <a:ln w="12700">
            <a:solidFill>
              <a:srgbClr val="EEF5F1"/>
            </a:solidFill>
            <a:prstDash val="solid"/>
          </a:ln>
        </p:spPr>
      </p:sp>
      <p:sp>
        <p:nvSpPr>
          <p:cNvPr id="5" name="Benefit icon 1 bg"/>
          <p:cNvSpPr/>
          <p:nvPr/>
        </p:nvSpPr>
        <p:spPr>
          <a:xfrm>
            <a:off x="548640" y="1143000"/>
            <a:ext cx="429768" cy="429768"/>
          </a:xfrm>
          <a:prstGeom prst="ellipse">
            <a:avLst/>
          </a:prstGeom>
          <a:solidFill>
            <a:srgbClr val="0F4C3A"/>
          </a:solidFill>
          <a:ln w="12700">
            <a:solidFill>
              <a:srgbClr val="0F4C3A"/>
            </a:solidFill>
            <a:prstDash val="solid"/>
          </a:ln>
        </p:spPr>
      </p:sp>
      <p:pic>
        <p:nvPicPr>
          <p:cNvPr id="6" name="Image 0" descr="FaLaptopCode">    </p:cNvPr>
          <p:cNvPicPr>
            <a:picLocks noChangeAspect="1"/>
          </p:cNvPicPr>
          <p:nvPr/>
        </p:nvPicPr>
        <p:blipFill>
          <a:blip r:embed="rId1"/>
          <a:stretch>
            <a:fillRect/>
          </a:stretch>
        </p:blipFill>
        <p:spPr>
          <a:xfrm>
            <a:off x="651784" y="1246144"/>
            <a:ext cx="223479" cy="223479"/>
          </a:xfrm>
          <a:prstGeom prst="rect">
            <a:avLst/>
          </a:prstGeom>
        </p:spPr>
      </p:pic>
      <p:sp>
        <p:nvSpPr>
          <p:cNvPr id="7" name="Text 4"/>
          <p:cNvSpPr txBox="1"/>
          <p:nvPr/>
        </p:nvSpPr>
        <p:spPr>
          <a:xfrm>
            <a:off x="1188720" y="1097280"/>
            <a:ext cx="2194560" cy="521208"/>
          </a:xfrm>
          <a:prstGeom prst="rect">
            <a:avLst/>
          </a:prstGeom>
          <a:noFill/>
          <a:ln/>
        </p:spPr>
        <p:txBody>
          <a:bodyPr wrap="square" lIns="0" tIns="0" rIns="0" bIns="0" rtlCol="0" anchor="ctr"/>
          <a:lstStyle/>
          <a:p>
            <a:pPr indent="0" marL="0">
              <a:buNone/>
            </a:pPr>
            <a:r>
              <a:rPr lang="en-US" sz="1400" b="1" dirty="0">
                <a:solidFill>
                  <a:srgbClr val="0F4C3A"/>
                </a:solidFill>
                <a:latin typeface="Cambria" pitchFamily="34" charset="0"/>
                <a:ea typeface="Cambria" pitchFamily="34" charset="-122"/>
                <a:cs typeface="Cambria" pitchFamily="34" charset="-120"/>
              </a:rPr>
              <a:t>Practical skills</a:t>
            </a:r>
            <a:endParaRPr lang="en-US" sz="1400" dirty="0"/>
          </a:p>
        </p:txBody>
      </p:sp>
      <p:sp>
        <p:nvSpPr>
          <p:cNvPr id="8" name="Text 5"/>
          <p:cNvSpPr txBox="1"/>
          <p:nvPr/>
        </p:nvSpPr>
        <p:spPr>
          <a:xfrm>
            <a:off x="3429000" y="1097280"/>
            <a:ext cx="5166360" cy="521208"/>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Built a full-stack system from database to user interface</a:t>
            </a:r>
            <a:endParaRPr lang="en-US" sz="1250" dirty="0"/>
          </a:p>
        </p:txBody>
      </p:sp>
      <p:sp>
        <p:nvSpPr>
          <p:cNvPr id="9" name="Benefit row 2"/>
          <p:cNvSpPr/>
          <p:nvPr/>
        </p:nvSpPr>
        <p:spPr>
          <a:xfrm>
            <a:off x="457200" y="1691640"/>
            <a:ext cx="8229600" cy="521208"/>
          </a:xfrm>
          <a:prstGeom prst="roundRect">
            <a:avLst>
              <a:gd name="adj" fmla="val 14035"/>
            </a:avLst>
          </a:prstGeom>
          <a:solidFill>
            <a:srgbClr val="EEF5F1"/>
          </a:solidFill>
          <a:ln w="12700">
            <a:solidFill>
              <a:srgbClr val="EEF5F1"/>
            </a:solidFill>
            <a:prstDash val="solid"/>
          </a:ln>
        </p:spPr>
      </p:sp>
      <p:sp>
        <p:nvSpPr>
          <p:cNvPr id="10" name="Benefit icon 2 bg"/>
          <p:cNvSpPr/>
          <p:nvPr/>
        </p:nvSpPr>
        <p:spPr>
          <a:xfrm>
            <a:off x="548640" y="1737360"/>
            <a:ext cx="429768" cy="429768"/>
          </a:xfrm>
          <a:prstGeom prst="ellipse">
            <a:avLst/>
          </a:prstGeom>
          <a:solidFill>
            <a:srgbClr val="0F4C3A"/>
          </a:solidFill>
          <a:ln w="12700">
            <a:solidFill>
              <a:srgbClr val="0F4C3A"/>
            </a:solidFill>
            <a:prstDash val="solid"/>
          </a:ln>
        </p:spPr>
      </p:sp>
      <p:pic>
        <p:nvPicPr>
          <p:cNvPr id="11" name="Image 1" descr="FaBookOpen">    </p:cNvPr>
          <p:cNvPicPr>
            <a:picLocks noChangeAspect="1"/>
          </p:cNvPicPr>
          <p:nvPr/>
        </p:nvPicPr>
        <p:blipFill>
          <a:blip r:embed="rId2"/>
          <a:stretch>
            <a:fillRect/>
          </a:stretch>
        </p:blipFill>
        <p:spPr>
          <a:xfrm>
            <a:off x="651784" y="1840504"/>
            <a:ext cx="223479" cy="223479"/>
          </a:xfrm>
          <a:prstGeom prst="rect">
            <a:avLst/>
          </a:prstGeom>
        </p:spPr>
      </p:pic>
      <p:sp>
        <p:nvSpPr>
          <p:cNvPr id="12" name="Text 8"/>
          <p:cNvSpPr txBox="1"/>
          <p:nvPr/>
        </p:nvSpPr>
        <p:spPr>
          <a:xfrm>
            <a:off x="1188720" y="1691640"/>
            <a:ext cx="2194560" cy="521208"/>
          </a:xfrm>
          <a:prstGeom prst="rect">
            <a:avLst/>
          </a:prstGeom>
          <a:noFill/>
          <a:ln/>
        </p:spPr>
        <p:txBody>
          <a:bodyPr wrap="square" lIns="0" tIns="0" rIns="0" bIns="0" rtlCol="0" anchor="ctr"/>
          <a:lstStyle/>
          <a:p>
            <a:pPr indent="0" marL="0">
              <a:buNone/>
            </a:pPr>
            <a:r>
              <a:rPr lang="en-US" sz="1400" b="1" dirty="0">
                <a:solidFill>
                  <a:srgbClr val="0F4C3A"/>
                </a:solidFill>
                <a:latin typeface="Cambria" pitchFamily="34" charset="0"/>
                <a:ea typeface="Cambria" pitchFamily="34" charset="-122"/>
                <a:cs typeface="Cambria" pitchFamily="34" charset="-120"/>
              </a:rPr>
              <a:t>Theoretical knowledge</a:t>
            </a:r>
            <a:endParaRPr lang="en-US" sz="1400" dirty="0"/>
          </a:p>
        </p:txBody>
      </p:sp>
      <p:sp>
        <p:nvSpPr>
          <p:cNvPr id="13" name="Text 9"/>
          <p:cNvSpPr txBox="1"/>
          <p:nvPr/>
        </p:nvSpPr>
        <p:spPr>
          <a:xfrm>
            <a:off x="3429000" y="1691640"/>
            <a:ext cx="5166360" cy="521208"/>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Normalization, UML, architecture patterns and security principles in real use</a:t>
            </a:r>
            <a:endParaRPr lang="en-US" sz="1250" dirty="0"/>
          </a:p>
        </p:txBody>
      </p:sp>
      <p:sp>
        <p:nvSpPr>
          <p:cNvPr id="14" name="Benefit row 3"/>
          <p:cNvSpPr/>
          <p:nvPr/>
        </p:nvSpPr>
        <p:spPr>
          <a:xfrm>
            <a:off x="457200" y="2286000"/>
            <a:ext cx="8229600" cy="521208"/>
          </a:xfrm>
          <a:prstGeom prst="roundRect">
            <a:avLst>
              <a:gd name="adj" fmla="val 14035"/>
            </a:avLst>
          </a:prstGeom>
          <a:solidFill>
            <a:srgbClr val="EEF5F1"/>
          </a:solidFill>
          <a:ln w="12700">
            <a:solidFill>
              <a:srgbClr val="EEF5F1"/>
            </a:solidFill>
            <a:prstDash val="solid"/>
          </a:ln>
        </p:spPr>
      </p:sp>
      <p:sp>
        <p:nvSpPr>
          <p:cNvPr id="15" name="Benefit icon 3 bg"/>
          <p:cNvSpPr/>
          <p:nvPr/>
        </p:nvSpPr>
        <p:spPr>
          <a:xfrm>
            <a:off x="548640" y="2331720"/>
            <a:ext cx="429768" cy="429768"/>
          </a:xfrm>
          <a:prstGeom prst="ellipse">
            <a:avLst/>
          </a:prstGeom>
          <a:solidFill>
            <a:srgbClr val="0F4C3A"/>
          </a:solidFill>
          <a:ln w="12700">
            <a:solidFill>
              <a:srgbClr val="0F4C3A"/>
            </a:solidFill>
            <a:prstDash val="solid"/>
          </a:ln>
        </p:spPr>
      </p:sp>
      <p:pic>
        <p:nvPicPr>
          <p:cNvPr id="16" name="Image 2" descr="FaPuzzlePiece">    </p:cNvPr>
          <p:cNvPicPr>
            <a:picLocks noChangeAspect="1"/>
          </p:cNvPicPr>
          <p:nvPr/>
        </p:nvPicPr>
        <p:blipFill>
          <a:blip r:embed="rId3"/>
          <a:stretch>
            <a:fillRect/>
          </a:stretch>
        </p:blipFill>
        <p:spPr>
          <a:xfrm>
            <a:off x="651784" y="2434864"/>
            <a:ext cx="223479" cy="223479"/>
          </a:xfrm>
          <a:prstGeom prst="rect">
            <a:avLst/>
          </a:prstGeom>
        </p:spPr>
      </p:pic>
      <p:sp>
        <p:nvSpPr>
          <p:cNvPr id="17" name="Text 12"/>
          <p:cNvSpPr txBox="1"/>
          <p:nvPr/>
        </p:nvSpPr>
        <p:spPr>
          <a:xfrm>
            <a:off x="1188720" y="2286000"/>
            <a:ext cx="2194560" cy="521208"/>
          </a:xfrm>
          <a:prstGeom prst="rect">
            <a:avLst/>
          </a:prstGeom>
          <a:noFill/>
          <a:ln/>
        </p:spPr>
        <p:txBody>
          <a:bodyPr wrap="square" lIns="0" tIns="0" rIns="0" bIns="0" rtlCol="0" anchor="ctr"/>
          <a:lstStyle/>
          <a:p>
            <a:pPr indent="0" marL="0">
              <a:buNone/>
            </a:pPr>
            <a:r>
              <a:rPr lang="en-US" sz="1400" b="1" dirty="0">
                <a:solidFill>
                  <a:srgbClr val="0F4C3A"/>
                </a:solidFill>
                <a:latin typeface="Cambria" pitchFamily="34" charset="0"/>
                <a:ea typeface="Cambria" pitchFamily="34" charset="-122"/>
                <a:cs typeface="Cambria" pitchFamily="34" charset="-120"/>
              </a:rPr>
              <a:t>Problem-solving</a:t>
            </a:r>
            <a:endParaRPr lang="en-US" sz="1400" dirty="0"/>
          </a:p>
        </p:txBody>
      </p:sp>
      <p:sp>
        <p:nvSpPr>
          <p:cNvPr id="18" name="Text 13"/>
          <p:cNvSpPr txBox="1"/>
          <p:nvPr/>
        </p:nvSpPr>
        <p:spPr>
          <a:xfrm>
            <a:off x="3429000" y="2286000"/>
            <a:ext cx="5166360" cy="521208"/>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Turned vague office needs into requirements and working modules</a:t>
            </a:r>
            <a:endParaRPr lang="en-US" sz="1250" dirty="0"/>
          </a:p>
        </p:txBody>
      </p:sp>
      <p:sp>
        <p:nvSpPr>
          <p:cNvPr id="19" name="Benefit row 4"/>
          <p:cNvSpPr/>
          <p:nvPr/>
        </p:nvSpPr>
        <p:spPr>
          <a:xfrm>
            <a:off x="457200" y="2880360"/>
            <a:ext cx="8229600" cy="521208"/>
          </a:xfrm>
          <a:prstGeom prst="roundRect">
            <a:avLst>
              <a:gd name="adj" fmla="val 14035"/>
            </a:avLst>
          </a:prstGeom>
          <a:solidFill>
            <a:srgbClr val="EEF5F1"/>
          </a:solidFill>
          <a:ln w="12700">
            <a:solidFill>
              <a:srgbClr val="EEF5F1"/>
            </a:solidFill>
            <a:prstDash val="solid"/>
          </a:ln>
        </p:spPr>
      </p:sp>
      <p:sp>
        <p:nvSpPr>
          <p:cNvPr id="20" name="Benefit icon 4 bg"/>
          <p:cNvSpPr/>
          <p:nvPr/>
        </p:nvSpPr>
        <p:spPr>
          <a:xfrm>
            <a:off x="548640" y="2926080"/>
            <a:ext cx="429768" cy="429768"/>
          </a:xfrm>
          <a:prstGeom prst="ellipse">
            <a:avLst/>
          </a:prstGeom>
          <a:solidFill>
            <a:srgbClr val="0F4C3A"/>
          </a:solidFill>
          <a:ln w="12700">
            <a:solidFill>
              <a:srgbClr val="0F4C3A"/>
            </a:solidFill>
            <a:prstDash val="solid"/>
          </a:ln>
        </p:spPr>
      </p:sp>
      <p:pic>
        <p:nvPicPr>
          <p:cNvPr id="21" name="Image 3" descr="FaUsers">    </p:cNvPr>
          <p:cNvPicPr>
            <a:picLocks noChangeAspect="1"/>
          </p:cNvPicPr>
          <p:nvPr/>
        </p:nvPicPr>
        <p:blipFill>
          <a:blip r:embed="rId4"/>
          <a:stretch>
            <a:fillRect/>
          </a:stretch>
        </p:blipFill>
        <p:spPr>
          <a:xfrm>
            <a:off x="651784" y="3029224"/>
            <a:ext cx="223479" cy="223479"/>
          </a:xfrm>
          <a:prstGeom prst="rect">
            <a:avLst/>
          </a:prstGeom>
        </p:spPr>
      </p:pic>
      <p:sp>
        <p:nvSpPr>
          <p:cNvPr id="22" name="Text 16"/>
          <p:cNvSpPr txBox="1"/>
          <p:nvPr/>
        </p:nvSpPr>
        <p:spPr>
          <a:xfrm>
            <a:off x="1188720" y="2880360"/>
            <a:ext cx="2194560" cy="521208"/>
          </a:xfrm>
          <a:prstGeom prst="rect">
            <a:avLst/>
          </a:prstGeom>
          <a:noFill/>
          <a:ln/>
        </p:spPr>
        <p:txBody>
          <a:bodyPr wrap="square" lIns="0" tIns="0" rIns="0" bIns="0" rtlCol="0" anchor="ctr"/>
          <a:lstStyle/>
          <a:p>
            <a:pPr indent="0" marL="0">
              <a:buNone/>
            </a:pPr>
            <a:r>
              <a:rPr lang="en-US" sz="1400" b="1" dirty="0">
                <a:solidFill>
                  <a:srgbClr val="0F4C3A"/>
                </a:solidFill>
                <a:latin typeface="Cambria" pitchFamily="34" charset="0"/>
                <a:ea typeface="Cambria" pitchFamily="34" charset="-122"/>
                <a:cs typeface="Cambria" pitchFamily="34" charset="-120"/>
              </a:rPr>
              <a:t>Teamwork</a:t>
            </a:r>
            <a:endParaRPr lang="en-US" sz="1400" dirty="0"/>
          </a:p>
        </p:txBody>
      </p:sp>
      <p:sp>
        <p:nvSpPr>
          <p:cNvPr id="23" name="Text 17"/>
          <p:cNvSpPr txBox="1"/>
          <p:nvPr/>
        </p:nvSpPr>
        <p:spPr>
          <a:xfrm>
            <a:off x="3429000" y="2880360"/>
            <a:ext cx="5166360" cy="521208"/>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Worked with ICT, Registrar and Communications; used sprint feedback</a:t>
            </a:r>
            <a:endParaRPr lang="en-US" sz="1250" dirty="0"/>
          </a:p>
        </p:txBody>
      </p:sp>
      <p:sp>
        <p:nvSpPr>
          <p:cNvPr id="24" name="Benefit row 5"/>
          <p:cNvSpPr/>
          <p:nvPr/>
        </p:nvSpPr>
        <p:spPr>
          <a:xfrm>
            <a:off x="457200" y="3474720"/>
            <a:ext cx="8229600" cy="521208"/>
          </a:xfrm>
          <a:prstGeom prst="roundRect">
            <a:avLst>
              <a:gd name="adj" fmla="val 14035"/>
            </a:avLst>
          </a:prstGeom>
          <a:solidFill>
            <a:srgbClr val="EEF5F1"/>
          </a:solidFill>
          <a:ln w="12700">
            <a:solidFill>
              <a:srgbClr val="EEF5F1"/>
            </a:solidFill>
            <a:prstDash val="solid"/>
          </a:ln>
        </p:spPr>
      </p:sp>
      <p:sp>
        <p:nvSpPr>
          <p:cNvPr id="25" name="Benefit icon 5 bg"/>
          <p:cNvSpPr/>
          <p:nvPr/>
        </p:nvSpPr>
        <p:spPr>
          <a:xfrm>
            <a:off x="548640" y="3520440"/>
            <a:ext cx="429768" cy="429768"/>
          </a:xfrm>
          <a:prstGeom prst="ellipse">
            <a:avLst/>
          </a:prstGeom>
          <a:solidFill>
            <a:srgbClr val="0F4C3A"/>
          </a:solidFill>
          <a:ln w="12700">
            <a:solidFill>
              <a:srgbClr val="0F4C3A"/>
            </a:solidFill>
            <a:prstDash val="solid"/>
          </a:ln>
        </p:spPr>
      </p:sp>
      <p:pic>
        <p:nvPicPr>
          <p:cNvPr id="26" name="Image 4" descr="FaCompass">    </p:cNvPr>
          <p:cNvPicPr>
            <a:picLocks noChangeAspect="1"/>
          </p:cNvPicPr>
          <p:nvPr/>
        </p:nvPicPr>
        <p:blipFill>
          <a:blip r:embed="rId5"/>
          <a:stretch>
            <a:fillRect/>
          </a:stretch>
        </p:blipFill>
        <p:spPr>
          <a:xfrm>
            <a:off x="651784" y="3623584"/>
            <a:ext cx="223479" cy="223479"/>
          </a:xfrm>
          <a:prstGeom prst="rect">
            <a:avLst/>
          </a:prstGeom>
        </p:spPr>
      </p:pic>
      <p:sp>
        <p:nvSpPr>
          <p:cNvPr id="27" name="Text 20"/>
          <p:cNvSpPr txBox="1"/>
          <p:nvPr/>
        </p:nvSpPr>
        <p:spPr>
          <a:xfrm>
            <a:off x="1188720" y="3474720"/>
            <a:ext cx="2194560" cy="521208"/>
          </a:xfrm>
          <a:prstGeom prst="rect">
            <a:avLst/>
          </a:prstGeom>
          <a:noFill/>
          <a:ln/>
        </p:spPr>
        <p:txBody>
          <a:bodyPr wrap="square" lIns="0" tIns="0" rIns="0" bIns="0" rtlCol="0" anchor="ctr"/>
          <a:lstStyle/>
          <a:p>
            <a:pPr indent="0" marL="0">
              <a:buNone/>
            </a:pPr>
            <a:r>
              <a:rPr lang="en-US" sz="1400" b="1" dirty="0">
                <a:solidFill>
                  <a:srgbClr val="0F4C3A"/>
                </a:solidFill>
                <a:latin typeface="Cambria" pitchFamily="34" charset="0"/>
                <a:ea typeface="Cambria" pitchFamily="34" charset="-122"/>
                <a:cs typeface="Cambria" pitchFamily="34" charset="-120"/>
              </a:rPr>
              <a:t>Leadership</a:t>
            </a:r>
            <a:endParaRPr lang="en-US" sz="1400" dirty="0"/>
          </a:p>
        </p:txBody>
      </p:sp>
      <p:sp>
        <p:nvSpPr>
          <p:cNvPr id="28" name="Text 21"/>
          <p:cNvSpPr txBox="1"/>
          <p:nvPr/>
        </p:nvSpPr>
        <p:spPr>
          <a:xfrm>
            <a:off x="3429000" y="3474720"/>
            <a:ext cx="5166360" cy="521208"/>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Owned planning, demos, decisions and priorities</a:t>
            </a:r>
            <a:endParaRPr lang="en-US" sz="1250" dirty="0"/>
          </a:p>
        </p:txBody>
      </p:sp>
      <p:sp>
        <p:nvSpPr>
          <p:cNvPr id="29" name="Benefit row 6"/>
          <p:cNvSpPr/>
          <p:nvPr/>
        </p:nvSpPr>
        <p:spPr>
          <a:xfrm>
            <a:off x="457200" y="4069080"/>
            <a:ext cx="8229600" cy="521208"/>
          </a:xfrm>
          <a:prstGeom prst="roundRect">
            <a:avLst>
              <a:gd name="adj" fmla="val 14035"/>
            </a:avLst>
          </a:prstGeom>
          <a:solidFill>
            <a:srgbClr val="EEF5F1"/>
          </a:solidFill>
          <a:ln w="12700">
            <a:solidFill>
              <a:srgbClr val="EEF5F1"/>
            </a:solidFill>
            <a:prstDash val="solid"/>
          </a:ln>
        </p:spPr>
      </p:sp>
      <p:sp>
        <p:nvSpPr>
          <p:cNvPr id="30" name="Benefit icon 6 bg"/>
          <p:cNvSpPr/>
          <p:nvPr/>
        </p:nvSpPr>
        <p:spPr>
          <a:xfrm>
            <a:off x="548640" y="4114800"/>
            <a:ext cx="429768" cy="429768"/>
          </a:xfrm>
          <a:prstGeom prst="ellipse">
            <a:avLst/>
          </a:prstGeom>
          <a:solidFill>
            <a:srgbClr val="0F4C3A"/>
          </a:solidFill>
          <a:ln w="12700">
            <a:solidFill>
              <a:srgbClr val="0F4C3A"/>
            </a:solidFill>
            <a:prstDash val="solid"/>
          </a:ln>
        </p:spPr>
      </p:sp>
      <p:pic>
        <p:nvPicPr>
          <p:cNvPr id="31" name="Image 5" descr="FaCommentDots">    </p:cNvPr>
          <p:cNvPicPr>
            <a:picLocks noChangeAspect="1"/>
          </p:cNvPicPr>
          <p:nvPr/>
        </p:nvPicPr>
        <p:blipFill>
          <a:blip r:embed="rId6"/>
          <a:stretch>
            <a:fillRect/>
          </a:stretch>
        </p:blipFill>
        <p:spPr>
          <a:xfrm>
            <a:off x="651784" y="4217944"/>
            <a:ext cx="223479" cy="223479"/>
          </a:xfrm>
          <a:prstGeom prst="rect">
            <a:avLst/>
          </a:prstGeom>
        </p:spPr>
      </p:pic>
      <p:sp>
        <p:nvSpPr>
          <p:cNvPr id="32" name="Text 24"/>
          <p:cNvSpPr txBox="1"/>
          <p:nvPr/>
        </p:nvSpPr>
        <p:spPr>
          <a:xfrm>
            <a:off x="1188720" y="4069080"/>
            <a:ext cx="2194560" cy="521208"/>
          </a:xfrm>
          <a:prstGeom prst="rect">
            <a:avLst/>
          </a:prstGeom>
          <a:noFill/>
          <a:ln/>
        </p:spPr>
        <p:txBody>
          <a:bodyPr wrap="square" lIns="0" tIns="0" rIns="0" bIns="0" rtlCol="0" anchor="ctr"/>
          <a:lstStyle/>
          <a:p>
            <a:pPr indent="0" marL="0">
              <a:buNone/>
            </a:pPr>
            <a:r>
              <a:rPr lang="en-US" sz="1400" b="1" dirty="0">
                <a:solidFill>
                  <a:srgbClr val="0F4C3A"/>
                </a:solidFill>
                <a:latin typeface="Cambria" pitchFamily="34" charset="0"/>
                <a:ea typeface="Cambria" pitchFamily="34" charset="-122"/>
                <a:cs typeface="Cambria" pitchFamily="34" charset="-120"/>
              </a:rPr>
              <a:t>Communication</a:t>
            </a:r>
            <a:endParaRPr lang="en-US" sz="1400" dirty="0"/>
          </a:p>
        </p:txBody>
      </p:sp>
      <p:sp>
        <p:nvSpPr>
          <p:cNvPr id="33" name="Text 25"/>
          <p:cNvSpPr txBox="1"/>
          <p:nvPr/>
        </p:nvSpPr>
        <p:spPr>
          <a:xfrm>
            <a:off x="3429000" y="4069080"/>
            <a:ext cx="5166360" cy="521208"/>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Interviews, demos and progress reports for technical and non-technical people</a:t>
            </a:r>
            <a:endParaRPr lang="en-US" sz="12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8. Benefit: Growth and Career</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8</a:t>
            </a:r>
            <a:endParaRPr lang="en-US" sz="1100" dirty="0"/>
          </a:p>
        </p:txBody>
      </p:sp>
      <p:sp>
        <p:nvSpPr>
          <p:cNvPr id="4" name="Growth card 1"/>
          <p:cNvSpPr/>
          <p:nvPr/>
        </p:nvSpPr>
        <p:spPr>
          <a:xfrm>
            <a:off x="457200" y="1143000"/>
            <a:ext cx="4023360" cy="1645920"/>
          </a:xfrm>
          <a:prstGeom prst="roundRect">
            <a:avLst>
              <a:gd name="adj" fmla="val 4444"/>
            </a:avLst>
          </a:prstGeom>
          <a:solidFill>
            <a:srgbClr val="EEF5F1"/>
          </a:solidFill>
          <a:ln w="12700">
            <a:solidFill>
              <a:srgbClr val="EEF5F1"/>
            </a:solidFill>
            <a:prstDash val="solid"/>
          </a:ln>
        </p:spPr>
      </p:sp>
      <p:sp>
        <p:nvSpPr>
          <p:cNvPr id="5" name="Growth icon 1 bg"/>
          <p:cNvSpPr/>
          <p:nvPr/>
        </p:nvSpPr>
        <p:spPr>
          <a:xfrm>
            <a:off x="621792" y="1280160"/>
            <a:ext cx="457200" cy="457200"/>
          </a:xfrm>
          <a:prstGeom prst="ellipse">
            <a:avLst/>
          </a:prstGeom>
          <a:solidFill>
            <a:srgbClr val="0F4C3A"/>
          </a:solidFill>
          <a:ln w="12700">
            <a:solidFill>
              <a:srgbClr val="0F4C3A"/>
            </a:solidFill>
            <a:prstDash val="solid"/>
          </a:ln>
        </p:spPr>
      </p:sp>
      <p:pic>
        <p:nvPicPr>
          <p:cNvPr id="6" name="Image 0" descr="FaBalanceScale">    </p:cNvPr>
          <p:cNvPicPr>
            <a:picLocks noChangeAspect="1"/>
          </p:cNvPicPr>
          <p:nvPr/>
        </p:nvPicPr>
        <p:blipFill>
          <a:blip r:embed="rId1"/>
          <a:stretch>
            <a:fillRect/>
          </a:stretch>
        </p:blipFill>
        <p:spPr>
          <a:xfrm>
            <a:off x="731520" y="1389888"/>
            <a:ext cx="237744" cy="237744"/>
          </a:xfrm>
          <a:prstGeom prst="rect">
            <a:avLst/>
          </a:prstGeom>
        </p:spPr>
      </p:pic>
      <p:sp>
        <p:nvSpPr>
          <p:cNvPr id="7" name="Text 4"/>
          <p:cNvSpPr txBox="1"/>
          <p:nvPr/>
        </p:nvSpPr>
        <p:spPr>
          <a:xfrm>
            <a:off x="123444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Work Ethics and Psychology</a:t>
            </a:r>
            <a:endParaRPr lang="en-US" sz="1550" dirty="0"/>
          </a:p>
        </p:txBody>
      </p:sp>
      <p:sp>
        <p:nvSpPr>
          <p:cNvPr id="8" name="Text 5"/>
          <p:cNvSpPr txBox="1"/>
          <p:nvPr/>
        </p:nvSpPr>
        <p:spPr>
          <a:xfrm>
            <a:off x="64008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Formal approvals, no credentials in shared code, honest reporting of my own weaknesses; stakeholders need patience and clear words</a:t>
            </a:r>
            <a:endParaRPr lang="en-US" sz="1200" dirty="0"/>
          </a:p>
        </p:txBody>
      </p:sp>
      <p:sp>
        <p:nvSpPr>
          <p:cNvPr id="9" name="Growth card 2"/>
          <p:cNvSpPr/>
          <p:nvPr/>
        </p:nvSpPr>
        <p:spPr>
          <a:xfrm>
            <a:off x="4663440" y="1143000"/>
            <a:ext cx="4023360" cy="1645920"/>
          </a:xfrm>
          <a:prstGeom prst="roundRect">
            <a:avLst>
              <a:gd name="adj" fmla="val 4444"/>
            </a:avLst>
          </a:prstGeom>
          <a:solidFill>
            <a:srgbClr val="EEF5F1"/>
          </a:solidFill>
          <a:ln w="12700">
            <a:solidFill>
              <a:srgbClr val="EEF5F1"/>
            </a:solidFill>
            <a:prstDash val="solid"/>
          </a:ln>
        </p:spPr>
      </p:sp>
      <p:sp>
        <p:nvSpPr>
          <p:cNvPr id="10" name="Growth icon 2 bg"/>
          <p:cNvSpPr/>
          <p:nvPr/>
        </p:nvSpPr>
        <p:spPr>
          <a:xfrm>
            <a:off x="4828032" y="1280160"/>
            <a:ext cx="457200" cy="457200"/>
          </a:xfrm>
          <a:prstGeom prst="ellipse">
            <a:avLst/>
          </a:prstGeom>
          <a:solidFill>
            <a:srgbClr val="0F4C3A"/>
          </a:solidFill>
          <a:ln w="12700">
            <a:solidFill>
              <a:srgbClr val="0F4C3A"/>
            </a:solidFill>
            <a:prstDash val="solid"/>
          </a:ln>
        </p:spPr>
      </p:sp>
      <p:pic>
        <p:nvPicPr>
          <p:cNvPr id="11" name="Image 1" descr="FaLightbulb">    </p:cNvPr>
          <p:cNvPicPr>
            <a:picLocks noChangeAspect="1"/>
          </p:cNvPicPr>
          <p:nvPr/>
        </p:nvPicPr>
        <p:blipFill>
          <a:blip r:embed="rId2"/>
          <a:stretch>
            <a:fillRect/>
          </a:stretch>
        </p:blipFill>
        <p:spPr>
          <a:xfrm>
            <a:off x="4937760" y="1389888"/>
            <a:ext cx="237744" cy="237744"/>
          </a:xfrm>
          <a:prstGeom prst="rect">
            <a:avLst/>
          </a:prstGeom>
        </p:spPr>
      </p:pic>
      <p:sp>
        <p:nvSpPr>
          <p:cNvPr id="12" name="Text 8"/>
          <p:cNvSpPr txBox="1"/>
          <p:nvPr/>
        </p:nvSpPr>
        <p:spPr>
          <a:xfrm>
            <a:off x="544068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Entrepreneurship</a:t>
            </a:r>
            <a:endParaRPr lang="en-US" sz="1550" dirty="0"/>
          </a:p>
        </p:txBody>
      </p:sp>
      <p:sp>
        <p:nvSpPr>
          <p:cNvPr id="13" name="Text 9"/>
          <p:cNvSpPr txBox="1"/>
          <p:nvPr/>
        </p:nvSpPr>
        <p:spPr>
          <a:xfrm>
            <a:off x="484632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Find a real need, build a first version, improve it with users; OBU-CMS can be adapted for other institutions</a:t>
            </a:r>
            <a:endParaRPr lang="en-US" sz="1200" dirty="0"/>
          </a:p>
        </p:txBody>
      </p:sp>
      <p:sp>
        <p:nvSpPr>
          <p:cNvPr id="14" name="Growth card 3"/>
          <p:cNvSpPr/>
          <p:nvPr/>
        </p:nvSpPr>
        <p:spPr>
          <a:xfrm>
            <a:off x="457200" y="2926080"/>
            <a:ext cx="4023360" cy="1645920"/>
          </a:xfrm>
          <a:prstGeom prst="roundRect">
            <a:avLst>
              <a:gd name="adj" fmla="val 4444"/>
            </a:avLst>
          </a:prstGeom>
          <a:solidFill>
            <a:srgbClr val="EEF5F1"/>
          </a:solidFill>
          <a:ln w="12700">
            <a:solidFill>
              <a:srgbClr val="EEF5F1"/>
            </a:solidFill>
            <a:prstDash val="solid"/>
          </a:ln>
        </p:spPr>
      </p:sp>
      <p:sp>
        <p:nvSpPr>
          <p:cNvPr id="15" name="Growth icon 3 bg"/>
          <p:cNvSpPr/>
          <p:nvPr/>
        </p:nvSpPr>
        <p:spPr>
          <a:xfrm>
            <a:off x="621792" y="3063240"/>
            <a:ext cx="457200" cy="457200"/>
          </a:xfrm>
          <a:prstGeom prst="ellipse">
            <a:avLst/>
          </a:prstGeom>
          <a:solidFill>
            <a:srgbClr val="0F4C3A"/>
          </a:solidFill>
          <a:ln w="12700">
            <a:solidFill>
              <a:srgbClr val="0F4C3A"/>
            </a:solidFill>
            <a:prstDash val="solid"/>
          </a:ln>
        </p:spPr>
      </p:sp>
      <p:pic>
        <p:nvPicPr>
          <p:cNvPr id="16" name="Image 2" descr="FaRoute">    </p:cNvPr>
          <p:cNvPicPr>
            <a:picLocks noChangeAspect="1"/>
          </p:cNvPicPr>
          <p:nvPr/>
        </p:nvPicPr>
        <p:blipFill>
          <a:blip r:embed="rId3"/>
          <a:stretch>
            <a:fillRect/>
          </a:stretch>
        </p:blipFill>
        <p:spPr>
          <a:xfrm>
            <a:off x="731520" y="3172968"/>
            <a:ext cx="237744" cy="237744"/>
          </a:xfrm>
          <a:prstGeom prst="rect">
            <a:avLst/>
          </a:prstGeom>
        </p:spPr>
      </p:pic>
      <p:sp>
        <p:nvSpPr>
          <p:cNvPr id="17" name="Text 12"/>
          <p:cNvSpPr txBox="1"/>
          <p:nvPr/>
        </p:nvSpPr>
        <p:spPr>
          <a:xfrm>
            <a:off x="123444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Career Goals and Value</a:t>
            </a:r>
            <a:endParaRPr lang="en-US" sz="1550" dirty="0"/>
          </a:p>
        </p:txBody>
      </p:sp>
      <p:sp>
        <p:nvSpPr>
          <p:cNvPr id="18" name="Text 13"/>
          <p:cNvSpPr txBox="1"/>
          <p:nvPr/>
        </p:nvSpPr>
        <p:spPr>
          <a:xfrm>
            <a:off x="64008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Fits my goal in software development; direction is now clearer: full-stack web and secure systems; value of the internship is very high</a:t>
            </a:r>
            <a:endParaRPr lang="en-US" sz="1200" dirty="0"/>
          </a:p>
        </p:txBody>
      </p:sp>
      <p:sp>
        <p:nvSpPr>
          <p:cNvPr id="19" name="Growth card 4"/>
          <p:cNvSpPr/>
          <p:nvPr/>
        </p:nvSpPr>
        <p:spPr>
          <a:xfrm>
            <a:off x="4663440" y="2926080"/>
            <a:ext cx="4023360" cy="1645920"/>
          </a:xfrm>
          <a:prstGeom prst="roundRect">
            <a:avLst>
              <a:gd name="adj" fmla="val 4444"/>
            </a:avLst>
          </a:prstGeom>
          <a:solidFill>
            <a:srgbClr val="EEF5F1"/>
          </a:solidFill>
          <a:ln w="12700">
            <a:solidFill>
              <a:srgbClr val="EEF5F1"/>
            </a:solidFill>
            <a:prstDash val="solid"/>
          </a:ln>
        </p:spPr>
      </p:sp>
      <p:sp>
        <p:nvSpPr>
          <p:cNvPr id="20" name="Growth icon 4 bg"/>
          <p:cNvSpPr/>
          <p:nvPr/>
        </p:nvSpPr>
        <p:spPr>
          <a:xfrm>
            <a:off x="4828032" y="3063240"/>
            <a:ext cx="457200" cy="457200"/>
          </a:xfrm>
          <a:prstGeom prst="ellipse">
            <a:avLst/>
          </a:prstGeom>
          <a:solidFill>
            <a:srgbClr val="0F4C3A"/>
          </a:solidFill>
          <a:ln w="12700">
            <a:solidFill>
              <a:srgbClr val="0F4C3A"/>
            </a:solidFill>
            <a:prstDash val="solid"/>
          </a:ln>
        </p:spPr>
      </p:sp>
      <p:pic>
        <p:nvPicPr>
          <p:cNvPr id="21" name="Image 3" descr="FaChartLine">    </p:cNvPr>
          <p:cNvPicPr>
            <a:picLocks noChangeAspect="1"/>
          </p:cNvPicPr>
          <p:nvPr/>
        </p:nvPicPr>
        <p:blipFill>
          <a:blip r:embed="rId4"/>
          <a:stretch>
            <a:fillRect/>
          </a:stretch>
        </p:blipFill>
        <p:spPr>
          <a:xfrm>
            <a:off x="4937760" y="3172968"/>
            <a:ext cx="237744" cy="237744"/>
          </a:xfrm>
          <a:prstGeom prst="rect">
            <a:avLst/>
          </a:prstGeom>
        </p:spPr>
      </p:pic>
      <p:sp>
        <p:nvSpPr>
          <p:cNvPr id="22" name="Text 16"/>
          <p:cNvSpPr txBox="1"/>
          <p:nvPr/>
        </p:nvSpPr>
        <p:spPr>
          <a:xfrm>
            <a:off x="544068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Self-Evaluation</a:t>
            </a:r>
            <a:endParaRPr lang="en-US" sz="1550" dirty="0"/>
          </a:p>
        </p:txBody>
      </p:sp>
      <p:sp>
        <p:nvSpPr>
          <p:cNvPr id="23" name="Text 17"/>
          <p:cNvSpPr txBox="1"/>
          <p:nvPr/>
        </p:nvSpPr>
        <p:spPr>
          <a:xfrm>
            <a:off x="484632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Strengths: database design, fast learning, security awareness. To improve: automated testing, time estimates, larger-team work</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9. Conclusion and Recommendations</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9</a:t>
            </a:r>
            <a:endParaRPr lang="en-US" sz="1100" dirty="0"/>
          </a:p>
        </p:txBody>
      </p:sp>
      <p:sp>
        <p:nvSpPr>
          <p:cNvPr id="4" name="Conclusion card 1"/>
          <p:cNvSpPr/>
          <p:nvPr/>
        </p:nvSpPr>
        <p:spPr>
          <a:xfrm>
            <a:off x="457200" y="1143000"/>
            <a:ext cx="2651760" cy="3383280"/>
          </a:xfrm>
          <a:prstGeom prst="roundRect">
            <a:avLst>
              <a:gd name="adj" fmla="val 2759"/>
            </a:avLst>
          </a:prstGeom>
          <a:solidFill>
            <a:srgbClr val="0F4C3A"/>
          </a:solidFill>
          <a:ln w="12700">
            <a:solidFill>
              <a:srgbClr val="0F4C3A"/>
            </a:solidFill>
            <a:prstDash val="solid"/>
          </a:ln>
        </p:spPr>
      </p:sp>
      <p:sp>
        <p:nvSpPr>
          <p:cNvPr id="5" name="Text 3"/>
          <p:cNvSpPr txBox="1"/>
          <p:nvPr/>
        </p:nvSpPr>
        <p:spPr>
          <a:xfrm>
            <a:off x="640080" y="1234440"/>
            <a:ext cx="2286000" cy="502920"/>
          </a:xfrm>
          <a:prstGeom prst="rect">
            <a:avLst/>
          </a:prstGeom>
          <a:noFill/>
          <a:ln/>
        </p:spPr>
        <p:txBody>
          <a:bodyPr wrap="square" lIns="0" tIns="0" rIns="0" bIns="0" rtlCol="0" anchor="ctr"/>
          <a:lstStyle/>
          <a:p>
            <a:pPr indent="0" marL="0">
              <a:buNone/>
            </a:pPr>
            <a:r>
              <a:rPr lang="en-US" sz="1600" b="1" dirty="0">
                <a:solidFill>
                  <a:srgbClr val="D4A017"/>
                </a:solidFill>
                <a:latin typeface="Cambria" pitchFamily="34" charset="0"/>
                <a:ea typeface="Cambria" pitchFamily="34" charset="-122"/>
                <a:cs typeface="Cambria" pitchFamily="34" charset="-120"/>
              </a:rPr>
              <a:t>Overall conclusion</a:t>
            </a:r>
            <a:endParaRPr lang="en-US" sz="1600" dirty="0"/>
          </a:p>
        </p:txBody>
      </p:sp>
      <p:sp>
        <p:nvSpPr>
          <p:cNvPr id="6" name="Text 4"/>
          <p:cNvSpPr txBox="1"/>
          <p:nvPr/>
        </p:nvSpPr>
        <p:spPr>
          <a:xfrm>
            <a:off x="640080" y="1828800"/>
            <a:ext cx="233172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OBU-CMS replaces a content process that depended on technical staff</a:t>
            </a:r>
            <a:endParaRPr lang="en-US" sz="1250" dirty="0"/>
          </a:p>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27 tables, 73 routes, RLS, media library, audit log</a:t>
            </a:r>
            <a:endParaRPr lang="en-US" sz="1250" dirty="0"/>
          </a:p>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Remaining work is listed: legacy functions, role-aware policies, Zod</a:t>
            </a:r>
            <a:endParaRPr lang="en-US" sz="1250" dirty="0"/>
          </a:p>
        </p:txBody>
      </p:sp>
      <p:sp>
        <p:nvSpPr>
          <p:cNvPr id="7" name="Conclusion card 2"/>
          <p:cNvSpPr/>
          <p:nvPr/>
        </p:nvSpPr>
        <p:spPr>
          <a:xfrm>
            <a:off x="3246120" y="1143000"/>
            <a:ext cx="2651760" cy="3383280"/>
          </a:xfrm>
          <a:prstGeom prst="roundRect">
            <a:avLst>
              <a:gd name="adj" fmla="val 2759"/>
            </a:avLst>
          </a:prstGeom>
          <a:solidFill>
            <a:srgbClr val="287A5D"/>
          </a:solidFill>
          <a:ln w="12700">
            <a:solidFill>
              <a:srgbClr val="287A5D"/>
            </a:solidFill>
            <a:prstDash val="solid"/>
          </a:ln>
        </p:spPr>
      </p:sp>
      <p:sp>
        <p:nvSpPr>
          <p:cNvPr id="8" name="Text 6"/>
          <p:cNvSpPr txBox="1"/>
          <p:nvPr/>
        </p:nvSpPr>
        <p:spPr>
          <a:xfrm>
            <a:off x="3429000" y="1234440"/>
            <a:ext cx="2286000" cy="5029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host company</a:t>
            </a:r>
            <a:endParaRPr lang="en-US" sz="1600" dirty="0"/>
          </a:p>
        </p:txBody>
      </p:sp>
      <p:sp>
        <p:nvSpPr>
          <p:cNvPr id="9" name="Text 7"/>
          <p:cNvSpPr txBox="1"/>
          <p:nvPr/>
        </p:nvSpPr>
        <p:spPr>
          <a:xfrm>
            <a:off x="3429000" y="1828800"/>
            <a:ext cx="233172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Recommended for future placement</a:t>
            </a:r>
            <a:endParaRPr lang="en-US" sz="1250" dirty="0"/>
          </a:p>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Real projects and supportive staff</a:t>
            </a:r>
            <a:endParaRPr lang="en-US" sz="1250" dirty="0"/>
          </a:p>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Needs a named supervisor and early server access</a:t>
            </a:r>
            <a:endParaRPr lang="en-US" sz="1250" dirty="0"/>
          </a:p>
        </p:txBody>
      </p:sp>
      <p:sp>
        <p:nvSpPr>
          <p:cNvPr id="10" name="Conclusion card 3"/>
          <p:cNvSpPr/>
          <p:nvPr/>
        </p:nvSpPr>
        <p:spPr>
          <a:xfrm>
            <a:off x="6035040" y="1143000"/>
            <a:ext cx="2651760" cy="3383280"/>
          </a:xfrm>
          <a:prstGeom prst="roundRect">
            <a:avLst>
              <a:gd name="adj" fmla="val 2759"/>
            </a:avLst>
          </a:prstGeom>
          <a:solidFill>
            <a:srgbClr val="EEF5F1"/>
          </a:solidFill>
          <a:ln w="12700">
            <a:solidFill>
              <a:srgbClr val="EEF5F1"/>
            </a:solidFill>
            <a:prstDash val="solid"/>
          </a:ln>
        </p:spPr>
      </p:sp>
      <p:sp>
        <p:nvSpPr>
          <p:cNvPr id="11" name="Text 9"/>
          <p:cNvSpPr txBox="1"/>
          <p:nvPr/>
        </p:nvSpPr>
        <p:spPr>
          <a:xfrm>
            <a:off x="6217920" y="1234440"/>
            <a:ext cx="2286000" cy="50292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Improving the internship</a:t>
            </a:r>
            <a:endParaRPr lang="en-US" sz="1600" dirty="0"/>
          </a:p>
        </p:txBody>
      </p:sp>
      <p:sp>
        <p:nvSpPr>
          <p:cNvPr id="12" name="Text 10"/>
          <p:cNvSpPr txBox="1"/>
          <p:nvPr/>
        </p:nvSpPr>
        <p:spPr>
          <a:xfrm>
            <a:off x="6217920" y="1828800"/>
            <a:ext cx="233172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7251F"/>
                </a:solidFill>
                <a:latin typeface="Calibri" pitchFamily="34" charset="0"/>
                <a:ea typeface="Calibri" pitchFamily="34" charset="-122"/>
                <a:cs typeface="Calibri" pitchFamily="34" charset="-120"/>
              </a:rPr>
              <a:t>Extend from 45 to 90 days</a:t>
            </a:r>
            <a:endParaRPr lang="en-US" sz="1250" dirty="0"/>
          </a:p>
          <a:p>
            <a:pPr marL="342900" indent="-342900">
              <a:spcAft>
                <a:spcPts val="700"/>
              </a:spcAft>
              <a:buSzPct val="100000"/>
              <a:buChar char="•"/>
            </a:pPr>
            <a:r>
              <a:rPr lang="en-US" sz="1250" dirty="0">
                <a:solidFill>
                  <a:srgbClr val="17251F"/>
                </a:solidFill>
                <a:latin typeface="Calibri" pitchFamily="34" charset="0"/>
                <a:ea typeface="Calibri" pitchFamily="34" charset="-122"/>
                <a:cs typeface="Calibri" pitchFamily="34" charset="-120"/>
              </a:rPr>
              <a:t>Mid-internship review with advisor and host</a:t>
            </a:r>
            <a:endParaRPr lang="en-US" sz="1250" dirty="0"/>
          </a:p>
          <a:p>
            <a:pPr marL="342900" indent="-342900">
              <a:spcAft>
                <a:spcPts val="700"/>
              </a:spcAft>
              <a:buSzPct val="100000"/>
              <a:buChar char="•"/>
            </a:pPr>
            <a:r>
              <a:rPr lang="en-US" sz="1250" dirty="0">
                <a:solidFill>
                  <a:srgbClr val="17251F"/>
                </a:solidFill>
                <a:latin typeface="Calibri" pitchFamily="34" charset="0"/>
                <a:ea typeface="Calibri" pitchFamily="34" charset="-122"/>
                <a:cs typeface="Calibri" pitchFamily="34" charset="-120"/>
              </a:rPr>
              <a:t>Database design unit before the internship</a:t>
            </a:r>
            <a:endParaRPr lang="en-US" sz="1250" dirty="0"/>
          </a:p>
          <a:p>
            <a:pPr marL="342900" indent="-342900">
              <a:spcAft>
                <a:spcPts val="700"/>
              </a:spcAft>
              <a:buSzPct val="100000"/>
              <a:buChar char="•"/>
            </a:pPr>
            <a:r>
              <a:rPr lang="en-US" sz="1250" dirty="0">
                <a:solidFill>
                  <a:srgbClr val="17251F"/>
                </a:solidFill>
                <a:latin typeface="Calibri" pitchFamily="34" charset="0"/>
                <a:ea typeface="Calibri" pitchFamily="34" charset="-122"/>
                <a:cs typeface="Calibri" pitchFamily="34" charset="-120"/>
              </a:rPr>
              <a:t>Keep an archive of project repositories</a:t>
            </a:r>
            <a:endParaRPr lang="en-US" sz="12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10. Prototype Demonstration</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10</a:t>
            </a:r>
            <a:endParaRPr lang="en-US" sz="1100" dirty="0"/>
          </a:p>
        </p:txBody>
      </p:sp>
      <p:pic>
        <p:nvPicPr>
          <p:cNvPr id="4" name="Image 0" descr="Public site screen">    </p:cNvPr>
          <p:cNvPicPr>
            <a:picLocks noChangeAspect="1"/>
          </p:cNvPicPr>
          <p:nvPr/>
        </p:nvPicPr>
        <p:blipFill>
          <a:blip r:embed="rId1"/>
          <a:stretch>
            <a:fillRect/>
          </a:stretch>
        </p:blipFill>
        <p:spPr>
          <a:xfrm>
            <a:off x="457200" y="1097280"/>
            <a:ext cx="1938528" cy="936032"/>
          </a:xfrm>
          <a:prstGeom prst="rect">
            <a:avLst/>
          </a:prstGeom>
          <a:effectLst>
            <a:outerShdw sx="100000" sy="100000" kx="0" ky="0" algn="bl" rotWithShape="0" blurRad="76200" dist="25400" dir="5400000">
              <a:srgbClr val="000000">
                <a:alpha val="12000"/>
              </a:srgbClr>
            </a:outerShdw>
          </a:effectLst>
        </p:spPr>
      </p:pic>
      <p:sp>
        <p:nvSpPr>
          <p:cNvPr id="5" name="Text 2"/>
          <p:cNvSpPr txBox="1"/>
          <p:nvPr/>
        </p:nvSpPr>
        <p:spPr>
          <a:xfrm>
            <a:off x="457200" y="2079032"/>
            <a:ext cx="1938528" cy="256032"/>
          </a:xfrm>
          <a:prstGeom prst="rect">
            <a:avLst/>
          </a:prstGeom>
          <a:noFill/>
          <a:ln/>
        </p:spPr>
        <p:txBody>
          <a:bodyPr wrap="square" lIns="0" tIns="0" rIns="0" bIns="0" rtlCol="0" anchor="ctr"/>
          <a:lstStyle/>
          <a:p>
            <a:pPr algn="ctr" indent="0" marL="0">
              <a:buNone/>
            </a:pPr>
            <a:r>
              <a:rPr lang="en-US" sz="1150" i="1" dirty="0">
                <a:solidFill>
                  <a:srgbClr val="5B6B64"/>
                </a:solidFill>
                <a:latin typeface="Calibri" pitchFamily="34" charset="0"/>
                <a:ea typeface="Calibri" pitchFamily="34" charset="-122"/>
                <a:cs typeface="Calibri" pitchFamily="34" charset="-120"/>
              </a:rPr>
              <a:t>Public site</a:t>
            </a:r>
            <a:endParaRPr lang="en-US" sz="1150" dirty="0"/>
          </a:p>
        </p:txBody>
      </p:sp>
      <p:pic>
        <p:nvPicPr>
          <p:cNvPr id="6" name="Image 1" descr="Admin login screen">    </p:cNvPr>
          <p:cNvPicPr>
            <a:picLocks noChangeAspect="1"/>
          </p:cNvPicPr>
          <p:nvPr/>
        </p:nvPicPr>
        <p:blipFill>
          <a:blip r:embed="rId2"/>
          <a:stretch>
            <a:fillRect/>
          </a:stretch>
        </p:blipFill>
        <p:spPr>
          <a:xfrm>
            <a:off x="2542032" y="1097280"/>
            <a:ext cx="1938528" cy="936032"/>
          </a:xfrm>
          <a:prstGeom prst="rect">
            <a:avLst/>
          </a:prstGeom>
          <a:effectLst>
            <a:outerShdw sx="100000" sy="100000" kx="0" ky="0" algn="bl" rotWithShape="0" blurRad="76200" dist="25400" dir="5400000">
              <a:srgbClr val="000000">
                <a:alpha val="12000"/>
              </a:srgbClr>
            </a:outerShdw>
          </a:effectLst>
        </p:spPr>
      </p:pic>
      <p:sp>
        <p:nvSpPr>
          <p:cNvPr id="7" name="Text 3"/>
          <p:cNvSpPr txBox="1"/>
          <p:nvPr/>
        </p:nvSpPr>
        <p:spPr>
          <a:xfrm>
            <a:off x="2542032" y="2079032"/>
            <a:ext cx="1938528" cy="256032"/>
          </a:xfrm>
          <a:prstGeom prst="rect">
            <a:avLst/>
          </a:prstGeom>
          <a:noFill/>
          <a:ln/>
        </p:spPr>
        <p:txBody>
          <a:bodyPr wrap="square" lIns="0" tIns="0" rIns="0" bIns="0" rtlCol="0" anchor="ctr"/>
          <a:lstStyle/>
          <a:p>
            <a:pPr algn="ctr" indent="0" marL="0">
              <a:buNone/>
            </a:pPr>
            <a:r>
              <a:rPr lang="en-US" sz="1150" i="1" dirty="0">
                <a:solidFill>
                  <a:srgbClr val="5B6B64"/>
                </a:solidFill>
                <a:latin typeface="Calibri" pitchFamily="34" charset="0"/>
                <a:ea typeface="Calibri" pitchFamily="34" charset="-122"/>
                <a:cs typeface="Calibri" pitchFamily="34" charset="-120"/>
              </a:rPr>
              <a:t>Admin login</a:t>
            </a:r>
            <a:endParaRPr lang="en-US" sz="1150" dirty="0"/>
          </a:p>
        </p:txBody>
      </p:sp>
      <p:pic>
        <p:nvPicPr>
          <p:cNvPr id="8" name="Image 2" descr="Dashboard screen">    </p:cNvPr>
          <p:cNvPicPr>
            <a:picLocks noChangeAspect="1"/>
          </p:cNvPicPr>
          <p:nvPr/>
        </p:nvPicPr>
        <p:blipFill>
          <a:blip r:embed="rId3"/>
          <a:stretch>
            <a:fillRect/>
          </a:stretch>
        </p:blipFill>
        <p:spPr>
          <a:xfrm>
            <a:off x="4626864" y="1097280"/>
            <a:ext cx="1938528" cy="936032"/>
          </a:xfrm>
          <a:prstGeom prst="rect">
            <a:avLst/>
          </a:prstGeom>
          <a:effectLst>
            <a:outerShdw sx="100000" sy="100000" kx="0" ky="0" algn="bl" rotWithShape="0" blurRad="76200" dist="25400" dir="5400000">
              <a:srgbClr val="000000">
                <a:alpha val="12000"/>
              </a:srgbClr>
            </a:outerShdw>
          </a:effectLst>
        </p:spPr>
      </p:pic>
      <p:sp>
        <p:nvSpPr>
          <p:cNvPr id="9" name="Text 4"/>
          <p:cNvSpPr txBox="1"/>
          <p:nvPr/>
        </p:nvSpPr>
        <p:spPr>
          <a:xfrm>
            <a:off x="4626864" y="2079032"/>
            <a:ext cx="1938528" cy="256032"/>
          </a:xfrm>
          <a:prstGeom prst="rect">
            <a:avLst/>
          </a:prstGeom>
          <a:noFill/>
          <a:ln/>
        </p:spPr>
        <p:txBody>
          <a:bodyPr wrap="square" lIns="0" tIns="0" rIns="0" bIns="0" rtlCol="0" anchor="ctr"/>
          <a:lstStyle/>
          <a:p>
            <a:pPr algn="ctr" indent="0" marL="0">
              <a:buNone/>
            </a:pPr>
            <a:r>
              <a:rPr lang="en-US" sz="1150" i="1" dirty="0">
                <a:solidFill>
                  <a:srgbClr val="5B6B64"/>
                </a:solidFill>
                <a:latin typeface="Calibri" pitchFamily="34" charset="0"/>
                <a:ea typeface="Calibri" pitchFamily="34" charset="-122"/>
                <a:cs typeface="Calibri" pitchFamily="34" charset="-120"/>
              </a:rPr>
              <a:t>Dashboard</a:t>
            </a:r>
            <a:endParaRPr lang="en-US" sz="1150" dirty="0"/>
          </a:p>
        </p:txBody>
      </p:sp>
      <p:pic>
        <p:nvPicPr>
          <p:cNvPr id="10" name="Image 3" descr="Homepage manager screen">    </p:cNvPr>
          <p:cNvPicPr>
            <a:picLocks noChangeAspect="1"/>
          </p:cNvPicPr>
          <p:nvPr/>
        </p:nvPicPr>
        <p:blipFill>
          <a:blip r:embed="rId4"/>
          <a:stretch>
            <a:fillRect/>
          </a:stretch>
        </p:blipFill>
        <p:spPr>
          <a:xfrm>
            <a:off x="6711696" y="1097280"/>
            <a:ext cx="1938528" cy="936032"/>
          </a:xfrm>
          <a:prstGeom prst="rect">
            <a:avLst/>
          </a:prstGeom>
          <a:effectLst>
            <a:outerShdw sx="100000" sy="100000" kx="0" ky="0" algn="bl" rotWithShape="0" blurRad="76200" dist="25400" dir="5400000">
              <a:srgbClr val="000000">
                <a:alpha val="12000"/>
              </a:srgbClr>
            </a:outerShdw>
          </a:effectLst>
        </p:spPr>
      </p:pic>
      <p:sp>
        <p:nvSpPr>
          <p:cNvPr id="11" name="Text 5"/>
          <p:cNvSpPr txBox="1"/>
          <p:nvPr/>
        </p:nvSpPr>
        <p:spPr>
          <a:xfrm>
            <a:off x="6711696" y="2079032"/>
            <a:ext cx="1938528" cy="256032"/>
          </a:xfrm>
          <a:prstGeom prst="rect">
            <a:avLst/>
          </a:prstGeom>
          <a:noFill/>
          <a:ln/>
        </p:spPr>
        <p:txBody>
          <a:bodyPr wrap="square" lIns="0" tIns="0" rIns="0" bIns="0" rtlCol="0" anchor="ctr"/>
          <a:lstStyle/>
          <a:p>
            <a:pPr algn="ctr" indent="0" marL="0">
              <a:buNone/>
            </a:pPr>
            <a:r>
              <a:rPr lang="en-US" sz="1150" i="1" dirty="0">
                <a:solidFill>
                  <a:srgbClr val="5B6B64"/>
                </a:solidFill>
                <a:latin typeface="Calibri" pitchFamily="34" charset="0"/>
                <a:ea typeface="Calibri" pitchFamily="34" charset="-122"/>
                <a:cs typeface="Calibri" pitchFamily="34" charset="-120"/>
              </a:rPr>
              <a:t>Homepage manager</a:t>
            </a:r>
            <a:endParaRPr lang="en-US" sz="1150" dirty="0"/>
          </a:p>
        </p:txBody>
      </p:sp>
      <p:sp>
        <p:nvSpPr>
          <p:cNvPr id="12" name="Demo script"/>
          <p:cNvSpPr/>
          <p:nvPr/>
        </p:nvSpPr>
        <p:spPr>
          <a:xfrm>
            <a:off x="457200" y="2651760"/>
            <a:ext cx="8229600" cy="2011680"/>
          </a:xfrm>
          <a:prstGeom prst="roundRect">
            <a:avLst>
              <a:gd name="adj" fmla="val 3636"/>
            </a:avLst>
          </a:prstGeom>
          <a:solidFill>
            <a:srgbClr val="0F4C3A"/>
          </a:solidFill>
          <a:ln w="12700">
            <a:solidFill>
              <a:srgbClr val="0F4C3A"/>
            </a:solidFill>
            <a:prstDash val="solid"/>
          </a:ln>
        </p:spPr>
      </p:sp>
      <p:sp>
        <p:nvSpPr>
          <p:cNvPr id="13" name="Text 7"/>
          <p:cNvSpPr txBox="1"/>
          <p:nvPr/>
        </p:nvSpPr>
        <p:spPr>
          <a:xfrm>
            <a:off x="685800" y="2715768"/>
            <a:ext cx="7772400" cy="411480"/>
          </a:xfrm>
          <a:prstGeom prst="rect">
            <a:avLst/>
          </a:prstGeom>
          <a:noFill/>
          <a:ln/>
        </p:spPr>
        <p:txBody>
          <a:bodyPr wrap="square" lIns="0" tIns="0" rIns="0" bIns="0" rtlCol="0" anchor="ctr"/>
          <a:lstStyle/>
          <a:p>
            <a:pPr indent="0" marL="0">
              <a:buNone/>
            </a:pPr>
            <a:r>
              <a:rPr lang="en-US" sz="1800" b="1" dirty="0">
                <a:solidFill>
                  <a:srgbClr val="D4A017"/>
                </a:solidFill>
                <a:latin typeface="Cambria" pitchFamily="34" charset="0"/>
                <a:ea typeface="Cambria" pitchFamily="34" charset="-122"/>
                <a:cs typeface="Cambria" pitchFamily="34" charset="-120"/>
              </a:rPr>
              <a:t>Live demo on my machine</a:t>
            </a:r>
            <a:endParaRPr lang="en-US" sz="1800" dirty="0"/>
          </a:p>
        </p:txBody>
      </p:sp>
      <p:sp>
        <p:nvSpPr>
          <p:cNvPr id="14" name="Text 8"/>
          <p:cNvSpPr txBox="1"/>
          <p:nvPr/>
        </p:nvSpPr>
        <p:spPr>
          <a:xfrm>
            <a:off x="685800" y="3154680"/>
            <a:ext cx="7772400" cy="1417320"/>
          </a:xfrm>
          <a:prstGeom prst="rect">
            <a:avLst/>
          </a:prstGeom>
          <a:noFill/>
          <a:ln/>
        </p:spPr>
        <p:txBody>
          <a:bodyPr wrap="square" lIns="0" tIns="0" rIns="0" bIns="0" rtlCol="0" anchor="t"/>
          <a:lstStyle/>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1. Open the public site and show the news page</a:t>
            </a:r>
            <a:endParaRPr lang="en-US" sz="1350" dirty="0"/>
          </a:p>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2. Log in to /admin as an administrator</a:t>
            </a:r>
            <a:endParaRPr lang="en-US" sz="1350" dirty="0"/>
          </a:p>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3. Create a news article with a cover image and publish it</a:t>
            </a:r>
            <a:endParaRPr lang="en-US" sz="1350" dirty="0"/>
          </a:p>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4. Refresh the public site and show the new article</a:t>
            </a:r>
            <a:endParaRPr lang="en-US" sz="1350" dirty="0"/>
          </a:p>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5. Show the activity log and the role-restricted System menu</a:t>
            </a:r>
            <a:endParaRPr lang="en-US" sz="13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132588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457200" y="2377440"/>
            <a:ext cx="8229600" cy="548640"/>
          </a:xfrm>
          <a:prstGeom prst="rect">
            <a:avLst/>
          </a:prstGeom>
          <a:noFill/>
          <a:ln/>
        </p:spPr>
        <p:txBody>
          <a:bodyPr wrap="square" lIns="0" tIns="0" rIns="0" bIns="0" rtlCol="0" anchor="ctr"/>
          <a:lstStyle/>
          <a:p>
            <a:pPr indent="0" marL="0">
              <a:buNone/>
            </a:pPr>
            <a:r>
              <a:rPr lang="en-US" sz="2600" dirty="0">
                <a:solidFill>
                  <a:srgbClr val="D4A017"/>
                </a:solidFill>
                <a:latin typeface="Cambria" pitchFamily="34" charset="0"/>
                <a:ea typeface="Cambria" pitchFamily="34" charset="-122"/>
                <a:cs typeface="Cambria" pitchFamily="34" charset="-120"/>
              </a:rPr>
              <a:t>Questions and discussion</a:t>
            </a:r>
            <a:endParaRPr lang="en-US" sz="2600" dirty="0"/>
          </a:p>
        </p:txBody>
      </p:sp>
      <p:sp>
        <p:nvSpPr>
          <p:cNvPr id="4" name="Text 2"/>
          <p:cNvSpPr txBox="1"/>
          <p:nvPr/>
        </p:nvSpPr>
        <p:spPr>
          <a:xfrm>
            <a:off x="457200" y="3474720"/>
            <a:ext cx="8229600" cy="731520"/>
          </a:xfrm>
          <a:prstGeom prst="rect">
            <a:avLst/>
          </a:prstGeom>
          <a:noFill/>
          <a:ln/>
        </p:spPr>
        <p:txBody>
          <a:bodyPr wrap="square" lIns="0" tIns="0" rIns="0" bIns="0" rtlCol="0" anchor="ctr"/>
          <a:lstStyle/>
          <a:p>
            <a:pPr indent="0" marL="0">
              <a:spcAft>
                <a:spcPts val="400"/>
              </a:spcAft>
              <a:buNone/>
            </a:pPr>
            <a:r>
              <a:rPr lang="en-US" sz="1600" b="1" dirty="0">
                <a:solidFill>
                  <a:srgbClr val="E6F0EA"/>
                </a:solidFill>
                <a:latin typeface="Calibri" pitchFamily="34" charset="0"/>
                <a:ea typeface="Calibri" pitchFamily="34" charset="-122"/>
                <a:cs typeface="Calibri" pitchFamily="34" charset="-120"/>
              </a:rPr>
              <a:t>Nedi Usman Hussen  |  2184/16</a:t>
            </a:r>
            <a:endParaRPr lang="en-US" sz="1600" dirty="0"/>
          </a:p>
          <a:p>
            <a:pPr indent="0" marL="0">
              <a:spcAft>
                <a:spcPts val="400"/>
              </a:spcAft>
              <a:buNone/>
            </a:pPr>
            <a:r>
              <a:rPr lang="en-US" sz="1600" dirty="0">
                <a:solidFill>
                  <a:srgbClr val="E6F0EA"/>
                </a:solidFill>
                <a:latin typeface="Calibri" pitchFamily="34" charset="0"/>
                <a:ea typeface="Calibri" pitchFamily="34" charset="-122"/>
                <a:cs typeface="Calibri" pitchFamily="34" charset="-120"/>
              </a:rPr>
              <a:t>Advisor: Mr. Kibru G.  |  ICT Directorate, Oda Bultum University</a:t>
            </a:r>
            <a:endParaRPr lang="en-US" sz="1600" dirty="0"/>
          </a:p>
        </p:txBody>
      </p:sp>
    </p:spTree>
  </p:cSld>
  <p:clrMapOvr>
    <a:masterClrMapping/>
  </p:clrMapOvr>
</p:sld>
</file>

<file path=ppt/theme/theme1.xml><?xml version="1.0" encoding="utf-8"?>
<a:theme xmlns:a="http://schemas.openxmlformats.org/drawingml/2006/main" name="OBU Green">
  <a:themeElements>
    <a:clrScheme name="OBU Green">
      <a:dk1>
        <a:srgbClr val="17251F"/>
      </a:dk1>
      <a:lt1>
        <a:srgbClr val="FFFFFF"/>
      </a:lt1>
      <a:dk2>
        <a:srgbClr val="0F4C3A"/>
      </a:dk2>
      <a:lt2>
        <a:srgbClr val="EEF5F1"/>
      </a:lt2>
      <a:accent1>
        <a:srgbClr val="0F4C3A"/>
      </a:accent1>
      <a:accent2>
        <a:srgbClr val="D4A017"/>
      </a:accent2>
      <a:accent3>
        <a:srgbClr val="287A5D"/>
      </a:accent3>
      <a:accent4>
        <a:srgbClr val="1B6B50"/>
      </a:accent4>
      <a:accent5>
        <a:srgbClr val="B85C38"/>
      </a:accent5>
      <a:accent6>
        <a:srgbClr val="5B7F95"/>
      </a:accent6>
      <a:hlink>
        <a:srgbClr val="1B6B50"/>
      </a:hlink>
      <a:folHlink>
        <a:srgbClr val="5B7F95"/>
      </a:folHlink>
    </a:clrScheme>
    <a:fontScheme name="OBU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OBU-CMS - Industrial Practice Presentation</dc:title>
  <dc:subject>PptxGenJS Presentation</dc:subject>
  <dc:creator>Nedi Usman Hussen</dc:creator>
  <cp:lastModifiedBy>Nedi Usman Hussen</cp:lastModifiedBy>
  <cp:revision>1</cp:revision>
  <dcterms:created xsi:type="dcterms:W3CDTF">2026-10-25T21:27:20Z</dcterms:created>
  <dcterms:modified xsi:type="dcterms:W3CDTF">2026-10-25T21:27:20Z</dcterms:modified>
</cp:coreProperties>
</file>