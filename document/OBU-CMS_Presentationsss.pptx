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653d9e7-2158-583c-1098-f36f03919770}">
          <p14:sldIdLst>
            <p14:sldId id="256"/>
          </p14:sldIdLst>
        </p14:section>
        <p14:section name="Context" id="{49448fa6-3d2a-3b32-a0b2-01dc38524970}">
          <p14:sldIdLst>
            <p14:sldId id="257"/>
            <p14:sldId id="258"/>
            <p14:sldId id="259"/>
          </p14:sldIdLst>
        </p14:section>
        <p14:section name="Design" id="{e36125dd-f98a-d8b5-fd04-9ffb2d5b1aef}">
          <p14:sldIdLst>
            <p14:sldId id="260"/>
            <p14:sldId id="261"/>
            <p14:sldId id="262"/>
            <p14:sldId id="263"/>
            <p14:sldId id="264"/>
            <p14:sldId id="265"/>
          </p14:sldIdLst>
        </p14:section>
        <p14:section name="Build" id="{8a021752-3e08-ed91-9a82-c5ececb602fb}">
          <p14:sldIdLst>
            <p14:sldId id="266"/>
            <p14:sldId id="267"/>
            <p14:sldId id="268"/>
            <p14:sldId id="269"/>
          </p14:sldIdLst>
        </p14:section>
        <p14:section name="Results" id="{949877b1-d012-746e-8fea-d592359b51ed}">
          <p14:sldIdLst>
            <p14:sldId id="270"/>
            <p14:sldId id="271"/>
            <p14:sldId id="272"/>
          </p14:sldIdLst>
        </p14:section>
        <p14:section name="Closing" id="{cd0e905b-7646-45f4-59fb-823062ef1f22}">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Nedi Usman Hussen. My industrial practice was at the ICT Directorate of Oda Bultum University, where I designed and built a new dynamic website with a content management system, called OBU-CMS. In the next 12 to 15 minutes I will show the problem, the design, the result, and what I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Oda Bultum University was founded in 2015 in Chiro. The ICT Directorate is directly attached to the President, and it owns the university website. My users are the content staff of the offices, the Registrar, and of course students and the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site worked, but every update needed technical help, content had no structure, there was no media library, no separation of roles and no audit trail. On the right you can see two screens: a low-contrast, overflowing President message page and a deep drop-down menu with a fixed copyright year of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general objective is to give the university a secure and responsive dynamic website that staff can manage without writing code. The four main specific objectives: a dynamic website, a secure admin CMS, a media library, and an audit log. The report lists eight measurable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Agile Scrum because the requirements were not complete at the start: every office had different needs. Four sprints, each ending with a demonstration to the ICT Director and the content officer. The 45 days are shown as nine weeks and eight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modern and typed end to end. TanStack Start gives server-side rendering and routing, Supabase gives the PostgreSQL database, authentication and storage, and Tailwind gives a responsive interface. Supabase also gives Row Level Security, which is the base of the access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30 functional requirements: 16 for the public website and 14 for the admin panel. Non-functional requirements cover usability, performance, reliability, security, scalability, responsiveness, maintainability and legal compliance. The code has 38 public and 35 admin route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actors: the public user who only reads, the admin user who manages content, and the system administrator who also manages users, roles and logs. The full UML set is in the report: use case, class, object, sequence, state chart and activity diagrams.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three-tier design: the browser interface, the TanStack Start server with loaders and server functions, and Supabase for data. Public pages mostly read through the Supabase client with the public key, so Row Level Security decides what is visible. A small set of server functions uses a direct PostgreSQL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has 27 tables in six groups. All content tables reference one central media table, so an image is uploaded once and reused. Hierarchies use a parent id, for example college to department. The ER diagrams are in Chapter 4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works in layers: login with Supabase Auth, a route guard on every admin page, Row Level Security in the database so the public can only read published rows, a role check for the System menu, CSRF middleware, parameterized SQL, upload validation, and an audit log. I also reviewed my own code and listed remaining improvements honestly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publishing workflow in the Admin CMS. The editor logs in, fills the form, optionally uploads an image, the system makes the slug unique, saves the record under Row Level Security, and writes an activity log entry. Draft items are not visible to the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new public website. The menu follows the university structure, the hero slider and the President message come from the database, and every content page has a clean address and a proper page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admin panel. The dashboard shows live content counts: 9 news articles, 12 active vacancies, 6 announcements, 5 events, and 97 media files. The homepage manager controls the hero slides, and a Super Admin creates users and assigns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had four parts: 45 Postman integration tests, six Row Level Security scenarios with unauthenticated requests, cross-browser and responsive checks at 1280, 768 and 375 pixels, and seven user acceptance scenarios with ICT and Registrar staff. Curl scripts also verify that content created in the admin appears on the public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main challenges. First, public pages and admin writes need different access, so Row Level Security became the main protection. Second, clean unique slugs through a SQL function and unique constraints. Third, a central media table so images are reused. Fourth, keeping TypeScript types in sync with the schema after every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the real problems the project solves: offices can publish their own notices, access is controlled and recorded, media is managed centrally, menus and texts are data and not code, and the site works on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learned full-stack TypeScript, relational design with Row Level Security, defense in depth, and agile work with real users. My code review also found points to fix before wider production use: remove legacy server functions and development credentials, add role-aware database policies and input validation, build three missing admin pages, and add an editorial review step. The next phase could be a student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 thank my advisor Mr. Kibru, the ICT Directorate, and the Registrar's Office. I am ready for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4C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rgbClr val="0F4C3A"/>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jpg"/><Relationship Id="rId6" Type="http://schemas.openxmlformats.org/officeDocument/2006/relationships/image" Target="../media/image-3-6.jp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panel"/>
          <p:cNvSpPr/>
          <p:nvPr/>
        </p:nvSpPr>
        <p:spPr>
          <a:xfrm>
            <a:off x="457200" y="411480"/>
            <a:ext cx="8229600" cy="868680"/>
          </a:xfrm>
          <a:prstGeom prst="roundRect">
            <a:avLst>
              <a:gd name="adj" fmla="val 12632"/>
            </a:avLst>
          </a:prstGeom>
          <a:solidFill>
            <a:srgbClr val="FFFFFF"/>
          </a:solidFill>
          <a:ln w="12700">
            <a:solidFill>
              <a:srgbClr val="FFFFFF"/>
            </a:solidFill>
            <a:prstDash val="solid"/>
          </a:ln>
        </p:spPr>
      </p:sp>
      <p:pic>
        <p:nvPicPr>
          <p:cNvPr id="3" name="Image 0" descr="Oda Bultum University logo">    </p:cNvPr>
          <p:cNvPicPr>
            <a:picLocks noChangeAspect="1"/>
          </p:cNvPicPr>
          <p:nvPr/>
        </p:nvPicPr>
        <p:blipFill>
          <a:blip r:embed="rId1"/>
          <a:stretch>
            <a:fillRect/>
          </a:stretch>
        </p:blipFill>
        <p:spPr>
          <a:xfrm>
            <a:off x="640080" y="475488"/>
            <a:ext cx="731520" cy="731520"/>
          </a:xfrm>
          <a:prstGeom prst="rect">
            <a:avLst/>
          </a:prstGeom>
        </p:spPr>
      </p:pic>
      <p:pic>
        <p:nvPicPr>
          <p:cNvPr id="4" name="Image 1" descr="Haramaya University logo">    </p:cNvPr>
          <p:cNvPicPr>
            <a:picLocks noChangeAspect="1"/>
          </p:cNvPicPr>
          <p:nvPr/>
        </p:nvPicPr>
        <p:blipFill>
          <a:blip r:embed="rId2"/>
          <a:stretch>
            <a:fillRect/>
          </a:stretch>
        </p:blipFill>
        <p:spPr>
          <a:xfrm>
            <a:off x="4846320" y="530352"/>
            <a:ext cx="2743200" cy="498584"/>
          </a:xfrm>
          <a:prstGeom prst="rect">
            <a:avLst/>
          </a:prstGeom>
        </p:spPr>
      </p:pic>
      <p:sp>
        <p:nvSpPr>
          <p:cNvPr id="5" name="Text 1"/>
          <p:cNvSpPr txBox="1"/>
          <p:nvPr/>
        </p:nvSpPr>
        <p:spPr>
          <a:xfrm>
            <a:off x="457200" y="1600200"/>
            <a:ext cx="8229600" cy="365760"/>
          </a:xfrm>
          <a:prstGeom prst="rect">
            <a:avLst/>
          </a:prstGeom>
          <a:noFill/>
          <a:ln/>
        </p:spPr>
        <p:txBody>
          <a:bodyPr wrap="square" lIns="0" tIns="0" rIns="0" bIns="0" rtlCol="0" anchor="ctr"/>
          <a:lstStyle/>
          <a:p>
            <a:pPr indent="0" marL="0">
              <a:buNone/>
            </a:pPr>
            <a:r>
              <a:rPr lang="en-US" sz="1600" b="1" dirty="0">
                <a:solidFill>
                  <a:srgbClr val="D4A017"/>
                </a:solidFill>
                <a:latin typeface="Calibri" pitchFamily="34" charset="0"/>
                <a:ea typeface="Calibri" pitchFamily="34" charset="-122"/>
                <a:cs typeface="Calibri" pitchFamily="34" charset="-120"/>
              </a:rPr>
              <a:t>Industrial Practice Presentation</a:t>
            </a:r>
            <a:endParaRPr lang="en-US" sz="1600" dirty="0"/>
          </a:p>
        </p:txBody>
      </p:sp>
      <p:sp>
        <p:nvSpPr>
          <p:cNvPr id="6" name="Text 2"/>
          <p:cNvSpPr txBox="1"/>
          <p:nvPr/>
        </p:nvSpPr>
        <p:spPr>
          <a:xfrm>
            <a:off x="457200" y="1965960"/>
            <a:ext cx="8229600" cy="12344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Design and Development of a Dynamic Website and Content Management System for Oda Bultum University (OBU-CMS)</a:t>
            </a:r>
            <a:endParaRPr lang="en-US" sz="2800" dirty="0"/>
          </a:p>
        </p:txBody>
      </p:sp>
      <p:sp>
        <p:nvSpPr>
          <p:cNvPr id="7" name="Text 3"/>
          <p:cNvSpPr txBox="1"/>
          <p:nvPr/>
        </p:nvSpPr>
        <p:spPr>
          <a:xfrm>
            <a:off x="457200" y="3429000"/>
            <a:ext cx="8229600" cy="868680"/>
          </a:xfrm>
          <a:prstGeom prst="rect">
            <a:avLst/>
          </a:prstGeom>
          <a:noFill/>
          <a:ln/>
        </p:spPr>
        <p:txBody>
          <a:bodyPr wrap="square" lIns="0" tIns="0" rIns="0" bIns="0" rtlCol="0" anchor="ctr"/>
          <a:lstStyle/>
          <a:p>
            <a:pPr indent="0" marL="0">
              <a:spcAft>
                <a:spcPts val="400"/>
              </a:spcAft>
              <a:buNone/>
            </a:pPr>
            <a:r>
              <a:rPr lang="en-US" sz="1500" b="1" dirty="0">
                <a:solidFill>
                  <a:srgbClr val="E6F0EA"/>
                </a:solidFill>
                <a:latin typeface="Calibri" pitchFamily="34" charset="0"/>
                <a:ea typeface="Calibri" pitchFamily="34" charset="-122"/>
                <a:cs typeface="Calibri" pitchFamily="34" charset="-120"/>
              </a:rPr>
              <a:t>Nedi Usman Hussen</a:t>
            </a:r>
            <a:endParaRPr lang="en-US" sz="1500" dirty="0"/>
          </a:p>
          <a:p>
            <a:pPr indent="0" marL="0">
              <a:spcAft>
                <a:spcPts val="400"/>
              </a:spcAft>
              <a:buNone/>
            </a:pPr>
            <a:r>
              <a:rPr lang="en-US" sz="1500" dirty="0">
                <a:solidFill>
                  <a:srgbClr val="E6F0EA"/>
                </a:solidFill>
                <a:latin typeface="Calibri" pitchFamily="34" charset="0"/>
                <a:ea typeface="Calibri" pitchFamily="34" charset="-122"/>
                <a:cs typeface="Calibri" pitchFamily="34" charset="-120"/>
              </a:rPr>
              <a:t>Student ID: 2184/16  |  Department of Computer Science, Haramaya University</a:t>
            </a:r>
            <a:endParaRPr lang="en-US" sz="1500" dirty="0"/>
          </a:p>
          <a:p>
            <a:pPr indent="0" marL="0">
              <a:spcAft>
                <a:spcPts val="400"/>
              </a:spcAft>
              <a:buNone/>
            </a:pPr>
            <a:r>
              <a:rPr lang="en-US" sz="1500" dirty="0">
                <a:solidFill>
                  <a:srgbClr val="E6F0EA"/>
                </a:solidFill>
                <a:latin typeface="Calibri" pitchFamily="34" charset="0"/>
                <a:ea typeface="Calibri" pitchFamily="34" charset="-122"/>
                <a:cs typeface="Calibri" pitchFamily="34" charset="-120"/>
              </a:rPr>
              <a:t>Advisor: Mr. Kibru G.  |  Host: ICT Directorate, Oda Bultum University</a:t>
            </a:r>
            <a:endParaRPr lang="en-US" sz="1500" dirty="0"/>
          </a:p>
        </p:txBody>
      </p:sp>
      <p:sp>
        <p:nvSpPr>
          <p:cNvPr id="8" name="Text 4"/>
          <p:cNvSpPr txBox="1"/>
          <p:nvPr/>
        </p:nvSpPr>
        <p:spPr>
          <a:xfrm>
            <a:off x="457200" y="4526280"/>
            <a:ext cx="4572000" cy="320040"/>
          </a:xfrm>
          <a:prstGeom prst="rect">
            <a:avLst/>
          </a:prstGeom>
          <a:noFill/>
          <a:ln/>
        </p:spPr>
        <p:txBody>
          <a:bodyPr wrap="square" lIns="0" tIns="0" rIns="0" bIns="0" rtlCol="0" anchor="ctr"/>
          <a:lstStyle/>
          <a:p>
            <a:pPr indent="0" marL="0">
              <a:buNone/>
            </a:pPr>
            <a:r>
              <a:rPr lang="en-US" sz="1400" b="1" dirty="0">
                <a:solidFill>
                  <a:srgbClr val="D4A017"/>
                </a:solidFill>
                <a:latin typeface="Calibri" pitchFamily="34" charset="0"/>
                <a:ea typeface="Calibri" pitchFamily="34" charset="-122"/>
                <a:cs typeface="Calibri" pitchFamily="34" charset="-120"/>
              </a:rPr>
              <a:t>Monday, October 26,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F4C3A"/>
                </a:solidFill>
                <a:latin typeface="Cambria" pitchFamily="34" charset="0"/>
                <a:ea typeface="Cambria" pitchFamily="34" charset="-122"/>
                <a:cs typeface="Cambria" pitchFamily="34" charset="-120"/>
              </a:rPr>
              <a:t>Host Organization</a:t>
            </a:r>
            <a:endParaRPr lang="en-US" sz="3200" dirty="0"/>
          </a:p>
        </p:txBody>
      </p:sp>
      <p:sp>
        <p:nvSpPr>
          <p:cNvPr id="3" name="Fact icon 1 bg"/>
          <p:cNvSpPr/>
          <p:nvPr/>
        </p:nvSpPr>
        <p:spPr>
          <a:xfrm>
            <a:off x="457200" y="1188720"/>
            <a:ext cx="640080" cy="640080"/>
          </a:xfrm>
          <a:prstGeom prst="ellipse">
            <a:avLst/>
          </a:prstGeom>
          <a:solidFill>
            <a:srgbClr val="0F4C3A"/>
          </a:solidFill>
          <a:ln w="12700">
            <a:solidFill>
              <a:srgbClr val="0F4C3A"/>
            </a:solidFill>
            <a:prstDash val="solid"/>
          </a:ln>
        </p:spPr>
      </p:sp>
      <p:pic>
        <p:nvPicPr>
          <p:cNvPr id="4" name="Image 0" descr="FaUniversity">    </p:cNvPr>
          <p:cNvPicPr>
            <a:picLocks noChangeAspect="1"/>
          </p:cNvPicPr>
          <p:nvPr/>
        </p:nvPicPr>
        <p:blipFill>
          <a:blip r:embed="rId1"/>
          <a:stretch>
            <a:fillRect/>
          </a:stretch>
        </p:blipFill>
        <p:spPr>
          <a:xfrm>
            <a:off x="610819" y="1342339"/>
            <a:ext cx="332842" cy="332842"/>
          </a:xfrm>
          <a:prstGeom prst="rect">
            <a:avLst/>
          </a:prstGeom>
        </p:spPr>
      </p:pic>
      <p:sp>
        <p:nvSpPr>
          <p:cNvPr id="5" name="Text 2"/>
          <p:cNvSpPr txBox="1"/>
          <p:nvPr/>
        </p:nvSpPr>
        <p:spPr>
          <a:xfrm>
            <a:off x="1280160" y="1143000"/>
            <a:ext cx="3017520" cy="914400"/>
          </a:xfrm>
          <a:prstGeom prst="rect">
            <a:avLst/>
          </a:prstGeom>
          <a:noFill/>
          <a:ln/>
        </p:spPr>
        <p:txBody>
          <a:bodyPr wrap="square" lIns="0" tIns="0" rIns="0" bIns="0" rtlCol="0" anchor="ctr"/>
          <a:lstStyle/>
          <a:p>
            <a:pPr indent="0" marL="0">
              <a:buNone/>
            </a:pPr>
            <a:r>
              <a:rPr lang="en-US" sz="1700" b="1" dirty="0">
                <a:solidFill>
                  <a:srgbClr val="0F4C3A"/>
                </a:solidFill>
                <a:latin typeface="Calibri" pitchFamily="34" charset="0"/>
                <a:ea typeface="Calibri" pitchFamily="34" charset="-122"/>
                <a:cs typeface="Calibri" pitchFamily="34" charset="-120"/>
              </a:rPr>
              <a:t>Oda Bultum University</a:t>
            </a:r>
            <a:endParaRPr lang="en-US" sz="1700" dirty="0"/>
          </a:p>
          <a:p>
            <a:pPr indent="0" marL="0">
              <a:buNone/>
            </a:pPr>
            <a:r>
              <a:rPr lang="en-US" sz="1300" dirty="0">
                <a:solidFill>
                  <a:srgbClr val="17251F"/>
                </a:solidFill>
                <a:latin typeface="Calibri" pitchFamily="34" charset="0"/>
                <a:ea typeface="Calibri" pitchFamily="34" charset="-122"/>
                <a:cs typeface="Calibri" pitchFamily="34" charset="-120"/>
              </a:rPr>
              <a:t>Public university founded in 2015, in Chiro, West Hararghe, Oromia</a:t>
            </a:r>
            <a:endParaRPr lang="en-US" sz="1700" dirty="0"/>
          </a:p>
        </p:txBody>
      </p:sp>
      <p:sp>
        <p:nvSpPr>
          <p:cNvPr id="6" name="Fact icon 2 bg"/>
          <p:cNvSpPr/>
          <p:nvPr/>
        </p:nvSpPr>
        <p:spPr>
          <a:xfrm>
            <a:off x="457200" y="2331720"/>
            <a:ext cx="640080" cy="640080"/>
          </a:xfrm>
          <a:prstGeom prst="ellipse">
            <a:avLst/>
          </a:prstGeom>
          <a:solidFill>
            <a:srgbClr val="0F4C3A"/>
          </a:solidFill>
          <a:ln w="12700">
            <a:solidFill>
              <a:srgbClr val="0F4C3A"/>
            </a:solidFill>
            <a:prstDash val="solid"/>
          </a:ln>
        </p:spPr>
      </p:sp>
      <p:pic>
        <p:nvPicPr>
          <p:cNvPr id="7" name="Image 1" descr="FaServer">    </p:cNvPr>
          <p:cNvPicPr>
            <a:picLocks noChangeAspect="1"/>
          </p:cNvPicPr>
          <p:nvPr/>
        </p:nvPicPr>
        <p:blipFill>
          <a:blip r:embed="rId2"/>
          <a:stretch>
            <a:fillRect/>
          </a:stretch>
        </p:blipFill>
        <p:spPr>
          <a:xfrm>
            <a:off x="610819" y="2485339"/>
            <a:ext cx="332842" cy="332842"/>
          </a:xfrm>
          <a:prstGeom prst="rect">
            <a:avLst/>
          </a:prstGeom>
        </p:spPr>
      </p:pic>
      <p:sp>
        <p:nvSpPr>
          <p:cNvPr id="8" name="Text 4"/>
          <p:cNvSpPr txBox="1"/>
          <p:nvPr/>
        </p:nvSpPr>
        <p:spPr>
          <a:xfrm>
            <a:off x="1280160" y="2286000"/>
            <a:ext cx="3017520" cy="914400"/>
          </a:xfrm>
          <a:prstGeom prst="rect">
            <a:avLst/>
          </a:prstGeom>
          <a:noFill/>
          <a:ln/>
        </p:spPr>
        <p:txBody>
          <a:bodyPr wrap="square" lIns="0" tIns="0" rIns="0" bIns="0" rtlCol="0" anchor="ctr"/>
          <a:lstStyle/>
          <a:p>
            <a:pPr indent="0" marL="0">
              <a:buNone/>
            </a:pPr>
            <a:r>
              <a:rPr lang="en-US" sz="1700" b="1" dirty="0">
                <a:solidFill>
                  <a:srgbClr val="0F4C3A"/>
                </a:solidFill>
                <a:latin typeface="Calibri" pitchFamily="34" charset="0"/>
                <a:ea typeface="Calibri" pitchFamily="34" charset="-122"/>
                <a:cs typeface="Calibri" pitchFamily="34" charset="-120"/>
              </a:rPr>
              <a:t>ICT Directorate</a:t>
            </a:r>
            <a:endParaRPr lang="en-US" sz="1700" dirty="0"/>
          </a:p>
          <a:p>
            <a:pPr indent="0" marL="0">
              <a:buNone/>
            </a:pPr>
            <a:r>
              <a:rPr lang="en-US" sz="1300" dirty="0">
                <a:solidFill>
                  <a:srgbClr val="17251F"/>
                </a:solidFill>
                <a:latin typeface="Calibri" pitchFamily="34" charset="0"/>
                <a:ea typeface="Calibri" pitchFamily="34" charset="-122"/>
                <a:cs typeface="Calibri" pitchFamily="34" charset="-120"/>
              </a:rPr>
              <a:t>Manages servers, network and systems; technical owner of OBU-CMS</a:t>
            </a:r>
            <a:endParaRPr lang="en-US" sz="1700" dirty="0"/>
          </a:p>
        </p:txBody>
      </p:sp>
      <p:sp>
        <p:nvSpPr>
          <p:cNvPr id="9" name="Fact icon 3 bg"/>
          <p:cNvSpPr/>
          <p:nvPr/>
        </p:nvSpPr>
        <p:spPr>
          <a:xfrm>
            <a:off x="457200" y="3474720"/>
            <a:ext cx="640080" cy="640080"/>
          </a:xfrm>
          <a:prstGeom prst="ellipse">
            <a:avLst/>
          </a:prstGeom>
          <a:solidFill>
            <a:srgbClr val="0F4C3A"/>
          </a:solidFill>
          <a:ln w="12700">
            <a:solidFill>
              <a:srgbClr val="0F4C3A"/>
            </a:solidFill>
            <a:prstDash val="solid"/>
          </a:ln>
        </p:spPr>
      </p:sp>
      <p:pic>
        <p:nvPicPr>
          <p:cNvPr id="10" name="Image 2" descr="FaUsers">    </p:cNvPr>
          <p:cNvPicPr>
            <a:picLocks noChangeAspect="1"/>
          </p:cNvPicPr>
          <p:nvPr/>
        </p:nvPicPr>
        <p:blipFill>
          <a:blip r:embed="rId3"/>
          <a:stretch>
            <a:fillRect/>
          </a:stretch>
        </p:blipFill>
        <p:spPr>
          <a:xfrm>
            <a:off x="610819" y="3628339"/>
            <a:ext cx="332842" cy="332842"/>
          </a:xfrm>
          <a:prstGeom prst="rect">
            <a:avLst/>
          </a:prstGeom>
        </p:spPr>
      </p:pic>
      <p:sp>
        <p:nvSpPr>
          <p:cNvPr id="11" name="Text 6"/>
          <p:cNvSpPr txBox="1"/>
          <p:nvPr/>
        </p:nvSpPr>
        <p:spPr>
          <a:xfrm>
            <a:off x="1280160" y="3429000"/>
            <a:ext cx="3017520" cy="914400"/>
          </a:xfrm>
          <a:prstGeom prst="rect">
            <a:avLst/>
          </a:prstGeom>
          <a:noFill/>
          <a:ln/>
        </p:spPr>
        <p:txBody>
          <a:bodyPr wrap="square" lIns="0" tIns="0" rIns="0" bIns="0" rtlCol="0" anchor="ctr"/>
          <a:lstStyle/>
          <a:p>
            <a:pPr indent="0" marL="0">
              <a:buNone/>
            </a:pPr>
            <a:r>
              <a:rPr lang="en-US" sz="1700" b="1" dirty="0">
                <a:solidFill>
                  <a:srgbClr val="0F4C3A"/>
                </a:solidFill>
                <a:latin typeface="Calibri" pitchFamily="34" charset="0"/>
                <a:ea typeface="Calibri" pitchFamily="34" charset="-122"/>
                <a:cs typeface="Calibri" pitchFamily="34" charset="-120"/>
              </a:rPr>
              <a:t>Who uses the website</a:t>
            </a:r>
            <a:endParaRPr lang="en-US" sz="1700" dirty="0"/>
          </a:p>
          <a:p>
            <a:pPr indent="0" marL="0">
              <a:buNone/>
            </a:pPr>
            <a:r>
              <a:rPr lang="en-US" sz="1300" dirty="0">
                <a:solidFill>
                  <a:srgbClr val="17251F"/>
                </a:solidFill>
                <a:latin typeface="Calibri" pitchFamily="34" charset="0"/>
                <a:ea typeface="Calibri" pitchFamily="34" charset="-122"/>
                <a:cs typeface="Calibri" pitchFamily="34" charset="-120"/>
              </a:rPr>
              <a:t>Students, applicants, staff, Registrar, communications office, the public</a:t>
            </a:r>
            <a:endParaRPr lang="en-US" sz="1700" dirty="0"/>
          </a:p>
        </p:txBody>
      </p:sp>
      <p:sp>
        <p:nvSpPr>
          <p:cNvPr id="12" name="Org chart panel"/>
          <p:cNvSpPr/>
          <p:nvPr/>
        </p:nvSpPr>
        <p:spPr>
          <a:xfrm>
            <a:off x="4526280" y="1097280"/>
            <a:ext cx="4206240" cy="3520440"/>
          </a:xfrm>
          <a:prstGeom prst="roundRect">
            <a:avLst>
              <a:gd name="adj" fmla="val 2078"/>
            </a:avLst>
          </a:prstGeom>
          <a:solidFill>
            <a:srgbClr val="EEF5F1"/>
          </a:solidFill>
          <a:ln w="12700">
            <a:solidFill>
              <a:srgbClr val="EEF5F1"/>
            </a:solidFill>
            <a:prstDash val="solid"/>
          </a:ln>
        </p:spPr>
      </p:sp>
      <p:sp>
        <p:nvSpPr>
          <p:cNvPr id="13" name="President"/>
          <p:cNvSpPr/>
          <p:nvPr/>
        </p:nvSpPr>
        <p:spPr>
          <a:xfrm>
            <a:off x="5806440" y="1234440"/>
            <a:ext cx="1645920" cy="411480"/>
          </a:xfrm>
          <a:prstGeom prst="roundRect">
            <a:avLst>
              <a:gd name="adj" fmla="val 13333"/>
            </a:avLst>
          </a:prstGeom>
          <a:solidFill>
            <a:srgbClr val="0F4C3A"/>
          </a:solidFill>
          <a:ln w="12700">
            <a:solidFill>
              <a:srgbClr val="0F4C3A"/>
            </a:solidFill>
            <a:prstDash val="solid"/>
          </a:ln>
        </p:spPr>
      </p:sp>
      <p:sp>
        <p:nvSpPr>
          <p:cNvPr id="14" name="Text 9"/>
          <p:cNvSpPr txBox="1"/>
          <p:nvPr/>
        </p:nvSpPr>
        <p:spPr>
          <a:xfrm>
            <a:off x="5806440" y="1234440"/>
            <a:ext cx="1645920" cy="411480"/>
          </a:xfrm>
          <a:prstGeom prst="rect">
            <a:avLst/>
          </a:prstGeom>
          <a:noFill/>
          <a:ln/>
        </p:spPr>
        <p:txBody>
          <a:bodyPr wrap="square" lIns="508" tIns="508" rIns="508" bIns="508"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University President</a:t>
            </a:r>
            <a:endParaRPr lang="en-US" sz="1300" dirty="0"/>
          </a:p>
        </p:txBody>
      </p:sp>
      <p:sp>
        <p:nvSpPr>
          <p:cNvPr id="15" name="Org connector"/>
          <p:cNvSpPr/>
          <p:nvPr/>
        </p:nvSpPr>
        <p:spPr>
          <a:xfrm>
            <a:off x="6629400" y="1645920"/>
            <a:ext cx="0" cy="228600"/>
          </a:xfrm>
          <a:prstGeom prst="line">
            <a:avLst/>
          </a:prstGeom>
          <a:noFill/>
          <a:ln w="19050">
            <a:solidFill>
              <a:srgbClr val="287A5D"/>
            </a:solidFill>
            <a:prstDash val="solid"/>
          </a:ln>
        </p:spPr>
      </p:sp>
      <p:sp>
        <p:nvSpPr>
          <p:cNvPr id="16" name="Org connector"/>
          <p:cNvSpPr/>
          <p:nvPr/>
        </p:nvSpPr>
        <p:spPr>
          <a:xfrm>
            <a:off x="5212080" y="1874520"/>
            <a:ext cx="2834640" cy="0"/>
          </a:xfrm>
          <a:prstGeom prst="line">
            <a:avLst/>
          </a:prstGeom>
          <a:noFill/>
          <a:ln w="19050">
            <a:solidFill>
              <a:srgbClr val="287A5D"/>
            </a:solidFill>
            <a:prstDash val="solid"/>
          </a:ln>
        </p:spPr>
      </p:sp>
      <p:sp>
        <p:nvSpPr>
          <p:cNvPr id="17" name="Org connector"/>
          <p:cNvSpPr/>
          <p:nvPr/>
        </p:nvSpPr>
        <p:spPr>
          <a:xfrm>
            <a:off x="5212080" y="1874520"/>
            <a:ext cx="0" cy="182880"/>
          </a:xfrm>
          <a:prstGeom prst="line">
            <a:avLst/>
          </a:prstGeom>
          <a:noFill/>
          <a:ln w="19050">
            <a:solidFill>
              <a:srgbClr val="287A5D"/>
            </a:solidFill>
            <a:prstDash val="solid"/>
          </a:ln>
        </p:spPr>
      </p:sp>
      <p:sp>
        <p:nvSpPr>
          <p:cNvPr id="18" name="Org connector"/>
          <p:cNvSpPr/>
          <p:nvPr/>
        </p:nvSpPr>
        <p:spPr>
          <a:xfrm>
            <a:off x="6629400" y="1874520"/>
            <a:ext cx="0" cy="182880"/>
          </a:xfrm>
          <a:prstGeom prst="line">
            <a:avLst/>
          </a:prstGeom>
          <a:noFill/>
          <a:ln w="19050">
            <a:solidFill>
              <a:srgbClr val="287A5D"/>
            </a:solidFill>
            <a:prstDash val="solid"/>
          </a:ln>
        </p:spPr>
      </p:sp>
      <p:sp>
        <p:nvSpPr>
          <p:cNvPr id="19" name="Org connector"/>
          <p:cNvSpPr/>
          <p:nvPr/>
        </p:nvSpPr>
        <p:spPr>
          <a:xfrm>
            <a:off x="8046720" y="1874520"/>
            <a:ext cx="0" cy="182880"/>
          </a:xfrm>
          <a:prstGeom prst="line">
            <a:avLst/>
          </a:prstGeom>
          <a:noFill/>
          <a:ln w="19050">
            <a:solidFill>
              <a:srgbClr val="287A5D"/>
            </a:solidFill>
            <a:prstDash val="solid"/>
          </a:ln>
        </p:spPr>
      </p:sp>
      <p:sp>
        <p:nvSpPr>
          <p:cNvPr id="20" name="President Offices"/>
          <p:cNvSpPr/>
          <p:nvPr/>
        </p:nvSpPr>
        <p:spPr>
          <a:xfrm>
            <a:off x="4572000" y="2057400"/>
            <a:ext cx="1280160" cy="822960"/>
          </a:xfrm>
          <a:prstGeom prst="roundRect">
            <a:avLst>
              <a:gd name="adj" fmla="val 6667"/>
            </a:avLst>
          </a:prstGeom>
          <a:solidFill>
            <a:srgbClr val="287A5D"/>
          </a:solidFill>
          <a:ln w="12700">
            <a:solidFill>
              <a:srgbClr val="287A5D"/>
            </a:solidFill>
            <a:prstDash val="solid"/>
          </a:ln>
        </p:spPr>
      </p:sp>
      <p:sp>
        <p:nvSpPr>
          <p:cNvPr id="21" name="Text 16"/>
          <p:cNvSpPr txBox="1"/>
          <p:nvPr/>
        </p:nvSpPr>
        <p:spPr>
          <a:xfrm>
            <a:off x="4572000" y="2057400"/>
            <a:ext cx="1280160" cy="822960"/>
          </a:xfrm>
          <a:prstGeom prst="rect">
            <a:avLst/>
          </a:prstGeom>
          <a:noFill/>
          <a:ln/>
        </p:spPr>
        <p:txBody>
          <a:bodyPr wrap="square" lIns="508" tIns="508" rIns="508"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President Offices</a:t>
            </a:r>
            <a:endParaRPr lang="en-US" sz="1200" dirty="0"/>
          </a:p>
        </p:txBody>
      </p:sp>
      <p:sp>
        <p:nvSpPr>
          <p:cNvPr id="22" name="Admin VP"/>
          <p:cNvSpPr/>
          <p:nvPr/>
        </p:nvSpPr>
        <p:spPr>
          <a:xfrm>
            <a:off x="5989320" y="2057400"/>
            <a:ext cx="1280160" cy="822960"/>
          </a:xfrm>
          <a:prstGeom prst="roundRect">
            <a:avLst>
              <a:gd name="adj" fmla="val 6667"/>
            </a:avLst>
          </a:prstGeom>
          <a:solidFill>
            <a:srgbClr val="287A5D"/>
          </a:solidFill>
          <a:ln w="12700">
            <a:solidFill>
              <a:srgbClr val="287A5D"/>
            </a:solidFill>
            <a:prstDash val="solid"/>
          </a:ln>
        </p:spPr>
      </p:sp>
      <p:sp>
        <p:nvSpPr>
          <p:cNvPr id="23" name="Text 18"/>
          <p:cNvSpPr txBox="1"/>
          <p:nvPr/>
        </p:nvSpPr>
        <p:spPr>
          <a:xfrm>
            <a:off x="5989320" y="2057400"/>
            <a:ext cx="1280160" cy="822960"/>
          </a:xfrm>
          <a:prstGeom prst="rect">
            <a:avLst/>
          </a:prstGeom>
          <a:noFill/>
          <a:ln/>
        </p:spPr>
        <p:txBody>
          <a:bodyPr wrap="square" lIns="508" tIns="508" rIns="508"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Administrative and Development VP</a:t>
            </a:r>
            <a:endParaRPr lang="en-US" sz="1100" dirty="0"/>
          </a:p>
        </p:txBody>
      </p:sp>
      <p:sp>
        <p:nvSpPr>
          <p:cNvPr id="24" name="Academic VP"/>
          <p:cNvSpPr/>
          <p:nvPr/>
        </p:nvSpPr>
        <p:spPr>
          <a:xfrm>
            <a:off x="7406640" y="2057400"/>
            <a:ext cx="1280160" cy="822960"/>
          </a:xfrm>
          <a:prstGeom prst="roundRect">
            <a:avLst>
              <a:gd name="adj" fmla="val 6667"/>
            </a:avLst>
          </a:prstGeom>
          <a:solidFill>
            <a:srgbClr val="287A5D"/>
          </a:solidFill>
          <a:ln w="12700">
            <a:solidFill>
              <a:srgbClr val="287A5D"/>
            </a:solidFill>
            <a:prstDash val="solid"/>
          </a:ln>
        </p:spPr>
      </p:sp>
      <p:sp>
        <p:nvSpPr>
          <p:cNvPr id="25" name="Text 20"/>
          <p:cNvSpPr txBox="1"/>
          <p:nvPr/>
        </p:nvSpPr>
        <p:spPr>
          <a:xfrm>
            <a:off x="7406640" y="2057400"/>
            <a:ext cx="1280160" cy="822960"/>
          </a:xfrm>
          <a:prstGeom prst="rect">
            <a:avLst/>
          </a:prstGeom>
          <a:noFill/>
          <a:ln/>
        </p:spPr>
        <p:txBody>
          <a:bodyPr wrap="square" lIns="508" tIns="508" rIns="508" bIns="508"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Academic, Research and Community Service VP</a:t>
            </a:r>
            <a:endParaRPr lang="en-US" sz="1050" dirty="0"/>
          </a:p>
        </p:txBody>
      </p:sp>
      <p:sp>
        <p:nvSpPr>
          <p:cNvPr id="26" name="Org connector"/>
          <p:cNvSpPr/>
          <p:nvPr/>
        </p:nvSpPr>
        <p:spPr>
          <a:xfrm>
            <a:off x="5212080" y="2880360"/>
            <a:ext cx="0" cy="228600"/>
          </a:xfrm>
          <a:prstGeom prst="line">
            <a:avLst/>
          </a:prstGeom>
          <a:noFill/>
          <a:ln w="19050">
            <a:solidFill>
              <a:srgbClr val="287A5D"/>
            </a:solidFill>
            <a:prstDash val="solid"/>
          </a:ln>
        </p:spPr>
      </p:sp>
      <p:sp>
        <p:nvSpPr>
          <p:cNvPr id="27" name="ICT Directorate"/>
          <p:cNvSpPr/>
          <p:nvPr/>
        </p:nvSpPr>
        <p:spPr>
          <a:xfrm>
            <a:off x="4572000" y="3108960"/>
            <a:ext cx="1280160" cy="685800"/>
          </a:xfrm>
          <a:prstGeom prst="roundRect">
            <a:avLst>
              <a:gd name="adj" fmla="val 8000"/>
            </a:avLst>
          </a:prstGeom>
          <a:solidFill>
            <a:srgbClr val="D4A017"/>
          </a:solidFill>
          <a:ln w="12700">
            <a:solidFill>
              <a:srgbClr val="D4A017"/>
            </a:solidFill>
            <a:prstDash val="solid"/>
          </a:ln>
        </p:spPr>
      </p:sp>
      <p:sp>
        <p:nvSpPr>
          <p:cNvPr id="28" name="Text 23"/>
          <p:cNvSpPr txBox="1"/>
          <p:nvPr/>
        </p:nvSpPr>
        <p:spPr>
          <a:xfrm>
            <a:off x="4572000" y="3108960"/>
            <a:ext cx="1280160" cy="685800"/>
          </a:xfrm>
          <a:prstGeom prst="rect">
            <a:avLst/>
          </a:prstGeom>
          <a:noFill/>
          <a:ln/>
        </p:spPr>
        <p:txBody>
          <a:bodyPr wrap="square" lIns="508" tIns="508" rIns="508" bIns="508" rtlCol="0" anchor="ctr"/>
          <a:lstStyle/>
          <a:p>
            <a:pPr algn="ctr" indent="0" marL="0">
              <a:buNone/>
            </a:pPr>
            <a:r>
              <a:rPr lang="en-US" sz="1200" b="1" dirty="0">
                <a:solidFill>
                  <a:srgbClr val="17251F"/>
                </a:solidFill>
                <a:latin typeface="Calibri" pitchFamily="34" charset="0"/>
                <a:ea typeface="Calibri" pitchFamily="34" charset="-122"/>
                <a:cs typeface="Calibri" pitchFamily="34" charset="-120"/>
              </a:rPr>
              <a:t>ICT Directorate (host)</a:t>
            </a:r>
            <a:endParaRPr lang="en-US" sz="1200" dirty="0"/>
          </a:p>
        </p:txBody>
      </p:sp>
      <p:sp>
        <p:nvSpPr>
          <p:cNvPr id="29" name="Org connector"/>
          <p:cNvSpPr/>
          <p:nvPr/>
        </p:nvSpPr>
        <p:spPr>
          <a:xfrm>
            <a:off x="8046720" y="2880360"/>
            <a:ext cx="0" cy="228600"/>
          </a:xfrm>
          <a:prstGeom prst="line">
            <a:avLst/>
          </a:prstGeom>
          <a:noFill/>
          <a:ln w="19050">
            <a:solidFill>
              <a:srgbClr val="287A5D"/>
            </a:solidFill>
            <a:prstDash val="solid"/>
          </a:ln>
        </p:spPr>
      </p:sp>
      <p:sp>
        <p:nvSpPr>
          <p:cNvPr id="30" name="Academic units"/>
          <p:cNvSpPr/>
          <p:nvPr/>
        </p:nvSpPr>
        <p:spPr>
          <a:xfrm>
            <a:off x="7406640" y="3108960"/>
            <a:ext cx="1280160" cy="685800"/>
          </a:xfrm>
          <a:prstGeom prst="roundRect">
            <a:avLst>
              <a:gd name="adj" fmla="val 8000"/>
            </a:avLst>
          </a:prstGeom>
          <a:solidFill>
            <a:srgbClr val="FFFFFF"/>
          </a:solidFill>
          <a:ln w="12700">
            <a:solidFill>
              <a:srgbClr val="FFFFFF"/>
            </a:solidFill>
            <a:prstDash val="solid"/>
          </a:ln>
        </p:spPr>
      </p:sp>
      <p:sp>
        <p:nvSpPr>
          <p:cNvPr id="31" name="Text 26"/>
          <p:cNvSpPr txBox="1"/>
          <p:nvPr/>
        </p:nvSpPr>
        <p:spPr>
          <a:xfrm>
            <a:off x="7406640" y="3108960"/>
            <a:ext cx="1280160" cy="685800"/>
          </a:xfrm>
          <a:prstGeom prst="rect">
            <a:avLst/>
          </a:prstGeom>
          <a:noFill/>
          <a:ln/>
        </p:spPr>
        <p:txBody>
          <a:bodyPr wrap="square" lIns="508" tIns="508" rIns="508" bIns="508" rtlCol="0" anchor="ctr"/>
          <a:lstStyle/>
          <a:p>
            <a:pPr algn="ctr" indent="0" marL="0">
              <a:buNone/>
            </a:pPr>
            <a:r>
              <a:rPr lang="en-US" sz="1100" dirty="0">
                <a:solidFill>
                  <a:srgbClr val="17251F"/>
                </a:solidFill>
                <a:latin typeface="Calibri" pitchFamily="34" charset="0"/>
                <a:ea typeface="Calibri" pitchFamily="34" charset="-122"/>
                <a:cs typeface="Calibri" pitchFamily="34" charset="-120"/>
              </a:rPr>
              <a:t>Registrar, Colleges, Research</a:t>
            </a:r>
            <a:endParaRPr lang="en-US" sz="1100" dirty="0"/>
          </a:p>
        </p:txBody>
      </p:sp>
      <p:sp>
        <p:nvSpPr>
          <p:cNvPr id="32" name="Org connector"/>
          <p:cNvSpPr/>
          <p:nvPr/>
        </p:nvSpPr>
        <p:spPr>
          <a:xfrm>
            <a:off x="5212080" y="3794760"/>
            <a:ext cx="0" cy="228600"/>
          </a:xfrm>
          <a:prstGeom prst="line">
            <a:avLst/>
          </a:prstGeom>
          <a:noFill/>
          <a:ln w="19050">
            <a:solidFill>
              <a:srgbClr val="287A5D"/>
            </a:solidFill>
            <a:prstDash val="solid"/>
          </a:ln>
        </p:spPr>
      </p:sp>
      <p:sp>
        <p:nvSpPr>
          <p:cNvPr id="33" name="OBU-CMS box"/>
          <p:cNvSpPr/>
          <p:nvPr/>
        </p:nvSpPr>
        <p:spPr>
          <a:xfrm>
            <a:off x="4572000" y="4023360"/>
            <a:ext cx="1280160" cy="457200"/>
          </a:xfrm>
          <a:prstGeom prst="roundRect">
            <a:avLst>
              <a:gd name="adj" fmla="val 12000"/>
            </a:avLst>
          </a:prstGeom>
          <a:solidFill>
            <a:srgbClr val="0F4C3A"/>
          </a:solidFill>
          <a:ln w="12700">
            <a:solidFill>
              <a:srgbClr val="0F4C3A"/>
            </a:solidFill>
            <a:prstDash val="solid"/>
          </a:ln>
        </p:spPr>
      </p:sp>
      <p:sp>
        <p:nvSpPr>
          <p:cNvPr id="34" name="Text 29"/>
          <p:cNvSpPr txBox="1"/>
          <p:nvPr/>
        </p:nvSpPr>
        <p:spPr>
          <a:xfrm>
            <a:off x="4572000" y="4023360"/>
            <a:ext cx="1280160" cy="457200"/>
          </a:xfrm>
          <a:prstGeom prst="rect">
            <a:avLst/>
          </a:prstGeom>
          <a:noFill/>
          <a:ln/>
        </p:spPr>
        <p:txBody>
          <a:bodyPr wrap="square" lIns="508" tIns="508" rIns="508"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OBU-CMS</a:t>
            </a:r>
            <a:endParaRPr lang="en-US" sz="1200" dirty="0"/>
          </a:p>
        </p:txBody>
      </p:sp>
      <p:sp>
        <p:nvSpPr>
          <p:cNvPr id="35" name="Text 30"/>
          <p:cNvSpPr txBox="1"/>
          <p:nvPr/>
        </p:nvSpPr>
        <p:spPr>
          <a:xfrm>
            <a:off x="5989320" y="3108960"/>
            <a:ext cx="1280160" cy="1371600"/>
          </a:xfrm>
          <a:prstGeom prst="rect">
            <a:avLst/>
          </a:prstGeom>
          <a:noFill/>
          <a:ln/>
        </p:spPr>
        <p:txBody>
          <a:bodyPr wrap="square" lIns="0" tIns="0" rIns="0" bIns="0" rtlCol="0" anchor="t"/>
          <a:lstStyle/>
          <a:p>
            <a:pPr indent="0" marL="0">
              <a:buNone/>
            </a:pPr>
            <a:r>
              <a:rPr lang="en-US" sz="1050" i="1" dirty="0">
                <a:solidFill>
                  <a:srgbClr val="5B6B64"/>
                </a:solidFill>
                <a:latin typeface="Calibri" pitchFamily="34" charset="0"/>
                <a:ea typeface="Calibri" pitchFamily="34" charset="-122"/>
                <a:cs typeface="Calibri" pitchFamily="34" charset="-120"/>
              </a:rPr>
              <a:t>Other President Offices: Audit, Planning, Legal, Public Relations, Security</a:t>
            </a:r>
            <a:endParaRPr lang="en-US" sz="1050" dirty="0"/>
          </a:p>
        </p:txBody>
      </p:sp>
      <p:sp>
        <p:nvSpPr>
          <p:cNvPr id="36" name="Text 31"/>
          <p:cNvSpPr txBox="1"/>
          <p:nvPr/>
        </p:nvSpPr>
        <p:spPr>
          <a:xfrm>
            <a:off x="4526280" y="4645152"/>
            <a:ext cx="4206240" cy="228600"/>
          </a:xfrm>
          <a:prstGeom prst="rect">
            <a:avLst/>
          </a:prstGeom>
          <a:noFill/>
          <a:ln/>
        </p:spPr>
        <p:txBody>
          <a:bodyPr wrap="square" lIns="0" tIns="0" rIns="0" bIns="0" rtlCol="0" anchor="ctr"/>
          <a:lstStyle/>
          <a:p>
            <a:pPr algn="ctr" indent="0" marL="0">
              <a:buNone/>
            </a:pPr>
            <a:r>
              <a:rPr lang="en-US" sz="1050" i="1" dirty="0">
                <a:solidFill>
                  <a:srgbClr val="5B6B64"/>
                </a:solidFill>
                <a:latin typeface="Calibri" pitchFamily="34" charset="0"/>
                <a:ea typeface="Calibri" pitchFamily="34" charset="-122"/>
                <a:cs typeface="Calibri" pitchFamily="34" charset="-120"/>
              </a:rPr>
              <a:t>Simplified from the university hierarchy (report Figure 1.1)</a:t>
            </a:r>
            <a:endParaRPr lang="en-US" sz="10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F4C3A"/>
                </a:solidFill>
                <a:latin typeface="Cambria" pitchFamily="34" charset="0"/>
                <a:ea typeface="Cambria" pitchFamily="34" charset="-122"/>
                <a:cs typeface="Cambria" pitchFamily="34" charset="-120"/>
              </a:rPr>
              <a:t>The Problem</a:t>
            </a:r>
            <a:endParaRPr lang="en-US" sz="3200" dirty="0"/>
          </a:p>
        </p:txBody>
      </p:sp>
      <p:sp>
        <p:nvSpPr>
          <p:cNvPr id="3" name="Problem icon 1 bg"/>
          <p:cNvSpPr/>
          <p:nvPr/>
        </p:nvSpPr>
        <p:spPr>
          <a:xfrm>
            <a:off x="457200" y="1143000"/>
            <a:ext cx="548640" cy="548640"/>
          </a:xfrm>
          <a:prstGeom prst="ellipse">
            <a:avLst/>
          </a:prstGeom>
          <a:solidFill>
            <a:srgbClr val="B85C38"/>
          </a:solidFill>
          <a:ln w="12700">
            <a:solidFill>
              <a:srgbClr val="B85C38"/>
            </a:solidFill>
            <a:prstDash val="solid"/>
          </a:ln>
        </p:spPr>
      </p:sp>
      <p:pic>
        <p:nvPicPr>
          <p:cNvPr id="4" name="Image 0" descr="FaUserCog">    </p:cNvPr>
          <p:cNvPicPr>
            <a:picLocks noChangeAspect="1"/>
          </p:cNvPicPr>
          <p:nvPr/>
        </p:nvPicPr>
        <p:blipFill>
          <a:blip r:embed="rId1"/>
          <a:stretch>
            <a:fillRect/>
          </a:stretch>
        </p:blipFill>
        <p:spPr>
          <a:xfrm>
            <a:off x="588874" y="1274674"/>
            <a:ext cx="285293" cy="285293"/>
          </a:xfrm>
          <a:prstGeom prst="rect">
            <a:avLst/>
          </a:prstGeom>
        </p:spPr>
      </p:pic>
      <p:sp>
        <p:nvSpPr>
          <p:cNvPr id="5" name="Text 2"/>
          <p:cNvSpPr txBox="1"/>
          <p:nvPr/>
        </p:nvSpPr>
        <p:spPr>
          <a:xfrm>
            <a:off x="1188720" y="1069848"/>
            <a:ext cx="3566160" cy="731520"/>
          </a:xfrm>
          <a:prstGeom prst="rect">
            <a:avLst/>
          </a:prstGeom>
          <a:noFill/>
          <a:ln/>
        </p:spPr>
        <p:txBody>
          <a:bodyPr wrap="square" lIns="0" tIns="0" rIns="0" bIns="0" rtlCol="0" anchor="ctr"/>
          <a:lstStyle/>
          <a:p>
            <a:pPr indent="0" marL="0">
              <a:buNone/>
            </a:pPr>
            <a:r>
              <a:rPr lang="en-US" sz="1500" b="1" dirty="0">
                <a:solidFill>
                  <a:srgbClr val="17251F"/>
                </a:solidFill>
                <a:latin typeface="Calibri" pitchFamily="34" charset="0"/>
                <a:ea typeface="Calibri" pitchFamily="34" charset="-122"/>
                <a:cs typeface="Calibri" pitchFamily="34" charset="-120"/>
              </a:rPr>
              <a:t>Content depends on technical staff</a:t>
            </a:r>
            <a:endParaRPr lang="en-US" sz="1500" dirty="0"/>
          </a:p>
          <a:p>
            <a:pPr indent="0" marL="0">
              <a:buNone/>
            </a:pPr>
            <a:r>
              <a:rPr lang="en-US" sz="1250" dirty="0">
                <a:solidFill>
                  <a:srgbClr val="5B6B64"/>
                </a:solidFill>
                <a:latin typeface="Calibri" pitchFamily="34" charset="0"/>
                <a:ea typeface="Calibri" pitchFamily="34" charset="-122"/>
                <a:cs typeface="Calibri" pitchFamily="34" charset="-120"/>
              </a:rPr>
              <a:t>Urgent notices (registration, exams) are delayed</a:t>
            </a:r>
            <a:endParaRPr lang="en-US" sz="1500" dirty="0"/>
          </a:p>
        </p:txBody>
      </p:sp>
      <p:sp>
        <p:nvSpPr>
          <p:cNvPr id="6" name="Problem icon 2 bg"/>
          <p:cNvSpPr/>
          <p:nvPr/>
        </p:nvSpPr>
        <p:spPr>
          <a:xfrm>
            <a:off x="457200" y="2039112"/>
            <a:ext cx="548640" cy="548640"/>
          </a:xfrm>
          <a:prstGeom prst="ellipse">
            <a:avLst/>
          </a:prstGeom>
          <a:solidFill>
            <a:srgbClr val="B85C38"/>
          </a:solidFill>
          <a:ln w="12700">
            <a:solidFill>
              <a:srgbClr val="B85C38"/>
            </a:solidFill>
            <a:prstDash val="solid"/>
          </a:ln>
        </p:spPr>
      </p:sp>
      <p:pic>
        <p:nvPicPr>
          <p:cNvPr id="7" name="Image 1" descr="FaThList">    </p:cNvPr>
          <p:cNvPicPr>
            <a:picLocks noChangeAspect="1"/>
          </p:cNvPicPr>
          <p:nvPr/>
        </p:nvPicPr>
        <p:blipFill>
          <a:blip r:embed="rId2"/>
          <a:stretch>
            <a:fillRect/>
          </a:stretch>
        </p:blipFill>
        <p:spPr>
          <a:xfrm>
            <a:off x="588874" y="2170786"/>
            <a:ext cx="285293" cy="285293"/>
          </a:xfrm>
          <a:prstGeom prst="rect">
            <a:avLst/>
          </a:prstGeom>
        </p:spPr>
      </p:pic>
      <p:sp>
        <p:nvSpPr>
          <p:cNvPr id="8" name="Text 4"/>
          <p:cNvSpPr txBox="1"/>
          <p:nvPr/>
        </p:nvSpPr>
        <p:spPr>
          <a:xfrm>
            <a:off x="1188720" y="1965960"/>
            <a:ext cx="3566160" cy="731520"/>
          </a:xfrm>
          <a:prstGeom prst="rect">
            <a:avLst/>
          </a:prstGeom>
          <a:noFill/>
          <a:ln/>
        </p:spPr>
        <p:txBody>
          <a:bodyPr wrap="square" lIns="0" tIns="0" rIns="0" bIns="0" rtlCol="0" anchor="ctr"/>
          <a:lstStyle/>
          <a:p>
            <a:pPr indent="0" marL="0">
              <a:buNone/>
            </a:pPr>
            <a:r>
              <a:rPr lang="en-US" sz="1500" b="1" dirty="0">
                <a:solidFill>
                  <a:srgbClr val="17251F"/>
                </a:solidFill>
                <a:latin typeface="Calibri" pitchFamily="34" charset="0"/>
                <a:ea typeface="Calibri" pitchFamily="34" charset="-122"/>
                <a:cs typeface="Calibri" pitchFamily="34" charset="-120"/>
              </a:rPr>
              <a:t>No structured content</a:t>
            </a:r>
            <a:endParaRPr lang="en-US" sz="1500" dirty="0"/>
          </a:p>
          <a:p>
            <a:pPr indent="0" marL="0">
              <a:buNone/>
            </a:pPr>
            <a:r>
              <a:rPr lang="en-US" sz="1250" dirty="0">
                <a:solidFill>
                  <a:srgbClr val="5B6B64"/>
                </a:solidFill>
                <a:latin typeface="Calibri" pitchFamily="34" charset="0"/>
                <a:ea typeface="Calibri" pitchFamily="34" charset="-122"/>
                <a:cs typeface="Calibri" pitchFamily="34" charset="-120"/>
              </a:rPr>
              <a:t>News, events, vacancies have no managed records or clean links</a:t>
            </a:r>
            <a:endParaRPr lang="en-US" sz="1500" dirty="0"/>
          </a:p>
        </p:txBody>
      </p:sp>
      <p:sp>
        <p:nvSpPr>
          <p:cNvPr id="9" name="Problem icon 3 bg"/>
          <p:cNvSpPr/>
          <p:nvPr/>
        </p:nvSpPr>
        <p:spPr>
          <a:xfrm>
            <a:off x="457200" y="2935224"/>
            <a:ext cx="548640" cy="548640"/>
          </a:xfrm>
          <a:prstGeom prst="ellipse">
            <a:avLst/>
          </a:prstGeom>
          <a:solidFill>
            <a:srgbClr val="B85C38"/>
          </a:solidFill>
          <a:ln w="12700">
            <a:solidFill>
              <a:srgbClr val="B85C38"/>
            </a:solidFill>
            <a:prstDash val="solid"/>
          </a:ln>
        </p:spPr>
      </p:sp>
      <p:pic>
        <p:nvPicPr>
          <p:cNvPr id="10" name="Image 2" descr="FaImages">    </p:cNvPr>
          <p:cNvPicPr>
            <a:picLocks noChangeAspect="1"/>
          </p:cNvPicPr>
          <p:nvPr/>
        </p:nvPicPr>
        <p:blipFill>
          <a:blip r:embed="rId3"/>
          <a:stretch>
            <a:fillRect/>
          </a:stretch>
        </p:blipFill>
        <p:spPr>
          <a:xfrm>
            <a:off x="588874" y="3066898"/>
            <a:ext cx="285293" cy="285293"/>
          </a:xfrm>
          <a:prstGeom prst="rect">
            <a:avLst/>
          </a:prstGeom>
        </p:spPr>
      </p:pic>
      <p:sp>
        <p:nvSpPr>
          <p:cNvPr id="11" name="Text 6"/>
          <p:cNvSpPr txBox="1"/>
          <p:nvPr/>
        </p:nvSpPr>
        <p:spPr>
          <a:xfrm>
            <a:off x="1188720" y="2862072"/>
            <a:ext cx="3566160" cy="731520"/>
          </a:xfrm>
          <a:prstGeom prst="rect">
            <a:avLst/>
          </a:prstGeom>
          <a:noFill/>
          <a:ln/>
        </p:spPr>
        <p:txBody>
          <a:bodyPr wrap="square" lIns="0" tIns="0" rIns="0" bIns="0" rtlCol="0" anchor="ctr"/>
          <a:lstStyle/>
          <a:p>
            <a:pPr indent="0" marL="0">
              <a:buNone/>
            </a:pPr>
            <a:r>
              <a:rPr lang="en-US" sz="1500" b="1" dirty="0">
                <a:solidFill>
                  <a:srgbClr val="17251F"/>
                </a:solidFill>
                <a:latin typeface="Calibri" pitchFamily="34" charset="0"/>
                <a:ea typeface="Calibri" pitchFamily="34" charset="-122"/>
                <a:cs typeface="Calibri" pitchFamily="34" charset="-120"/>
              </a:rPr>
              <a:t>No media library, no roles, no audit trail</a:t>
            </a:r>
            <a:endParaRPr lang="en-US" sz="1500" dirty="0"/>
          </a:p>
          <a:p>
            <a:pPr indent="0" marL="0">
              <a:buNone/>
            </a:pPr>
            <a:r>
              <a:rPr lang="en-US" sz="1250" dirty="0">
                <a:solidFill>
                  <a:srgbClr val="5B6B64"/>
                </a:solidFill>
                <a:latin typeface="Calibri" pitchFamily="34" charset="0"/>
                <a:ea typeface="Calibri" pitchFamily="34" charset="-122"/>
                <a:cs typeface="Calibri" pitchFamily="34" charset="-120"/>
              </a:rPr>
              <a:t>Nobody can tell who changed what</a:t>
            </a:r>
            <a:endParaRPr lang="en-US" sz="1500" dirty="0"/>
          </a:p>
        </p:txBody>
      </p:sp>
      <p:sp>
        <p:nvSpPr>
          <p:cNvPr id="12" name="Problem icon 4 bg"/>
          <p:cNvSpPr/>
          <p:nvPr/>
        </p:nvSpPr>
        <p:spPr>
          <a:xfrm>
            <a:off x="457200" y="3831336"/>
            <a:ext cx="548640" cy="548640"/>
          </a:xfrm>
          <a:prstGeom prst="ellipse">
            <a:avLst/>
          </a:prstGeom>
          <a:solidFill>
            <a:srgbClr val="B85C38"/>
          </a:solidFill>
          <a:ln w="12700">
            <a:solidFill>
              <a:srgbClr val="B85C38"/>
            </a:solidFill>
            <a:prstDash val="solid"/>
          </a:ln>
        </p:spPr>
      </p:sp>
      <p:pic>
        <p:nvPicPr>
          <p:cNvPr id="13" name="Image 3" descr="FaMobileAlt">    </p:cNvPr>
          <p:cNvPicPr>
            <a:picLocks noChangeAspect="1"/>
          </p:cNvPicPr>
          <p:nvPr/>
        </p:nvPicPr>
        <p:blipFill>
          <a:blip r:embed="rId4"/>
          <a:stretch>
            <a:fillRect/>
          </a:stretch>
        </p:blipFill>
        <p:spPr>
          <a:xfrm>
            <a:off x="588874" y="3963010"/>
            <a:ext cx="285293" cy="285293"/>
          </a:xfrm>
          <a:prstGeom prst="rect">
            <a:avLst/>
          </a:prstGeom>
        </p:spPr>
      </p:pic>
      <p:sp>
        <p:nvSpPr>
          <p:cNvPr id="14" name="Text 8"/>
          <p:cNvSpPr txBox="1"/>
          <p:nvPr/>
        </p:nvSpPr>
        <p:spPr>
          <a:xfrm>
            <a:off x="1188720" y="3758184"/>
            <a:ext cx="3566160" cy="731520"/>
          </a:xfrm>
          <a:prstGeom prst="rect">
            <a:avLst/>
          </a:prstGeom>
          <a:noFill/>
          <a:ln/>
        </p:spPr>
        <p:txBody>
          <a:bodyPr wrap="square" lIns="0" tIns="0" rIns="0" bIns="0" rtlCol="0" anchor="ctr"/>
          <a:lstStyle/>
          <a:p>
            <a:pPr indent="0" marL="0">
              <a:buNone/>
            </a:pPr>
            <a:r>
              <a:rPr lang="en-US" sz="1500" b="1" dirty="0">
                <a:solidFill>
                  <a:srgbClr val="17251F"/>
                </a:solidFill>
                <a:latin typeface="Calibri" pitchFamily="34" charset="0"/>
                <a:ea typeface="Calibri" pitchFamily="34" charset="-122"/>
                <a:cs typeface="Calibri" pitchFamily="34" charset="-120"/>
              </a:rPr>
              <a:t>Hard to read and use on phones</a:t>
            </a:r>
            <a:endParaRPr lang="en-US" sz="1500" dirty="0"/>
          </a:p>
          <a:p>
            <a:pPr indent="0" marL="0">
              <a:buNone/>
            </a:pPr>
            <a:r>
              <a:rPr lang="en-US" sz="1250" dirty="0">
                <a:solidFill>
                  <a:srgbClr val="5B6B64"/>
                </a:solidFill>
                <a:latin typeface="Calibri" pitchFamily="34" charset="0"/>
                <a:ea typeface="Calibri" pitchFamily="34" charset="-122"/>
                <a:cs typeface="Calibri" pitchFamily="34" charset="-120"/>
              </a:rPr>
              <a:t>Deep menus, low-contrast pages, fixed 2023 footer</a:t>
            </a:r>
            <a:endParaRPr lang="en-US" sz="1500" dirty="0"/>
          </a:p>
        </p:txBody>
      </p:sp>
      <p:pic>
        <p:nvPicPr>
          <p:cNvPr id="15" name="Image 4" descr="Old website President message page with low contrast text">    </p:cNvPr>
          <p:cNvPicPr>
            <a:picLocks noChangeAspect="1"/>
          </p:cNvPicPr>
          <p:nvPr/>
        </p:nvPicPr>
        <p:blipFill>
          <a:blip r:embed="rId5"/>
          <a:stretch>
            <a:fillRect/>
          </a:stretch>
        </p:blipFill>
        <p:spPr>
          <a:xfrm>
            <a:off x="5120640" y="1143000"/>
            <a:ext cx="3108960" cy="1501184"/>
          </a:xfrm>
          <a:prstGeom prst="rect">
            <a:avLst/>
          </a:prstGeom>
          <a:effectLst>
            <a:outerShdw sx="100000" sy="100000" kx="0" ky="0" algn="bl" rotWithShape="0" blurRad="76200" dist="25400" dir="5400000">
              <a:srgbClr val="000000">
                <a:alpha val="12000"/>
              </a:srgbClr>
            </a:outerShdw>
          </a:effectLst>
        </p:spPr>
      </p:pic>
      <p:pic>
        <p:nvPicPr>
          <p:cNvPr id="16" name="Image 5" descr="Old website footer and drop-down menu over a map">    </p:cNvPr>
          <p:cNvPicPr>
            <a:picLocks noChangeAspect="1"/>
          </p:cNvPicPr>
          <p:nvPr/>
        </p:nvPicPr>
        <p:blipFill>
          <a:blip r:embed="rId6"/>
          <a:stretch>
            <a:fillRect/>
          </a:stretch>
        </p:blipFill>
        <p:spPr>
          <a:xfrm>
            <a:off x="5120640" y="2872784"/>
            <a:ext cx="3108960" cy="1501184"/>
          </a:xfrm>
          <a:prstGeom prst="rect">
            <a:avLst/>
          </a:prstGeom>
          <a:effectLst>
            <a:outerShdw sx="100000" sy="100000" kx="0" ky="0" algn="bl" rotWithShape="0" blurRad="76200" dist="25400" dir="5400000">
              <a:srgbClr val="000000">
                <a:alpha val="12000"/>
              </a:srgbClr>
            </a:outerShdw>
          </a:effectLst>
        </p:spPr>
      </p:pic>
      <p:sp>
        <p:nvSpPr>
          <p:cNvPr id="17" name="Text 9"/>
          <p:cNvSpPr txBox="1"/>
          <p:nvPr/>
        </p:nvSpPr>
        <p:spPr>
          <a:xfrm>
            <a:off x="5120640" y="4507992"/>
            <a:ext cx="3566160" cy="256032"/>
          </a:xfrm>
          <a:prstGeom prst="rect">
            <a:avLst/>
          </a:prstGeom>
          <a:noFill/>
          <a:ln/>
        </p:spPr>
        <p:txBody>
          <a:bodyPr wrap="square" lIns="0" tIns="0" rIns="0" bIns="0" rtlCol="0" anchor="ctr"/>
          <a:lstStyle/>
          <a:p>
            <a:pPr indent="0" marL="0">
              <a:buNone/>
            </a:pPr>
            <a:r>
              <a:rPr lang="en-US" sz="1100" i="1" dirty="0">
                <a:solidFill>
                  <a:srgbClr val="5B6B64"/>
                </a:solidFill>
                <a:latin typeface="Calibri" pitchFamily="34" charset="0"/>
                <a:ea typeface="Calibri" pitchFamily="34" charset="-122"/>
                <a:cs typeface="Calibri" pitchFamily="34" charset="-120"/>
              </a:rPr>
              <a:t>Existing website obu.edu.et</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F4C3A"/>
                </a:solidFill>
                <a:latin typeface="Cambria" pitchFamily="34" charset="0"/>
                <a:ea typeface="Cambria" pitchFamily="34" charset="-122"/>
                <a:cs typeface="Cambria" pitchFamily="34" charset="-120"/>
              </a:rPr>
              <a:t>Objectives</a:t>
            </a:r>
            <a:endParaRPr lang="en-US" sz="3200" dirty="0"/>
          </a:p>
        </p:txBody>
      </p:sp>
      <p:sp>
        <p:nvSpPr>
          <p:cNvPr id="3" name="General objective"/>
          <p:cNvSpPr/>
          <p:nvPr/>
        </p:nvSpPr>
        <p:spPr>
          <a:xfrm>
            <a:off x="457200" y="1097280"/>
            <a:ext cx="8229600" cy="960120"/>
          </a:xfrm>
          <a:prstGeom prst="roundRect">
            <a:avLst>
              <a:gd name="adj" fmla="val 7619"/>
            </a:avLst>
          </a:prstGeom>
          <a:solidFill>
            <a:srgbClr val="0F4C3A"/>
          </a:solidFill>
          <a:ln w="12700">
            <a:solidFill>
              <a:srgbClr val="0F4C3A"/>
            </a:solidFill>
            <a:prstDash val="solid"/>
          </a:ln>
        </p:spPr>
      </p:sp>
      <p:sp>
        <p:nvSpPr>
          <p:cNvPr id="4" name="Text 2"/>
          <p:cNvSpPr txBox="1"/>
          <p:nvPr/>
        </p:nvSpPr>
        <p:spPr>
          <a:xfrm>
            <a:off x="685800" y="1143000"/>
            <a:ext cx="7772400" cy="868680"/>
          </a:xfrm>
          <a:prstGeom prst="rect">
            <a:avLst/>
          </a:prstGeom>
          <a:noFill/>
          <a:ln/>
        </p:spPr>
        <p:txBody>
          <a:bodyPr wrap="square" lIns="0" tIns="0" rIns="0" bIns="0" rtlCol="0" anchor="ctr"/>
          <a:lstStyle/>
          <a:p>
            <a:pPr indent="0" marL="0">
              <a:buNone/>
            </a:pPr>
            <a:r>
              <a:rPr lang="en-US" sz="1600" b="1" dirty="0">
                <a:solidFill>
                  <a:srgbClr val="D4A017"/>
                </a:solidFill>
                <a:latin typeface="Calibri" pitchFamily="34" charset="0"/>
                <a:ea typeface="Calibri" pitchFamily="34" charset="-122"/>
                <a:cs typeface="Calibri" pitchFamily="34" charset="-120"/>
              </a:rPr>
              <a:t>General objective  </a:t>
            </a:r>
            <a:pPr indent="0" marL="0">
              <a:buNone/>
            </a:pPr>
            <a:r>
              <a:rPr lang="en-US" sz="1600" dirty="0">
                <a:solidFill>
                  <a:srgbClr val="FFFFFF"/>
                </a:solidFill>
                <a:latin typeface="Calibri" pitchFamily="34" charset="0"/>
                <a:ea typeface="Calibri" pitchFamily="34" charset="-122"/>
                <a:cs typeface="Calibri" pitchFamily="34" charset="-120"/>
              </a:rPr>
              <a:t>Build a secure, responsive, database-driven website and CMS so that non-technical staff publish university information themselves.</a:t>
            </a:r>
            <a:endParaRPr lang="en-US" sz="1600" dirty="0"/>
          </a:p>
        </p:txBody>
      </p:sp>
      <p:sp>
        <p:nvSpPr>
          <p:cNvPr id="5" name="Objective card 1"/>
          <p:cNvSpPr/>
          <p:nvPr/>
        </p:nvSpPr>
        <p:spPr>
          <a:xfrm>
            <a:off x="457200" y="2331720"/>
            <a:ext cx="1938528" cy="2148840"/>
          </a:xfrm>
          <a:prstGeom prst="roundRect">
            <a:avLst>
              <a:gd name="adj" fmla="val 3774"/>
            </a:avLst>
          </a:prstGeom>
          <a:solidFill>
            <a:srgbClr val="EEF5F1"/>
          </a:solidFill>
          <a:ln w="12700">
            <a:solidFill>
              <a:srgbClr val="EEF5F1"/>
            </a:solidFill>
            <a:prstDash val="solid"/>
          </a:ln>
        </p:spPr>
      </p:sp>
      <p:sp>
        <p:nvSpPr>
          <p:cNvPr id="6" name="Objective icon 1 bg"/>
          <p:cNvSpPr/>
          <p:nvPr/>
        </p:nvSpPr>
        <p:spPr>
          <a:xfrm>
            <a:off x="621792" y="2487168"/>
            <a:ext cx="566928" cy="566928"/>
          </a:xfrm>
          <a:prstGeom prst="ellipse">
            <a:avLst/>
          </a:prstGeom>
          <a:solidFill>
            <a:srgbClr val="287A5D"/>
          </a:solidFill>
          <a:ln w="12700">
            <a:solidFill>
              <a:srgbClr val="287A5D"/>
            </a:solidFill>
            <a:prstDash val="solid"/>
          </a:ln>
        </p:spPr>
      </p:sp>
      <p:pic>
        <p:nvPicPr>
          <p:cNvPr id="7" name="Image 0" descr="FaGlobe">    </p:cNvPr>
          <p:cNvPicPr>
            <a:picLocks noChangeAspect="1"/>
          </p:cNvPicPr>
          <p:nvPr/>
        </p:nvPicPr>
        <p:blipFill>
          <a:blip r:embed="rId1"/>
          <a:stretch>
            <a:fillRect/>
          </a:stretch>
        </p:blipFill>
        <p:spPr>
          <a:xfrm>
            <a:off x="757855" y="2623231"/>
            <a:ext cx="294803" cy="294803"/>
          </a:xfrm>
          <a:prstGeom prst="rect">
            <a:avLst/>
          </a:prstGeom>
        </p:spPr>
      </p:pic>
      <p:sp>
        <p:nvSpPr>
          <p:cNvPr id="8" name="Text 5"/>
          <p:cNvSpPr txBox="1"/>
          <p:nvPr/>
        </p:nvSpPr>
        <p:spPr>
          <a:xfrm>
            <a:off x="621792" y="3154680"/>
            <a:ext cx="1645920" cy="1234440"/>
          </a:xfrm>
          <a:prstGeom prst="rect">
            <a:avLst/>
          </a:prstGeom>
          <a:noFill/>
          <a:ln/>
        </p:spPr>
        <p:txBody>
          <a:bodyPr wrap="square" lIns="0" tIns="0" rIns="0" bIns="0" rtlCol="0" anchor="t"/>
          <a:lstStyle/>
          <a:p>
            <a:pPr indent="0" marL="0">
              <a:spcAft>
                <a:spcPts val="300"/>
              </a:spcAft>
              <a:buNone/>
            </a:pPr>
            <a:r>
              <a:rPr lang="en-US" sz="1500" b="1" dirty="0">
                <a:solidFill>
                  <a:srgbClr val="0F4C3A"/>
                </a:solidFill>
                <a:latin typeface="Calibri" pitchFamily="34" charset="0"/>
                <a:ea typeface="Calibri" pitchFamily="34" charset="-122"/>
                <a:cs typeface="Calibri" pitchFamily="34" charset="-120"/>
              </a:rPr>
              <a:t>Dynamic website</a:t>
            </a:r>
            <a:endParaRPr lang="en-US" sz="1500" dirty="0"/>
          </a:p>
          <a:p>
            <a:pPr indent="0" marL="0">
              <a:spcAft>
                <a:spcPts val="300"/>
              </a:spcAft>
              <a:buNone/>
            </a:pPr>
            <a:r>
              <a:rPr lang="en-US" sz="1200" dirty="0">
                <a:solidFill>
                  <a:srgbClr val="17251F"/>
                </a:solidFill>
                <a:latin typeface="Calibri" pitchFamily="34" charset="0"/>
                <a:ea typeface="Calibri" pitchFamily="34" charset="-122"/>
                <a:cs typeface="Calibri" pitchFamily="34" charset="-120"/>
              </a:rPr>
              <a:t>Slug-based pages for news, events, programs, research, leadership</a:t>
            </a:r>
            <a:endParaRPr lang="en-US" sz="1500" dirty="0"/>
          </a:p>
        </p:txBody>
      </p:sp>
      <p:sp>
        <p:nvSpPr>
          <p:cNvPr id="9" name="Objective card 2"/>
          <p:cNvSpPr/>
          <p:nvPr/>
        </p:nvSpPr>
        <p:spPr>
          <a:xfrm>
            <a:off x="2542032" y="2331720"/>
            <a:ext cx="1938528" cy="2148840"/>
          </a:xfrm>
          <a:prstGeom prst="roundRect">
            <a:avLst>
              <a:gd name="adj" fmla="val 3774"/>
            </a:avLst>
          </a:prstGeom>
          <a:solidFill>
            <a:srgbClr val="EEF5F1"/>
          </a:solidFill>
          <a:ln w="12700">
            <a:solidFill>
              <a:srgbClr val="EEF5F1"/>
            </a:solidFill>
            <a:prstDash val="solid"/>
          </a:ln>
        </p:spPr>
      </p:sp>
      <p:sp>
        <p:nvSpPr>
          <p:cNvPr id="10" name="Objective icon 2 bg"/>
          <p:cNvSpPr/>
          <p:nvPr/>
        </p:nvSpPr>
        <p:spPr>
          <a:xfrm>
            <a:off x="2706624" y="2487168"/>
            <a:ext cx="566928" cy="566928"/>
          </a:xfrm>
          <a:prstGeom prst="ellipse">
            <a:avLst/>
          </a:prstGeom>
          <a:solidFill>
            <a:srgbClr val="287A5D"/>
          </a:solidFill>
          <a:ln w="12700">
            <a:solidFill>
              <a:srgbClr val="287A5D"/>
            </a:solidFill>
            <a:prstDash val="solid"/>
          </a:ln>
        </p:spPr>
      </p:sp>
      <p:pic>
        <p:nvPicPr>
          <p:cNvPr id="11" name="Image 1" descr="FaLock">    </p:cNvPr>
          <p:cNvPicPr>
            <a:picLocks noChangeAspect="1"/>
          </p:cNvPicPr>
          <p:nvPr/>
        </p:nvPicPr>
        <p:blipFill>
          <a:blip r:embed="rId2"/>
          <a:stretch>
            <a:fillRect/>
          </a:stretch>
        </p:blipFill>
        <p:spPr>
          <a:xfrm>
            <a:off x="2842687" y="2623231"/>
            <a:ext cx="294803" cy="294803"/>
          </a:xfrm>
          <a:prstGeom prst="rect">
            <a:avLst/>
          </a:prstGeom>
        </p:spPr>
      </p:pic>
      <p:sp>
        <p:nvSpPr>
          <p:cNvPr id="12" name="Text 8"/>
          <p:cNvSpPr txBox="1"/>
          <p:nvPr/>
        </p:nvSpPr>
        <p:spPr>
          <a:xfrm>
            <a:off x="2706624" y="3154680"/>
            <a:ext cx="1645920" cy="1234440"/>
          </a:xfrm>
          <a:prstGeom prst="rect">
            <a:avLst/>
          </a:prstGeom>
          <a:noFill/>
          <a:ln/>
        </p:spPr>
        <p:txBody>
          <a:bodyPr wrap="square" lIns="0" tIns="0" rIns="0" bIns="0" rtlCol="0" anchor="t"/>
          <a:lstStyle/>
          <a:p>
            <a:pPr indent="0" marL="0">
              <a:spcAft>
                <a:spcPts val="300"/>
              </a:spcAft>
              <a:buNone/>
            </a:pPr>
            <a:r>
              <a:rPr lang="en-US" sz="1500" b="1" dirty="0">
                <a:solidFill>
                  <a:srgbClr val="0F4C3A"/>
                </a:solidFill>
                <a:latin typeface="Calibri" pitchFamily="34" charset="0"/>
                <a:ea typeface="Calibri" pitchFamily="34" charset="-122"/>
                <a:cs typeface="Calibri" pitchFamily="34" charset="-120"/>
              </a:rPr>
              <a:t>Secure Admin CMS</a:t>
            </a:r>
            <a:endParaRPr lang="en-US" sz="1500" dirty="0"/>
          </a:p>
          <a:p>
            <a:pPr indent="0" marL="0">
              <a:spcAft>
                <a:spcPts val="300"/>
              </a:spcAft>
              <a:buNone/>
            </a:pPr>
            <a:r>
              <a:rPr lang="en-US" sz="1200" dirty="0">
                <a:solidFill>
                  <a:srgbClr val="17251F"/>
                </a:solidFill>
                <a:latin typeface="Calibri" pitchFamily="34" charset="0"/>
                <a:ea typeface="Calibri" pitchFamily="34" charset="-122"/>
                <a:cs typeface="Calibri" pitchFamily="34" charset="-120"/>
              </a:rPr>
              <a:t>Login, Row Level Security, role-based System menu</a:t>
            </a:r>
            <a:endParaRPr lang="en-US" sz="1500" dirty="0"/>
          </a:p>
        </p:txBody>
      </p:sp>
      <p:sp>
        <p:nvSpPr>
          <p:cNvPr id="13" name="Objective card 3"/>
          <p:cNvSpPr/>
          <p:nvPr/>
        </p:nvSpPr>
        <p:spPr>
          <a:xfrm>
            <a:off x="4626864" y="2331720"/>
            <a:ext cx="1938528" cy="2148840"/>
          </a:xfrm>
          <a:prstGeom prst="roundRect">
            <a:avLst>
              <a:gd name="adj" fmla="val 3774"/>
            </a:avLst>
          </a:prstGeom>
          <a:solidFill>
            <a:srgbClr val="EEF5F1"/>
          </a:solidFill>
          <a:ln w="12700">
            <a:solidFill>
              <a:srgbClr val="EEF5F1"/>
            </a:solidFill>
            <a:prstDash val="solid"/>
          </a:ln>
        </p:spPr>
      </p:sp>
      <p:sp>
        <p:nvSpPr>
          <p:cNvPr id="14" name="Objective icon 3 bg"/>
          <p:cNvSpPr/>
          <p:nvPr/>
        </p:nvSpPr>
        <p:spPr>
          <a:xfrm>
            <a:off x="4791456" y="2487168"/>
            <a:ext cx="566928" cy="566928"/>
          </a:xfrm>
          <a:prstGeom prst="ellipse">
            <a:avLst/>
          </a:prstGeom>
          <a:solidFill>
            <a:srgbClr val="287A5D"/>
          </a:solidFill>
          <a:ln w="12700">
            <a:solidFill>
              <a:srgbClr val="287A5D"/>
            </a:solidFill>
            <a:prstDash val="solid"/>
          </a:ln>
        </p:spPr>
      </p:sp>
      <p:pic>
        <p:nvPicPr>
          <p:cNvPr id="15" name="Image 2" descr="FaImages">    </p:cNvPr>
          <p:cNvPicPr>
            <a:picLocks noChangeAspect="1"/>
          </p:cNvPicPr>
          <p:nvPr/>
        </p:nvPicPr>
        <p:blipFill>
          <a:blip r:embed="rId3"/>
          <a:stretch>
            <a:fillRect/>
          </a:stretch>
        </p:blipFill>
        <p:spPr>
          <a:xfrm>
            <a:off x="4927519" y="2623231"/>
            <a:ext cx="294803" cy="294803"/>
          </a:xfrm>
          <a:prstGeom prst="rect">
            <a:avLst/>
          </a:prstGeom>
        </p:spPr>
      </p:pic>
      <p:sp>
        <p:nvSpPr>
          <p:cNvPr id="16" name="Text 11"/>
          <p:cNvSpPr txBox="1"/>
          <p:nvPr/>
        </p:nvSpPr>
        <p:spPr>
          <a:xfrm>
            <a:off x="4791456" y="3154680"/>
            <a:ext cx="1645920" cy="1234440"/>
          </a:xfrm>
          <a:prstGeom prst="rect">
            <a:avLst/>
          </a:prstGeom>
          <a:noFill/>
          <a:ln/>
        </p:spPr>
        <p:txBody>
          <a:bodyPr wrap="square" lIns="0" tIns="0" rIns="0" bIns="0" rtlCol="0" anchor="t"/>
          <a:lstStyle/>
          <a:p>
            <a:pPr indent="0" marL="0">
              <a:spcAft>
                <a:spcPts val="300"/>
              </a:spcAft>
              <a:buNone/>
            </a:pPr>
            <a:r>
              <a:rPr lang="en-US" sz="1500" b="1" dirty="0">
                <a:solidFill>
                  <a:srgbClr val="0F4C3A"/>
                </a:solidFill>
                <a:latin typeface="Calibri" pitchFamily="34" charset="0"/>
                <a:ea typeface="Calibri" pitchFamily="34" charset="-122"/>
                <a:cs typeface="Calibri" pitchFamily="34" charset="-120"/>
              </a:rPr>
              <a:t>Media library</a:t>
            </a:r>
            <a:endParaRPr lang="en-US" sz="1500" dirty="0"/>
          </a:p>
          <a:p>
            <a:pPr indent="0" marL="0">
              <a:spcAft>
                <a:spcPts val="300"/>
              </a:spcAft>
              <a:buNone/>
            </a:pPr>
            <a:r>
              <a:rPr lang="en-US" sz="1200" dirty="0">
                <a:solidFill>
                  <a:srgbClr val="17251F"/>
                </a:solidFill>
                <a:latin typeface="Calibri" pitchFamily="34" charset="0"/>
                <a:ea typeface="Calibri" pitchFamily="34" charset="-122"/>
                <a:cs typeface="Calibri" pitchFamily="34" charset="-120"/>
              </a:rPr>
              <a:t>Upload once, reuse everywhere; type and 10 MB checks</a:t>
            </a:r>
            <a:endParaRPr lang="en-US" sz="1500" dirty="0"/>
          </a:p>
        </p:txBody>
      </p:sp>
      <p:sp>
        <p:nvSpPr>
          <p:cNvPr id="17" name="Objective card 4"/>
          <p:cNvSpPr/>
          <p:nvPr/>
        </p:nvSpPr>
        <p:spPr>
          <a:xfrm>
            <a:off x="6711696" y="2331720"/>
            <a:ext cx="1938528" cy="2148840"/>
          </a:xfrm>
          <a:prstGeom prst="roundRect">
            <a:avLst>
              <a:gd name="adj" fmla="val 3774"/>
            </a:avLst>
          </a:prstGeom>
          <a:solidFill>
            <a:srgbClr val="EEF5F1"/>
          </a:solidFill>
          <a:ln w="12700">
            <a:solidFill>
              <a:srgbClr val="EEF5F1"/>
            </a:solidFill>
            <a:prstDash val="solid"/>
          </a:ln>
        </p:spPr>
      </p:sp>
      <p:sp>
        <p:nvSpPr>
          <p:cNvPr id="18" name="Objective icon 4 bg"/>
          <p:cNvSpPr/>
          <p:nvPr/>
        </p:nvSpPr>
        <p:spPr>
          <a:xfrm>
            <a:off x="6876288" y="2487168"/>
            <a:ext cx="566928" cy="566928"/>
          </a:xfrm>
          <a:prstGeom prst="ellipse">
            <a:avLst/>
          </a:prstGeom>
          <a:solidFill>
            <a:srgbClr val="287A5D"/>
          </a:solidFill>
          <a:ln w="12700">
            <a:solidFill>
              <a:srgbClr val="287A5D"/>
            </a:solidFill>
            <a:prstDash val="solid"/>
          </a:ln>
        </p:spPr>
      </p:sp>
      <p:pic>
        <p:nvPicPr>
          <p:cNvPr id="19" name="Image 3" descr="FaClipboardList">    </p:cNvPr>
          <p:cNvPicPr>
            <a:picLocks noChangeAspect="1"/>
          </p:cNvPicPr>
          <p:nvPr/>
        </p:nvPicPr>
        <p:blipFill>
          <a:blip r:embed="rId4"/>
          <a:stretch>
            <a:fillRect/>
          </a:stretch>
        </p:blipFill>
        <p:spPr>
          <a:xfrm>
            <a:off x="7012351" y="2623231"/>
            <a:ext cx="294803" cy="294803"/>
          </a:xfrm>
          <a:prstGeom prst="rect">
            <a:avLst/>
          </a:prstGeom>
        </p:spPr>
      </p:pic>
      <p:sp>
        <p:nvSpPr>
          <p:cNvPr id="20" name="Text 14"/>
          <p:cNvSpPr txBox="1"/>
          <p:nvPr/>
        </p:nvSpPr>
        <p:spPr>
          <a:xfrm>
            <a:off x="6876288" y="3154680"/>
            <a:ext cx="1645920" cy="1234440"/>
          </a:xfrm>
          <a:prstGeom prst="rect">
            <a:avLst/>
          </a:prstGeom>
          <a:noFill/>
          <a:ln/>
        </p:spPr>
        <p:txBody>
          <a:bodyPr wrap="square" lIns="0" tIns="0" rIns="0" bIns="0" rtlCol="0" anchor="t"/>
          <a:lstStyle/>
          <a:p>
            <a:pPr indent="0" marL="0">
              <a:spcAft>
                <a:spcPts val="300"/>
              </a:spcAft>
              <a:buNone/>
            </a:pPr>
            <a:r>
              <a:rPr lang="en-US" sz="1500" b="1" dirty="0">
                <a:solidFill>
                  <a:srgbClr val="0F4C3A"/>
                </a:solidFill>
                <a:latin typeface="Calibri" pitchFamily="34" charset="0"/>
                <a:ea typeface="Calibri" pitchFamily="34" charset="-122"/>
                <a:cs typeface="Calibri" pitchFamily="34" charset="-120"/>
              </a:rPr>
              <a:t>Audit log</a:t>
            </a:r>
            <a:endParaRPr lang="en-US" sz="1500" dirty="0"/>
          </a:p>
          <a:p>
            <a:pPr indent="0" marL="0">
              <a:spcAft>
                <a:spcPts val="300"/>
              </a:spcAft>
              <a:buNone/>
            </a:pPr>
            <a:r>
              <a:rPr lang="en-US" sz="1200" dirty="0">
                <a:solidFill>
                  <a:srgbClr val="17251F"/>
                </a:solidFill>
                <a:latin typeface="Calibri" pitchFamily="34" charset="0"/>
                <a:ea typeface="Calibri" pitchFamily="34" charset="-122"/>
                <a:cs typeface="Calibri" pitchFamily="34" charset="-120"/>
              </a:rPr>
              <a:t>Every create, update, delete and upload is recorded</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F4C3A"/>
                </a:solidFill>
                <a:latin typeface="Cambria" pitchFamily="34" charset="0"/>
                <a:ea typeface="Cambria" pitchFamily="34" charset="-122"/>
                <a:cs typeface="Cambria" pitchFamily="34" charset="-120"/>
              </a:rPr>
              <a:t>Method and Schedule</a:t>
            </a:r>
            <a:endParaRPr lang="en-US" sz="3200" dirty="0"/>
          </a:p>
        </p:txBody>
      </p:sp>
      <p:sp>
        <p:nvSpPr>
          <p:cNvPr id="3" name="Method card 1"/>
          <p:cNvSpPr/>
          <p:nvPr/>
        </p:nvSpPr>
        <p:spPr>
          <a:xfrm>
            <a:off x="457200" y="1143000"/>
            <a:ext cx="2651760" cy="914400"/>
          </a:xfrm>
          <a:prstGeom prst="roundRect">
            <a:avLst>
              <a:gd name="adj" fmla="val 8000"/>
            </a:avLst>
          </a:prstGeom>
          <a:solidFill>
            <a:srgbClr val="EEF5F1"/>
          </a:solidFill>
          <a:ln w="12700">
            <a:solidFill>
              <a:srgbClr val="EEF5F1"/>
            </a:solidFill>
            <a:prstDash val="solid"/>
          </a:ln>
        </p:spPr>
      </p:sp>
      <p:sp>
        <p:nvSpPr>
          <p:cNvPr id="4" name="Text 2"/>
          <p:cNvSpPr txBox="1"/>
          <p:nvPr/>
        </p:nvSpPr>
        <p:spPr>
          <a:xfrm>
            <a:off x="640080" y="1188720"/>
            <a:ext cx="2331720" cy="822960"/>
          </a:xfrm>
          <a:prstGeom prst="rect">
            <a:avLst/>
          </a:prstGeom>
          <a:noFill/>
          <a:ln/>
        </p:spPr>
        <p:txBody>
          <a:bodyPr wrap="square" lIns="0" tIns="0" rIns="0" bIns="0" rtlCol="0" anchor="ctr"/>
          <a:lstStyle/>
          <a:p>
            <a:pPr indent="0" marL="0">
              <a:buNone/>
            </a:pPr>
            <a:r>
              <a:rPr lang="en-US" sz="2000" b="1" dirty="0">
                <a:solidFill>
                  <a:srgbClr val="0F4C3A"/>
                </a:solidFill>
                <a:latin typeface="Calibri" pitchFamily="34" charset="0"/>
                <a:ea typeface="Calibri" pitchFamily="34" charset="-122"/>
                <a:cs typeface="Calibri" pitchFamily="34" charset="-120"/>
              </a:rPr>
              <a:t>Agile Scrum</a:t>
            </a:r>
            <a:endParaRPr lang="en-US" sz="2000" dirty="0"/>
          </a:p>
          <a:p>
            <a:pPr indent="0" marL="0">
              <a:buNone/>
            </a:pPr>
            <a:r>
              <a:rPr lang="en-US" sz="1200" dirty="0">
                <a:solidFill>
                  <a:srgbClr val="17251F"/>
                </a:solidFill>
                <a:latin typeface="Calibri" pitchFamily="34" charset="0"/>
                <a:ea typeface="Calibri" pitchFamily="34" charset="-122"/>
                <a:cs typeface="Calibri" pitchFamily="34" charset="-120"/>
              </a:rPr>
              <a:t>4 sprints, each ending with a demo to the ICT Director</a:t>
            </a:r>
            <a:endParaRPr lang="en-US" sz="2000" dirty="0"/>
          </a:p>
        </p:txBody>
      </p:sp>
      <p:sp>
        <p:nvSpPr>
          <p:cNvPr id="5" name="Method card 2"/>
          <p:cNvSpPr/>
          <p:nvPr/>
        </p:nvSpPr>
        <p:spPr>
          <a:xfrm>
            <a:off x="457200" y="2240280"/>
            <a:ext cx="2651760" cy="914400"/>
          </a:xfrm>
          <a:prstGeom prst="roundRect">
            <a:avLst>
              <a:gd name="adj" fmla="val 8000"/>
            </a:avLst>
          </a:prstGeom>
          <a:solidFill>
            <a:srgbClr val="EEF5F1"/>
          </a:solidFill>
          <a:ln w="12700">
            <a:solidFill>
              <a:srgbClr val="EEF5F1"/>
            </a:solidFill>
            <a:prstDash val="solid"/>
          </a:ln>
        </p:spPr>
      </p:sp>
      <p:sp>
        <p:nvSpPr>
          <p:cNvPr id="6" name="Text 4"/>
          <p:cNvSpPr txBox="1"/>
          <p:nvPr/>
        </p:nvSpPr>
        <p:spPr>
          <a:xfrm>
            <a:off x="640080" y="2286000"/>
            <a:ext cx="2331720" cy="822960"/>
          </a:xfrm>
          <a:prstGeom prst="rect">
            <a:avLst/>
          </a:prstGeom>
          <a:noFill/>
          <a:ln/>
        </p:spPr>
        <p:txBody>
          <a:bodyPr wrap="square" lIns="0" tIns="0" rIns="0" bIns="0" rtlCol="0" anchor="ctr"/>
          <a:lstStyle/>
          <a:p>
            <a:pPr indent="0" marL="0">
              <a:buNone/>
            </a:pPr>
            <a:r>
              <a:rPr lang="en-US" sz="2000" b="1" dirty="0">
                <a:solidFill>
                  <a:srgbClr val="0F4C3A"/>
                </a:solidFill>
                <a:latin typeface="Calibri" pitchFamily="34" charset="0"/>
                <a:ea typeface="Calibri" pitchFamily="34" charset="-122"/>
                <a:cs typeface="Calibri" pitchFamily="34" charset="-120"/>
              </a:rPr>
              <a:t>45 days</a:t>
            </a:r>
            <a:endParaRPr lang="en-US" sz="2000" dirty="0"/>
          </a:p>
          <a:p>
            <a:pPr indent="0" marL="0">
              <a:buNone/>
            </a:pPr>
            <a:r>
              <a:rPr lang="en-US" sz="1200" dirty="0">
                <a:solidFill>
                  <a:srgbClr val="17251F"/>
                </a:solidFill>
                <a:latin typeface="Calibri" pitchFamily="34" charset="0"/>
                <a:ea typeface="Calibri" pitchFamily="34" charset="-122"/>
                <a:cs typeface="Calibri" pitchFamily="34" charset="-120"/>
              </a:rPr>
              <a:t>9 weeks, 8 phases from planning to handover</a:t>
            </a:r>
            <a:endParaRPr lang="en-US" sz="2000" dirty="0"/>
          </a:p>
        </p:txBody>
      </p:sp>
      <p:sp>
        <p:nvSpPr>
          <p:cNvPr id="7" name="Method card 3"/>
          <p:cNvSpPr/>
          <p:nvPr/>
        </p:nvSpPr>
        <p:spPr>
          <a:xfrm>
            <a:off x="457200" y="3337560"/>
            <a:ext cx="2651760" cy="914400"/>
          </a:xfrm>
          <a:prstGeom prst="roundRect">
            <a:avLst>
              <a:gd name="adj" fmla="val 8000"/>
            </a:avLst>
          </a:prstGeom>
          <a:solidFill>
            <a:srgbClr val="EEF5F1"/>
          </a:solidFill>
          <a:ln w="12700">
            <a:solidFill>
              <a:srgbClr val="EEF5F1"/>
            </a:solidFill>
            <a:prstDash val="solid"/>
          </a:ln>
        </p:spPr>
      </p:sp>
      <p:sp>
        <p:nvSpPr>
          <p:cNvPr id="8" name="Text 6"/>
          <p:cNvSpPr txBox="1"/>
          <p:nvPr/>
        </p:nvSpPr>
        <p:spPr>
          <a:xfrm>
            <a:off x="640080" y="3383280"/>
            <a:ext cx="2331720" cy="822960"/>
          </a:xfrm>
          <a:prstGeom prst="rect">
            <a:avLst/>
          </a:prstGeom>
          <a:noFill/>
          <a:ln/>
        </p:spPr>
        <p:txBody>
          <a:bodyPr wrap="square" lIns="0" tIns="0" rIns="0" bIns="0" rtlCol="0" anchor="ctr"/>
          <a:lstStyle/>
          <a:p>
            <a:pPr indent="0" marL="0">
              <a:buNone/>
            </a:pPr>
            <a:r>
              <a:rPr lang="en-US" sz="2000" b="1" dirty="0">
                <a:solidFill>
                  <a:srgbClr val="0F4C3A"/>
                </a:solidFill>
                <a:latin typeface="Calibri" pitchFamily="34" charset="0"/>
                <a:ea typeface="Calibri" pitchFamily="34" charset="-122"/>
                <a:cs typeface="Calibri" pitchFamily="34" charset="-120"/>
              </a:rPr>
              <a:t>Why Scrum</a:t>
            </a:r>
            <a:endParaRPr lang="en-US" sz="2000" dirty="0"/>
          </a:p>
          <a:p>
            <a:pPr indent="0" marL="0">
              <a:buNone/>
            </a:pPr>
            <a:r>
              <a:rPr lang="en-US" sz="1200" dirty="0">
                <a:solidFill>
                  <a:srgbClr val="17251F"/>
                </a:solidFill>
                <a:latin typeface="Calibri" pitchFamily="34" charset="0"/>
                <a:ea typeface="Calibri" pitchFamily="34" charset="-122"/>
                <a:cs typeface="Calibri" pitchFamily="34" charset="-120"/>
              </a:rPr>
              <a:t>Requirements grew as offices saw the screens</a:t>
            </a:r>
            <a:endParaRPr lang="en-US" sz="2000" dirty="0"/>
          </a:p>
        </p:txBody>
      </p:sp>
      <p:pic>
        <p:nvPicPr>
          <p:cNvPr id="9" name="Image 0" descr="Gantt chart of the 45 day schedule with eight phases">    </p:cNvPr>
          <p:cNvPicPr>
            <a:picLocks noChangeAspect="1"/>
          </p:cNvPicPr>
          <p:nvPr/>
        </p:nvPicPr>
        <p:blipFill>
          <a:blip r:embed="rId1"/>
          <a:stretch>
            <a:fillRect/>
          </a:stretch>
        </p:blipFill>
        <p:spPr>
          <a:xfrm>
            <a:off x="3337560" y="1280160"/>
            <a:ext cx="5394960" cy="2253189"/>
          </a:xfrm>
          <a:prstGeom prst="rect">
            <a:avLst/>
          </a:prstGeom>
        </p:spPr>
      </p:pic>
      <p:sp>
        <p:nvSpPr>
          <p:cNvPr id="10" name="Text 7"/>
          <p:cNvSpPr txBox="1"/>
          <p:nvPr/>
        </p:nvSpPr>
        <p:spPr>
          <a:xfrm>
            <a:off x="3337560" y="3624789"/>
            <a:ext cx="5394960" cy="274320"/>
          </a:xfrm>
          <a:prstGeom prst="rect">
            <a:avLst/>
          </a:prstGeom>
          <a:noFill/>
          <a:ln/>
        </p:spPr>
        <p:txBody>
          <a:bodyPr wrap="square" lIns="0" tIns="0" rIns="0" bIns="0" rtlCol="0" anchor="ctr"/>
          <a:lstStyle/>
          <a:p>
            <a:pPr indent="0" marL="0">
              <a:buNone/>
            </a:pPr>
            <a:r>
              <a:rPr lang="en-US" sz="1100" i="1" dirty="0">
                <a:solidFill>
                  <a:srgbClr val="5B6B64"/>
                </a:solidFill>
                <a:latin typeface="Calibri" pitchFamily="34" charset="0"/>
                <a:ea typeface="Calibri" pitchFamily="34" charset="-122"/>
                <a:cs typeface="Calibri" pitchFamily="34" charset="-120"/>
              </a:rPr>
              <a:t>Gantt chart: planning, design, four sprints, testing, UAT and handover</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F4C3A"/>
                </a:solidFill>
                <a:latin typeface="Cambria" pitchFamily="34" charset="0"/>
                <a:ea typeface="Cambria" pitchFamily="34" charset="-122"/>
                <a:cs typeface="Cambria" pitchFamily="34" charset="-120"/>
              </a:rPr>
              <a:t>Technology Stack</a:t>
            </a:r>
            <a:endParaRPr lang="en-US" sz="3200" dirty="0"/>
          </a:p>
        </p:txBody>
      </p:sp>
      <p:sp>
        <p:nvSpPr>
          <p:cNvPr id="3" name="Tech card 1"/>
          <p:cNvSpPr/>
          <p:nvPr/>
        </p:nvSpPr>
        <p:spPr>
          <a:xfrm>
            <a:off x="457200" y="1143000"/>
            <a:ext cx="2651760" cy="1508760"/>
          </a:xfrm>
          <a:prstGeom prst="roundRect">
            <a:avLst>
              <a:gd name="adj" fmla="val 4848"/>
            </a:avLst>
          </a:prstGeom>
          <a:solidFill>
            <a:srgbClr val="EEF5F1"/>
          </a:solidFill>
          <a:ln w="12700">
            <a:solidFill>
              <a:srgbClr val="EEF5F1"/>
            </a:solidFill>
            <a:prstDash val="solid"/>
          </a:ln>
        </p:spPr>
      </p:sp>
      <p:sp>
        <p:nvSpPr>
          <p:cNvPr id="4" name="Tech icon 1 bg"/>
          <p:cNvSpPr/>
          <p:nvPr/>
        </p:nvSpPr>
        <p:spPr>
          <a:xfrm>
            <a:off x="640080" y="1325880"/>
            <a:ext cx="548640" cy="548640"/>
          </a:xfrm>
          <a:prstGeom prst="ellipse">
            <a:avLst/>
          </a:prstGeom>
          <a:solidFill>
            <a:srgbClr val="0F4C3A"/>
          </a:solidFill>
          <a:ln w="12700">
            <a:solidFill>
              <a:srgbClr val="0F4C3A"/>
            </a:solidFill>
            <a:prstDash val="solid"/>
          </a:ln>
        </p:spPr>
      </p:sp>
      <p:pic>
        <p:nvPicPr>
          <p:cNvPr id="5" name="Image 0" descr="FaReact">    </p:cNvPr>
          <p:cNvPicPr>
            <a:picLocks noChangeAspect="1"/>
          </p:cNvPicPr>
          <p:nvPr/>
        </p:nvPicPr>
        <p:blipFill>
          <a:blip r:embed="rId1"/>
          <a:stretch>
            <a:fillRect/>
          </a:stretch>
        </p:blipFill>
        <p:spPr>
          <a:xfrm>
            <a:off x="771754" y="1457554"/>
            <a:ext cx="285293" cy="285293"/>
          </a:xfrm>
          <a:prstGeom prst="rect">
            <a:avLst/>
          </a:prstGeom>
        </p:spPr>
      </p:pic>
      <p:sp>
        <p:nvSpPr>
          <p:cNvPr id="6" name="Text 3"/>
          <p:cNvSpPr txBox="1"/>
          <p:nvPr/>
        </p:nvSpPr>
        <p:spPr>
          <a:xfrm>
            <a:off x="640080" y="1947672"/>
            <a:ext cx="2331720" cy="640080"/>
          </a:xfrm>
          <a:prstGeom prst="rect">
            <a:avLst/>
          </a:prstGeom>
          <a:noFill/>
          <a:ln/>
        </p:spPr>
        <p:txBody>
          <a:bodyPr wrap="square" lIns="0" tIns="0" rIns="0" bIns="0" rtlCol="0" anchor="t"/>
          <a:lstStyle/>
          <a:p>
            <a:pPr indent="0" marL="0">
              <a:buNone/>
            </a:pPr>
            <a:r>
              <a:rPr lang="en-US" sz="1450" b="1" dirty="0">
                <a:solidFill>
                  <a:srgbClr val="0F4C3A"/>
                </a:solidFill>
                <a:latin typeface="Calibri" pitchFamily="34" charset="0"/>
                <a:ea typeface="Calibri" pitchFamily="34" charset="-122"/>
                <a:cs typeface="Calibri" pitchFamily="34" charset="-120"/>
              </a:rPr>
              <a:t>TanStack Start + React 19</a:t>
            </a:r>
            <a:endParaRPr lang="en-US" sz="1450" dirty="0"/>
          </a:p>
          <a:p>
            <a:pPr indent="0" marL="0">
              <a:buNone/>
            </a:pPr>
            <a:r>
              <a:rPr lang="en-US" sz="1200" dirty="0">
                <a:solidFill>
                  <a:srgbClr val="17251F"/>
                </a:solidFill>
                <a:latin typeface="Calibri" pitchFamily="34" charset="0"/>
                <a:ea typeface="Calibri" pitchFamily="34" charset="-122"/>
                <a:cs typeface="Calibri" pitchFamily="34" charset="-120"/>
              </a:rPr>
              <a:t>SSR, file-based routing, server functions</a:t>
            </a:r>
            <a:endParaRPr lang="en-US" sz="1450" dirty="0"/>
          </a:p>
        </p:txBody>
      </p:sp>
      <p:sp>
        <p:nvSpPr>
          <p:cNvPr id="7" name="Tech card 2"/>
          <p:cNvSpPr/>
          <p:nvPr/>
        </p:nvSpPr>
        <p:spPr>
          <a:xfrm>
            <a:off x="3246120" y="1143000"/>
            <a:ext cx="2651760" cy="1508760"/>
          </a:xfrm>
          <a:prstGeom prst="roundRect">
            <a:avLst>
              <a:gd name="adj" fmla="val 4848"/>
            </a:avLst>
          </a:prstGeom>
          <a:solidFill>
            <a:srgbClr val="EEF5F1"/>
          </a:solidFill>
          <a:ln w="12700">
            <a:solidFill>
              <a:srgbClr val="EEF5F1"/>
            </a:solidFill>
            <a:prstDash val="solid"/>
          </a:ln>
        </p:spPr>
      </p:sp>
      <p:sp>
        <p:nvSpPr>
          <p:cNvPr id="8" name="Tech icon 2 bg"/>
          <p:cNvSpPr/>
          <p:nvPr/>
        </p:nvSpPr>
        <p:spPr>
          <a:xfrm>
            <a:off x="3429000" y="1325880"/>
            <a:ext cx="548640" cy="548640"/>
          </a:xfrm>
          <a:prstGeom prst="ellipse">
            <a:avLst/>
          </a:prstGeom>
          <a:solidFill>
            <a:srgbClr val="0F4C3A"/>
          </a:solidFill>
          <a:ln w="12700">
            <a:solidFill>
              <a:srgbClr val="0F4C3A"/>
            </a:solidFill>
            <a:prstDash val="solid"/>
          </a:ln>
        </p:spPr>
      </p:sp>
      <p:pic>
        <p:nvPicPr>
          <p:cNvPr id="9" name="Image 1" descr="FaCode">    </p:cNvPr>
          <p:cNvPicPr>
            <a:picLocks noChangeAspect="1"/>
          </p:cNvPicPr>
          <p:nvPr/>
        </p:nvPicPr>
        <p:blipFill>
          <a:blip r:embed="rId2"/>
          <a:stretch>
            <a:fillRect/>
          </a:stretch>
        </p:blipFill>
        <p:spPr>
          <a:xfrm>
            <a:off x="3560674" y="1457554"/>
            <a:ext cx="285293" cy="285293"/>
          </a:xfrm>
          <a:prstGeom prst="rect">
            <a:avLst/>
          </a:prstGeom>
        </p:spPr>
      </p:pic>
      <p:sp>
        <p:nvSpPr>
          <p:cNvPr id="10" name="Text 6"/>
          <p:cNvSpPr txBox="1"/>
          <p:nvPr/>
        </p:nvSpPr>
        <p:spPr>
          <a:xfrm>
            <a:off x="3429000" y="1947672"/>
            <a:ext cx="2331720" cy="640080"/>
          </a:xfrm>
          <a:prstGeom prst="rect">
            <a:avLst/>
          </a:prstGeom>
          <a:noFill/>
          <a:ln/>
        </p:spPr>
        <p:txBody>
          <a:bodyPr wrap="square" lIns="0" tIns="0" rIns="0" bIns="0" rtlCol="0" anchor="t"/>
          <a:lstStyle/>
          <a:p>
            <a:pPr indent="0" marL="0">
              <a:buNone/>
            </a:pPr>
            <a:r>
              <a:rPr lang="en-US" sz="1450" b="1" dirty="0">
                <a:solidFill>
                  <a:srgbClr val="0F4C3A"/>
                </a:solidFill>
                <a:latin typeface="Calibri" pitchFamily="34" charset="0"/>
                <a:ea typeface="Calibri" pitchFamily="34" charset="-122"/>
                <a:cs typeface="Calibri" pitchFamily="34" charset="-120"/>
              </a:rPr>
              <a:t>TypeScript</a:t>
            </a:r>
            <a:endParaRPr lang="en-US" sz="1450" dirty="0"/>
          </a:p>
          <a:p>
            <a:pPr indent="0" marL="0">
              <a:buNone/>
            </a:pPr>
            <a:r>
              <a:rPr lang="en-US" sz="1200" dirty="0">
                <a:solidFill>
                  <a:srgbClr val="17251F"/>
                </a:solidFill>
                <a:latin typeface="Calibri" pitchFamily="34" charset="0"/>
                <a:ea typeface="Calibri" pitchFamily="34" charset="-122"/>
                <a:cs typeface="Calibri" pitchFamily="34" charset="-120"/>
              </a:rPr>
              <a:t>Typed code from database to UI</a:t>
            </a:r>
            <a:endParaRPr lang="en-US" sz="1450" dirty="0"/>
          </a:p>
        </p:txBody>
      </p:sp>
      <p:sp>
        <p:nvSpPr>
          <p:cNvPr id="11" name="Tech card 3"/>
          <p:cNvSpPr/>
          <p:nvPr/>
        </p:nvSpPr>
        <p:spPr>
          <a:xfrm>
            <a:off x="6035040" y="1143000"/>
            <a:ext cx="2651760" cy="1508760"/>
          </a:xfrm>
          <a:prstGeom prst="roundRect">
            <a:avLst>
              <a:gd name="adj" fmla="val 4848"/>
            </a:avLst>
          </a:prstGeom>
          <a:solidFill>
            <a:srgbClr val="EEF5F1"/>
          </a:solidFill>
          <a:ln w="12700">
            <a:solidFill>
              <a:srgbClr val="EEF5F1"/>
            </a:solidFill>
            <a:prstDash val="solid"/>
          </a:ln>
        </p:spPr>
      </p:sp>
      <p:sp>
        <p:nvSpPr>
          <p:cNvPr id="12" name="Tech icon 3 bg"/>
          <p:cNvSpPr/>
          <p:nvPr/>
        </p:nvSpPr>
        <p:spPr>
          <a:xfrm>
            <a:off x="6217920" y="1325880"/>
            <a:ext cx="548640" cy="548640"/>
          </a:xfrm>
          <a:prstGeom prst="ellipse">
            <a:avLst/>
          </a:prstGeom>
          <a:solidFill>
            <a:srgbClr val="0F4C3A"/>
          </a:solidFill>
          <a:ln w="12700">
            <a:solidFill>
              <a:srgbClr val="0F4C3A"/>
            </a:solidFill>
            <a:prstDash val="solid"/>
          </a:ln>
        </p:spPr>
      </p:sp>
      <p:pic>
        <p:nvPicPr>
          <p:cNvPr id="13" name="Image 2" descr="FaPaintBrush">    </p:cNvPr>
          <p:cNvPicPr>
            <a:picLocks noChangeAspect="1"/>
          </p:cNvPicPr>
          <p:nvPr/>
        </p:nvPicPr>
        <p:blipFill>
          <a:blip r:embed="rId3"/>
          <a:stretch>
            <a:fillRect/>
          </a:stretch>
        </p:blipFill>
        <p:spPr>
          <a:xfrm>
            <a:off x="6349594" y="1457554"/>
            <a:ext cx="285293" cy="285293"/>
          </a:xfrm>
          <a:prstGeom prst="rect">
            <a:avLst/>
          </a:prstGeom>
        </p:spPr>
      </p:pic>
      <p:sp>
        <p:nvSpPr>
          <p:cNvPr id="14" name="Text 9"/>
          <p:cNvSpPr txBox="1"/>
          <p:nvPr/>
        </p:nvSpPr>
        <p:spPr>
          <a:xfrm>
            <a:off x="6217920" y="1947672"/>
            <a:ext cx="2331720" cy="640080"/>
          </a:xfrm>
          <a:prstGeom prst="rect">
            <a:avLst/>
          </a:prstGeom>
          <a:noFill/>
          <a:ln/>
        </p:spPr>
        <p:txBody>
          <a:bodyPr wrap="square" lIns="0" tIns="0" rIns="0" bIns="0" rtlCol="0" anchor="t"/>
          <a:lstStyle/>
          <a:p>
            <a:pPr indent="0" marL="0">
              <a:buNone/>
            </a:pPr>
            <a:r>
              <a:rPr lang="en-US" sz="1450" b="1" dirty="0">
                <a:solidFill>
                  <a:srgbClr val="0F4C3A"/>
                </a:solidFill>
                <a:latin typeface="Calibri" pitchFamily="34" charset="0"/>
                <a:ea typeface="Calibri" pitchFamily="34" charset="-122"/>
                <a:cs typeface="Calibri" pitchFamily="34" charset="-120"/>
              </a:rPr>
              <a:t>Tailwind CSS v4 + Radix UI</a:t>
            </a:r>
            <a:endParaRPr lang="en-US" sz="1450" dirty="0"/>
          </a:p>
          <a:p>
            <a:pPr indent="0" marL="0">
              <a:buNone/>
            </a:pPr>
            <a:r>
              <a:rPr lang="en-US" sz="1200" dirty="0">
                <a:solidFill>
                  <a:srgbClr val="17251F"/>
                </a:solidFill>
                <a:latin typeface="Calibri" pitchFamily="34" charset="0"/>
                <a:ea typeface="Calibri" pitchFamily="34" charset="-122"/>
                <a:cs typeface="Calibri" pitchFamily="34" charset="-120"/>
              </a:rPr>
              <a:t>Responsive and accessible interface</a:t>
            </a:r>
            <a:endParaRPr lang="en-US" sz="1450" dirty="0"/>
          </a:p>
        </p:txBody>
      </p:sp>
      <p:sp>
        <p:nvSpPr>
          <p:cNvPr id="15" name="Tech card 4"/>
          <p:cNvSpPr/>
          <p:nvPr/>
        </p:nvSpPr>
        <p:spPr>
          <a:xfrm>
            <a:off x="457200" y="2834640"/>
            <a:ext cx="2651760" cy="1508760"/>
          </a:xfrm>
          <a:prstGeom prst="roundRect">
            <a:avLst>
              <a:gd name="adj" fmla="val 4848"/>
            </a:avLst>
          </a:prstGeom>
          <a:solidFill>
            <a:srgbClr val="EEF5F1"/>
          </a:solidFill>
          <a:ln w="12700">
            <a:solidFill>
              <a:srgbClr val="EEF5F1"/>
            </a:solidFill>
            <a:prstDash val="solid"/>
          </a:ln>
        </p:spPr>
      </p:sp>
      <p:sp>
        <p:nvSpPr>
          <p:cNvPr id="16" name="Tech icon 4 bg"/>
          <p:cNvSpPr/>
          <p:nvPr/>
        </p:nvSpPr>
        <p:spPr>
          <a:xfrm>
            <a:off x="640080" y="3017520"/>
            <a:ext cx="548640" cy="548640"/>
          </a:xfrm>
          <a:prstGeom prst="ellipse">
            <a:avLst/>
          </a:prstGeom>
          <a:solidFill>
            <a:srgbClr val="0F4C3A"/>
          </a:solidFill>
          <a:ln w="12700">
            <a:solidFill>
              <a:srgbClr val="0F4C3A"/>
            </a:solidFill>
            <a:prstDash val="solid"/>
          </a:ln>
        </p:spPr>
      </p:sp>
      <p:pic>
        <p:nvPicPr>
          <p:cNvPr id="17" name="Image 3" descr="FaDatabase">    </p:cNvPr>
          <p:cNvPicPr>
            <a:picLocks noChangeAspect="1"/>
          </p:cNvPicPr>
          <p:nvPr/>
        </p:nvPicPr>
        <p:blipFill>
          <a:blip r:embed="rId4"/>
          <a:stretch>
            <a:fillRect/>
          </a:stretch>
        </p:blipFill>
        <p:spPr>
          <a:xfrm>
            <a:off x="771754" y="3149194"/>
            <a:ext cx="285293" cy="285293"/>
          </a:xfrm>
          <a:prstGeom prst="rect">
            <a:avLst/>
          </a:prstGeom>
        </p:spPr>
      </p:pic>
      <p:sp>
        <p:nvSpPr>
          <p:cNvPr id="18" name="Text 12"/>
          <p:cNvSpPr txBox="1"/>
          <p:nvPr/>
        </p:nvSpPr>
        <p:spPr>
          <a:xfrm>
            <a:off x="640080" y="3639312"/>
            <a:ext cx="2331720" cy="640080"/>
          </a:xfrm>
          <a:prstGeom prst="rect">
            <a:avLst/>
          </a:prstGeom>
          <a:noFill/>
          <a:ln/>
        </p:spPr>
        <p:txBody>
          <a:bodyPr wrap="square" lIns="0" tIns="0" rIns="0" bIns="0" rtlCol="0" anchor="t"/>
          <a:lstStyle/>
          <a:p>
            <a:pPr indent="0" marL="0">
              <a:buNone/>
            </a:pPr>
            <a:r>
              <a:rPr lang="en-US" sz="1450" b="1" dirty="0">
                <a:solidFill>
                  <a:srgbClr val="0F4C3A"/>
                </a:solidFill>
                <a:latin typeface="Calibri" pitchFamily="34" charset="0"/>
                <a:ea typeface="Calibri" pitchFamily="34" charset="-122"/>
                <a:cs typeface="Calibri" pitchFamily="34" charset="-120"/>
              </a:rPr>
              <a:t>Supabase</a:t>
            </a:r>
            <a:endParaRPr lang="en-US" sz="1450" dirty="0"/>
          </a:p>
          <a:p>
            <a:pPr indent="0" marL="0">
              <a:buNone/>
            </a:pPr>
            <a:r>
              <a:rPr lang="en-US" sz="1200" dirty="0">
                <a:solidFill>
                  <a:srgbClr val="17251F"/>
                </a:solidFill>
                <a:latin typeface="Calibri" pitchFamily="34" charset="0"/>
                <a:ea typeface="Calibri" pitchFamily="34" charset="-122"/>
                <a:cs typeface="Calibri" pitchFamily="34" charset="-120"/>
              </a:rPr>
              <a:t>PostgreSQL, Auth, Storage, Row Level Security</a:t>
            </a:r>
            <a:endParaRPr lang="en-US" sz="1450" dirty="0"/>
          </a:p>
        </p:txBody>
      </p:sp>
      <p:sp>
        <p:nvSpPr>
          <p:cNvPr id="19" name="Tech card 5"/>
          <p:cNvSpPr/>
          <p:nvPr/>
        </p:nvSpPr>
        <p:spPr>
          <a:xfrm>
            <a:off x="3246120" y="2834640"/>
            <a:ext cx="2651760" cy="1508760"/>
          </a:xfrm>
          <a:prstGeom prst="roundRect">
            <a:avLst>
              <a:gd name="adj" fmla="val 4848"/>
            </a:avLst>
          </a:prstGeom>
          <a:solidFill>
            <a:srgbClr val="EEF5F1"/>
          </a:solidFill>
          <a:ln w="12700">
            <a:solidFill>
              <a:srgbClr val="EEF5F1"/>
            </a:solidFill>
            <a:prstDash val="solid"/>
          </a:ln>
        </p:spPr>
      </p:sp>
      <p:sp>
        <p:nvSpPr>
          <p:cNvPr id="20" name="Tech icon 5 bg"/>
          <p:cNvSpPr/>
          <p:nvPr/>
        </p:nvSpPr>
        <p:spPr>
          <a:xfrm>
            <a:off x="3429000" y="3017520"/>
            <a:ext cx="548640" cy="548640"/>
          </a:xfrm>
          <a:prstGeom prst="ellipse">
            <a:avLst/>
          </a:prstGeom>
          <a:solidFill>
            <a:srgbClr val="0F4C3A"/>
          </a:solidFill>
          <a:ln w="12700">
            <a:solidFill>
              <a:srgbClr val="0F4C3A"/>
            </a:solidFill>
            <a:prstDash val="solid"/>
          </a:ln>
        </p:spPr>
      </p:sp>
      <p:pic>
        <p:nvPicPr>
          <p:cNvPr id="21" name="Image 4" descr="FaBolt">    </p:cNvPr>
          <p:cNvPicPr>
            <a:picLocks noChangeAspect="1"/>
          </p:cNvPicPr>
          <p:nvPr/>
        </p:nvPicPr>
        <p:blipFill>
          <a:blip r:embed="rId5"/>
          <a:stretch>
            <a:fillRect/>
          </a:stretch>
        </p:blipFill>
        <p:spPr>
          <a:xfrm>
            <a:off x="3560674" y="3149194"/>
            <a:ext cx="285293" cy="285293"/>
          </a:xfrm>
          <a:prstGeom prst="rect">
            <a:avLst/>
          </a:prstGeom>
        </p:spPr>
      </p:pic>
      <p:sp>
        <p:nvSpPr>
          <p:cNvPr id="22" name="Text 15"/>
          <p:cNvSpPr txBox="1"/>
          <p:nvPr/>
        </p:nvSpPr>
        <p:spPr>
          <a:xfrm>
            <a:off x="3429000" y="3639312"/>
            <a:ext cx="2331720" cy="640080"/>
          </a:xfrm>
          <a:prstGeom prst="rect">
            <a:avLst/>
          </a:prstGeom>
          <a:noFill/>
          <a:ln/>
        </p:spPr>
        <p:txBody>
          <a:bodyPr wrap="square" lIns="0" tIns="0" rIns="0" bIns="0" rtlCol="0" anchor="t"/>
          <a:lstStyle/>
          <a:p>
            <a:pPr indent="0" marL="0">
              <a:buNone/>
            </a:pPr>
            <a:r>
              <a:rPr lang="en-US" sz="1450" b="1" dirty="0">
                <a:solidFill>
                  <a:srgbClr val="0F4C3A"/>
                </a:solidFill>
                <a:latin typeface="Calibri" pitchFamily="34" charset="0"/>
                <a:ea typeface="Calibri" pitchFamily="34" charset="-122"/>
                <a:cs typeface="Calibri" pitchFamily="34" charset="-120"/>
              </a:rPr>
              <a:t>Vite + node-postgres</a:t>
            </a:r>
            <a:endParaRPr lang="en-US" sz="1450" dirty="0"/>
          </a:p>
          <a:p>
            <a:pPr indent="0" marL="0">
              <a:buNone/>
            </a:pPr>
            <a:r>
              <a:rPr lang="en-US" sz="1200" dirty="0">
                <a:solidFill>
                  <a:srgbClr val="17251F"/>
                </a:solidFill>
                <a:latin typeface="Calibri" pitchFamily="34" charset="0"/>
                <a:ea typeface="Calibri" pitchFamily="34" charset="-122"/>
                <a:cs typeface="Calibri" pitchFamily="34" charset="-120"/>
              </a:rPr>
              <a:t>Fast builds, parameterized SQL</a:t>
            </a:r>
            <a:endParaRPr lang="en-US" sz="1450" dirty="0"/>
          </a:p>
        </p:txBody>
      </p:sp>
      <p:sp>
        <p:nvSpPr>
          <p:cNvPr id="23" name="Tech card 6"/>
          <p:cNvSpPr/>
          <p:nvPr/>
        </p:nvSpPr>
        <p:spPr>
          <a:xfrm>
            <a:off x="6035040" y="2834640"/>
            <a:ext cx="2651760" cy="1508760"/>
          </a:xfrm>
          <a:prstGeom prst="roundRect">
            <a:avLst>
              <a:gd name="adj" fmla="val 4848"/>
            </a:avLst>
          </a:prstGeom>
          <a:solidFill>
            <a:srgbClr val="EEF5F1"/>
          </a:solidFill>
          <a:ln w="12700">
            <a:solidFill>
              <a:srgbClr val="EEF5F1"/>
            </a:solidFill>
            <a:prstDash val="solid"/>
          </a:ln>
        </p:spPr>
      </p:sp>
      <p:sp>
        <p:nvSpPr>
          <p:cNvPr id="24" name="Tech icon 6 bg"/>
          <p:cNvSpPr/>
          <p:nvPr/>
        </p:nvSpPr>
        <p:spPr>
          <a:xfrm>
            <a:off x="6217920" y="3017520"/>
            <a:ext cx="548640" cy="548640"/>
          </a:xfrm>
          <a:prstGeom prst="ellipse">
            <a:avLst/>
          </a:prstGeom>
          <a:solidFill>
            <a:srgbClr val="0F4C3A"/>
          </a:solidFill>
          <a:ln w="12700">
            <a:solidFill>
              <a:srgbClr val="0F4C3A"/>
            </a:solidFill>
            <a:prstDash val="solid"/>
          </a:ln>
        </p:spPr>
      </p:sp>
      <p:pic>
        <p:nvPicPr>
          <p:cNvPr id="25" name="Image 5" descr="FaTools">    </p:cNvPr>
          <p:cNvPicPr>
            <a:picLocks noChangeAspect="1"/>
          </p:cNvPicPr>
          <p:nvPr/>
        </p:nvPicPr>
        <p:blipFill>
          <a:blip r:embed="rId6"/>
          <a:stretch>
            <a:fillRect/>
          </a:stretch>
        </p:blipFill>
        <p:spPr>
          <a:xfrm>
            <a:off x="6349594" y="3149194"/>
            <a:ext cx="285293" cy="285293"/>
          </a:xfrm>
          <a:prstGeom prst="rect">
            <a:avLst/>
          </a:prstGeom>
        </p:spPr>
      </p:pic>
      <p:sp>
        <p:nvSpPr>
          <p:cNvPr id="26" name="Text 18"/>
          <p:cNvSpPr txBox="1"/>
          <p:nvPr/>
        </p:nvSpPr>
        <p:spPr>
          <a:xfrm>
            <a:off x="6217920" y="3639312"/>
            <a:ext cx="2331720" cy="640080"/>
          </a:xfrm>
          <a:prstGeom prst="rect">
            <a:avLst/>
          </a:prstGeom>
          <a:noFill/>
          <a:ln/>
        </p:spPr>
        <p:txBody>
          <a:bodyPr wrap="square" lIns="0" tIns="0" rIns="0" bIns="0" rtlCol="0" anchor="t"/>
          <a:lstStyle/>
          <a:p>
            <a:pPr indent="0" marL="0">
              <a:buNone/>
            </a:pPr>
            <a:r>
              <a:rPr lang="en-US" sz="1450" b="1" dirty="0">
                <a:solidFill>
                  <a:srgbClr val="0F4C3A"/>
                </a:solidFill>
                <a:latin typeface="Calibri" pitchFamily="34" charset="0"/>
                <a:ea typeface="Calibri" pitchFamily="34" charset="-122"/>
                <a:cs typeface="Calibri" pitchFamily="34" charset="-120"/>
              </a:rPr>
              <a:t>Git, Postman, ESLint, Prettier</a:t>
            </a:r>
            <a:endParaRPr lang="en-US" sz="1450" dirty="0"/>
          </a:p>
          <a:p>
            <a:pPr indent="0" marL="0">
              <a:buNone/>
            </a:pPr>
            <a:r>
              <a:rPr lang="en-US" sz="1200" dirty="0">
                <a:solidFill>
                  <a:srgbClr val="17251F"/>
                </a:solidFill>
                <a:latin typeface="Calibri" pitchFamily="34" charset="0"/>
                <a:ea typeface="Calibri" pitchFamily="34" charset="-122"/>
                <a:cs typeface="Calibri" pitchFamily="34" charset="-120"/>
              </a:rPr>
              <a:t>Version control, testing, code quality</a:t>
            </a:r>
            <a:endParaRPr lang="en-US" sz="14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F4C3A"/>
                </a:solidFill>
                <a:latin typeface="Cambria" pitchFamily="34" charset="0"/>
                <a:ea typeface="Cambria" pitchFamily="34" charset="-122"/>
                <a:cs typeface="Cambria" pitchFamily="34" charset="-120"/>
              </a:rPr>
              <a:t>Requirements</a:t>
            </a:r>
            <a:endParaRPr lang="en-US" sz="3200" dirty="0"/>
          </a:p>
        </p:txBody>
      </p:sp>
      <p:sp>
        <p:nvSpPr>
          <p:cNvPr id="3" name="Stat card 1"/>
          <p:cNvSpPr/>
          <p:nvPr/>
        </p:nvSpPr>
        <p:spPr>
          <a:xfrm>
            <a:off x="457200" y="1097280"/>
            <a:ext cx="4023360" cy="1005840"/>
          </a:xfrm>
          <a:prstGeom prst="roundRect">
            <a:avLst>
              <a:gd name="adj" fmla="val 7273"/>
            </a:avLst>
          </a:prstGeom>
          <a:solidFill>
            <a:srgbClr val="EEF5F1"/>
          </a:solidFill>
          <a:ln w="12700">
            <a:solidFill>
              <a:srgbClr val="EEF5F1"/>
            </a:solidFill>
            <a:prstDash val="solid"/>
          </a:ln>
        </p:spPr>
      </p:sp>
      <p:sp>
        <p:nvSpPr>
          <p:cNvPr id="4" name="Text 2"/>
          <p:cNvSpPr txBox="1"/>
          <p:nvPr/>
        </p:nvSpPr>
        <p:spPr>
          <a:xfrm>
            <a:off x="594360" y="1143000"/>
            <a:ext cx="1188720" cy="914400"/>
          </a:xfrm>
          <a:prstGeom prst="rect">
            <a:avLst/>
          </a:prstGeom>
          <a:noFill/>
          <a:ln/>
        </p:spPr>
        <p:txBody>
          <a:bodyPr wrap="square" lIns="0" tIns="0" rIns="0" bIns="0" rtlCol="0" anchor="ctr"/>
          <a:lstStyle/>
          <a:p>
            <a:pPr algn="ctr" indent="0" marL="0">
              <a:buNone/>
            </a:pPr>
            <a:r>
              <a:rPr lang="en-US" sz="4400" b="1" dirty="0">
                <a:solidFill>
                  <a:srgbClr val="0F4C3A"/>
                </a:solidFill>
                <a:latin typeface="Cambria" pitchFamily="34" charset="0"/>
                <a:ea typeface="Cambria" pitchFamily="34" charset="-122"/>
                <a:cs typeface="Cambria" pitchFamily="34" charset="-120"/>
              </a:rPr>
              <a:t>30</a:t>
            </a:r>
            <a:endParaRPr lang="en-US" sz="4400" dirty="0"/>
          </a:p>
        </p:txBody>
      </p:sp>
      <p:sp>
        <p:nvSpPr>
          <p:cNvPr id="5" name="Text 3"/>
          <p:cNvSpPr txBox="1"/>
          <p:nvPr/>
        </p:nvSpPr>
        <p:spPr>
          <a:xfrm>
            <a:off x="1874520" y="1143000"/>
            <a:ext cx="2514600" cy="914400"/>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functional requirements</a:t>
            </a:r>
            <a:endParaRPr lang="en-US" sz="1400" dirty="0"/>
          </a:p>
          <a:p>
            <a:pPr indent="0" marL="0">
              <a:buNone/>
            </a:pPr>
            <a:r>
              <a:rPr lang="en-US" sz="1100" dirty="0">
                <a:solidFill>
                  <a:srgbClr val="5B6B64"/>
                </a:solidFill>
                <a:latin typeface="Calibri" pitchFamily="34" charset="0"/>
                <a:ea typeface="Calibri" pitchFamily="34" charset="-122"/>
                <a:cs typeface="Calibri" pitchFamily="34" charset="-120"/>
              </a:rPr>
              <a:t>16 for the public site, 14 for the Admin CMS</a:t>
            </a:r>
            <a:endParaRPr lang="en-US" sz="1400" dirty="0"/>
          </a:p>
        </p:txBody>
      </p:sp>
      <p:sp>
        <p:nvSpPr>
          <p:cNvPr id="6" name="Stat card 2"/>
          <p:cNvSpPr/>
          <p:nvPr/>
        </p:nvSpPr>
        <p:spPr>
          <a:xfrm>
            <a:off x="457200" y="2240280"/>
            <a:ext cx="4023360" cy="1005840"/>
          </a:xfrm>
          <a:prstGeom prst="roundRect">
            <a:avLst>
              <a:gd name="adj" fmla="val 7273"/>
            </a:avLst>
          </a:prstGeom>
          <a:solidFill>
            <a:srgbClr val="EEF5F1"/>
          </a:solidFill>
          <a:ln w="12700">
            <a:solidFill>
              <a:srgbClr val="EEF5F1"/>
            </a:solidFill>
            <a:prstDash val="solid"/>
          </a:ln>
        </p:spPr>
      </p:sp>
      <p:sp>
        <p:nvSpPr>
          <p:cNvPr id="7" name="Text 5"/>
          <p:cNvSpPr txBox="1"/>
          <p:nvPr/>
        </p:nvSpPr>
        <p:spPr>
          <a:xfrm>
            <a:off x="594360" y="2286000"/>
            <a:ext cx="1188720" cy="914400"/>
          </a:xfrm>
          <a:prstGeom prst="rect">
            <a:avLst/>
          </a:prstGeom>
          <a:noFill/>
          <a:ln/>
        </p:spPr>
        <p:txBody>
          <a:bodyPr wrap="square" lIns="0" tIns="0" rIns="0" bIns="0" rtlCol="0" anchor="ctr"/>
          <a:lstStyle/>
          <a:p>
            <a:pPr algn="ctr" indent="0" marL="0">
              <a:buNone/>
            </a:pPr>
            <a:r>
              <a:rPr lang="en-US" sz="4400" b="1" dirty="0">
                <a:solidFill>
                  <a:srgbClr val="0F4C3A"/>
                </a:solidFill>
                <a:latin typeface="Cambria" pitchFamily="34" charset="0"/>
                <a:ea typeface="Cambria" pitchFamily="34" charset="-122"/>
                <a:cs typeface="Cambria" pitchFamily="34" charset="-120"/>
              </a:rPr>
              <a:t>8</a:t>
            </a:r>
            <a:endParaRPr lang="en-US" sz="4400" dirty="0"/>
          </a:p>
        </p:txBody>
      </p:sp>
      <p:sp>
        <p:nvSpPr>
          <p:cNvPr id="8" name="Text 6"/>
          <p:cNvSpPr txBox="1"/>
          <p:nvPr/>
        </p:nvSpPr>
        <p:spPr>
          <a:xfrm>
            <a:off x="1874520" y="2286000"/>
            <a:ext cx="2514600" cy="914400"/>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non-functional areas</a:t>
            </a:r>
            <a:endParaRPr lang="en-US" sz="1400" dirty="0"/>
          </a:p>
          <a:p>
            <a:pPr indent="0" marL="0">
              <a:buNone/>
            </a:pPr>
            <a:r>
              <a:rPr lang="en-US" sz="1100" dirty="0">
                <a:solidFill>
                  <a:srgbClr val="5B6B64"/>
                </a:solidFill>
                <a:latin typeface="Calibri" pitchFamily="34" charset="0"/>
                <a:ea typeface="Calibri" pitchFamily="34" charset="-122"/>
                <a:cs typeface="Calibri" pitchFamily="34" charset="-120"/>
              </a:rPr>
              <a:t>usability, performance, reliability, security, scalability, responsiveness, maintainability, legal</a:t>
            </a:r>
            <a:endParaRPr lang="en-US" sz="1400" dirty="0"/>
          </a:p>
        </p:txBody>
      </p:sp>
      <p:sp>
        <p:nvSpPr>
          <p:cNvPr id="9" name="Stat card 3"/>
          <p:cNvSpPr/>
          <p:nvPr/>
        </p:nvSpPr>
        <p:spPr>
          <a:xfrm>
            <a:off x="457200" y="3383280"/>
            <a:ext cx="4023360" cy="1005840"/>
          </a:xfrm>
          <a:prstGeom prst="roundRect">
            <a:avLst>
              <a:gd name="adj" fmla="val 7273"/>
            </a:avLst>
          </a:prstGeom>
          <a:solidFill>
            <a:srgbClr val="EEF5F1"/>
          </a:solidFill>
          <a:ln w="12700">
            <a:solidFill>
              <a:srgbClr val="EEF5F1"/>
            </a:solidFill>
            <a:prstDash val="solid"/>
          </a:ln>
        </p:spPr>
      </p:sp>
      <p:sp>
        <p:nvSpPr>
          <p:cNvPr id="10" name="Text 8"/>
          <p:cNvSpPr txBox="1"/>
          <p:nvPr/>
        </p:nvSpPr>
        <p:spPr>
          <a:xfrm>
            <a:off x="594360" y="3429000"/>
            <a:ext cx="1188720" cy="914400"/>
          </a:xfrm>
          <a:prstGeom prst="rect">
            <a:avLst/>
          </a:prstGeom>
          <a:noFill/>
          <a:ln/>
        </p:spPr>
        <p:txBody>
          <a:bodyPr wrap="square" lIns="0" tIns="0" rIns="0" bIns="0" rtlCol="0" anchor="ctr"/>
          <a:lstStyle/>
          <a:p>
            <a:pPr algn="ctr" indent="0" marL="0">
              <a:buNone/>
            </a:pPr>
            <a:r>
              <a:rPr lang="en-US" sz="4400" b="1" dirty="0">
                <a:solidFill>
                  <a:srgbClr val="0F4C3A"/>
                </a:solidFill>
                <a:latin typeface="Cambria" pitchFamily="34" charset="0"/>
                <a:ea typeface="Cambria" pitchFamily="34" charset="-122"/>
                <a:cs typeface="Cambria" pitchFamily="34" charset="-120"/>
              </a:rPr>
              <a:t>73</a:t>
            </a:r>
            <a:endParaRPr lang="en-US" sz="4400" dirty="0"/>
          </a:p>
        </p:txBody>
      </p:sp>
      <p:sp>
        <p:nvSpPr>
          <p:cNvPr id="11" name="Text 9"/>
          <p:cNvSpPr txBox="1"/>
          <p:nvPr/>
        </p:nvSpPr>
        <p:spPr>
          <a:xfrm>
            <a:off x="1874520" y="3429000"/>
            <a:ext cx="2514600" cy="914400"/>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route files</a:t>
            </a:r>
            <a:endParaRPr lang="en-US" sz="1400" dirty="0"/>
          </a:p>
          <a:p>
            <a:pPr indent="0" marL="0">
              <a:buNone/>
            </a:pPr>
            <a:r>
              <a:rPr lang="en-US" sz="1100" dirty="0">
                <a:solidFill>
                  <a:srgbClr val="5B6B64"/>
                </a:solidFill>
                <a:latin typeface="Calibri" pitchFamily="34" charset="0"/>
                <a:ea typeface="Calibri" pitchFamily="34" charset="-122"/>
                <a:cs typeface="Calibri" pitchFamily="34" charset="-120"/>
              </a:rPr>
              <a:t>38 public pages and 35 admin pages</a:t>
            </a:r>
            <a:endParaRPr lang="en-US" sz="1400" dirty="0"/>
          </a:p>
        </p:txBody>
      </p:sp>
      <p:sp>
        <p:nvSpPr>
          <p:cNvPr id="12" name="Text 10"/>
          <p:cNvSpPr txBox="1"/>
          <p:nvPr/>
        </p:nvSpPr>
        <p:spPr>
          <a:xfrm>
            <a:off x="4846320" y="1097280"/>
            <a:ext cx="3840480" cy="36576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Key features</a:t>
            </a:r>
            <a:endParaRPr lang="en-US" sz="2000" dirty="0"/>
          </a:p>
        </p:txBody>
      </p:sp>
      <p:sp>
        <p:nvSpPr>
          <p:cNvPr id="13" name="Text 11"/>
          <p:cNvSpPr txBox="1"/>
          <p:nvPr/>
        </p:nvSpPr>
        <p:spPr>
          <a:xfrm>
            <a:off x="4846320" y="1554480"/>
            <a:ext cx="3840480" cy="29260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7251F"/>
                </a:solidFill>
                <a:latin typeface="Calibri" pitchFamily="34" charset="0"/>
                <a:ea typeface="Calibri" pitchFamily="34" charset="-122"/>
                <a:cs typeface="Calibri" pitchFamily="34" charset="-120"/>
              </a:rPr>
              <a:t>Dynamic home page, news, events, announcements</a:t>
            </a:r>
            <a:endParaRPr lang="en-US" sz="1400" dirty="0"/>
          </a:p>
          <a:p>
            <a:pPr marL="342900" indent="-342900">
              <a:spcAft>
                <a:spcPts val="700"/>
              </a:spcAft>
              <a:buSzPct val="100000"/>
              <a:buChar char="•"/>
            </a:pPr>
            <a:r>
              <a:rPr lang="en-US" sz="1400" dirty="0">
                <a:solidFill>
                  <a:srgbClr val="17251F"/>
                </a:solidFill>
                <a:latin typeface="Calibri" pitchFamily="34" charset="0"/>
                <a:ea typeface="Calibri" pitchFamily="34" charset="-122"/>
                <a:cs typeface="Calibri" pitchFamily="34" charset="-120"/>
              </a:rPr>
              <a:t>Colleges, departments and programs hierarchy</a:t>
            </a:r>
            <a:endParaRPr lang="en-US" sz="1400" dirty="0"/>
          </a:p>
          <a:p>
            <a:pPr marL="342900" indent="-342900">
              <a:spcAft>
                <a:spcPts val="700"/>
              </a:spcAft>
              <a:buSzPct val="100000"/>
              <a:buChar char="•"/>
            </a:pPr>
            <a:r>
              <a:rPr lang="en-US" sz="1400" dirty="0">
                <a:solidFill>
                  <a:srgbClr val="17251F"/>
                </a:solidFill>
                <a:latin typeface="Calibri" pitchFamily="34" charset="0"/>
                <a:ea typeface="Calibri" pitchFamily="34" charset="-122"/>
                <a:cs typeface="Calibri" pitchFamily="34" charset="-120"/>
              </a:rPr>
              <a:t>Registrar documents and vacancies</a:t>
            </a:r>
            <a:endParaRPr lang="en-US" sz="1400" dirty="0"/>
          </a:p>
          <a:p>
            <a:pPr marL="342900" indent="-342900">
              <a:spcAft>
                <a:spcPts val="700"/>
              </a:spcAft>
              <a:buSzPct val="100000"/>
              <a:buChar char="•"/>
            </a:pPr>
            <a:r>
              <a:rPr lang="en-US" sz="1400" dirty="0">
                <a:solidFill>
                  <a:srgbClr val="17251F"/>
                </a:solidFill>
                <a:latin typeface="Calibri" pitchFamily="34" charset="0"/>
                <a:ea typeface="Calibri" pitchFamily="34" charset="-122"/>
                <a:cs typeface="Calibri" pitchFamily="34" charset="-120"/>
              </a:rPr>
              <a:t>Role-protected Admin CMS with dashboard</a:t>
            </a:r>
            <a:endParaRPr lang="en-US" sz="1400" dirty="0"/>
          </a:p>
          <a:p>
            <a:pPr marL="342900" indent="-342900">
              <a:spcAft>
                <a:spcPts val="700"/>
              </a:spcAft>
              <a:buSzPct val="100000"/>
              <a:buChar char="•"/>
            </a:pPr>
            <a:r>
              <a:rPr lang="en-US" sz="1400" dirty="0">
                <a:solidFill>
                  <a:srgbClr val="17251F"/>
                </a:solidFill>
                <a:latin typeface="Calibri" pitchFamily="34" charset="0"/>
                <a:ea typeface="Calibri" pitchFamily="34" charset="-122"/>
                <a:cs typeface="Calibri" pitchFamily="34" charset="-120"/>
              </a:rPr>
              <a:t>Media library and unique slugs</a:t>
            </a:r>
            <a:endParaRPr lang="en-US" sz="1400" dirty="0"/>
          </a:p>
          <a:p>
            <a:pPr marL="342900" indent="-342900">
              <a:spcAft>
                <a:spcPts val="700"/>
              </a:spcAft>
              <a:buSzPct val="100000"/>
              <a:buChar char="•"/>
            </a:pPr>
            <a:r>
              <a:rPr lang="en-US" sz="1400" dirty="0">
                <a:solidFill>
                  <a:srgbClr val="17251F"/>
                </a:solidFill>
                <a:latin typeface="Calibri" pitchFamily="34" charset="0"/>
                <a:ea typeface="Calibri" pitchFamily="34" charset="-122"/>
                <a:cs typeface="Calibri" pitchFamily="34" charset="-120"/>
              </a:rPr>
              <a:t>User, role, navigation and settings management</a:t>
            </a:r>
            <a:endParaRPr lang="en-US" sz="1400" dirty="0"/>
          </a:p>
          <a:p>
            <a:pPr marL="342900" indent="-342900">
              <a:spcAft>
                <a:spcPts val="700"/>
              </a:spcAft>
              <a:buSzPct val="100000"/>
              <a:buChar char="•"/>
            </a:pPr>
            <a:r>
              <a:rPr lang="en-US" sz="1400" dirty="0">
                <a:solidFill>
                  <a:srgbClr val="17251F"/>
                </a:solidFill>
                <a:latin typeface="Calibri" pitchFamily="34" charset="0"/>
                <a:ea typeface="Calibri" pitchFamily="34" charset="-122"/>
                <a:cs typeface="Calibri" pitchFamily="34" charset="-120"/>
              </a:rPr>
              <a:t>Activity log and contact messages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F4C3A"/>
                </a:solidFill>
                <a:latin typeface="Cambria" pitchFamily="34" charset="0"/>
                <a:ea typeface="Cambria" pitchFamily="34" charset="-122"/>
                <a:cs typeface="Cambria" pitchFamily="34" charset="-120"/>
              </a:rPr>
              <a:t>System Model: Use Cases</a:t>
            </a:r>
            <a:endParaRPr lang="en-US" sz="3200" dirty="0"/>
          </a:p>
        </p:txBody>
      </p:sp>
      <p:sp>
        <p:nvSpPr>
          <p:cNvPr id="3" name="Actor icon 1 bg"/>
          <p:cNvSpPr/>
          <p:nvPr/>
        </p:nvSpPr>
        <p:spPr>
          <a:xfrm>
            <a:off x="457200" y="1143000"/>
            <a:ext cx="594360" cy="594360"/>
          </a:xfrm>
          <a:prstGeom prst="ellipse">
            <a:avLst/>
          </a:prstGeom>
          <a:solidFill>
            <a:srgbClr val="0F4C3A"/>
          </a:solidFill>
          <a:ln w="12700">
            <a:solidFill>
              <a:srgbClr val="0F4C3A"/>
            </a:solidFill>
            <a:prstDash val="solid"/>
          </a:ln>
        </p:spPr>
      </p:sp>
      <p:pic>
        <p:nvPicPr>
          <p:cNvPr id="4" name="Image 0" descr="FaUser">    </p:cNvPr>
          <p:cNvPicPr>
            <a:picLocks noChangeAspect="1"/>
          </p:cNvPicPr>
          <p:nvPr/>
        </p:nvPicPr>
        <p:blipFill>
          <a:blip r:embed="rId1"/>
          <a:stretch>
            <a:fillRect/>
          </a:stretch>
        </p:blipFill>
        <p:spPr>
          <a:xfrm>
            <a:off x="599846" y="1285646"/>
            <a:ext cx="309067" cy="309067"/>
          </a:xfrm>
          <a:prstGeom prst="rect">
            <a:avLst/>
          </a:prstGeom>
        </p:spPr>
      </p:pic>
      <p:sp>
        <p:nvSpPr>
          <p:cNvPr id="5" name="Text 2"/>
          <p:cNvSpPr txBox="1"/>
          <p:nvPr/>
        </p:nvSpPr>
        <p:spPr>
          <a:xfrm>
            <a:off x="1234440" y="1051560"/>
            <a:ext cx="3383280" cy="868680"/>
          </a:xfrm>
          <a:prstGeom prst="rect">
            <a:avLst/>
          </a:prstGeom>
          <a:noFill/>
          <a:ln/>
        </p:spPr>
        <p:txBody>
          <a:bodyPr wrap="square" lIns="0" tIns="0" rIns="0" bIns="0" rtlCol="0" anchor="ctr"/>
          <a:lstStyle/>
          <a:p>
            <a:pPr indent="0" marL="0">
              <a:buNone/>
            </a:pPr>
            <a:r>
              <a:rPr lang="en-US" sz="1600" b="1" dirty="0">
                <a:solidFill>
                  <a:srgbClr val="0F4C3A"/>
                </a:solidFill>
                <a:latin typeface="Calibri" pitchFamily="34" charset="0"/>
                <a:ea typeface="Calibri" pitchFamily="34" charset="-122"/>
                <a:cs typeface="Calibri" pitchFamily="34" charset="-120"/>
              </a:rPr>
              <a:t>Public User</a:t>
            </a:r>
            <a:endParaRPr lang="en-US" sz="1600" dirty="0"/>
          </a:p>
          <a:p>
            <a:pPr indent="0" marL="0">
              <a:buNone/>
            </a:pPr>
            <a:r>
              <a:rPr lang="en-US" sz="1250" dirty="0">
                <a:solidFill>
                  <a:srgbClr val="17251F"/>
                </a:solidFill>
                <a:latin typeface="Calibri" pitchFamily="34" charset="0"/>
                <a:ea typeface="Calibri" pitchFamily="34" charset="-122"/>
                <a:cs typeface="Calibri" pitchFamily="34" charset="-120"/>
              </a:rPr>
              <a:t>Reads published content, downloads Registrar documents, sends a contact message</a:t>
            </a:r>
            <a:endParaRPr lang="en-US" sz="1600" dirty="0"/>
          </a:p>
        </p:txBody>
      </p:sp>
      <p:sp>
        <p:nvSpPr>
          <p:cNvPr id="6" name="Actor icon 2 bg"/>
          <p:cNvSpPr/>
          <p:nvPr/>
        </p:nvSpPr>
        <p:spPr>
          <a:xfrm>
            <a:off x="457200" y="2240280"/>
            <a:ext cx="594360" cy="594360"/>
          </a:xfrm>
          <a:prstGeom prst="ellipse">
            <a:avLst/>
          </a:prstGeom>
          <a:solidFill>
            <a:srgbClr val="0F4C3A"/>
          </a:solidFill>
          <a:ln w="12700">
            <a:solidFill>
              <a:srgbClr val="0F4C3A"/>
            </a:solidFill>
            <a:prstDash val="solid"/>
          </a:ln>
        </p:spPr>
      </p:sp>
      <p:pic>
        <p:nvPicPr>
          <p:cNvPr id="7" name="Image 1" descr="FaUserEdit">    </p:cNvPr>
          <p:cNvPicPr>
            <a:picLocks noChangeAspect="1"/>
          </p:cNvPicPr>
          <p:nvPr/>
        </p:nvPicPr>
        <p:blipFill>
          <a:blip r:embed="rId2"/>
          <a:stretch>
            <a:fillRect/>
          </a:stretch>
        </p:blipFill>
        <p:spPr>
          <a:xfrm>
            <a:off x="599846" y="2382926"/>
            <a:ext cx="309067" cy="309067"/>
          </a:xfrm>
          <a:prstGeom prst="rect">
            <a:avLst/>
          </a:prstGeom>
        </p:spPr>
      </p:pic>
      <p:sp>
        <p:nvSpPr>
          <p:cNvPr id="8" name="Text 4"/>
          <p:cNvSpPr txBox="1"/>
          <p:nvPr/>
        </p:nvSpPr>
        <p:spPr>
          <a:xfrm>
            <a:off x="1234440" y="2148840"/>
            <a:ext cx="3383280" cy="868680"/>
          </a:xfrm>
          <a:prstGeom prst="rect">
            <a:avLst/>
          </a:prstGeom>
          <a:noFill/>
          <a:ln/>
        </p:spPr>
        <p:txBody>
          <a:bodyPr wrap="square" lIns="0" tIns="0" rIns="0" bIns="0" rtlCol="0" anchor="ctr"/>
          <a:lstStyle/>
          <a:p>
            <a:pPr indent="0" marL="0">
              <a:buNone/>
            </a:pPr>
            <a:r>
              <a:rPr lang="en-US" sz="1600" b="1" dirty="0">
                <a:solidFill>
                  <a:srgbClr val="0F4C3A"/>
                </a:solidFill>
                <a:latin typeface="Calibri" pitchFamily="34" charset="0"/>
                <a:ea typeface="Calibri" pitchFamily="34" charset="-122"/>
                <a:cs typeface="Calibri" pitchFamily="34" charset="-120"/>
              </a:rPr>
              <a:t>Admin User</a:t>
            </a:r>
            <a:endParaRPr lang="en-US" sz="1600" dirty="0"/>
          </a:p>
          <a:p>
            <a:pPr indent="0" marL="0">
              <a:buNone/>
            </a:pPr>
            <a:r>
              <a:rPr lang="en-US" sz="1250" dirty="0">
                <a:solidFill>
                  <a:srgbClr val="17251F"/>
                </a:solidFill>
                <a:latin typeface="Calibri" pitchFamily="34" charset="0"/>
                <a:ea typeface="Calibri" pitchFamily="34" charset="-122"/>
                <a:cs typeface="Calibri" pitchFamily="34" charset="-120"/>
              </a:rPr>
              <a:t>Logs in and manages content modules, media, pages, navigation</a:t>
            </a:r>
            <a:endParaRPr lang="en-US" sz="1600" dirty="0"/>
          </a:p>
        </p:txBody>
      </p:sp>
      <p:sp>
        <p:nvSpPr>
          <p:cNvPr id="9" name="Actor icon 3 bg"/>
          <p:cNvSpPr/>
          <p:nvPr/>
        </p:nvSpPr>
        <p:spPr>
          <a:xfrm>
            <a:off x="457200" y="3337560"/>
            <a:ext cx="594360" cy="594360"/>
          </a:xfrm>
          <a:prstGeom prst="ellipse">
            <a:avLst/>
          </a:prstGeom>
          <a:solidFill>
            <a:srgbClr val="0F4C3A"/>
          </a:solidFill>
          <a:ln w="12700">
            <a:solidFill>
              <a:srgbClr val="0F4C3A"/>
            </a:solidFill>
            <a:prstDash val="solid"/>
          </a:ln>
        </p:spPr>
      </p:sp>
      <p:pic>
        <p:nvPicPr>
          <p:cNvPr id="10" name="Image 2" descr="FaUserShield">    </p:cNvPr>
          <p:cNvPicPr>
            <a:picLocks noChangeAspect="1"/>
          </p:cNvPicPr>
          <p:nvPr/>
        </p:nvPicPr>
        <p:blipFill>
          <a:blip r:embed="rId3"/>
          <a:stretch>
            <a:fillRect/>
          </a:stretch>
        </p:blipFill>
        <p:spPr>
          <a:xfrm>
            <a:off x="599846" y="3480206"/>
            <a:ext cx="309067" cy="309067"/>
          </a:xfrm>
          <a:prstGeom prst="rect">
            <a:avLst/>
          </a:prstGeom>
        </p:spPr>
      </p:pic>
      <p:sp>
        <p:nvSpPr>
          <p:cNvPr id="11" name="Text 6"/>
          <p:cNvSpPr txBox="1"/>
          <p:nvPr/>
        </p:nvSpPr>
        <p:spPr>
          <a:xfrm>
            <a:off x="1234440" y="3246120"/>
            <a:ext cx="3383280" cy="868680"/>
          </a:xfrm>
          <a:prstGeom prst="rect">
            <a:avLst/>
          </a:prstGeom>
          <a:noFill/>
          <a:ln/>
        </p:spPr>
        <p:txBody>
          <a:bodyPr wrap="square" lIns="0" tIns="0" rIns="0" bIns="0" rtlCol="0" anchor="ctr"/>
          <a:lstStyle/>
          <a:p>
            <a:pPr indent="0" marL="0">
              <a:buNone/>
            </a:pPr>
            <a:r>
              <a:rPr lang="en-US" sz="1600" b="1" dirty="0">
                <a:solidFill>
                  <a:srgbClr val="0F4C3A"/>
                </a:solidFill>
                <a:latin typeface="Calibri" pitchFamily="34" charset="0"/>
                <a:ea typeface="Calibri" pitchFamily="34" charset="-122"/>
                <a:cs typeface="Calibri" pitchFamily="34" charset="-120"/>
              </a:rPr>
              <a:t>System Admin</a:t>
            </a:r>
            <a:endParaRPr lang="en-US" sz="1600" dirty="0"/>
          </a:p>
          <a:p>
            <a:pPr indent="0" marL="0">
              <a:buNone/>
            </a:pPr>
            <a:r>
              <a:rPr lang="en-US" sz="1250" dirty="0">
                <a:solidFill>
                  <a:srgbClr val="17251F"/>
                </a:solidFill>
                <a:latin typeface="Calibri" pitchFamily="34" charset="0"/>
                <a:ea typeface="Calibri" pitchFamily="34" charset="-122"/>
                <a:cs typeface="Calibri" pitchFamily="34" charset="-120"/>
              </a:rPr>
              <a:t>Also manages users, roles, activity logs and site settings</a:t>
            </a:r>
            <a:endParaRPr lang="en-US" sz="1600" dirty="0"/>
          </a:p>
        </p:txBody>
      </p:sp>
      <p:sp>
        <p:nvSpPr>
          <p:cNvPr id="12" name="Use case panel"/>
          <p:cNvSpPr/>
          <p:nvPr/>
        </p:nvSpPr>
        <p:spPr>
          <a:xfrm>
            <a:off x="4892040" y="1051560"/>
            <a:ext cx="3840480" cy="3657600"/>
          </a:xfrm>
          <a:prstGeom prst="roundRect">
            <a:avLst>
              <a:gd name="adj" fmla="val 1500"/>
            </a:avLst>
          </a:prstGeom>
          <a:solidFill>
            <a:srgbClr val="FFFFFF"/>
          </a:solidFill>
          <a:ln w="12700">
            <a:solidFill>
              <a:srgbClr val="CFE3D8"/>
            </a:solidFill>
            <a:prstDash val="solid"/>
          </a:ln>
        </p:spPr>
      </p:sp>
      <p:pic>
        <p:nvPicPr>
          <p:cNvPr id="13" name="Image 3" descr="Use case diagram with Public User, Admin User and System Admin">    </p:cNvPr>
          <p:cNvPicPr>
            <a:picLocks noChangeAspect="1"/>
          </p:cNvPicPr>
          <p:nvPr/>
        </p:nvPicPr>
        <p:blipFill>
          <a:blip r:embed="rId4"/>
          <a:stretch>
            <a:fillRect/>
          </a:stretch>
        </p:blipFill>
        <p:spPr>
          <a:xfrm>
            <a:off x="5228746" y="1074420"/>
            <a:ext cx="3167067" cy="3611880"/>
          </a:xfrm>
          <a:prstGeom prst="rect">
            <a:avLst/>
          </a:prstGeom>
        </p:spPr>
      </p:pic>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F4C3A"/>
                </a:solidFill>
                <a:latin typeface="Cambria" pitchFamily="34" charset="0"/>
                <a:ea typeface="Cambria" pitchFamily="34" charset="-122"/>
                <a:cs typeface="Cambria" pitchFamily="34" charset="-120"/>
              </a:rPr>
              <a:t>Software Architecture</a:t>
            </a:r>
            <a:endParaRPr lang="en-US" sz="3200" dirty="0"/>
          </a:p>
        </p:txBody>
      </p:sp>
      <p:sp>
        <p:nvSpPr>
          <p:cNvPr id="3" name="Architecture panel"/>
          <p:cNvSpPr/>
          <p:nvPr/>
        </p:nvSpPr>
        <p:spPr>
          <a:xfrm>
            <a:off x="457200" y="1097280"/>
            <a:ext cx="5303520" cy="3520440"/>
          </a:xfrm>
          <a:prstGeom prst="roundRect">
            <a:avLst>
              <a:gd name="adj" fmla="val 2078"/>
            </a:avLst>
          </a:prstGeom>
          <a:solidFill>
            <a:srgbClr val="EEF5F1"/>
          </a:solidFill>
          <a:ln w="12700">
            <a:solidFill>
              <a:srgbClr val="EEF5F1"/>
            </a:solidFill>
            <a:prstDash val="solid"/>
          </a:ln>
        </p:spPr>
      </p:sp>
      <p:pic>
        <p:nvPicPr>
          <p:cNvPr id="4" name="Image 0" descr="Three-tier architecture: presentation, application and data tiers">    </p:cNvPr>
          <p:cNvPicPr>
            <a:picLocks noChangeAspect="1"/>
          </p:cNvPicPr>
          <p:nvPr/>
        </p:nvPicPr>
        <p:blipFill>
          <a:blip r:embed="rId1"/>
          <a:stretch>
            <a:fillRect/>
          </a:stretch>
        </p:blipFill>
        <p:spPr>
          <a:xfrm>
            <a:off x="502920" y="1160472"/>
            <a:ext cx="5212080" cy="3394057"/>
          </a:xfrm>
          <a:prstGeom prst="rect">
            <a:avLst/>
          </a:prstGeom>
        </p:spPr>
      </p:pic>
      <p:sp>
        <p:nvSpPr>
          <p:cNvPr id="5" name="Tier card 1"/>
          <p:cNvSpPr/>
          <p:nvPr/>
        </p:nvSpPr>
        <p:spPr>
          <a:xfrm>
            <a:off x="5989320" y="1097280"/>
            <a:ext cx="2743200" cy="1051560"/>
          </a:xfrm>
          <a:prstGeom prst="roundRect">
            <a:avLst>
              <a:gd name="adj" fmla="val 6957"/>
            </a:avLst>
          </a:prstGeom>
          <a:solidFill>
            <a:srgbClr val="0F4C3A"/>
          </a:solidFill>
          <a:ln w="12700">
            <a:solidFill>
              <a:srgbClr val="0F4C3A"/>
            </a:solidFill>
            <a:prstDash val="solid"/>
          </a:ln>
        </p:spPr>
      </p:sp>
      <p:sp>
        <p:nvSpPr>
          <p:cNvPr id="6" name="Text 3"/>
          <p:cNvSpPr txBox="1"/>
          <p:nvPr/>
        </p:nvSpPr>
        <p:spPr>
          <a:xfrm>
            <a:off x="6126480" y="1143000"/>
            <a:ext cx="2514600" cy="9601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Tier 1: Presentation</a:t>
            </a:r>
            <a:endParaRPr lang="en-US" sz="1450" dirty="0"/>
          </a:p>
          <a:p>
            <a:pPr indent="0" marL="0">
              <a:buNone/>
            </a:pPr>
            <a:r>
              <a:rPr lang="en-US" sz="1150" dirty="0">
                <a:solidFill>
                  <a:srgbClr val="E6F0EA"/>
                </a:solidFill>
                <a:latin typeface="Calibri" pitchFamily="34" charset="0"/>
                <a:ea typeface="Calibri" pitchFamily="34" charset="-122"/>
                <a:cs typeface="Calibri" pitchFamily="34" charset="-120"/>
              </a:rPr>
              <a:t>React 19 pages rendered on the server, then hydrated</a:t>
            </a:r>
            <a:endParaRPr lang="en-US" sz="1450" dirty="0"/>
          </a:p>
        </p:txBody>
      </p:sp>
      <p:sp>
        <p:nvSpPr>
          <p:cNvPr id="7" name="Tier card 2"/>
          <p:cNvSpPr/>
          <p:nvPr/>
        </p:nvSpPr>
        <p:spPr>
          <a:xfrm>
            <a:off x="5989320" y="2286000"/>
            <a:ext cx="2743200" cy="1051560"/>
          </a:xfrm>
          <a:prstGeom prst="roundRect">
            <a:avLst>
              <a:gd name="adj" fmla="val 6957"/>
            </a:avLst>
          </a:prstGeom>
          <a:solidFill>
            <a:srgbClr val="0F4C3A"/>
          </a:solidFill>
          <a:ln w="12700">
            <a:solidFill>
              <a:srgbClr val="0F4C3A"/>
            </a:solidFill>
            <a:prstDash val="solid"/>
          </a:ln>
        </p:spPr>
      </p:sp>
      <p:sp>
        <p:nvSpPr>
          <p:cNvPr id="8" name="Text 5"/>
          <p:cNvSpPr txBox="1"/>
          <p:nvPr/>
        </p:nvSpPr>
        <p:spPr>
          <a:xfrm>
            <a:off x="6126480" y="2331720"/>
            <a:ext cx="2514600" cy="9601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Tier 2: Application</a:t>
            </a:r>
            <a:endParaRPr lang="en-US" sz="1450" dirty="0"/>
          </a:p>
          <a:p>
            <a:pPr indent="0" marL="0">
              <a:buNone/>
            </a:pPr>
            <a:r>
              <a:rPr lang="en-US" sz="1150" dirty="0">
                <a:solidFill>
                  <a:srgbClr val="E6F0EA"/>
                </a:solidFill>
                <a:latin typeface="Calibri" pitchFamily="34" charset="0"/>
                <a:ea typeface="Calibri" pitchFamily="34" charset="-122"/>
                <a:cs typeface="Calibri" pitchFamily="34" charset="-120"/>
              </a:rPr>
              <a:t>TanStack Start: route loaders, server functions, CSRF middleware</a:t>
            </a:r>
            <a:endParaRPr lang="en-US" sz="1450" dirty="0"/>
          </a:p>
        </p:txBody>
      </p:sp>
      <p:sp>
        <p:nvSpPr>
          <p:cNvPr id="9" name="Tier card 3"/>
          <p:cNvSpPr/>
          <p:nvPr/>
        </p:nvSpPr>
        <p:spPr>
          <a:xfrm>
            <a:off x="5989320" y="3474720"/>
            <a:ext cx="2743200" cy="1051560"/>
          </a:xfrm>
          <a:prstGeom prst="roundRect">
            <a:avLst>
              <a:gd name="adj" fmla="val 6957"/>
            </a:avLst>
          </a:prstGeom>
          <a:solidFill>
            <a:srgbClr val="D4A017"/>
          </a:solidFill>
          <a:ln w="12700">
            <a:solidFill>
              <a:srgbClr val="D4A017"/>
            </a:solidFill>
            <a:prstDash val="solid"/>
          </a:ln>
        </p:spPr>
      </p:sp>
      <p:sp>
        <p:nvSpPr>
          <p:cNvPr id="10" name="Text 7"/>
          <p:cNvSpPr txBox="1"/>
          <p:nvPr/>
        </p:nvSpPr>
        <p:spPr>
          <a:xfrm>
            <a:off x="6126480" y="3520440"/>
            <a:ext cx="2514600" cy="960120"/>
          </a:xfrm>
          <a:prstGeom prst="rect">
            <a:avLst/>
          </a:prstGeom>
          <a:noFill/>
          <a:ln/>
        </p:spPr>
        <p:txBody>
          <a:bodyPr wrap="square" lIns="0" tIns="0" rIns="0" bIns="0" rtlCol="0" anchor="ctr"/>
          <a:lstStyle/>
          <a:p>
            <a:pPr indent="0" marL="0">
              <a:buNone/>
            </a:pPr>
            <a:r>
              <a:rPr lang="en-US" sz="1450" b="1" dirty="0">
                <a:solidFill>
                  <a:srgbClr val="17251F"/>
                </a:solidFill>
                <a:latin typeface="Calibri" pitchFamily="34" charset="0"/>
                <a:ea typeface="Calibri" pitchFamily="34" charset="-122"/>
                <a:cs typeface="Calibri" pitchFamily="34" charset="-120"/>
              </a:rPr>
              <a:t>Tier 3: Data</a:t>
            </a:r>
            <a:endParaRPr lang="en-US" sz="1450" dirty="0"/>
          </a:p>
          <a:p>
            <a:pPr indent="0" marL="0">
              <a:buNone/>
            </a:pPr>
            <a:r>
              <a:rPr lang="en-US" sz="1150" dirty="0">
                <a:solidFill>
                  <a:srgbClr val="17251F"/>
                </a:solidFill>
                <a:latin typeface="Calibri" pitchFamily="34" charset="0"/>
                <a:ea typeface="Calibri" pitchFamily="34" charset="-122"/>
                <a:cs typeface="Calibri" pitchFamily="34" charset="-120"/>
              </a:rPr>
              <a:t>Supabase: PostgreSQL with RLS, Auth, Storage</a:t>
            </a:r>
            <a:endParaRPr lang="en-US" sz="14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F4C3A"/>
                </a:solidFill>
                <a:latin typeface="Cambria" pitchFamily="34" charset="0"/>
                <a:ea typeface="Cambria" pitchFamily="34" charset="-122"/>
                <a:cs typeface="Cambria" pitchFamily="34" charset="-120"/>
              </a:rPr>
              <a:t>Database Design</a:t>
            </a:r>
            <a:endParaRPr lang="en-US" sz="3200" dirty="0"/>
          </a:p>
        </p:txBody>
      </p:sp>
      <p:sp>
        <p:nvSpPr>
          <p:cNvPr id="3" name="Database stat panel"/>
          <p:cNvSpPr/>
          <p:nvPr/>
        </p:nvSpPr>
        <p:spPr>
          <a:xfrm>
            <a:off x="457200" y="1097280"/>
            <a:ext cx="2377440" cy="3520440"/>
          </a:xfrm>
          <a:prstGeom prst="roundRect">
            <a:avLst>
              <a:gd name="adj" fmla="val 3077"/>
            </a:avLst>
          </a:prstGeom>
          <a:solidFill>
            <a:srgbClr val="0F4C3A"/>
          </a:solidFill>
          <a:ln w="12700">
            <a:solidFill>
              <a:srgbClr val="0F4C3A"/>
            </a:solidFill>
            <a:prstDash val="solid"/>
          </a:ln>
        </p:spPr>
      </p:sp>
      <p:sp>
        <p:nvSpPr>
          <p:cNvPr id="4" name="Text 2"/>
          <p:cNvSpPr txBox="1"/>
          <p:nvPr/>
        </p:nvSpPr>
        <p:spPr>
          <a:xfrm>
            <a:off x="640080" y="1234440"/>
            <a:ext cx="2011680" cy="3246120"/>
          </a:xfrm>
          <a:prstGeom prst="rect">
            <a:avLst/>
          </a:prstGeom>
          <a:noFill/>
          <a:ln/>
        </p:spPr>
        <p:txBody>
          <a:bodyPr wrap="square" lIns="0" tIns="0" rIns="0" bIns="0" rtlCol="0" anchor="ctr"/>
          <a:lstStyle/>
          <a:p>
            <a:pPr indent="0" marL="0">
              <a:spcAft>
                <a:spcPts val="600"/>
              </a:spcAft>
              <a:buNone/>
            </a:pPr>
            <a:r>
              <a:rPr lang="en-US" sz="6600" b="1" dirty="0">
                <a:solidFill>
                  <a:srgbClr val="FFFFFF"/>
                </a:solidFill>
                <a:latin typeface="Cambria" pitchFamily="34" charset="0"/>
                <a:ea typeface="Cambria" pitchFamily="34" charset="-122"/>
                <a:cs typeface="Cambria" pitchFamily="34" charset="-120"/>
              </a:rPr>
              <a:t>27</a:t>
            </a:r>
            <a:endParaRPr lang="en-US" sz="6600" dirty="0"/>
          </a:p>
          <a:p>
            <a:pPr indent="0" marL="0">
              <a:spcAft>
                <a:spcPts val="600"/>
              </a:spcAft>
              <a:buNone/>
            </a:pPr>
            <a:r>
              <a:rPr lang="en-US" sz="1600" b="1" dirty="0">
                <a:solidFill>
                  <a:srgbClr val="D4A017"/>
                </a:solidFill>
                <a:latin typeface="Calibri" pitchFamily="34" charset="0"/>
                <a:ea typeface="Calibri" pitchFamily="34" charset="-122"/>
                <a:cs typeface="Calibri" pitchFamily="34" charset="-120"/>
              </a:rPr>
              <a:t>PostgreSQL tables</a:t>
            </a:r>
            <a:endParaRPr lang="en-US" sz="6600" dirty="0"/>
          </a:p>
          <a:p>
            <a:pPr indent="0" marL="0">
              <a:spcAft>
                <a:spcPts val="600"/>
              </a:spcAft>
              <a:buNone/>
            </a:pPr>
            <a:r>
              <a:rPr lang="en-US" sz="1250" dirty="0">
                <a:solidFill>
                  <a:srgbClr val="E6F0EA"/>
                </a:solidFill>
                <a:latin typeface="Calibri" pitchFamily="34" charset="0"/>
                <a:ea typeface="Calibri" pitchFamily="34" charset="-122"/>
                <a:cs typeface="Calibri" pitchFamily="34" charset="-120"/>
              </a:rPr>
              <a:t>One central media table; slugs, status and foreign keys everywhere</a:t>
            </a:r>
            <a:endParaRPr lang="en-US" sz="6600" dirty="0"/>
          </a:p>
        </p:txBody>
      </p:sp>
      <p:sp>
        <p:nvSpPr>
          <p:cNvPr id="5" name="Module card 1"/>
          <p:cNvSpPr/>
          <p:nvPr/>
        </p:nvSpPr>
        <p:spPr>
          <a:xfrm>
            <a:off x="3063240" y="1097280"/>
            <a:ext cx="2697480" cy="1051560"/>
          </a:xfrm>
          <a:prstGeom prst="roundRect">
            <a:avLst>
              <a:gd name="adj" fmla="val 6957"/>
            </a:avLst>
          </a:prstGeom>
          <a:solidFill>
            <a:srgbClr val="EEF5F1"/>
          </a:solidFill>
          <a:ln w="12700">
            <a:solidFill>
              <a:srgbClr val="EEF5F1"/>
            </a:solidFill>
            <a:prstDash val="solid"/>
          </a:ln>
        </p:spPr>
      </p:sp>
      <p:sp>
        <p:nvSpPr>
          <p:cNvPr id="6" name="Module icon 1 bg"/>
          <p:cNvSpPr/>
          <p:nvPr/>
        </p:nvSpPr>
        <p:spPr>
          <a:xfrm>
            <a:off x="3200400" y="1344168"/>
            <a:ext cx="548640" cy="548640"/>
          </a:xfrm>
          <a:prstGeom prst="ellipse">
            <a:avLst/>
          </a:prstGeom>
          <a:solidFill>
            <a:srgbClr val="287A5D"/>
          </a:solidFill>
          <a:ln w="12700">
            <a:solidFill>
              <a:srgbClr val="287A5D"/>
            </a:solidFill>
            <a:prstDash val="solid"/>
          </a:ln>
        </p:spPr>
      </p:sp>
      <p:pic>
        <p:nvPicPr>
          <p:cNvPr id="7" name="Image 0" descr="FaShieldAlt">    </p:cNvPr>
          <p:cNvPicPr>
            <a:picLocks noChangeAspect="1"/>
          </p:cNvPicPr>
          <p:nvPr/>
        </p:nvPicPr>
        <p:blipFill>
          <a:blip r:embed="rId1"/>
          <a:stretch>
            <a:fillRect/>
          </a:stretch>
        </p:blipFill>
        <p:spPr>
          <a:xfrm>
            <a:off x="3332074" y="1475842"/>
            <a:ext cx="285293" cy="285293"/>
          </a:xfrm>
          <a:prstGeom prst="rect">
            <a:avLst/>
          </a:prstGeom>
        </p:spPr>
      </p:pic>
      <p:sp>
        <p:nvSpPr>
          <p:cNvPr id="8" name="Text 5"/>
          <p:cNvSpPr txBox="1"/>
          <p:nvPr/>
        </p:nvSpPr>
        <p:spPr>
          <a:xfrm>
            <a:off x="3840480" y="1143000"/>
            <a:ext cx="1828800" cy="96012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Security and audit</a:t>
            </a:r>
            <a:endParaRPr lang="en-US" sz="1300" dirty="0"/>
          </a:p>
          <a:p>
            <a:pPr indent="0" marL="0">
              <a:buNone/>
            </a:pPr>
            <a:r>
              <a:rPr lang="en-US" sz="1050" dirty="0">
                <a:solidFill>
                  <a:srgbClr val="17251F"/>
                </a:solidFill>
                <a:latin typeface="Calibri" pitchFamily="34" charset="0"/>
                <a:ea typeface="Calibri" pitchFamily="34" charset="-122"/>
                <a:cs typeface="Calibri" pitchFamily="34" charset="-120"/>
              </a:rPr>
              <a:t>users, roles, permissions, activity_logs</a:t>
            </a:r>
            <a:endParaRPr lang="en-US" sz="1300" dirty="0"/>
          </a:p>
        </p:txBody>
      </p:sp>
      <p:sp>
        <p:nvSpPr>
          <p:cNvPr id="9" name="Module card 2"/>
          <p:cNvSpPr/>
          <p:nvPr/>
        </p:nvSpPr>
        <p:spPr>
          <a:xfrm>
            <a:off x="5897880" y="1097280"/>
            <a:ext cx="2697480" cy="1051560"/>
          </a:xfrm>
          <a:prstGeom prst="roundRect">
            <a:avLst>
              <a:gd name="adj" fmla="val 6957"/>
            </a:avLst>
          </a:prstGeom>
          <a:solidFill>
            <a:srgbClr val="EEF5F1"/>
          </a:solidFill>
          <a:ln w="12700">
            <a:solidFill>
              <a:srgbClr val="EEF5F1"/>
            </a:solidFill>
            <a:prstDash val="solid"/>
          </a:ln>
        </p:spPr>
      </p:sp>
      <p:sp>
        <p:nvSpPr>
          <p:cNvPr id="10" name="Module icon 2 bg"/>
          <p:cNvSpPr/>
          <p:nvPr/>
        </p:nvSpPr>
        <p:spPr>
          <a:xfrm>
            <a:off x="6035040" y="1344168"/>
            <a:ext cx="548640" cy="548640"/>
          </a:xfrm>
          <a:prstGeom prst="ellipse">
            <a:avLst/>
          </a:prstGeom>
          <a:solidFill>
            <a:srgbClr val="287A5D"/>
          </a:solidFill>
          <a:ln w="12700">
            <a:solidFill>
              <a:srgbClr val="287A5D"/>
            </a:solidFill>
            <a:prstDash val="solid"/>
          </a:ln>
        </p:spPr>
      </p:sp>
      <p:pic>
        <p:nvPicPr>
          <p:cNvPr id="11" name="Image 1" descr="FaGlobe">    </p:cNvPr>
          <p:cNvPicPr>
            <a:picLocks noChangeAspect="1"/>
          </p:cNvPicPr>
          <p:nvPr/>
        </p:nvPicPr>
        <p:blipFill>
          <a:blip r:embed="rId2"/>
          <a:stretch>
            <a:fillRect/>
          </a:stretch>
        </p:blipFill>
        <p:spPr>
          <a:xfrm>
            <a:off x="6166714" y="1475842"/>
            <a:ext cx="285293" cy="285293"/>
          </a:xfrm>
          <a:prstGeom prst="rect">
            <a:avLst/>
          </a:prstGeom>
        </p:spPr>
      </p:pic>
      <p:sp>
        <p:nvSpPr>
          <p:cNvPr id="12" name="Text 8"/>
          <p:cNvSpPr txBox="1"/>
          <p:nvPr/>
        </p:nvSpPr>
        <p:spPr>
          <a:xfrm>
            <a:off x="6675120" y="1143000"/>
            <a:ext cx="1828800" cy="96012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Site and web content</a:t>
            </a:r>
            <a:endParaRPr lang="en-US" sz="1300" dirty="0"/>
          </a:p>
          <a:p>
            <a:pPr indent="0" marL="0">
              <a:buNone/>
            </a:pPr>
            <a:r>
              <a:rPr lang="en-US" sz="1050" dirty="0">
                <a:solidFill>
                  <a:srgbClr val="17251F"/>
                </a:solidFill>
                <a:latin typeface="Calibri" pitchFamily="34" charset="0"/>
                <a:ea typeface="Calibri" pitchFamily="34" charset="-122"/>
                <a:cs typeface="Calibri" pitchFamily="34" charset="-120"/>
              </a:rPr>
              <a:t>pages, navigation, homepage, settings, media</a:t>
            </a:r>
            <a:endParaRPr lang="en-US" sz="1300" dirty="0"/>
          </a:p>
        </p:txBody>
      </p:sp>
      <p:sp>
        <p:nvSpPr>
          <p:cNvPr id="13" name="Module card 3"/>
          <p:cNvSpPr/>
          <p:nvPr/>
        </p:nvSpPr>
        <p:spPr>
          <a:xfrm>
            <a:off x="3063240" y="2286000"/>
            <a:ext cx="2697480" cy="1051560"/>
          </a:xfrm>
          <a:prstGeom prst="roundRect">
            <a:avLst>
              <a:gd name="adj" fmla="val 6957"/>
            </a:avLst>
          </a:prstGeom>
          <a:solidFill>
            <a:srgbClr val="EEF5F1"/>
          </a:solidFill>
          <a:ln w="12700">
            <a:solidFill>
              <a:srgbClr val="EEF5F1"/>
            </a:solidFill>
            <a:prstDash val="solid"/>
          </a:ln>
        </p:spPr>
      </p:sp>
      <p:sp>
        <p:nvSpPr>
          <p:cNvPr id="14" name="Module icon 3 bg"/>
          <p:cNvSpPr/>
          <p:nvPr/>
        </p:nvSpPr>
        <p:spPr>
          <a:xfrm>
            <a:off x="3200400" y="2532888"/>
            <a:ext cx="548640" cy="548640"/>
          </a:xfrm>
          <a:prstGeom prst="ellipse">
            <a:avLst/>
          </a:prstGeom>
          <a:solidFill>
            <a:srgbClr val="287A5D"/>
          </a:solidFill>
          <a:ln w="12700">
            <a:solidFill>
              <a:srgbClr val="287A5D"/>
            </a:solidFill>
            <a:prstDash val="solid"/>
          </a:ln>
        </p:spPr>
      </p:sp>
      <p:pic>
        <p:nvPicPr>
          <p:cNvPr id="15" name="Image 2" descr="FaNewspaper">    </p:cNvPr>
          <p:cNvPicPr>
            <a:picLocks noChangeAspect="1"/>
          </p:cNvPicPr>
          <p:nvPr/>
        </p:nvPicPr>
        <p:blipFill>
          <a:blip r:embed="rId3"/>
          <a:stretch>
            <a:fillRect/>
          </a:stretch>
        </p:blipFill>
        <p:spPr>
          <a:xfrm>
            <a:off x="3332074" y="2664562"/>
            <a:ext cx="285293" cy="285293"/>
          </a:xfrm>
          <a:prstGeom prst="rect">
            <a:avLst/>
          </a:prstGeom>
        </p:spPr>
      </p:pic>
      <p:sp>
        <p:nvSpPr>
          <p:cNvPr id="16" name="Text 11"/>
          <p:cNvSpPr txBox="1"/>
          <p:nvPr/>
        </p:nvSpPr>
        <p:spPr>
          <a:xfrm>
            <a:off x="3840480" y="2331720"/>
            <a:ext cx="1828800" cy="96012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Communication</a:t>
            </a:r>
            <a:endParaRPr lang="en-US" sz="1300" dirty="0"/>
          </a:p>
          <a:p>
            <a:pPr indent="0" marL="0">
              <a:buNone/>
            </a:pPr>
            <a:r>
              <a:rPr lang="en-US" sz="1050" dirty="0">
                <a:solidFill>
                  <a:srgbClr val="17251F"/>
                </a:solidFill>
                <a:latin typeface="Calibri" pitchFamily="34" charset="0"/>
                <a:ea typeface="Calibri" pitchFamily="34" charset="-122"/>
                <a:cs typeface="Calibri" pitchFamily="34" charset="-120"/>
              </a:rPr>
              <a:t>news, announcements, events, galleries</a:t>
            </a:r>
            <a:endParaRPr lang="en-US" sz="1300" dirty="0"/>
          </a:p>
        </p:txBody>
      </p:sp>
      <p:sp>
        <p:nvSpPr>
          <p:cNvPr id="17" name="Module card 4"/>
          <p:cNvSpPr/>
          <p:nvPr/>
        </p:nvSpPr>
        <p:spPr>
          <a:xfrm>
            <a:off x="5897880" y="2286000"/>
            <a:ext cx="2697480" cy="1051560"/>
          </a:xfrm>
          <a:prstGeom prst="roundRect">
            <a:avLst>
              <a:gd name="adj" fmla="val 6957"/>
            </a:avLst>
          </a:prstGeom>
          <a:solidFill>
            <a:srgbClr val="EEF5F1"/>
          </a:solidFill>
          <a:ln w="12700">
            <a:solidFill>
              <a:srgbClr val="EEF5F1"/>
            </a:solidFill>
            <a:prstDash val="solid"/>
          </a:ln>
        </p:spPr>
      </p:sp>
      <p:sp>
        <p:nvSpPr>
          <p:cNvPr id="18" name="Module icon 4 bg"/>
          <p:cNvSpPr/>
          <p:nvPr/>
        </p:nvSpPr>
        <p:spPr>
          <a:xfrm>
            <a:off x="6035040" y="2532888"/>
            <a:ext cx="548640" cy="548640"/>
          </a:xfrm>
          <a:prstGeom prst="ellipse">
            <a:avLst/>
          </a:prstGeom>
          <a:solidFill>
            <a:srgbClr val="287A5D"/>
          </a:solidFill>
          <a:ln w="12700">
            <a:solidFill>
              <a:srgbClr val="287A5D"/>
            </a:solidFill>
            <a:prstDash val="solid"/>
          </a:ln>
        </p:spPr>
      </p:sp>
      <p:pic>
        <p:nvPicPr>
          <p:cNvPr id="19" name="Image 3" descr="FaGraduationCap">    </p:cNvPr>
          <p:cNvPicPr>
            <a:picLocks noChangeAspect="1"/>
          </p:cNvPicPr>
          <p:nvPr/>
        </p:nvPicPr>
        <p:blipFill>
          <a:blip r:embed="rId4"/>
          <a:stretch>
            <a:fillRect/>
          </a:stretch>
        </p:blipFill>
        <p:spPr>
          <a:xfrm>
            <a:off x="6166714" y="2664562"/>
            <a:ext cx="285293" cy="285293"/>
          </a:xfrm>
          <a:prstGeom prst="rect">
            <a:avLst/>
          </a:prstGeom>
        </p:spPr>
      </p:pic>
      <p:sp>
        <p:nvSpPr>
          <p:cNvPr id="20" name="Text 14"/>
          <p:cNvSpPr txBox="1"/>
          <p:nvPr/>
        </p:nvSpPr>
        <p:spPr>
          <a:xfrm>
            <a:off x="6675120" y="2331720"/>
            <a:ext cx="1828800" cy="96012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Academics</a:t>
            </a:r>
            <a:endParaRPr lang="en-US" sz="1300" dirty="0"/>
          </a:p>
          <a:p>
            <a:pPr indent="0" marL="0">
              <a:buNone/>
            </a:pPr>
            <a:r>
              <a:rPr lang="en-US" sz="1050" dirty="0">
                <a:solidFill>
                  <a:srgbClr val="17251F"/>
                </a:solidFill>
                <a:latin typeface="Calibri" pitchFamily="34" charset="0"/>
                <a:ea typeface="Calibri" pitchFamily="34" charset="-122"/>
                <a:cs typeface="Calibri" pitchFamily="34" charset="-120"/>
              </a:rPr>
              <a:t>academic_units, programs (college &gt; department &gt; program)</a:t>
            </a:r>
            <a:endParaRPr lang="en-US" sz="1300" dirty="0"/>
          </a:p>
        </p:txBody>
      </p:sp>
      <p:sp>
        <p:nvSpPr>
          <p:cNvPr id="21" name="Module card 5"/>
          <p:cNvSpPr/>
          <p:nvPr/>
        </p:nvSpPr>
        <p:spPr>
          <a:xfrm>
            <a:off x="3063240" y="3474720"/>
            <a:ext cx="2697480" cy="1051560"/>
          </a:xfrm>
          <a:prstGeom prst="roundRect">
            <a:avLst>
              <a:gd name="adj" fmla="val 6957"/>
            </a:avLst>
          </a:prstGeom>
          <a:solidFill>
            <a:srgbClr val="EEF5F1"/>
          </a:solidFill>
          <a:ln w="12700">
            <a:solidFill>
              <a:srgbClr val="EEF5F1"/>
            </a:solidFill>
            <a:prstDash val="solid"/>
          </a:ln>
        </p:spPr>
      </p:sp>
      <p:sp>
        <p:nvSpPr>
          <p:cNvPr id="22" name="Module icon 5 bg"/>
          <p:cNvSpPr/>
          <p:nvPr/>
        </p:nvSpPr>
        <p:spPr>
          <a:xfrm>
            <a:off x="3200400" y="3721608"/>
            <a:ext cx="548640" cy="548640"/>
          </a:xfrm>
          <a:prstGeom prst="ellipse">
            <a:avLst/>
          </a:prstGeom>
          <a:solidFill>
            <a:srgbClr val="287A5D"/>
          </a:solidFill>
          <a:ln w="12700">
            <a:solidFill>
              <a:srgbClr val="287A5D"/>
            </a:solidFill>
            <a:prstDash val="solid"/>
          </a:ln>
        </p:spPr>
      </p:sp>
      <p:pic>
        <p:nvPicPr>
          <p:cNvPr id="23" name="Image 4" descr="FaLandmark">    </p:cNvPr>
          <p:cNvPicPr>
            <a:picLocks noChangeAspect="1"/>
          </p:cNvPicPr>
          <p:nvPr/>
        </p:nvPicPr>
        <p:blipFill>
          <a:blip r:embed="rId5"/>
          <a:stretch>
            <a:fillRect/>
          </a:stretch>
        </p:blipFill>
        <p:spPr>
          <a:xfrm>
            <a:off x="3332074" y="3853282"/>
            <a:ext cx="285293" cy="285293"/>
          </a:xfrm>
          <a:prstGeom prst="rect">
            <a:avLst/>
          </a:prstGeom>
        </p:spPr>
      </p:pic>
      <p:sp>
        <p:nvSpPr>
          <p:cNvPr id="24" name="Text 17"/>
          <p:cNvSpPr txBox="1"/>
          <p:nvPr/>
        </p:nvSpPr>
        <p:spPr>
          <a:xfrm>
            <a:off x="3840480" y="3520440"/>
            <a:ext cx="1828800" cy="96012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Administration and Registrar</a:t>
            </a:r>
            <a:endParaRPr lang="en-US" sz="1300" dirty="0"/>
          </a:p>
          <a:p>
            <a:pPr indent="0" marL="0">
              <a:buNone/>
            </a:pPr>
            <a:r>
              <a:rPr lang="en-US" sz="1050" dirty="0">
                <a:solidFill>
                  <a:srgbClr val="17251F"/>
                </a:solidFill>
                <a:latin typeface="Calibri" pitchFamily="34" charset="0"/>
                <a:ea typeface="Calibri" pitchFamily="34" charset="-122"/>
                <a:cs typeface="Calibri" pitchFamily="34" charset="-120"/>
              </a:rPr>
              <a:t>leadership, offices, Registrar notices</a:t>
            </a:r>
            <a:endParaRPr lang="en-US" sz="1300" dirty="0"/>
          </a:p>
        </p:txBody>
      </p:sp>
      <p:sp>
        <p:nvSpPr>
          <p:cNvPr id="25" name="Module card 6"/>
          <p:cNvSpPr/>
          <p:nvPr/>
        </p:nvSpPr>
        <p:spPr>
          <a:xfrm>
            <a:off x="5897880" y="3474720"/>
            <a:ext cx="2697480" cy="1051560"/>
          </a:xfrm>
          <a:prstGeom prst="roundRect">
            <a:avLst>
              <a:gd name="adj" fmla="val 6957"/>
            </a:avLst>
          </a:prstGeom>
          <a:solidFill>
            <a:srgbClr val="EEF5F1"/>
          </a:solidFill>
          <a:ln w="12700">
            <a:solidFill>
              <a:srgbClr val="EEF5F1"/>
            </a:solidFill>
            <a:prstDash val="solid"/>
          </a:ln>
        </p:spPr>
      </p:sp>
      <p:sp>
        <p:nvSpPr>
          <p:cNvPr id="26" name="Module icon 6 bg"/>
          <p:cNvSpPr/>
          <p:nvPr/>
        </p:nvSpPr>
        <p:spPr>
          <a:xfrm>
            <a:off x="6035040" y="3721608"/>
            <a:ext cx="548640" cy="548640"/>
          </a:xfrm>
          <a:prstGeom prst="ellipse">
            <a:avLst/>
          </a:prstGeom>
          <a:solidFill>
            <a:srgbClr val="287A5D"/>
          </a:solidFill>
          <a:ln w="12700">
            <a:solidFill>
              <a:srgbClr val="287A5D"/>
            </a:solidFill>
            <a:prstDash val="solid"/>
          </a:ln>
        </p:spPr>
      </p:sp>
      <p:pic>
        <p:nvPicPr>
          <p:cNvPr id="27" name="Image 5" descr="FaFlask">    </p:cNvPr>
          <p:cNvPicPr>
            <a:picLocks noChangeAspect="1"/>
          </p:cNvPicPr>
          <p:nvPr/>
        </p:nvPicPr>
        <p:blipFill>
          <a:blip r:embed="rId6"/>
          <a:stretch>
            <a:fillRect/>
          </a:stretch>
        </p:blipFill>
        <p:spPr>
          <a:xfrm>
            <a:off x="6166714" y="3853282"/>
            <a:ext cx="285293" cy="285293"/>
          </a:xfrm>
          <a:prstGeom prst="rect">
            <a:avLst/>
          </a:prstGeom>
        </p:spPr>
      </p:pic>
      <p:sp>
        <p:nvSpPr>
          <p:cNvPr id="28" name="Text 20"/>
          <p:cNvSpPr txBox="1"/>
          <p:nvPr/>
        </p:nvSpPr>
        <p:spPr>
          <a:xfrm>
            <a:off x="6675120" y="3520440"/>
            <a:ext cx="1828800" cy="96012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Research and services</a:t>
            </a:r>
            <a:endParaRPr lang="en-US" sz="1300" dirty="0"/>
          </a:p>
          <a:p>
            <a:pPr indent="0" marL="0">
              <a:buNone/>
            </a:pPr>
            <a:r>
              <a:rPr lang="en-US" sz="1050" dirty="0">
                <a:solidFill>
                  <a:srgbClr val="17251F"/>
                </a:solidFill>
                <a:latin typeface="Calibri" pitchFamily="34" charset="0"/>
                <a:ea typeface="Calibri" pitchFamily="34" charset="-122"/>
                <a:cs typeface="Calibri" pitchFamily="34" charset="-120"/>
              </a:rPr>
              <a:t>projects, facilities, engagement, services, vacancies</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F4C3A"/>
                </a:solidFill>
                <a:latin typeface="Cambria" pitchFamily="34" charset="0"/>
                <a:ea typeface="Cambria" pitchFamily="34" charset="-122"/>
                <a:cs typeface="Cambria" pitchFamily="34" charset="-120"/>
              </a:rPr>
              <a:t>Security and Access Control</a:t>
            </a:r>
            <a:endParaRPr lang="en-US" sz="3200" dirty="0"/>
          </a:p>
        </p:txBody>
      </p:sp>
      <p:sp>
        <p:nvSpPr>
          <p:cNvPr id="3" name="Security card 1"/>
          <p:cNvSpPr/>
          <p:nvPr/>
        </p:nvSpPr>
        <p:spPr>
          <a:xfrm>
            <a:off x="457200" y="1188720"/>
            <a:ext cx="1554480" cy="2560320"/>
          </a:xfrm>
          <a:prstGeom prst="roundRect">
            <a:avLst>
              <a:gd name="adj" fmla="val 4706"/>
            </a:avLst>
          </a:prstGeom>
          <a:solidFill>
            <a:srgbClr val="EEF5F1"/>
          </a:solidFill>
          <a:ln w="12700">
            <a:solidFill>
              <a:srgbClr val="EEF5F1"/>
            </a:solidFill>
            <a:prstDash val="solid"/>
          </a:ln>
        </p:spPr>
      </p:sp>
      <p:sp>
        <p:nvSpPr>
          <p:cNvPr id="4" name="Security icon 1 bg"/>
          <p:cNvSpPr/>
          <p:nvPr/>
        </p:nvSpPr>
        <p:spPr>
          <a:xfrm>
            <a:off x="868680" y="1371600"/>
            <a:ext cx="731520" cy="731520"/>
          </a:xfrm>
          <a:prstGeom prst="ellipse">
            <a:avLst/>
          </a:prstGeom>
          <a:solidFill>
            <a:srgbClr val="0F4C3A"/>
          </a:solidFill>
          <a:ln w="12700">
            <a:solidFill>
              <a:srgbClr val="0F4C3A"/>
            </a:solidFill>
            <a:prstDash val="solid"/>
          </a:ln>
        </p:spPr>
      </p:sp>
      <p:pic>
        <p:nvPicPr>
          <p:cNvPr id="5" name="Image 0" descr="FaKey">    </p:cNvPr>
          <p:cNvPicPr>
            <a:picLocks noChangeAspect="1"/>
          </p:cNvPicPr>
          <p:nvPr/>
        </p:nvPicPr>
        <p:blipFill>
          <a:blip r:embed="rId1"/>
          <a:stretch>
            <a:fillRect/>
          </a:stretch>
        </p:blipFill>
        <p:spPr>
          <a:xfrm>
            <a:off x="1044245" y="1547165"/>
            <a:ext cx="380390" cy="380390"/>
          </a:xfrm>
          <a:prstGeom prst="rect">
            <a:avLst/>
          </a:prstGeom>
        </p:spPr>
      </p:pic>
      <p:sp>
        <p:nvSpPr>
          <p:cNvPr id="6" name="Text 3"/>
          <p:cNvSpPr txBox="1"/>
          <p:nvPr/>
        </p:nvSpPr>
        <p:spPr>
          <a:xfrm>
            <a:off x="594360" y="2286000"/>
            <a:ext cx="1298448" cy="1645920"/>
          </a:xfrm>
          <a:prstGeom prst="rect">
            <a:avLst/>
          </a:prstGeom>
          <a:noFill/>
          <a:ln/>
        </p:spPr>
        <p:txBody>
          <a:bodyPr wrap="square" lIns="0" tIns="0" rIns="0" bIns="0" rtlCol="0" anchor="t"/>
          <a:lstStyle/>
          <a:p>
            <a:pPr algn="l" indent="0" marL="0">
              <a:spcAft>
                <a:spcPts val="500"/>
              </a:spcAft>
              <a:buNone/>
            </a:pPr>
            <a:r>
              <a:rPr lang="en-US" sz="1400" b="1" dirty="0">
                <a:solidFill>
                  <a:srgbClr val="0F4C3A"/>
                </a:solidFill>
                <a:latin typeface="Calibri" pitchFamily="34" charset="0"/>
                <a:ea typeface="Calibri" pitchFamily="34" charset="-122"/>
                <a:cs typeface="Calibri" pitchFamily="34" charset="-120"/>
              </a:rPr>
              <a:t>Authentication</a:t>
            </a:r>
            <a:endParaRPr lang="en-US" sz="1400" dirty="0"/>
          </a:p>
          <a:p>
            <a:pPr algn="l" indent="0" marL="0">
              <a:spcAft>
                <a:spcPts val="500"/>
              </a:spcAft>
              <a:buNone/>
            </a:pPr>
            <a:r>
              <a:rPr lang="en-US" sz="1150" dirty="0">
                <a:solidFill>
                  <a:srgbClr val="17251F"/>
                </a:solidFill>
                <a:latin typeface="Calibri" pitchFamily="34" charset="0"/>
                <a:ea typeface="Calibri" pitchFamily="34" charset="-122"/>
                <a:cs typeface="Calibri" pitchFamily="34" charset="-120"/>
              </a:rPr>
              <a:t>Supabase Auth, JWT session, /admin route guard</a:t>
            </a:r>
            <a:endParaRPr lang="en-US" sz="1400" dirty="0"/>
          </a:p>
        </p:txBody>
      </p:sp>
      <p:sp>
        <p:nvSpPr>
          <p:cNvPr id="7" name="Security card 2"/>
          <p:cNvSpPr/>
          <p:nvPr/>
        </p:nvSpPr>
        <p:spPr>
          <a:xfrm>
            <a:off x="2121408" y="1188720"/>
            <a:ext cx="1554480" cy="2560320"/>
          </a:xfrm>
          <a:prstGeom prst="roundRect">
            <a:avLst>
              <a:gd name="adj" fmla="val 4706"/>
            </a:avLst>
          </a:prstGeom>
          <a:solidFill>
            <a:srgbClr val="EEF5F1"/>
          </a:solidFill>
          <a:ln w="12700">
            <a:solidFill>
              <a:srgbClr val="EEF5F1"/>
            </a:solidFill>
            <a:prstDash val="solid"/>
          </a:ln>
        </p:spPr>
      </p:sp>
      <p:sp>
        <p:nvSpPr>
          <p:cNvPr id="8" name="Security icon 2 bg"/>
          <p:cNvSpPr/>
          <p:nvPr/>
        </p:nvSpPr>
        <p:spPr>
          <a:xfrm>
            <a:off x="2532888" y="1371600"/>
            <a:ext cx="731520" cy="731520"/>
          </a:xfrm>
          <a:prstGeom prst="ellipse">
            <a:avLst/>
          </a:prstGeom>
          <a:solidFill>
            <a:srgbClr val="0F4C3A"/>
          </a:solidFill>
          <a:ln w="12700">
            <a:solidFill>
              <a:srgbClr val="0F4C3A"/>
            </a:solidFill>
            <a:prstDash val="solid"/>
          </a:ln>
        </p:spPr>
      </p:sp>
      <p:pic>
        <p:nvPicPr>
          <p:cNvPr id="9" name="Image 1" descr="FaDatabase">    </p:cNvPr>
          <p:cNvPicPr>
            <a:picLocks noChangeAspect="1"/>
          </p:cNvPicPr>
          <p:nvPr/>
        </p:nvPicPr>
        <p:blipFill>
          <a:blip r:embed="rId2"/>
          <a:stretch>
            <a:fillRect/>
          </a:stretch>
        </p:blipFill>
        <p:spPr>
          <a:xfrm>
            <a:off x="2708453" y="1547165"/>
            <a:ext cx="380390" cy="380390"/>
          </a:xfrm>
          <a:prstGeom prst="rect">
            <a:avLst/>
          </a:prstGeom>
        </p:spPr>
      </p:pic>
      <p:sp>
        <p:nvSpPr>
          <p:cNvPr id="10" name="Text 6"/>
          <p:cNvSpPr txBox="1"/>
          <p:nvPr/>
        </p:nvSpPr>
        <p:spPr>
          <a:xfrm>
            <a:off x="2258568" y="2286000"/>
            <a:ext cx="1298448" cy="1645920"/>
          </a:xfrm>
          <a:prstGeom prst="rect">
            <a:avLst/>
          </a:prstGeom>
          <a:noFill/>
          <a:ln/>
        </p:spPr>
        <p:txBody>
          <a:bodyPr wrap="square" lIns="0" tIns="0" rIns="0" bIns="0" rtlCol="0" anchor="t"/>
          <a:lstStyle/>
          <a:p>
            <a:pPr algn="l" indent="0" marL="0">
              <a:spcAft>
                <a:spcPts val="500"/>
              </a:spcAft>
              <a:buNone/>
            </a:pPr>
            <a:r>
              <a:rPr lang="en-US" sz="1400" b="1" dirty="0">
                <a:solidFill>
                  <a:srgbClr val="0F4C3A"/>
                </a:solidFill>
                <a:latin typeface="Calibri" pitchFamily="34" charset="0"/>
                <a:ea typeface="Calibri" pitchFamily="34" charset="-122"/>
                <a:cs typeface="Calibri" pitchFamily="34" charset="-120"/>
              </a:rPr>
              <a:t>Row Level Security</a:t>
            </a:r>
            <a:endParaRPr lang="en-US" sz="1400" dirty="0"/>
          </a:p>
          <a:p>
            <a:pPr algn="l" indent="0" marL="0">
              <a:spcAft>
                <a:spcPts val="500"/>
              </a:spcAft>
              <a:buNone/>
            </a:pPr>
            <a:r>
              <a:rPr lang="en-US" sz="1150" dirty="0">
                <a:solidFill>
                  <a:srgbClr val="17251F"/>
                </a:solidFill>
                <a:latin typeface="Calibri" pitchFamily="34" charset="0"/>
                <a:ea typeface="Calibri" pitchFamily="34" charset="-122"/>
                <a:cs typeface="Calibri" pitchFamily="34" charset="-120"/>
              </a:rPr>
              <a:t>Public reads only published rows; writes need a registered admin</a:t>
            </a:r>
            <a:endParaRPr lang="en-US" sz="1400" dirty="0"/>
          </a:p>
        </p:txBody>
      </p:sp>
      <p:sp>
        <p:nvSpPr>
          <p:cNvPr id="11" name="Security card 3"/>
          <p:cNvSpPr/>
          <p:nvPr/>
        </p:nvSpPr>
        <p:spPr>
          <a:xfrm>
            <a:off x="3785616" y="1188720"/>
            <a:ext cx="1554480" cy="2560320"/>
          </a:xfrm>
          <a:prstGeom prst="roundRect">
            <a:avLst>
              <a:gd name="adj" fmla="val 4706"/>
            </a:avLst>
          </a:prstGeom>
          <a:solidFill>
            <a:srgbClr val="EEF5F1"/>
          </a:solidFill>
          <a:ln w="12700">
            <a:solidFill>
              <a:srgbClr val="EEF5F1"/>
            </a:solidFill>
            <a:prstDash val="solid"/>
          </a:ln>
        </p:spPr>
      </p:sp>
      <p:sp>
        <p:nvSpPr>
          <p:cNvPr id="12" name="Security icon 3 bg"/>
          <p:cNvSpPr/>
          <p:nvPr/>
        </p:nvSpPr>
        <p:spPr>
          <a:xfrm>
            <a:off x="4197096" y="1371600"/>
            <a:ext cx="731520" cy="731520"/>
          </a:xfrm>
          <a:prstGeom prst="ellipse">
            <a:avLst/>
          </a:prstGeom>
          <a:solidFill>
            <a:srgbClr val="0F4C3A"/>
          </a:solidFill>
          <a:ln w="12700">
            <a:solidFill>
              <a:srgbClr val="0F4C3A"/>
            </a:solidFill>
            <a:prstDash val="solid"/>
          </a:ln>
        </p:spPr>
      </p:sp>
      <p:pic>
        <p:nvPicPr>
          <p:cNvPr id="13" name="Image 2" descr="FaUserLock">    </p:cNvPr>
          <p:cNvPicPr>
            <a:picLocks noChangeAspect="1"/>
          </p:cNvPicPr>
          <p:nvPr/>
        </p:nvPicPr>
        <p:blipFill>
          <a:blip r:embed="rId3"/>
          <a:stretch>
            <a:fillRect/>
          </a:stretch>
        </p:blipFill>
        <p:spPr>
          <a:xfrm>
            <a:off x="4372661" y="1547165"/>
            <a:ext cx="380390" cy="380390"/>
          </a:xfrm>
          <a:prstGeom prst="rect">
            <a:avLst/>
          </a:prstGeom>
        </p:spPr>
      </p:pic>
      <p:sp>
        <p:nvSpPr>
          <p:cNvPr id="14" name="Text 9"/>
          <p:cNvSpPr txBox="1"/>
          <p:nvPr/>
        </p:nvSpPr>
        <p:spPr>
          <a:xfrm>
            <a:off x="3922776" y="2286000"/>
            <a:ext cx="1298448" cy="1645920"/>
          </a:xfrm>
          <a:prstGeom prst="rect">
            <a:avLst/>
          </a:prstGeom>
          <a:noFill/>
          <a:ln/>
        </p:spPr>
        <p:txBody>
          <a:bodyPr wrap="square" lIns="0" tIns="0" rIns="0" bIns="0" rtlCol="0" anchor="t"/>
          <a:lstStyle/>
          <a:p>
            <a:pPr algn="l" indent="0" marL="0">
              <a:spcAft>
                <a:spcPts val="500"/>
              </a:spcAft>
              <a:buNone/>
            </a:pPr>
            <a:r>
              <a:rPr lang="en-US" sz="1400" b="1" dirty="0">
                <a:solidFill>
                  <a:srgbClr val="0F4C3A"/>
                </a:solidFill>
                <a:latin typeface="Calibri" pitchFamily="34" charset="0"/>
                <a:ea typeface="Calibri" pitchFamily="34" charset="-122"/>
                <a:cs typeface="Calibri" pitchFamily="34" charset="-120"/>
              </a:rPr>
              <a:t>Role check</a:t>
            </a:r>
            <a:endParaRPr lang="en-US" sz="1400" dirty="0"/>
          </a:p>
          <a:p>
            <a:pPr algn="l" indent="0" marL="0">
              <a:spcAft>
                <a:spcPts val="500"/>
              </a:spcAft>
              <a:buNone/>
            </a:pPr>
            <a:r>
              <a:rPr lang="en-US" sz="1150" dirty="0">
                <a:solidFill>
                  <a:srgbClr val="17251F"/>
                </a:solidFill>
                <a:latin typeface="Calibri" pitchFamily="34" charset="0"/>
                <a:ea typeface="Calibri" pitchFamily="34" charset="-122"/>
                <a:cs typeface="Calibri" pitchFamily="34" charset="-120"/>
              </a:rPr>
              <a:t>System menu only for Super Admin</a:t>
            </a:r>
            <a:endParaRPr lang="en-US" sz="1400" dirty="0"/>
          </a:p>
        </p:txBody>
      </p:sp>
      <p:sp>
        <p:nvSpPr>
          <p:cNvPr id="15" name="Security card 4"/>
          <p:cNvSpPr/>
          <p:nvPr/>
        </p:nvSpPr>
        <p:spPr>
          <a:xfrm>
            <a:off x="5449824" y="1188720"/>
            <a:ext cx="1554480" cy="2560320"/>
          </a:xfrm>
          <a:prstGeom prst="roundRect">
            <a:avLst>
              <a:gd name="adj" fmla="val 4706"/>
            </a:avLst>
          </a:prstGeom>
          <a:solidFill>
            <a:srgbClr val="EEF5F1"/>
          </a:solidFill>
          <a:ln w="12700">
            <a:solidFill>
              <a:srgbClr val="EEF5F1"/>
            </a:solidFill>
            <a:prstDash val="solid"/>
          </a:ln>
        </p:spPr>
      </p:sp>
      <p:sp>
        <p:nvSpPr>
          <p:cNvPr id="16" name="Security icon 4 bg"/>
          <p:cNvSpPr/>
          <p:nvPr/>
        </p:nvSpPr>
        <p:spPr>
          <a:xfrm>
            <a:off x="5861304" y="1371600"/>
            <a:ext cx="731520" cy="731520"/>
          </a:xfrm>
          <a:prstGeom prst="ellipse">
            <a:avLst/>
          </a:prstGeom>
          <a:solidFill>
            <a:srgbClr val="0F4C3A"/>
          </a:solidFill>
          <a:ln w="12700">
            <a:solidFill>
              <a:srgbClr val="0F4C3A"/>
            </a:solidFill>
            <a:prstDash val="solid"/>
          </a:ln>
        </p:spPr>
      </p:sp>
      <p:pic>
        <p:nvPicPr>
          <p:cNvPr id="17" name="Image 3" descr="FaShieldAlt">    </p:cNvPr>
          <p:cNvPicPr>
            <a:picLocks noChangeAspect="1"/>
          </p:cNvPicPr>
          <p:nvPr/>
        </p:nvPicPr>
        <p:blipFill>
          <a:blip r:embed="rId4"/>
          <a:stretch>
            <a:fillRect/>
          </a:stretch>
        </p:blipFill>
        <p:spPr>
          <a:xfrm>
            <a:off x="6036869" y="1547165"/>
            <a:ext cx="380390" cy="380390"/>
          </a:xfrm>
          <a:prstGeom prst="rect">
            <a:avLst/>
          </a:prstGeom>
        </p:spPr>
      </p:pic>
      <p:sp>
        <p:nvSpPr>
          <p:cNvPr id="18" name="Text 12"/>
          <p:cNvSpPr txBox="1"/>
          <p:nvPr/>
        </p:nvSpPr>
        <p:spPr>
          <a:xfrm>
            <a:off x="5586984" y="2286000"/>
            <a:ext cx="1298448" cy="1645920"/>
          </a:xfrm>
          <a:prstGeom prst="rect">
            <a:avLst/>
          </a:prstGeom>
          <a:noFill/>
          <a:ln/>
        </p:spPr>
        <p:txBody>
          <a:bodyPr wrap="square" lIns="0" tIns="0" rIns="0" bIns="0" rtlCol="0" anchor="t"/>
          <a:lstStyle/>
          <a:p>
            <a:pPr algn="l" indent="0" marL="0">
              <a:spcAft>
                <a:spcPts val="500"/>
              </a:spcAft>
              <a:buNone/>
            </a:pPr>
            <a:r>
              <a:rPr lang="en-US" sz="1400" b="1" dirty="0">
                <a:solidFill>
                  <a:srgbClr val="0F4C3A"/>
                </a:solidFill>
                <a:latin typeface="Calibri" pitchFamily="34" charset="0"/>
                <a:ea typeface="Calibri" pitchFamily="34" charset="-122"/>
                <a:cs typeface="Calibri" pitchFamily="34" charset="-120"/>
              </a:rPr>
              <a:t>CSRF and SQL safety</a:t>
            </a:r>
            <a:endParaRPr lang="en-US" sz="1400" dirty="0"/>
          </a:p>
          <a:p>
            <a:pPr algn="l" indent="0" marL="0">
              <a:spcAft>
                <a:spcPts val="500"/>
              </a:spcAft>
              <a:buNone/>
            </a:pPr>
            <a:r>
              <a:rPr lang="en-US" sz="1150" dirty="0">
                <a:solidFill>
                  <a:srgbClr val="17251F"/>
                </a:solidFill>
                <a:latin typeface="Calibri" pitchFamily="34" charset="0"/>
                <a:ea typeface="Calibri" pitchFamily="34" charset="-122"/>
                <a:cs typeface="Calibri" pitchFamily="34" charset="-120"/>
              </a:rPr>
              <a:t>CSRF middleware, parameterized queries, upload limits</a:t>
            </a:r>
            <a:endParaRPr lang="en-US" sz="1400" dirty="0"/>
          </a:p>
        </p:txBody>
      </p:sp>
      <p:sp>
        <p:nvSpPr>
          <p:cNvPr id="19" name="Security card 5"/>
          <p:cNvSpPr/>
          <p:nvPr/>
        </p:nvSpPr>
        <p:spPr>
          <a:xfrm>
            <a:off x="7114032" y="1188720"/>
            <a:ext cx="1554480" cy="2560320"/>
          </a:xfrm>
          <a:prstGeom prst="roundRect">
            <a:avLst>
              <a:gd name="adj" fmla="val 4706"/>
            </a:avLst>
          </a:prstGeom>
          <a:solidFill>
            <a:srgbClr val="EEF5F1"/>
          </a:solidFill>
          <a:ln w="12700">
            <a:solidFill>
              <a:srgbClr val="EEF5F1"/>
            </a:solidFill>
            <a:prstDash val="solid"/>
          </a:ln>
        </p:spPr>
      </p:sp>
      <p:sp>
        <p:nvSpPr>
          <p:cNvPr id="20" name="Security icon 5 bg"/>
          <p:cNvSpPr/>
          <p:nvPr/>
        </p:nvSpPr>
        <p:spPr>
          <a:xfrm>
            <a:off x="7525512" y="1371600"/>
            <a:ext cx="731520" cy="731520"/>
          </a:xfrm>
          <a:prstGeom prst="ellipse">
            <a:avLst/>
          </a:prstGeom>
          <a:solidFill>
            <a:srgbClr val="0F4C3A"/>
          </a:solidFill>
          <a:ln w="12700">
            <a:solidFill>
              <a:srgbClr val="0F4C3A"/>
            </a:solidFill>
            <a:prstDash val="solid"/>
          </a:ln>
        </p:spPr>
      </p:sp>
      <p:pic>
        <p:nvPicPr>
          <p:cNvPr id="21" name="Image 4" descr="FaHistory">    </p:cNvPr>
          <p:cNvPicPr>
            <a:picLocks noChangeAspect="1"/>
          </p:cNvPicPr>
          <p:nvPr/>
        </p:nvPicPr>
        <p:blipFill>
          <a:blip r:embed="rId5"/>
          <a:stretch>
            <a:fillRect/>
          </a:stretch>
        </p:blipFill>
        <p:spPr>
          <a:xfrm>
            <a:off x="7701077" y="1547165"/>
            <a:ext cx="380390" cy="380390"/>
          </a:xfrm>
          <a:prstGeom prst="rect">
            <a:avLst/>
          </a:prstGeom>
        </p:spPr>
      </p:pic>
      <p:sp>
        <p:nvSpPr>
          <p:cNvPr id="22" name="Text 15"/>
          <p:cNvSpPr txBox="1"/>
          <p:nvPr/>
        </p:nvSpPr>
        <p:spPr>
          <a:xfrm>
            <a:off x="7251192" y="2286000"/>
            <a:ext cx="1298448" cy="1645920"/>
          </a:xfrm>
          <a:prstGeom prst="rect">
            <a:avLst/>
          </a:prstGeom>
          <a:noFill/>
          <a:ln/>
        </p:spPr>
        <p:txBody>
          <a:bodyPr wrap="square" lIns="0" tIns="0" rIns="0" bIns="0" rtlCol="0" anchor="t"/>
          <a:lstStyle/>
          <a:p>
            <a:pPr algn="l" indent="0" marL="0">
              <a:spcAft>
                <a:spcPts val="500"/>
              </a:spcAft>
              <a:buNone/>
            </a:pPr>
            <a:r>
              <a:rPr lang="en-US" sz="1400" b="1" dirty="0">
                <a:solidFill>
                  <a:srgbClr val="0F4C3A"/>
                </a:solidFill>
                <a:latin typeface="Calibri" pitchFamily="34" charset="0"/>
                <a:ea typeface="Calibri" pitchFamily="34" charset="-122"/>
                <a:cs typeface="Calibri" pitchFamily="34" charset="-120"/>
              </a:rPr>
              <a:t>Audit trail</a:t>
            </a:r>
            <a:endParaRPr lang="en-US" sz="1400" dirty="0"/>
          </a:p>
          <a:p>
            <a:pPr algn="l" indent="0" marL="0">
              <a:spcAft>
                <a:spcPts val="500"/>
              </a:spcAft>
              <a:buNone/>
            </a:pPr>
            <a:r>
              <a:rPr lang="en-US" sz="1150" dirty="0">
                <a:solidFill>
                  <a:srgbClr val="17251F"/>
                </a:solidFill>
                <a:latin typeface="Calibri" pitchFamily="34" charset="0"/>
                <a:ea typeface="Calibri" pitchFamily="34" charset="-122"/>
                <a:cs typeface="Calibri" pitchFamily="34" charset="-120"/>
              </a:rPr>
              <a:t>activity_logs for every admin action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F4C3A"/>
                </a:solidFill>
                <a:latin typeface="Cambria" pitchFamily="34" charset="0"/>
                <a:ea typeface="Cambria" pitchFamily="34" charset="-122"/>
                <a:cs typeface="Cambria" pitchFamily="34" charset="-120"/>
              </a:rPr>
              <a:t>How Publishing Works</a:t>
            </a:r>
            <a:endParaRPr lang="en-US" sz="3200" dirty="0"/>
          </a:p>
        </p:txBody>
      </p:sp>
      <p:sp>
        <p:nvSpPr>
          <p:cNvPr id="3" name="Step card 1"/>
          <p:cNvSpPr/>
          <p:nvPr/>
        </p:nvSpPr>
        <p:spPr>
          <a:xfrm>
            <a:off x="457200" y="1325880"/>
            <a:ext cx="1508760" cy="2194560"/>
          </a:xfrm>
          <a:prstGeom prst="roundRect">
            <a:avLst>
              <a:gd name="adj" fmla="val 4848"/>
            </a:avLst>
          </a:prstGeom>
          <a:solidFill>
            <a:srgbClr val="EEF5F1"/>
          </a:solidFill>
          <a:ln w="12700">
            <a:solidFill>
              <a:srgbClr val="EEF5F1"/>
            </a:solidFill>
            <a:prstDash val="solid"/>
          </a:ln>
        </p:spPr>
      </p:sp>
      <p:sp>
        <p:nvSpPr>
          <p:cNvPr id="4" name="Step icon 1 bg"/>
          <p:cNvSpPr/>
          <p:nvPr/>
        </p:nvSpPr>
        <p:spPr>
          <a:xfrm>
            <a:off x="868680" y="1481328"/>
            <a:ext cx="685800" cy="685800"/>
          </a:xfrm>
          <a:prstGeom prst="ellipse">
            <a:avLst/>
          </a:prstGeom>
          <a:solidFill>
            <a:srgbClr val="0F4C3A"/>
          </a:solidFill>
          <a:ln w="12700">
            <a:solidFill>
              <a:srgbClr val="0F4C3A"/>
            </a:solidFill>
            <a:prstDash val="solid"/>
          </a:ln>
        </p:spPr>
      </p:sp>
      <p:pic>
        <p:nvPicPr>
          <p:cNvPr id="5" name="Image 0" descr="FaSignInAlt">    </p:cNvPr>
          <p:cNvPicPr>
            <a:picLocks noChangeAspect="1"/>
          </p:cNvPicPr>
          <p:nvPr/>
        </p:nvPicPr>
        <p:blipFill>
          <a:blip r:embed="rId1"/>
          <a:stretch>
            <a:fillRect/>
          </a:stretch>
        </p:blipFill>
        <p:spPr>
          <a:xfrm>
            <a:off x="1033272" y="1645920"/>
            <a:ext cx="356616" cy="356616"/>
          </a:xfrm>
          <a:prstGeom prst="rect">
            <a:avLst/>
          </a:prstGeom>
        </p:spPr>
      </p:pic>
      <p:sp>
        <p:nvSpPr>
          <p:cNvPr id="6" name="Text 3"/>
          <p:cNvSpPr txBox="1"/>
          <p:nvPr/>
        </p:nvSpPr>
        <p:spPr>
          <a:xfrm>
            <a:off x="566928" y="2286000"/>
            <a:ext cx="1298448" cy="1188720"/>
          </a:xfrm>
          <a:prstGeom prst="rect">
            <a:avLst/>
          </a:prstGeom>
          <a:noFill/>
          <a:ln/>
        </p:spPr>
        <p:txBody>
          <a:bodyPr wrap="square" lIns="0" tIns="0" rIns="0" bIns="0" rtlCol="0" anchor="t"/>
          <a:lstStyle/>
          <a:p>
            <a:pPr indent="0" marL="0">
              <a:spcAft>
                <a:spcPts val="400"/>
              </a:spcAft>
              <a:buNone/>
            </a:pPr>
            <a:r>
              <a:rPr lang="en-US" sz="1400" b="1" dirty="0">
                <a:solidFill>
                  <a:srgbClr val="0F4C3A"/>
                </a:solidFill>
                <a:latin typeface="Calibri" pitchFamily="34" charset="0"/>
                <a:ea typeface="Calibri" pitchFamily="34" charset="-122"/>
                <a:cs typeface="Calibri" pitchFamily="34" charset="-120"/>
              </a:rPr>
              <a:t>1. Log in</a:t>
            </a:r>
            <a:endParaRPr lang="en-US" sz="1400" dirty="0"/>
          </a:p>
          <a:p>
            <a:pPr indent="0" marL="0">
              <a:spcAft>
                <a:spcPts val="400"/>
              </a:spcAft>
              <a:buNone/>
            </a:pPr>
            <a:r>
              <a:rPr lang="en-US" sz="1150" dirty="0">
                <a:solidFill>
                  <a:srgbClr val="17251F"/>
                </a:solidFill>
                <a:latin typeface="Calibri" pitchFamily="34" charset="0"/>
                <a:ea typeface="Calibri" pitchFamily="34" charset="-122"/>
                <a:cs typeface="Calibri" pitchFamily="34" charset="-120"/>
              </a:rPr>
              <a:t>Session checked on every /admin page</a:t>
            </a:r>
            <a:endParaRPr lang="en-US" sz="1400" dirty="0"/>
          </a:p>
        </p:txBody>
      </p:sp>
      <p:sp>
        <p:nvSpPr>
          <p:cNvPr id="7" name="Text 4"/>
          <p:cNvSpPr txBox="1"/>
          <p:nvPr/>
        </p:nvSpPr>
        <p:spPr>
          <a:xfrm>
            <a:off x="1947672" y="2286000"/>
            <a:ext cx="182880" cy="365760"/>
          </a:xfrm>
          <a:prstGeom prst="rect">
            <a:avLst/>
          </a:prstGeom>
          <a:noFill/>
          <a:ln/>
        </p:spPr>
        <p:txBody>
          <a:bodyPr wrap="square" lIns="0" tIns="0" rIns="0" bIns="0" rtlCol="0" anchor="ctr"/>
          <a:lstStyle/>
          <a:p>
            <a:pPr algn="ctr" indent="0" marL="0">
              <a:buNone/>
            </a:pPr>
            <a:r>
              <a:rPr lang="en-US" sz="1800" b="1" dirty="0">
                <a:solidFill>
                  <a:srgbClr val="287A5D"/>
                </a:solidFill>
                <a:latin typeface="Calibri" pitchFamily="34" charset="0"/>
                <a:ea typeface="Calibri" pitchFamily="34" charset="-122"/>
                <a:cs typeface="Calibri" pitchFamily="34" charset="-120"/>
              </a:rPr>
              <a:t>&gt;</a:t>
            </a:r>
            <a:endParaRPr lang="en-US" sz="1800" dirty="0"/>
          </a:p>
        </p:txBody>
      </p:sp>
      <p:sp>
        <p:nvSpPr>
          <p:cNvPr id="8" name="Step card 2"/>
          <p:cNvSpPr/>
          <p:nvPr/>
        </p:nvSpPr>
        <p:spPr>
          <a:xfrm>
            <a:off x="2121408" y="1325880"/>
            <a:ext cx="1508760" cy="2194560"/>
          </a:xfrm>
          <a:prstGeom prst="roundRect">
            <a:avLst>
              <a:gd name="adj" fmla="val 4848"/>
            </a:avLst>
          </a:prstGeom>
          <a:solidFill>
            <a:srgbClr val="EEF5F1"/>
          </a:solidFill>
          <a:ln w="12700">
            <a:solidFill>
              <a:srgbClr val="EEF5F1"/>
            </a:solidFill>
            <a:prstDash val="solid"/>
          </a:ln>
        </p:spPr>
      </p:sp>
      <p:sp>
        <p:nvSpPr>
          <p:cNvPr id="9" name="Step icon 2 bg"/>
          <p:cNvSpPr/>
          <p:nvPr/>
        </p:nvSpPr>
        <p:spPr>
          <a:xfrm>
            <a:off x="2532888" y="1481328"/>
            <a:ext cx="685800" cy="685800"/>
          </a:xfrm>
          <a:prstGeom prst="ellipse">
            <a:avLst/>
          </a:prstGeom>
          <a:solidFill>
            <a:srgbClr val="0F4C3A"/>
          </a:solidFill>
          <a:ln w="12700">
            <a:solidFill>
              <a:srgbClr val="0F4C3A"/>
            </a:solidFill>
            <a:prstDash val="solid"/>
          </a:ln>
        </p:spPr>
      </p:sp>
      <p:pic>
        <p:nvPicPr>
          <p:cNvPr id="10" name="Image 1" descr="FaEdit">    </p:cNvPr>
          <p:cNvPicPr>
            <a:picLocks noChangeAspect="1"/>
          </p:cNvPicPr>
          <p:nvPr/>
        </p:nvPicPr>
        <p:blipFill>
          <a:blip r:embed="rId2"/>
          <a:stretch>
            <a:fillRect/>
          </a:stretch>
        </p:blipFill>
        <p:spPr>
          <a:xfrm>
            <a:off x="2697480" y="1645920"/>
            <a:ext cx="356616" cy="356616"/>
          </a:xfrm>
          <a:prstGeom prst="rect">
            <a:avLst/>
          </a:prstGeom>
        </p:spPr>
      </p:pic>
      <p:sp>
        <p:nvSpPr>
          <p:cNvPr id="11" name="Text 7"/>
          <p:cNvSpPr txBox="1"/>
          <p:nvPr/>
        </p:nvSpPr>
        <p:spPr>
          <a:xfrm>
            <a:off x="2231136" y="2286000"/>
            <a:ext cx="1298448" cy="1188720"/>
          </a:xfrm>
          <a:prstGeom prst="rect">
            <a:avLst/>
          </a:prstGeom>
          <a:noFill/>
          <a:ln/>
        </p:spPr>
        <p:txBody>
          <a:bodyPr wrap="square" lIns="0" tIns="0" rIns="0" bIns="0" rtlCol="0" anchor="t"/>
          <a:lstStyle/>
          <a:p>
            <a:pPr indent="0" marL="0">
              <a:spcAft>
                <a:spcPts val="400"/>
              </a:spcAft>
              <a:buNone/>
            </a:pPr>
            <a:r>
              <a:rPr lang="en-US" sz="1400" b="1" dirty="0">
                <a:solidFill>
                  <a:srgbClr val="0F4C3A"/>
                </a:solidFill>
                <a:latin typeface="Calibri" pitchFamily="34" charset="0"/>
                <a:ea typeface="Calibri" pitchFamily="34" charset="-122"/>
                <a:cs typeface="Calibri" pitchFamily="34" charset="-120"/>
              </a:rPr>
              <a:t>2. Fill the form</a:t>
            </a:r>
            <a:endParaRPr lang="en-US" sz="1400" dirty="0"/>
          </a:p>
          <a:p>
            <a:pPr indent="0" marL="0">
              <a:spcAft>
                <a:spcPts val="400"/>
              </a:spcAft>
              <a:buNone/>
            </a:pPr>
            <a:r>
              <a:rPr lang="en-US" sz="1150" dirty="0">
                <a:solidFill>
                  <a:srgbClr val="17251F"/>
                </a:solidFill>
                <a:latin typeface="Calibri" pitchFamily="34" charset="0"/>
                <a:ea typeface="Calibri" pitchFamily="34" charset="-122"/>
                <a:cs typeface="Calibri" pitchFamily="34" charset="-120"/>
              </a:rPr>
              <a:t>Title, content, status, cover image</a:t>
            </a:r>
            <a:endParaRPr lang="en-US" sz="1400" dirty="0"/>
          </a:p>
        </p:txBody>
      </p:sp>
      <p:sp>
        <p:nvSpPr>
          <p:cNvPr id="12" name="Text 8"/>
          <p:cNvSpPr txBox="1"/>
          <p:nvPr/>
        </p:nvSpPr>
        <p:spPr>
          <a:xfrm>
            <a:off x="3611880" y="2286000"/>
            <a:ext cx="182880" cy="365760"/>
          </a:xfrm>
          <a:prstGeom prst="rect">
            <a:avLst/>
          </a:prstGeom>
          <a:noFill/>
          <a:ln/>
        </p:spPr>
        <p:txBody>
          <a:bodyPr wrap="square" lIns="0" tIns="0" rIns="0" bIns="0" rtlCol="0" anchor="ctr"/>
          <a:lstStyle/>
          <a:p>
            <a:pPr algn="ctr" indent="0" marL="0">
              <a:buNone/>
            </a:pPr>
            <a:r>
              <a:rPr lang="en-US" sz="1800" b="1" dirty="0">
                <a:solidFill>
                  <a:srgbClr val="287A5D"/>
                </a:solidFill>
                <a:latin typeface="Calibri" pitchFamily="34" charset="0"/>
                <a:ea typeface="Calibri" pitchFamily="34" charset="-122"/>
                <a:cs typeface="Calibri" pitchFamily="34" charset="-120"/>
              </a:rPr>
              <a:t>&gt;</a:t>
            </a:r>
            <a:endParaRPr lang="en-US" sz="1800" dirty="0"/>
          </a:p>
        </p:txBody>
      </p:sp>
      <p:sp>
        <p:nvSpPr>
          <p:cNvPr id="13" name="Step card 3"/>
          <p:cNvSpPr/>
          <p:nvPr/>
        </p:nvSpPr>
        <p:spPr>
          <a:xfrm>
            <a:off x="3785616" y="1325880"/>
            <a:ext cx="1508760" cy="2194560"/>
          </a:xfrm>
          <a:prstGeom prst="roundRect">
            <a:avLst>
              <a:gd name="adj" fmla="val 4848"/>
            </a:avLst>
          </a:prstGeom>
          <a:solidFill>
            <a:srgbClr val="EEF5F1"/>
          </a:solidFill>
          <a:ln w="12700">
            <a:solidFill>
              <a:srgbClr val="EEF5F1"/>
            </a:solidFill>
            <a:prstDash val="solid"/>
          </a:ln>
        </p:spPr>
      </p:sp>
      <p:sp>
        <p:nvSpPr>
          <p:cNvPr id="14" name="Step icon 3 bg"/>
          <p:cNvSpPr/>
          <p:nvPr/>
        </p:nvSpPr>
        <p:spPr>
          <a:xfrm>
            <a:off x="4197096" y="1481328"/>
            <a:ext cx="685800" cy="685800"/>
          </a:xfrm>
          <a:prstGeom prst="ellipse">
            <a:avLst/>
          </a:prstGeom>
          <a:solidFill>
            <a:srgbClr val="0F4C3A"/>
          </a:solidFill>
          <a:ln w="12700">
            <a:solidFill>
              <a:srgbClr val="0F4C3A"/>
            </a:solidFill>
            <a:prstDash val="solid"/>
          </a:ln>
        </p:spPr>
      </p:sp>
      <p:pic>
        <p:nvPicPr>
          <p:cNvPr id="15" name="Image 2" descr="FaImage">    </p:cNvPr>
          <p:cNvPicPr>
            <a:picLocks noChangeAspect="1"/>
          </p:cNvPicPr>
          <p:nvPr/>
        </p:nvPicPr>
        <p:blipFill>
          <a:blip r:embed="rId3"/>
          <a:stretch>
            <a:fillRect/>
          </a:stretch>
        </p:blipFill>
        <p:spPr>
          <a:xfrm>
            <a:off x="4361688" y="1645920"/>
            <a:ext cx="356616" cy="356616"/>
          </a:xfrm>
          <a:prstGeom prst="rect">
            <a:avLst/>
          </a:prstGeom>
        </p:spPr>
      </p:pic>
      <p:sp>
        <p:nvSpPr>
          <p:cNvPr id="16" name="Text 11"/>
          <p:cNvSpPr txBox="1"/>
          <p:nvPr/>
        </p:nvSpPr>
        <p:spPr>
          <a:xfrm>
            <a:off x="3895344" y="2286000"/>
            <a:ext cx="1298448" cy="1188720"/>
          </a:xfrm>
          <a:prstGeom prst="rect">
            <a:avLst/>
          </a:prstGeom>
          <a:noFill/>
          <a:ln/>
        </p:spPr>
        <p:txBody>
          <a:bodyPr wrap="square" lIns="0" tIns="0" rIns="0" bIns="0" rtlCol="0" anchor="t"/>
          <a:lstStyle/>
          <a:p>
            <a:pPr indent="0" marL="0">
              <a:spcAft>
                <a:spcPts val="400"/>
              </a:spcAft>
              <a:buNone/>
            </a:pPr>
            <a:r>
              <a:rPr lang="en-US" sz="1400" b="1" dirty="0">
                <a:solidFill>
                  <a:srgbClr val="0F4C3A"/>
                </a:solidFill>
                <a:latin typeface="Calibri" pitchFamily="34" charset="0"/>
                <a:ea typeface="Calibri" pitchFamily="34" charset="-122"/>
                <a:cs typeface="Calibri" pitchFamily="34" charset="-120"/>
              </a:rPr>
              <a:t>3. Upload media</a:t>
            </a:r>
            <a:endParaRPr lang="en-US" sz="1400" dirty="0"/>
          </a:p>
          <a:p>
            <a:pPr indent="0" marL="0">
              <a:spcAft>
                <a:spcPts val="400"/>
              </a:spcAft>
              <a:buNone/>
            </a:pPr>
            <a:r>
              <a:rPr lang="en-US" sz="1150" dirty="0">
                <a:solidFill>
                  <a:srgbClr val="17251F"/>
                </a:solidFill>
                <a:latin typeface="Calibri" pitchFamily="34" charset="0"/>
                <a:ea typeface="Calibri" pitchFamily="34" charset="-122"/>
                <a:cs typeface="Calibri" pitchFamily="34" charset="-120"/>
              </a:rPr>
              <a:t>Type and size validated, saved to Storage</a:t>
            </a:r>
            <a:endParaRPr lang="en-US" sz="1400" dirty="0"/>
          </a:p>
        </p:txBody>
      </p:sp>
      <p:sp>
        <p:nvSpPr>
          <p:cNvPr id="17" name="Text 12"/>
          <p:cNvSpPr txBox="1"/>
          <p:nvPr/>
        </p:nvSpPr>
        <p:spPr>
          <a:xfrm>
            <a:off x="5276088" y="2286000"/>
            <a:ext cx="182880" cy="365760"/>
          </a:xfrm>
          <a:prstGeom prst="rect">
            <a:avLst/>
          </a:prstGeom>
          <a:noFill/>
          <a:ln/>
        </p:spPr>
        <p:txBody>
          <a:bodyPr wrap="square" lIns="0" tIns="0" rIns="0" bIns="0" rtlCol="0" anchor="ctr"/>
          <a:lstStyle/>
          <a:p>
            <a:pPr algn="ctr" indent="0" marL="0">
              <a:buNone/>
            </a:pPr>
            <a:r>
              <a:rPr lang="en-US" sz="1800" b="1" dirty="0">
                <a:solidFill>
                  <a:srgbClr val="287A5D"/>
                </a:solidFill>
                <a:latin typeface="Calibri" pitchFamily="34" charset="0"/>
                <a:ea typeface="Calibri" pitchFamily="34" charset="-122"/>
                <a:cs typeface="Calibri" pitchFamily="34" charset="-120"/>
              </a:rPr>
              <a:t>&gt;</a:t>
            </a:r>
            <a:endParaRPr lang="en-US" sz="1800" dirty="0"/>
          </a:p>
        </p:txBody>
      </p:sp>
      <p:sp>
        <p:nvSpPr>
          <p:cNvPr id="18" name="Step card 4"/>
          <p:cNvSpPr/>
          <p:nvPr/>
        </p:nvSpPr>
        <p:spPr>
          <a:xfrm>
            <a:off x="5449824" y="1325880"/>
            <a:ext cx="1508760" cy="2194560"/>
          </a:xfrm>
          <a:prstGeom prst="roundRect">
            <a:avLst>
              <a:gd name="adj" fmla="val 4848"/>
            </a:avLst>
          </a:prstGeom>
          <a:solidFill>
            <a:srgbClr val="EEF5F1"/>
          </a:solidFill>
          <a:ln w="12700">
            <a:solidFill>
              <a:srgbClr val="EEF5F1"/>
            </a:solidFill>
            <a:prstDash val="solid"/>
          </a:ln>
        </p:spPr>
      </p:sp>
      <p:sp>
        <p:nvSpPr>
          <p:cNvPr id="19" name="Step icon 4 bg"/>
          <p:cNvSpPr/>
          <p:nvPr/>
        </p:nvSpPr>
        <p:spPr>
          <a:xfrm>
            <a:off x="5861304" y="1481328"/>
            <a:ext cx="685800" cy="685800"/>
          </a:xfrm>
          <a:prstGeom prst="ellipse">
            <a:avLst/>
          </a:prstGeom>
          <a:solidFill>
            <a:srgbClr val="0F4C3A"/>
          </a:solidFill>
          <a:ln w="12700">
            <a:solidFill>
              <a:srgbClr val="0F4C3A"/>
            </a:solidFill>
            <a:prstDash val="solid"/>
          </a:ln>
        </p:spPr>
      </p:sp>
      <p:pic>
        <p:nvPicPr>
          <p:cNvPr id="20" name="Image 3" descr="FaLink">    </p:cNvPr>
          <p:cNvPicPr>
            <a:picLocks noChangeAspect="1"/>
          </p:cNvPicPr>
          <p:nvPr/>
        </p:nvPicPr>
        <p:blipFill>
          <a:blip r:embed="rId4"/>
          <a:stretch>
            <a:fillRect/>
          </a:stretch>
        </p:blipFill>
        <p:spPr>
          <a:xfrm>
            <a:off x="6025896" y="1645920"/>
            <a:ext cx="356616" cy="356616"/>
          </a:xfrm>
          <a:prstGeom prst="rect">
            <a:avLst/>
          </a:prstGeom>
        </p:spPr>
      </p:pic>
      <p:sp>
        <p:nvSpPr>
          <p:cNvPr id="21" name="Text 15"/>
          <p:cNvSpPr txBox="1"/>
          <p:nvPr/>
        </p:nvSpPr>
        <p:spPr>
          <a:xfrm>
            <a:off x="5559552" y="2286000"/>
            <a:ext cx="1298448" cy="1188720"/>
          </a:xfrm>
          <a:prstGeom prst="rect">
            <a:avLst/>
          </a:prstGeom>
          <a:noFill/>
          <a:ln/>
        </p:spPr>
        <p:txBody>
          <a:bodyPr wrap="square" lIns="0" tIns="0" rIns="0" bIns="0" rtlCol="0" anchor="t"/>
          <a:lstStyle/>
          <a:p>
            <a:pPr indent="0" marL="0">
              <a:spcAft>
                <a:spcPts val="400"/>
              </a:spcAft>
              <a:buNone/>
            </a:pPr>
            <a:r>
              <a:rPr lang="en-US" sz="1400" b="1" dirty="0">
                <a:solidFill>
                  <a:srgbClr val="0F4C3A"/>
                </a:solidFill>
                <a:latin typeface="Calibri" pitchFamily="34" charset="0"/>
                <a:ea typeface="Calibri" pitchFamily="34" charset="-122"/>
                <a:cs typeface="Calibri" pitchFamily="34" charset="-120"/>
              </a:rPr>
              <a:t>4. Unique slug</a:t>
            </a:r>
            <a:endParaRPr lang="en-US" sz="1400" dirty="0"/>
          </a:p>
          <a:p>
            <a:pPr indent="0" marL="0">
              <a:spcAft>
                <a:spcPts val="400"/>
              </a:spcAft>
              <a:buNone/>
            </a:pPr>
            <a:r>
              <a:rPr lang="en-US" sz="1150" dirty="0">
                <a:solidFill>
                  <a:srgbClr val="17251F"/>
                </a:solidFill>
                <a:latin typeface="Calibri" pitchFamily="34" charset="0"/>
                <a:ea typeface="Calibri" pitchFamily="34" charset="-122"/>
                <a:cs typeface="Calibri" pitchFamily="34" charset="-120"/>
              </a:rPr>
              <a:t>-2, -3 added if the title exists</a:t>
            </a:r>
            <a:endParaRPr lang="en-US" sz="1400" dirty="0"/>
          </a:p>
        </p:txBody>
      </p:sp>
      <p:sp>
        <p:nvSpPr>
          <p:cNvPr id="22" name="Text 16"/>
          <p:cNvSpPr txBox="1"/>
          <p:nvPr/>
        </p:nvSpPr>
        <p:spPr>
          <a:xfrm>
            <a:off x="6940296" y="2286000"/>
            <a:ext cx="182880" cy="365760"/>
          </a:xfrm>
          <a:prstGeom prst="rect">
            <a:avLst/>
          </a:prstGeom>
          <a:noFill/>
          <a:ln/>
        </p:spPr>
        <p:txBody>
          <a:bodyPr wrap="square" lIns="0" tIns="0" rIns="0" bIns="0" rtlCol="0" anchor="ctr"/>
          <a:lstStyle/>
          <a:p>
            <a:pPr algn="ctr" indent="0" marL="0">
              <a:buNone/>
            </a:pPr>
            <a:r>
              <a:rPr lang="en-US" sz="1800" b="1" dirty="0">
                <a:solidFill>
                  <a:srgbClr val="287A5D"/>
                </a:solidFill>
                <a:latin typeface="Calibri" pitchFamily="34" charset="0"/>
                <a:ea typeface="Calibri" pitchFamily="34" charset="-122"/>
                <a:cs typeface="Calibri" pitchFamily="34" charset="-120"/>
              </a:rPr>
              <a:t>&gt;</a:t>
            </a:r>
            <a:endParaRPr lang="en-US" sz="1800" dirty="0"/>
          </a:p>
        </p:txBody>
      </p:sp>
      <p:sp>
        <p:nvSpPr>
          <p:cNvPr id="23" name="Step card 5"/>
          <p:cNvSpPr/>
          <p:nvPr/>
        </p:nvSpPr>
        <p:spPr>
          <a:xfrm>
            <a:off x="7114032" y="1325880"/>
            <a:ext cx="1508760" cy="2194560"/>
          </a:xfrm>
          <a:prstGeom prst="roundRect">
            <a:avLst>
              <a:gd name="adj" fmla="val 4848"/>
            </a:avLst>
          </a:prstGeom>
          <a:solidFill>
            <a:srgbClr val="0F4C3A"/>
          </a:solidFill>
          <a:ln w="12700">
            <a:solidFill>
              <a:srgbClr val="0F4C3A"/>
            </a:solidFill>
            <a:prstDash val="solid"/>
          </a:ln>
        </p:spPr>
      </p:sp>
      <p:sp>
        <p:nvSpPr>
          <p:cNvPr id="24" name="Step icon 5 bg"/>
          <p:cNvSpPr/>
          <p:nvPr/>
        </p:nvSpPr>
        <p:spPr>
          <a:xfrm>
            <a:off x="7525512" y="1481328"/>
            <a:ext cx="685800" cy="685800"/>
          </a:xfrm>
          <a:prstGeom prst="ellipse">
            <a:avLst/>
          </a:prstGeom>
          <a:solidFill>
            <a:srgbClr val="D4A017"/>
          </a:solidFill>
          <a:ln w="12700">
            <a:solidFill>
              <a:srgbClr val="D4A017"/>
            </a:solidFill>
            <a:prstDash val="solid"/>
          </a:ln>
        </p:spPr>
      </p:sp>
      <p:pic>
        <p:nvPicPr>
          <p:cNvPr id="25" name="Image 4" descr="FaCheckCircle">    </p:cNvPr>
          <p:cNvPicPr>
            <a:picLocks noChangeAspect="1"/>
          </p:cNvPicPr>
          <p:nvPr/>
        </p:nvPicPr>
        <p:blipFill>
          <a:blip r:embed="rId5"/>
          <a:stretch>
            <a:fillRect/>
          </a:stretch>
        </p:blipFill>
        <p:spPr>
          <a:xfrm>
            <a:off x="7690104" y="1645920"/>
            <a:ext cx="356616" cy="356616"/>
          </a:xfrm>
          <a:prstGeom prst="rect">
            <a:avLst/>
          </a:prstGeom>
        </p:spPr>
      </p:pic>
      <p:sp>
        <p:nvSpPr>
          <p:cNvPr id="26" name="Text 19"/>
          <p:cNvSpPr txBox="1"/>
          <p:nvPr/>
        </p:nvSpPr>
        <p:spPr>
          <a:xfrm>
            <a:off x="7223760" y="2286000"/>
            <a:ext cx="1298448" cy="1188720"/>
          </a:xfrm>
          <a:prstGeom prst="rect">
            <a:avLst/>
          </a:prstGeom>
          <a:noFill/>
          <a:ln/>
        </p:spPr>
        <p:txBody>
          <a:bodyPr wrap="square" lIns="0" tIns="0" rIns="0" bIns="0" rtlCol="0" anchor="t"/>
          <a:lstStyle/>
          <a:p>
            <a:pPr indent="0" marL="0">
              <a:spcAft>
                <a:spcPts val="400"/>
              </a:spcAft>
              <a:buNone/>
            </a:pPr>
            <a:r>
              <a:rPr lang="en-US" sz="1400" b="1" dirty="0">
                <a:solidFill>
                  <a:srgbClr val="FFFFFF"/>
                </a:solidFill>
                <a:latin typeface="Calibri" pitchFamily="34" charset="0"/>
                <a:ea typeface="Calibri" pitchFamily="34" charset="-122"/>
                <a:cs typeface="Calibri" pitchFamily="34" charset="-120"/>
              </a:rPr>
              <a:t>5. Save and log</a:t>
            </a:r>
            <a:endParaRPr lang="en-US" sz="1400" dirty="0"/>
          </a:p>
          <a:p>
            <a:pPr indent="0" marL="0">
              <a:spcAft>
                <a:spcPts val="400"/>
              </a:spcAft>
              <a:buNone/>
            </a:pPr>
            <a:r>
              <a:rPr lang="en-US" sz="1150" dirty="0">
                <a:solidFill>
                  <a:srgbClr val="E6F0EA"/>
                </a:solidFill>
                <a:latin typeface="Calibri" pitchFamily="34" charset="0"/>
                <a:ea typeface="Calibri" pitchFamily="34" charset="-122"/>
                <a:cs typeface="Calibri" pitchFamily="34" charset="-120"/>
              </a:rPr>
              <a:t>RLS check, activity log, visible on the site</a:t>
            </a:r>
            <a:endParaRPr lang="en-US" sz="1400" dirty="0"/>
          </a:p>
        </p:txBody>
      </p:sp>
      <p:sp>
        <p:nvSpPr>
          <p:cNvPr id="27" name="Text 20"/>
          <p:cNvSpPr txBox="1"/>
          <p:nvPr/>
        </p:nvSpPr>
        <p:spPr>
          <a:xfrm>
            <a:off x="457200" y="3794760"/>
            <a:ext cx="8229600" cy="365760"/>
          </a:xfrm>
          <a:prstGeom prst="rect">
            <a:avLst/>
          </a:prstGeom>
          <a:noFill/>
          <a:ln/>
        </p:spPr>
        <p:txBody>
          <a:bodyPr wrap="square" lIns="0" tIns="0" rIns="0" bIns="0" rtlCol="0" anchor="ctr"/>
          <a:lstStyle/>
          <a:p>
            <a:pPr indent="0" marL="0">
              <a:buNone/>
            </a:pPr>
            <a:r>
              <a:rPr lang="en-US" sz="1300" i="1" dirty="0">
                <a:solidFill>
                  <a:srgbClr val="5B6B64"/>
                </a:solidFill>
                <a:latin typeface="Calibri" pitchFamily="34" charset="0"/>
                <a:ea typeface="Calibri" pitchFamily="34" charset="-122"/>
                <a:cs typeface="Calibri" pitchFamily="34" charset="-120"/>
              </a:rPr>
              <a:t>Draft items stay hidden from visitors. Sequence and activity diagrams: report Figures 4.4 to 4.6.</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F4C3A"/>
                </a:solidFill>
                <a:latin typeface="Cambria" pitchFamily="34" charset="0"/>
                <a:ea typeface="Cambria" pitchFamily="34" charset="-122"/>
                <a:cs typeface="Cambria" pitchFamily="34" charset="-120"/>
              </a:rPr>
              <a:t>The New Public Website</a:t>
            </a:r>
            <a:endParaRPr lang="en-US" sz="3200" dirty="0"/>
          </a:p>
        </p:txBody>
      </p:sp>
      <p:pic>
        <p:nvPicPr>
          <p:cNvPr id="3" name="Image 0" descr="New home page with hero slider">    </p:cNvPr>
          <p:cNvPicPr>
            <a:picLocks noChangeAspect="1"/>
          </p:cNvPicPr>
          <p:nvPr/>
        </p:nvPicPr>
        <p:blipFill>
          <a:blip r:embed="rId1"/>
          <a:stretch>
            <a:fillRect/>
          </a:stretch>
        </p:blipFill>
        <p:spPr>
          <a:xfrm>
            <a:off x="457200" y="1188720"/>
            <a:ext cx="4023360" cy="1942708"/>
          </a:xfrm>
          <a:prstGeom prst="rect">
            <a:avLst/>
          </a:prstGeom>
          <a:effectLst>
            <a:outerShdw sx="100000" sy="100000" kx="0" ky="0" algn="bl" rotWithShape="0" blurRad="76200" dist="25400" dir="5400000">
              <a:srgbClr val="000000">
                <a:alpha val="12000"/>
              </a:srgbClr>
            </a:outerShdw>
          </a:effectLst>
        </p:spPr>
      </p:pic>
      <p:pic>
        <p:nvPicPr>
          <p:cNvPr id="4" name="Image 1" descr="New President message section">    </p:cNvPr>
          <p:cNvPicPr>
            <a:picLocks noChangeAspect="1"/>
          </p:cNvPicPr>
          <p:nvPr/>
        </p:nvPicPr>
        <p:blipFill>
          <a:blip r:embed="rId2"/>
          <a:stretch>
            <a:fillRect/>
          </a:stretch>
        </p:blipFill>
        <p:spPr>
          <a:xfrm>
            <a:off x="4663440" y="1188720"/>
            <a:ext cx="4023360" cy="1942708"/>
          </a:xfrm>
          <a:prstGeom prst="rect">
            <a:avLst/>
          </a:prstGeom>
          <a:effectLst>
            <a:outerShdw sx="100000" sy="100000" kx="0" ky="0" algn="bl" rotWithShape="0" blurRad="76200" dist="25400" dir="5400000">
              <a:srgbClr val="000000">
                <a:alpha val="12000"/>
              </a:srgbClr>
            </a:outerShdw>
          </a:effectLst>
        </p:spPr>
      </p:pic>
      <p:sp>
        <p:nvSpPr>
          <p:cNvPr id="5" name="Text 1"/>
          <p:cNvSpPr txBox="1"/>
          <p:nvPr/>
        </p:nvSpPr>
        <p:spPr>
          <a:xfrm>
            <a:off x="457200" y="3204580"/>
            <a:ext cx="4023360" cy="274320"/>
          </a:xfrm>
          <a:prstGeom prst="rect">
            <a:avLst/>
          </a:prstGeom>
          <a:noFill/>
          <a:ln/>
        </p:spPr>
        <p:txBody>
          <a:bodyPr wrap="square" lIns="0" tIns="0" rIns="0" bIns="0" rtlCol="0" anchor="ctr"/>
          <a:lstStyle/>
          <a:p>
            <a:pPr indent="0" marL="0">
              <a:buNone/>
            </a:pPr>
            <a:r>
              <a:rPr lang="en-US" sz="1200" i="1" dirty="0">
                <a:solidFill>
                  <a:srgbClr val="5B6B64"/>
                </a:solidFill>
                <a:latin typeface="Calibri" pitchFamily="34" charset="0"/>
                <a:ea typeface="Calibri" pitchFamily="34" charset="-122"/>
                <a:cs typeface="Calibri" pitchFamily="34" charset="-120"/>
              </a:rPr>
              <a:t>Home page with hero slider and grouped menu</a:t>
            </a:r>
            <a:endParaRPr lang="en-US" sz="1200" dirty="0"/>
          </a:p>
        </p:txBody>
      </p:sp>
      <p:sp>
        <p:nvSpPr>
          <p:cNvPr id="6" name="Text 2"/>
          <p:cNvSpPr txBox="1"/>
          <p:nvPr/>
        </p:nvSpPr>
        <p:spPr>
          <a:xfrm>
            <a:off x="4663440" y="3204580"/>
            <a:ext cx="4023360" cy="274320"/>
          </a:xfrm>
          <a:prstGeom prst="rect">
            <a:avLst/>
          </a:prstGeom>
          <a:noFill/>
          <a:ln/>
        </p:spPr>
        <p:txBody>
          <a:bodyPr wrap="square" lIns="0" tIns="0" rIns="0" bIns="0" rtlCol="0" anchor="ctr"/>
          <a:lstStyle/>
          <a:p>
            <a:pPr indent="0" marL="0">
              <a:buNone/>
            </a:pPr>
            <a:r>
              <a:rPr lang="en-US" sz="1200" i="1" dirty="0">
                <a:solidFill>
                  <a:srgbClr val="5B6B64"/>
                </a:solidFill>
                <a:latin typeface="Calibri" pitchFamily="34" charset="0"/>
                <a:ea typeface="Calibri" pitchFamily="34" charset="-122"/>
                <a:cs typeface="Calibri" pitchFamily="34" charset="-120"/>
              </a:rPr>
              <a:t>President's message with photo and biography</a:t>
            </a:r>
            <a:endParaRPr lang="en-US" sz="1200" dirty="0"/>
          </a:p>
        </p:txBody>
      </p:sp>
      <p:sp>
        <p:nvSpPr>
          <p:cNvPr id="7" name="Feature chip 1"/>
          <p:cNvSpPr/>
          <p:nvPr/>
        </p:nvSpPr>
        <p:spPr>
          <a:xfrm>
            <a:off x="457200" y="3657600"/>
            <a:ext cx="1938528" cy="914400"/>
          </a:xfrm>
          <a:prstGeom prst="roundRect">
            <a:avLst>
              <a:gd name="adj" fmla="val 8000"/>
            </a:avLst>
          </a:prstGeom>
          <a:solidFill>
            <a:srgbClr val="EEF5F1"/>
          </a:solidFill>
          <a:ln w="12700">
            <a:solidFill>
              <a:srgbClr val="EEF5F1"/>
            </a:solidFill>
            <a:prstDash val="solid"/>
          </a:ln>
        </p:spPr>
      </p:sp>
      <p:sp>
        <p:nvSpPr>
          <p:cNvPr id="8" name="Chip icon 1 bg"/>
          <p:cNvSpPr/>
          <p:nvPr/>
        </p:nvSpPr>
        <p:spPr>
          <a:xfrm>
            <a:off x="566928" y="3858768"/>
            <a:ext cx="502920" cy="502920"/>
          </a:xfrm>
          <a:prstGeom prst="ellipse">
            <a:avLst/>
          </a:prstGeom>
          <a:solidFill>
            <a:srgbClr val="0F4C3A"/>
          </a:solidFill>
          <a:ln w="12700">
            <a:solidFill>
              <a:srgbClr val="0F4C3A"/>
            </a:solidFill>
            <a:prstDash val="solid"/>
          </a:ln>
        </p:spPr>
      </p:sp>
      <p:pic>
        <p:nvPicPr>
          <p:cNvPr id="9" name="Image 2" descr="FaMobileAlt">    </p:cNvPr>
          <p:cNvPicPr>
            <a:picLocks noChangeAspect="1"/>
          </p:cNvPicPr>
          <p:nvPr/>
        </p:nvPicPr>
        <p:blipFill>
          <a:blip r:embed="rId3"/>
          <a:stretch>
            <a:fillRect/>
          </a:stretch>
        </p:blipFill>
        <p:spPr>
          <a:xfrm>
            <a:off x="687629" y="3979469"/>
            <a:ext cx="261518" cy="261518"/>
          </a:xfrm>
          <a:prstGeom prst="rect">
            <a:avLst/>
          </a:prstGeom>
        </p:spPr>
      </p:pic>
      <p:sp>
        <p:nvSpPr>
          <p:cNvPr id="10" name="Text 5"/>
          <p:cNvSpPr txBox="1"/>
          <p:nvPr/>
        </p:nvSpPr>
        <p:spPr>
          <a:xfrm>
            <a:off x="1161288" y="3657600"/>
            <a:ext cx="1170432" cy="914400"/>
          </a:xfrm>
          <a:prstGeom prst="rect">
            <a:avLst/>
          </a:prstGeom>
          <a:noFill/>
          <a:ln/>
        </p:spPr>
        <p:txBody>
          <a:bodyPr wrap="square" lIns="0" tIns="0" rIns="0" bIns="0" rtlCol="0" anchor="ctr"/>
          <a:lstStyle/>
          <a:p>
            <a:pPr indent="0" marL="0">
              <a:buNone/>
            </a:pPr>
            <a:r>
              <a:rPr lang="en-US" sz="1150" b="1" dirty="0">
                <a:solidFill>
                  <a:srgbClr val="17251F"/>
                </a:solidFill>
                <a:latin typeface="Calibri" pitchFamily="34" charset="0"/>
                <a:ea typeface="Calibri" pitchFamily="34" charset="-122"/>
                <a:cs typeface="Calibri" pitchFamily="34" charset="-120"/>
              </a:rPr>
              <a:t>Responsive on phones, tablets, desktops</a:t>
            </a:r>
            <a:endParaRPr lang="en-US" sz="1150" dirty="0"/>
          </a:p>
        </p:txBody>
      </p:sp>
      <p:sp>
        <p:nvSpPr>
          <p:cNvPr id="11" name="Feature chip 2"/>
          <p:cNvSpPr/>
          <p:nvPr/>
        </p:nvSpPr>
        <p:spPr>
          <a:xfrm>
            <a:off x="2542032" y="3657600"/>
            <a:ext cx="1938528" cy="914400"/>
          </a:xfrm>
          <a:prstGeom prst="roundRect">
            <a:avLst>
              <a:gd name="adj" fmla="val 8000"/>
            </a:avLst>
          </a:prstGeom>
          <a:solidFill>
            <a:srgbClr val="EEF5F1"/>
          </a:solidFill>
          <a:ln w="12700">
            <a:solidFill>
              <a:srgbClr val="EEF5F1"/>
            </a:solidFill>
            <a:prstDash val="solid"/>
          </a:ln>
        </p:spPr>
      </p:sp>
      <p:sp>
        <p:nvSpPr>
          <p:cNvPr id="12" name="Chip icon 2 bg"/>
          <p:cNvSpPr/>
          <p:nvPr/>
        </p:nvSpPr>
        <p:spPr>
          <a:xfrm>
            <a:off x="2651760" y="3858768"/>
            <a:ext cx="502920" cy="502920"/>
          </a:xfrm>
          <a:prstGeom prst="ellipse">
            <a:avLst/>
          </a:prstGeom>
          <a:solidFill>
            <a:srgbClr val="0F4C3A"/>
          </a:solidFill>
          <a:ln w="12700">
            <a:solidFill>
              <a:srgbClr val="0F4C3A"/>
            </a:solidFill>
            <a:prstDash val="solid"/>
          </a:ln>
        </p:spPr>
      </p:sp>
      <p:pic>
        <p:nvPicPr>
          <p:cNvPr id="13" name="Image 3" descr="FaLink">    </p:cNvPr>
          <p:cNvPicPr>
            <a:picLocks noChangeAspect="1"/>
          </p:cNvPicPr>
          <p:nvPr/>
        </p:nvPicPr>
        <p:blipFill>
          <a:blip r:embed="rId4"/>
          <a:stretch>
            <a:fillRect/>
          </a:stretch>
        </p:blipFill>
        <p:spPr>
          <a:xfrm>
            <a:off x="2772461" y="3979469"/>
            <a:ext cx="261518" cy="261518"/>
          </a:xfrm>
          <a:prstGeom prst="rect">
            <a:avLst/>
          </a:prstGeom>
        </p:spPr>
      </p:pic>
      <p:sp>
        <p:nvSpPr>
          <p:cNvPr id="14" name="Text 8"/>
          <p:cNvSpPr txBox="1"/>
          <p:nvPr/>
        </p:nvSpPr>
        <p:spPr>
          <a:xfrm>
            <a:off x="3246120" y="3657600"/>
            <a:ext cx="1170432" cy="914400"/>
          </a:xfrm>
          <a:prstGeom prst="rect">
            <a:avLst/>
          </a:prstGeom>
          <a:noFill/>
          <a:ln/>
        </p:spPr>
        <p:txBody>
          <a:bodyPr wrap="square" lIns="0" tIns="0" rIns="0" bIns="0" rtlCol="0" anchor="ctr"/>
          <a:lstStyle/>
          <a:p>
            <a:pPr indent="0" marL="0">
              <a:buNone/>
            </a:pPr>
            <a:r>
              <a:rPr lang="en-US" sz="1150" b="1" dirty="0">
                <a:solidFill>
                  <a:srgbClr val="17251F"/>
                </a:solidFill>
                <a:latin typeface="Calibri" pitchFamily="34" charset="0"/>
                <a:ea typeface="Calibri" pitchFamily="34" charset="-122"/>
                <a:cs typeface="Calibri" pitchFamily="34" charset="-120"/>
              </a:rPr>
              <a:t>Clean slug URLs for every item</a:t>
            </a:r>
            <a:endParaRPr lang="en-US" sz="1150" dirty="0"/>
          </a:p>
        </p:txBody>
      </p:sp>
      <p:sp>
        <p:nvSpPr>
          <p:cNvPr id="15" name="Feature chip 3"/>
          <p:cNvSpPr/>
          <p:nvPr/>
        </p:nvSpPr>
        <p:spPr>
          <a:xfrm>
            <a:off x="4626864" y="3657600"/>
            <a:ext cx="1938528" cy="914400"/>
          </a:xfrm>
          <a:prstGeom prst="roundRect">
            <a:avLst>
              <a:gd name="adj" fmla="val 8000"/>
            </a:avLst>
          </a:prstGeom>
          <a:solidFill>
            <a:srgbClr val="EEF5F1"/>
          </a:solidFill>
          <a:ln w="12700">
            <a:solidFill>
              <a:srgbClr val="EEF5F1"/>
            </a:solidFill>
            <a:prstDash val="solid"/>
          </a:ln>
        </p:spPr>
      </p:sp>
      <p:sp>
        <p:nvSpPr>
          <p:cNvPr id="16" name="Chip icon 3 bg"/>
          <p:cNvSpPr/>
          <p:nvPr/>
        </p:nvSpPr>
        <p:spPr>
          <a:xfrm>
            <a:off x="4736592" y="3858768"/>
            <a:ext cx="502920" cy="502920"/>
          </a:xfrm>
          <a:prstGeom prst="ellipse">
            <a:avLst/>
          </a:prstGeom>
          <a:solidFill>
            <a:srgbClr val="0F4C3A"/>
          </a:solidFill>
          <a:ln w="12700">
            <a:solidFill>
              <a:srgbClr val="0F4C3A"/>
            </a:solidFill>
            <a:prstDash val="solid"/>
          </a:ln>
        </p:spPr>
      </p:sp>
      <p:pic>
        <p:nvPicPr>
          <p:cNvPr id="17" name="Image 4" descr="FaSearch">    </p:cNvPr>
          <p:cNvPicPr>
            <a:picLocks noChangeAspect="1"/>
          </p:cNvPicPr>
          <p:nvPr/>
        </p:nvPicPr>
        <p:blipFill>
          <a:blip r:embed="rId5"/>
          <a:stretch>
            <a:fillRect/>
          </a:stretch>
        </p:blipFill>
        <p:spPr>
          <a:xfrm>
            <a:off x="4857293" y="3979469"/>
            <a:ext cx="261518" cy="261518"/>
          </a:xfrm>
          <a:prstGeom prst="rect">
            <a:avLst/>
          </a:prstGeom>
        </p:spPr>
      </p:pic>
      <p:sp>
        <p:nvSpPr>
          <p:cNvPr id="18" name="Text 11"/>
          <p:cNvSpPr txBox="1"/>
          <p:nvPr/>
        </p:nvSpPr>
        <p:spPr>
          <a:xfrm>
            <a:off x="5330952" y="3657600"/>
            <a:ext cx="1170432" cy="914400"/>
          </a:xfrm>
          <a:prstGeom prst="rect">
            <a:avLst/>
          </a:prstGeom>
          <a:noFill/>
          <a:ln/>
        </p:spPr>
        <p:txBody>
          <a:bodyPr wrap="square" lIns="0" tIns="0" rIns="0" bIns="0" rtlCol="0" anchor="ctr"/>
          <a:lstStyle/>
          <a:p>
            <a:pPr indent="0" marL="0">
              <a:buNone/>
            </a:pPr>
            <a:r>
              <a:rPr lang="en-US" sz="1150" b="1" dirty="0">
                <a:solidFill>
                  <a:srgbClr val="17251F"/>
                </a:solidFill>
                <a:latin typeface="Calibri" pitchFamily="34" charset="0"/>
                <a:ea typeface="Calibri" pitchFamily="34" charset="-122"/>
                <a:cs typeface="Calibri" pitchFamily="34" charset="-120"/>
              </a:rPr>
              <a:t>SEO titles and descriptions per page</a:t>
            </a:r>
            <a:endParaRPr lang="en-US" sz="1150" dirty="0"/>
          </a:p>
        </p:txBody>
      </p:sp>
      <p:sp>
        <p:nvSpPr>
          <p:cNvPr id="19" name="Feature chip 4"/>
          <p:cNvSpPr/>
          <p:nvPr/>
        </p:nvSpPr>
        <p:spPr>
          <a:xfrm>
            <a:off x="6711696" y="3657600"/>
            <a:ext cx="1938528" cy="914400"/>
          </a:xfrm>
          <a:prstGeom prst="roundRect">
            <a:avLst>
              <a:gd name="adj" fmla="val 8000"/>
            </a:avLst>
          </a:prstGeom>
          <a:solidFill>
            <a:srgbClr val="EEF5F1"/>
          </a:solidFill>
          <a:ln w="12700">
            <a:solidFill>
              <a:srgbClr val="EEF5F1"/>
            </a:solidFill>
            <a:prstDash val="solid"/>
          </a:ln>
        </p:spPr>
      </p:sp>
      <p:sp>
        <p:nvSpPr>
          <p:cNvPr id="20" name="Chip icon 4 bg"/>
          <p:cNvSpPr/>
          <p:nvPr/>
        </p:nvSpPr>
        <p:spPr>
          <a:xfrm>
            <a:off x="6821424" y="3858768"/>
            <a:ext cx="502920" cy="502920"/>
          </a:xfrm>
          <a:prstGeom prst="ellipse">
            <a:avLst/>
          </a:prstGeom>
          <a:solidFill>
            <a:srgbClr val="0F4C3A"/>
          </a:solidFill>
          <a:ln w="12700">
            <a:solidFill>
              <a:srgbClr val="0F4C3A"/>
            </a:solidFill>
            <a:prstDash val="solid"/>
          </a:ln>
        </p:spPr>
      </p:sp>
      <p:pic>
        <p:nvPicPr>
          <p:cNvPr id="21" name="Image 5" descr="FaDatabase">    </p:cNvPr>
          <p:cNvPicPr>
            <a:picLocks noChangeAspect="1"/>
          </p:cNvPicPr>
          <p:nvPr/>
        </p:nvPicPr>
        <p:blipFill>
          <a:blip r:embed="rId6"/>
          <a:stretch>
            <a:fillRect/>
          </a:stretch>
        </p:blipFill>
        <p:spPr>
          <a:xfrm>
            <a:off x="6942125" y="3979469"/>
            <a:ext cx="261518" cy="261518"/>
          </a:xfrm>
          <a:prstGeom prst="rect">
            <a:avLst/>
          </a:prstGeom>
        </p:spPr>
      </p:pic>
      <p:sp>
        <p:nvSpPr>
          <p:cNvPr id="22" name="Text 14"/>
          <p:cNvSpPr txBox="1"/>
          <p:nvPr/>
        </p:nvSpPr>
        <p:spPr>
          <a:xfrm>
            <a:off x="7415784" y="3657600"/>
            <a:ext cx="1170432" cy="914400"/>
          </a:xfrm>
          <a:prstGeom prst="rect">
            <a:avLst/>
          </a:prstGeom>
          <a:noFill/>
          <a:ln/>
        </p:spPr>
        <p:txBody>
          <a:bodyPr wrap="square" lIns="0" tIns="0" rIns="0" bIns="0" rtlCol="0" anchor="ctr"/>
          <a:lstStyle/>
          <a:p>
            <a:pPr indent="0" marL="0">
              <a:buNone/>
            </a:pPr>
            <a:r>
              <a:rPr lang="en-US" sz="1150" b="1" dirty="0">
                <a:solidFill>
                  <a:srgbClr val="17251F"/>
                </a:solidFill>
                <a:latin typeface="Calibri" pitchFamily="34" charset="0"/>
                <a:ea typeface="Calibri" pitchFamily="34" charset="-122"/>
                <a:cs typeface="Calibri" pitchFamily="34" charset="-120"/>
              </a:rPr>
              <a:t>All content loaded from the database</a:t>
            </a:r>
            <a:endParaRPr lang="en-US" sz="11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F4C3A"/>
                </a:solidFill>
                <a:latin typeface="Cambria" pitchFamily="34" charset="0"/>
                <a:ea typeface="Cambria" pitchFamily="34" charset="-122"/>
                <a:cs typeface="Cambria" pitchFamily="34" charset="-120"/>
              </a:rPr>
              <a:t>The Admin CMS</a:t>
            </a:r>
            <a:endParaRPr lang="en-US" sz="3200" dirty="0"/>
          </a:p>
        </p:txBody>
      </p:sp>
      <p:pic>
        <p:nvPicPr>
          <p:cNvPr id="3" name="Image 0" descr="Admin dashboard with statistics and quick actions">    </p:cNvPr>
          <p:cNvPicPr>
            <a:picLocks noChangeAspect="1"/>
          </p:cNvPicPr>
          <p:nvPr/>
        </p:nvPicPr>
        <p:blipFill>
          <a:blip r:embed="rId1"/>
          <a:stretch>
            <a:fillRect/>
          </a:stretch>
        </p:blipFill>
        <p:spPr>
          <a:xfrm>
            <a:off x="457200" y="1143000"/>
            <a:ext cx="4937760" cy="2384233"/>
          </a:xfrm>
          <a:prstGeom prst="rect">
            <a:avLst/>
          </a:prstGeom>
          <a:effectLst>
            <a:outerShdw sx="100000" sy="100000" kx="0" ky="0" algn="bl" rotWithShape="0" blurRad="76200" dist="25400" dir="5400000">
              <a:srgbClr val="000000">
                <a:alpha val="12000"/>
              </a:srgbClr>
            </a:outerShdw>
          </a:effectLst>
        </p:spPr>
      </p:pic>
      <p:sp>
        <p:nvSpPr>
          <p:cNvPr id="4" name="Text 1"/>
          <p:cNvSpPr txBox="1"/>
          <p:nvPr/>
        </p:nvSpPr>
        <p:spPr>
          <a:xfrm>
            <a:off x="457200" y="3600385"/>
            <a:ext cx="4937760" cy="256032"/>
          </a:xfrm>
          <a:prstGeom prst="rect">
            <a:avLst/>
          </a:prstGeom>
          <a:noFill/>
          <a:ln/>
        </p:spPr>
        <p:txBody>
          <a:bodyPr wrap="square" lIns="0" tIns="0" rIns="0" bIns="0" rtlCol="0" anchor="ctr"/>
          <a:lstStyle/>
          <a:p>
            <a:pPr indent="0" marL="0">
              <a:buNone/>
            </a:pPr>
            <a:r>
              <a:rPr lang="en-US" sz="1150" i="1" dirty="0">
                <a:solidFill>
                  <a:srgbClr val="5B6B64"/>
                </a:solidFill>
                <a:latin typeface="Calibri" pitchFamily="34" charset="0"/>
                <a:ea typeface="Calibri" pitchFamily="34" charset="-122"/>
                <a:cs typeface="Calibri" pitchFamily="34" charset="-120"/>
              </a:rPr>
              <a:t>Dashboard: live counts, quick actions, activity</a:t>
            </a:r>
            <a:endParaRPr lang="en-US" sz="1150" dirty="0"/>
          </a:p>
        </p:txBody>
      </p:sp>
      <p:pic>
        <p:nvPicPr>
          <p:cNvPr id="5" name="Image 1" descr="Homepage management screen">    </p:cNvPr>
          <p:cNvPicPr>
            <a:picLocks noChangeAspect="1"/>
          </p:cNvPicPr>
          <p:nvPr/>
        </p:nvPicPr>
        <p:blipFill>
          <a:blip r:embed="rId2"/>
          <a:stretch>
            <a:fillRect/>
          </a:stretch>
        </p:blipFill>
        <p:spPr>
          <a:xfrm>
            <a:off x="5669280" y="1143000"/>
            <a:ext cx="3063240" cy="1479107"/>
          </a:xfrm>
          <a:prstGeom prst="rect">
            <a:avLst/>
          </a:prstGeom>
          <a:effectLst>
            <a:outerShdw sx="100000" sy="100000" kx="0" ky="0" algn="bl" rotWithShape="0" blurRad="76200" dist="25400" dir="5400000">
              <a:srgbClr val="000000">
                <a:alpha val="12000"/>
              </a:srgbClr>
            </a:outerShdw>
          </a:effectLst>
        </p:spPr>
      </p:pic>
      <p:sp>
        <p:nvSpPr>
          <p:cNvPr id="6" name="Text 2"/>
          <p:cNvSpPr txBox="1"/>
          <p:nvPr/>
        </p:nvSpPr>
        <p:spPr>
          <a:xfrm>
            <a:off x="5669280" y="2676971"/>
            <a:ext cx="3063240" cy="237744"/>
          </a:xfrm>
          <a:prstGeom prst="rect">
            <a:avLst/>
          </a:prstGeom>
          <a:noFill/>
          <a:ln/>
        </p:spPr>
        <p:txBody>
          <a:bodyPr wrap="square" lIns="0" tIns="0" rIns="0" bIns="0" rtlCol="0" anchor="ctr"/>
          <a:lstStyle/>
          <a:p>
            <a:pPr indent="0" marL="0">
              <a:buNone/>
            </a:pPr>
            <a:r>
              <a:rPr lang="en-US" sz="1150" i="1" dirty="0">
                <a:solidFill>
                  <a:srgbClr val="5B6B64"/>
                </a:solidFill>
                <a:latin typeface="Calibri" pitchFamily="34" charset="0"/>
                <a:ea typeface="Calibri" pitchFamily="34" charset="-122"/>
                <a:cs typeface="Calibri" pitchFamily="34" charset="-120"/>
              </a:rPr>
              <a:t>Homepage manager</a:t>
            </a:r>
            <a:endParaRPr lang="en-US" sz="1150" dirty="0"/>
          </a:p>
        </p:txBody>
      </p:sp>
      <p:pic>
        <p:nvPicPr>
          <p:cNvPr id="7" name="Image 2" descr="Create user form with role selection">    </p:cNvPr>
          <p:cNvPicPr>
            <a:picLocks noChangeAspect="1"/>
          </p:cNvPicPr>
          <p:nvPr/>
        </p:nvPicPr>
        <p:blipFill>
          <a:blip r:embed="rId3"/>
          <a:stretch>
            <a:fillRect/>
          </a:stretch>
        </p:blipFill>
        <p:spPr>
          <a:xfrm>
            <a:off x="5669280" y="3033587"/>
            <a:ext cx="3063240" cy="1479107"/>
          </a:xfrm>
          <a:prstGeom prst="rect">
            <a:avLst/>
          </a:prstGeom>
          <a:effectLst>
            <a:outerShdw sx="100000" sy="100000" kx="0" ky="0" algn="bl" rotWithShape="0" blurRad="76200" dist="25400" dir="5400000">
              <a:srgbClr val="000000">
                <a:alpha val="12000"/>
              </a:srgbClr>
            </a:outerShdw>
          </a:effectLst>
        </p:spPr>
      </p:pic>
      <p:sp>
        <p:nvSpPr>
          <p:cNvPr id="8" name="Text 3"/>
          <p:cNvSpPr txBox="1"/>
          <p:nvPr/>
        </p:nvSpPr>
        <p:spPr>
          <a:xfrm>
            <a:off x="5669280" y="4567559"/>
            <a:ext cx="3063240" cy="237744"/>
          </a:xfrm>
          <a:prstGeom prst="rect">
            <a:avLst/>
          </a:prstGeom>
          <a:noFill/>
          <a:ln/>
        </p:spPr>
        <p:txBody>
          <a:bodyPr wrap="square" lIns="0" tIns="0" rIns="0" bIns="0" rtlCol="0" anchor="ctr"/>
          <a:lstStyle/>
          <a:p>
            <a:pPr indent="0" marL="0">
              <a:buNone/>
            </a:pPr>
            <a:r>
              <a:rPr lang="en-US" sz="1150" i="1" dirty="0">
                <a:solidFill>
                  <a:srgbClr val="5B6B64"/>
                </a:solidFill>
                <a:latin typeface="Calibri" pitchFamily="34" charset="0"/>
                <a:ea typeface="Calibri" pitchFamily="34" charset="-122"/>
                <a:cs typeface="Calibri" pitchFamily="34" charset="-120"/>
              </a:rPr>
              <a:t>Create user with role</a:t>
            </a:r>
            <a:endParaRPr lang="en-US" sz="1150" dirty="0"/>
          </a:p>
        </p:txBody>
      </p:sp>
      <p:sp>
        <p:nvSpPr>
          <p:cNvPr id="9" name="Text 4"/>
          <p:cNvSpPr txBox="1"/>
          <p:nvPr/>
        </p:nvSpPr>
        <p:spPr>
          <a:xfrm>
            <a:off x="457200" y="4160520"/>
            <a:ext cx="5029200" cy="365760"/>
          </a:xfrm>
          <a:prstGeom prst="rect">
            <a:avLst/>
          </a:prstGeom>
          <a:noFill/>
          <a:ln/>
        </p:spPr>
        <p:txBody>
          <a:bodyPr wrap="square" lIns="0" tIns="0" rIns="0" bIns="0" rtlCol="0" anchor="ctr"/>
          <a:lstStyle/>
          <a:p>
            <a:pPr indent="0" marL="0">
              <a:buNone/>
            </a:pPr>
            <a:r>
              <a:rPr lang="en-US" sz="1200" b="1" dirty="0">
                <a:solidFill>
                  <a:srgbClr val="0F4C3A"/>
                </a:solidFill>
                <a:latin typeface="Calibri" pitchFamily="34" charset="0"/>
                <a:ea typeface="Calibri" pitchFamily="34" charset="-122"/>
                <a:cs typeface="Calibri" pitchFamily="34" charset="-120"/>
              </a:rPr>
              <a:t>Live data: 9 news, 12 vacancies, 6 announcements, 5 events, 97 media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F4C3A"/>
                </a:solidFill>
                <a:latin typeface="Cambria" pitchFamily="34" charset="0"/>
                <a:ea typeface="Cambria" pitchFamily="34" charset="-122"/>
                <a:cs typeface="Cambria" pitchFamily="34" charset="-120"/>
              </a:rPr>
              <a:t>Testing and Results</a:t>
            </a:r>
            <a:endParaRPr lang="en-US" sz="3200" dirty="0"/>
          </a:p>
        </p:txBody>
      </p:sp>
      <p:sp>
        <p:nvSpPr>
          <p:cNvPr id="3" name="Test stat card 1"/>
          <p:cNvSpPr/>
          <p:nvPr/>
        </p:nvSpPr>
        <p:spPr>
          <a:xfrm>
            <a:off x="457200" y="1143000"/>
            <a:ext cx="4023360" cy="1508760"/>
          </a:xfrm>
          <a:prstGeom prst="roundRect">
            <a:avLst>
              <a:gd name="adj" fmla="val 4848"/>
            </a:avLst>
          </a:prstGeom>
          <a:solidFill>
            <a:srgbClr val="EEF5F1"/>
          </a:solidFill>
          <a:ln w="12700">
            <a:solidFill>
              <a:srgbClr val="EEF5F1"/>
            </a:solidFill>
            <a:prstDash val="solid"/>
          </a:ln>
        </p:spPr>
      </p:sp>
      <p:sp>
        <p:nvSpPr>
          <p:cNvPr id="4" name="Text 2"/>
          <p:cNvSpPr txBox="1"/>
          <p:nvPr/>
        </p:nvSpPr>
        <p:spPr>
          <a:xfrm>
            <a:off x="594360" y="1234440"/>
            <a:ext cx="1783080" cy="1325880"/>
          </a:xfrm>
          <a:prstGeom prst="rect">
            <a:avLst/>
          </a:prstGeom>
          <a:noFill/>
          <a:ln/>
        </p:spPr>
        <p:txBody>
          <a:bodyPr wrap="square" lIns="0" tIns="0" rIns="0" bIns="0" rtlCol="0" anchor="ctr"/>
          <a:lstStyle/>
          <a:p>
            <a:pPr algn="ctr" indent="0" marL="0">
              <a:buNone/>
            </a:pPr>
            <a:r>
              <a:rPr lang="en-US" sz="3400" b="1" dirty="0">
                <a:solidFill>
                  <a:srgbClr val="0F4C3A"/>
                </a:solidFill>
                <a:latin typeface="Cambria" pitchFamily="34" charset="0"/>
                <a:ea typeface="Cambria" pitchFamily="34" charset="-122"/>
                <a:cs typeface="Cambria" pitchFamily="34" charset="-120"/>
              </a:rPr>
              <a:t>45 / 45</a:t>
            </a:r>
            <a:endParaRPr lang="en-US" sz="3400" dirty="0"/>
          </a:p>
        </p:txBody>
      </p:sp>
      <p:sp>
        <p:nvSpPr>
          <p:cNvPr id="5" name="Text 3"/>
          <p:cNvSpPr txBox="1"/>
          <p:nvPr/>
        </p:nvSpPr>
        <p:spPr>
          <a:xfrm>
            <a:off x="2423160" y="1234440"/>
            <a:ext cx="1965960" cy="1325880"/>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Postman integration tests</a:t>
            </a:r>
            <a:endParaRPr lang="en-US" sz="1400" dirty="0"/>
          </a:p>
          <a:p>
            <a:pPr indent="0" marL="0">
              <a:buNone/>
            </a:pPr>
            <a:r>
              <a:rPr lang="en-US" sz="1150" dirty="0">
                <a:solidFill>
                  <a:srgbClr val="5B6B64"/>
                </a:solidFill>
                <a:latin typeface="Calibri" pitchFamily="34" charset="0"/>
                <a:ea typeface="Calibri" pitchFamily="34" charset="-122"/>
                <a:cs typeface="Calibri" pitchFamily="34" charset="-120"/>
              </a:rPr>
              <a:t>News, events, programs, media, auth, settings</a:t>
            </a:r>
            <a:endParaRPr lang="en-US" sz="1400" dirty="0"/>
          </a:p>
        </p:txBody>
      </p:sp>
      <p:sp>
        <p:nvSpPr>
          <p:cNvPr id="6" name="Test stat card 2"/>
          <p:cNvSpPr/>
          <p:nvPr/>
        </p:nvSpPr>
        <p:spPr>
          <a:xfrm>
            <a:off x="4663440" y="1143000"/>
            <a:ext cx="4023360" cy="1508760"/>
          </a:xfrm>
          <a:prstGeom prst="roundRect">
            <a:avLst>
              <a:gd name="adj" fmla="val 4848"/>
            </a:avLst>
          </a:prstGeom>
          <a:solidFill>
            <a:srgbClr val="EEF5F1"/>
          </a:solidFill>
          <a:ln w="12700">
            <a:solidFill>
              <a:srgbClr val="EEF5F1"/>
            </a:solidFill>
            <a:prstDash val="solid"/>
          </a:ln>
        </p:spPr>
      </p:sp>
      <p:sp>
        <p:nvSpPr>
          <p:cNvPr id="7" name="Text 5"/>
          <p:cNvSpPr txBox="1"/>
          <p:nvPr/>
        </p:nvSpPr>
        <p:spPr>
          <a:xfrm>
            <a:off x="4800600" y="1234440"/>
            <a:ext cx="1783080" cy="1325880"/>
          </a:xfrm>
          <a:prstGeom prst="rect">
            <a:avLst/>
          </a:prstGeom>
          <a:noFill/>
          <a:ln/>
        </p:spPr>
        <p:txBody>
          <a:bodyPr wrap="square" lIns="0" tIns="0" rIns="0" bIns="0" rtlCol="0" anchor="ctr"/>
          <a:lstStyle/>
          <a:p>
            <a:pPr algn="ctr" indent="0" marL="0">
              <a:buNone/>
            </a:pPr>
            <a:r>
              <a:rPr lang="en-US" sz="3400" b="1" dirty="0">
                <a:solidFill>
                  <a:srgbClr val="0F4C3A"/>
                </a:solidFill>
                <a:latin typeface="Cambria" pitchFamily="34" charset="0"/>
                <a:ea typeface="Cambria" pitchFamily="34" charset="-122"/>
                <a:cs typeface="Cambria" pitchFamily="34" charset="-120"/>
              </a:rPr>
              <a:t>6 / 6</a:t>
            </a:r>
            <a:endParaRPr lang="en-US" sz="3400" dirty="0"/>
          </a:p>
        </p:txBody>
      </p:sp>
      <p:sp>
        <p:nvSpPr>
          <p:cNvPr id="8" name="Text 6"/>
          <p:cNvSpPr txBox="1"/>
          <p:nvPr/>
        </p:nvSpPr>
        <p:spPr>
          <a:xfrm>
            <a:off x="6629400" y="1234440"/>
            <a:ext cx="1965960" cy="1325880"/>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RLS security scenarios</a:t>
            </a:r>
            <a:endParaRPr lang="en-US" sz="1400" dirty="0"/>
          </a:p>
          <a:p>
            <a:pPr indent="0" marL="0">
              <a:buNone/>
            </a:pPr>
            <a:r>
              <a:rPr lang="en-US" sz="1150" dirty="0">
                <a:solidFill>
                  <a:srgbClr val="5B6B64"/>
                </a:solidFill>
                <a:latin typeface="Calibri" pitchFamily="34" charset="0"/>
                <a:ea typeface="Calibri" pitchFamily="34" charset="-122"/>
                <a:cs typeface="Calibri" pitchFamily="34" charset="-120"/>
              </a:rPr>
              <a:t>Unauthenticated access denied; published rows visible</a:t>
            </a:r>
            <a:endParaRPr lang="en-US" sz="1400" dirty="0"/>
          </a:p>
        </p:txBody>
      </p:sp>
      <p:sp>
        <p:nvSpPr>
          <p:cNvPr id="9" name="Test stat card 3"/>
          <p:cNvSpPr/>
          <p:nvPr/>
        </p:nvSpPr>
        <p:spPr>
          <a:xfrm>
            <a:off x="457200" y="2834640"/>
            <a:ext cx="4023360" cy="1508760"/>
          </a:xfrm>
          <a:prstGeom prst="roundRect">
            <a:avLst>
              <a:gd name="adj" fmla="val 4848"/>
            </a:avLst>
          </a:prstGeom>
          <a:solidFill>
            <a:srgbClr val="EEF5F1"/>
          </a:solidFill>
          <a:ln w="12700">
            <a:solidFill>
              <a:srgbClr val="EEF5F1"/>
            </a:solidFill>
            <a:prstDash val="solid"/>
          </a:ln>
        </p:spPr>
      </p:sp>
      <p:sp>
        <p:nvSpPr>
          <p:cNvPr id="10" name="Text 8"/>
          <p:cNvSpPr txBox="1"/>
          <p:nvPr/>
        </p:nvSpPr>
        <p:spPr>
          <a:xfrm>
            <a:off x="594360" y="2926080"/>
            <a:ext cx="1783080" cy="1325880"/>
          </a:xfrm>
          <a:prstGeom prst="rect">
            <a:avLst/>
          </a:prstGeom>
          <a:noFill/>
          <a:ln/>
        </p:spPr>
        <p:txBody>
          <a:bodyPr wrap="square" lIns="0" tIns="0" rIns="0" bIns="0" rtlCol="0" anchor="ctr"/>
          <a:lstStyle/>
          <a:p>
            <a:pPr algn="ctr" indent="0" marL="0">
              <a:buNone/>
            </a:pPr>
            <a:r>
              <a:rPr lang="en-US" sz="3400" b="1" dirty="0">
                <a:solidFill>
                  <a:srgbClr val="0F4C3A"/>
                </a:solidFill>
                <a:latin typeface="Cambria" pitchFamily="34" charset="0"/>
                <a:ea typeface="Cambria" pitchFamily="34" charset="-122"/>
                <a:cs typeface="Cambria" pitchFamily="34" charset="-120"/>
              </a:rPr>
              <a:t>6 / 6</a:t>
            </a:r>
            <a:endParaRPr lang="en-US" sz="3400" dirty="0"/>
          </a:p>
        </p:txBody>
      </p:sp>
      <p:sp>
        <p:nvSpPr>
          <p:cNvPr id="11" name="Text 9"/>
          <p:cNvSpPr txBox="1"/>
          <p:nvPr/>
        </p:nvSpPr>
        <p:spPr>
          <a:xfrm>
            <a:off x="2423160" y="2926080"/>
            <a:ext cx="1965960" cy="1325880"/>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browser and device checks</a:t>
            </a:r>
            <a:endParaRPr lang="en-US" sz="1400" dirty="0"/>
          </a:p>
          <a:p>
            <a:pPr indent="0" marL="0">
              <a:buNone/>
            </a:pPr>
            <a:r>
              <a:rPr lang="en-US" sz="1150" dirty="0">
                <a:solidFill>
                  <a:srgbClr val="5B6B64"/>
                </a:solidFill>
                <a:latin typeface="Calibri" pitchFamily="34" charset="0"/>
                <a:ea typeface="Calibri" pitchFamily="34" charset="-122"/>
                <a:cs typeface="Calibri" pitchFamily="34" charset="-120"/>
              </a:rPr>
              <a:t>Chrome, Firefox, Safari: 1280, 768 and 375 px</a:t>
            </a:r>
            <a:endParaRPr lang="en-US" sz="1400" dirty="0"/>
          </a:p>
        </p:txBody>
      </p:sp>
      <p:sp>
        <p:nvSpPr>
          <p:cNvPr id="12" name="Test stat card 4"/>
          <p:cNvSpPr/>
          <p:nvPr/>
        </p:nvSpPr>
        <p:spPr>
          <a:xfrm>
            <a:off x="4663440" y="2834640"/>
            <a:ext cx="4023360" cy="1508760"/>
          </a:xfrm>
          <a:prstGeom prst="roundRect">
            <a:avLst>
              <a:gd name="adj" fmla="val 4848"/>
            </a:avLst>
          </a:prstGeom>
          <a:solidFill>
            <a:srgbClr val="EEF5F1"/>
          </a:solidFill>
          <a:ln w="12700">
            <a:solidFill>
              <a:srgbClr val="EEF5F1"/>
            </a:solidFill>
            <a:prstDash val="solid"/>
          </a:ln>
        </p:spPr>
      </p:sp>
      <p:sp>
        <p:nvSpPr>
          <p:cNvPr id="13" name="Text 11"/>
          <p:cNvSpPr txBox="1"/>
          <p:nvPr/>
        </p:nvSpPr>
        <p:spPr>
          <a:xfrm>
            <a:off x="4800600" y="2926080"/>
            <a:ext cx="1783080" cy="1325880"/>
          </a:xfrm>
          <a:prstGeom prst="rect">
            <a:avLst/>
          </a:prstGeom>
          <a:noFill/>
          <a:ln/>
        </p:spPr>
        <p:txBody>
          <a:bodyPr wrap="square" lIns="0" tIns="0" rIns="0" bIns="0" rtlCol="0" anchor="ctr"/>
          <a:lstStyle/>
          <a:p>
            <a:pPr algn="ctr" indent="0" marL="0">
              <a:buNone/>
            </a:pPr>
            <a:r>
              <a:rPr lang="en-US" sz="3400" b="1" dirty="0">
                <a:solidFill>
                  <a:srgbClr val="0F4C3A"/>
                </a:solidFill>
                <a:latin typeface="Cambria" pitchFamily="34" charset="0"/>
                <a:ea typeface="Cambria" pitchFamily="34" charset="-122"/>
                <a:cs typeface="Cambria" pitchFamily="34" charset="-120"/>
              </a:rPr>
              <a:t>7 / 7</a:t>
            </a:r>
            <a:endParaRPr lang="en-US" sz="3400" dirty="0"/>
          </a:p>
        </p:txBody>
      </p:sp>
      <p:sp>
        <p:nvSpPr>
          <p:cNvPr id="14" name="Text 12"/>
          <p:cNvSpPr txBox="1"/>
          <p:nvPr/>
        </p:nvSpPr>
        <p:spPr>
          <a:xfrm>
            <a:off x="6629400" y="2926080"/>
            <a:ext cx="1965960" cy="1325880"/>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UAT scenarios passed</a:t>
            </a:r>
            <a:endParaRPr lang="en-US" sz="1400" dirty="0"/>
          </a:p>
          <a:p>
            <a:pPr indent="0" marL="0">
              <a:buNone/>
            </a:pPr>
            <a:r>
              <a:rPr lang="en-US" sz="1150" dirty="0">
                <a:solidFill>
                  <a:srgbClr val="5B6B64"/>
                </a:solidFill>
                <a:latin typeface="Calibri" pitchFamily="34" charset="0"/>
                <a:ea typeface="Calibri" pitchFamily="34" charset="-122"/>
                <a:cs typeface="Calibri" pitchFamily="34" charset="-120"/>
              </a:rPr>
              <a:t>ICT Directorate and Registrar's Office users</a:t>
            </a:r>
            <a:endParaRPr lang="en-US" sz="1400" dirty="0"/>
          </a:p>
        </p:txBody>
      </p:sp>
      <p:sp>
        <p:nvSpPr>
          <p:cNvPr id="15" name="Text 13"/>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200" i="1" dirty="0">
                <a:solidFill>
                  <a:srgbClr val="5B6B64"/>
                </a:solidFill>
                <a:latin typeface="Calibri" pitchFamily="34" charset="0"/>
                <a:ea typeface="Calibri" pitchFamily="34" charset="-122"/>
                <a:cs typeface="Calibri" pitchFamily="34" charset="-120"/>
              </a:rPr>
              <a:t>Scripts also check that data created in the Admin CMS appears on the public college, department and program pages.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F4C3A"/>
                </a:solidFill>
                <a:latin typeface="Cambria" pitchFamily="34" charset="0"/>
                <a:ea typeface="Cambria" pitchFamily="34" charset="-122"/>
                <a:cs typeface="Cambria" pitchFamily="34" charset="-120"/>
              </a:rPr>
              <a:t>Challenges and Solutions</a:t>
            </a:r>
            <a:endParaRPr lang="en-US" sz="3200" dirty="0"/>
          </a:p>
        </p:txBody>
      </p:sp>
      <p:sp>
        <p:nvSpPr>
          <p:cNvPr id="3" name="Text 1"/>
          <p:cNvSpPr txBox="1"/>
          <p:nvPr/>
        </p:nvSpPr>
        <p:spPr>
          <a:xfrm>
            <a:off x="457200" y="1097280"/>
            <a:ext cx="3291840" cy="274320"/>
          </a:xfrm>
          <a:prstGeom prst="rect">
            <a:avLst/>
          </a:prstGeom>
          <a:noFill/>
          <a:ln/>
        </p:spPr>
        <p:txBody>
          <a:bodyPr wrap="square" lIns="0" tIns="0" rIns="0" bIns="0" rtlCol="0" anchor="ctr"/>
          <a:lstStyle/>
          <a:p>
            <a:pPr indent="0" marL="0">
              <a:buNone/>
            </a:pPr>
            <a:r>
              <a:rPr lang="en-US" sz="1200" b="1" dirty="0">
                <a:solidFill>
                  <a:srgbClr val="B85C38"/>
                </a:solidFill>
                <a:latin typeface="Calibri" pitchFamily="34" charset="0"/>
                <a:ea typeface="Calibri" pitchFamily="34" charset="-122"/>
                <a:cs typeface="Calibri" pitchFamily="34" charset="-120"/>
              </a:rPr>
              <a:t>Challenge</a:t>
            </a:r>
            <a:endParaRPr lang="en-US" sz="1200" dirty="0"/>
          </a:p>
        </p:txBody>
      </p:sp>
      <p:sp>
        <p:nvSpPr>
          <p:cNvPr id="4" name="Text 2"/>
          <p:cNvSpPr txBox="1"/>
          <p:nvPr/>
        </p:nvSpPr>
        <p:spPr>
          <a:xfrm>
            <a:off x="4480560" y="1097280"/>
            <a:ext cx="4206240" cy="274320"/>
          </a:xfrm>
          <a:prstGeom prst="rect">
            <a:avLst/>
          </a:prstGeom>
          <a:noFill/>
          <a:ln/>
        </p:spPr>
        <p:txBody>
          <a:bodyPr wrap="square" lIns="0" tIns="0" rIns="0" bIns="0" rtlCol="0" anchor="ctr"/>
          <a:lstStyle/>
          <a:p>
            <a:pPr indent="0" marL="0">
              <a:buNone/>
            </a:pPr>
            <a:r>
              <a:rPr lang="en-US" sz="1200" b="1" dirty="0">
                <a:solidFill>
                  <a:srgbClr val="287A5D"/>
                </a:solidFill>
                <a:latin typeface="Calibri" pitchFamily="34" charset="0"/>
                <a:ea typeface="Calibri" pitchFamily="34" charset="-122"/>
                <a:cs typeface="Calibri" pitchFamily="34" charset="-120"/>
              </a:rPr>
              <a:t>Solution</a:t>
            </a:r>
            <a:endParaRPr lang="en-US" sz="1200" dirty="0"/>
          </a:p>
        </p:txBody>
      </p:sp>
      <p:sp>
        <p:nvSpPr>
          <p:cNvPr id="5" name="Challenge 1"/>
          <p:cNvSpPr/>
          <p:nvPr/>
        </p:nvSpPr>
        <p:spPr>
          <a:xfrm>
            <a:off x="457200" y="1417320"/>
            <a:ext cx="3566160" cy="676656"/>
          </a:xfrm>
          <a:prstGeom prst="roundRect">
            <a:avLst>
              <a:gd name="adj" fmla="val 10811"/>
            </a:avLst>
          </a:prstGeom>
          <a:solidFill>
            <a:srgbClr val="F6E7E0"/>
          </a:solidFill>
          <a:ln w="12700">
            <a:solidFill>
              <a:srgbClr val="F6E7E0"/>
            </a:solidFill>
            <a:prstDash val="solid"/>
          </a:ln>
        </p:spPr>
      </p:sp>
      <p:sp>
        <p:nvSpPr>
          <p:cNvPr id="6" name="Text 4"/>
          <p:cNvSpPr txBox="1"/>
          <p:nvPr/>
        </p:nvSpPr>
        <p:spPr>
          <a:xfrm>
            <a:off x="594360" y="1417320"/>
            <a:ext cx="3337560" cy="676656"/>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Public reads vs admin writes</a:t>
            </a:r>
            <a:endParaRPr lang="en-US" sz="1400" dirty="0"/>
          </a:p>
        </p:txBody>
      </p:sp>
      <p:sp>
        <p:nvSpPr>
          <p:cNvPr id="7" name="Arrow 1"/>
          <p:cNvSpPr/>
          <p:nvPr/>
        </p:nvSpPr>
        <p:spPr>
          <a:xfrm>
            <a:off x="4114800" y="1572768"/>
            <a:ext cx="274320" cy="365760"/>
          </a:xfrm>
          <a:prstGeom prst="rightArrow">
            <a:avLst/>
          </a:prstGeom>
          <a:solidFill>
            <a:srgbClr val="287A5D"/>
          </a:solidFill>
          <a:ln w="12700">
            <a:solidFill>
              <a:srgbClr val="287A5D"/>
            </a:solidFill>
            <a:prstDash val="solid"/>
          </a:ln>
        </p:spPr>
      </p:sp>
      <p:sp>
        <p:nvSpPr>
          <p:cNvPr id="8" name="Solution 1"/>
          <p:cNvSpPr/>
          <p:nvPr/>
        </p:nvSpPr>
        <p:spPr>
          <a:xfrm>
            <a:off x="4480560" y="1417320"/>
            <a:ext cx="4206240" cy="676656"/>
          </a:xfrm>
          <a:prstGeom prst="roundRect">
            <a:avLst>
              <a:gd name="adj" fmla="val 10811"/>
            </a:avLst>
          </a:prstGeom>
          <a:solidFill>
            <a:srgbClr val="EEF5F1"/>
          </a:solidFill>
          <a:ln w="12700">
            <a:solidFill>
              <a:srgbClr val="EEF5F1"/>
            </a:solidFill>
            <a:prstDash val="solid"/>
          </a:ln>
        </p:spPr>
      </p:sp>
      <p:sp>
        <p:nvSpPr>
          <p:cNvPr id="9" name="Text 7"/>
          <p:cNvSpPr txBox="1"/>
          <p:nvPr/>
        </p:nvSpPr>
        <p:spPr>
          <a:xfrm>
            <a:off x="4617720" y="1417320"/>
            <a:ext cx="3977640" cy="676656"/>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Row Level Security as the main rule; Supabase client for pages, a few server functions only</a:t>
            </a:r>
            <a:endParaRPr lang="en-US" sz="1250" dirty="0"/>
          </a:p>
        </p:txBody>
      </p:sp>
      <p:sp>
        <p:nvSpPr>
          <p:cNvPr id="10" name="Challenge 2"/>
          <p:cNvSpPr/>
          <p:nvPr/>
        </p:nvSpPr>
        <p:spPr>
          <a:xfrm>
            <a:off x="457200" y="2221992"/>
            <a:ext cx="3566160" cy="676656"/>
          </a:xfrm>
          <a:prstGeom prst="roundRect">
            <a:avLst>
              <a:gd name="adj" fmla="val 10811"/>
            </a:avLst>
          </a:prstGeom>
          <a:solidFill>
            <a:srgbClr val="F6E7E0"/>
          </a:solidFill>
          <a:ln w="12700">
            <a:solidFill>
              <a:srgbClr val="F6E7E0"/>
            </a:solidFill>
            <a:prstDash val="solid"/>
          </a:ln>
        </p:spPr>
      </p:sp>
      <p:sp>
        <p:nvSpPr>
          <p:cNvPr id="11" name="Text 9"/>
          <p:cNvSpPr txBox="1"/>
          <p:nvPr/>
        </p:nvSpPr>
        <p:spPr>
          <a:xfrm>
            <a:off x="594360" y="2221992"/>
            <a:ext cx="3337560" cy="676656"/>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Clean, unique URLs</a:t>
            </a:r>
            <a:endParaRPr lang="en-US" sz="1400" dirty="0"/>
          </a:p>
        </p:txBody>
      </p:sp>
      <p:sp>
        <p:nvSpPr>
          <p:cNvPr id="12" name="Arrow 2"/>
          <p:cNvSpPr/>
          <p:nvPr/>
        </p:nvSpPr>
        <p:spPr>
          <a:xfrm>
            <a:off x="4114800" y="2377440"/>
            <a:ext cx="274320" cy="365760"/>
          </a:xfrm>
          <a:prstGeom prst="rightArrow">
            <a:avLst/>
          </a:prstGeom>
          <a:solidFill>
            <a:srgbClr val="287A5D"/>
          </a:solidFill>
          <a:ln w="12700">
            <a:solidFill>
              <a:srgbClr val="287A5D"/>
            </a:solidFill>
            <a:prstDash val="solid"/>
          </a:ln>
        </p:spPr>
      </p:sp>
      <p:sp>
        <p:nvSpPr>
          <p:cNvPr id="13" name="Solution 2"/>
          <p:cNvSpPr/>
          <p:nvPr/>
        </p:nvSpPr>
        <p:spPr>
          <a:xfrm>
            <a:off x="4480560" y="2221992"/>
            <a:ext cx="4206240" cy="676656"/>
          </a:xfrm>
          <a:prstGeom prst="roundRect">
            <a:avLst>
              <a:gd name="adj" fmla="val 10811"/>
            </a:avLst>
          </a:prstGeom>
          <a:solidFill>
            <a:srgbClr val="EEF5F1"/>
          </a:solidFill>
          <a:ln w="12700">
            <a:solidFill>
              <a:srgbClr val="EEF5F1"/>
            </a:solidFill>
            <a:prstDash val="solid"/>
          </a:ln>
        </p:spPr>
      </p:sp>
      <p:sp>
        <p:nvSpPr>
          <p:cNvPr id="14" name="Text 12"/>
          <p:cNvSpPr txBox="1"/>
          <p:nvPr/>
        </p:nvSpPr>
        <p:spPr>
          <a:xfrm>
            <a:off x="4617720" y="2221992"/>
            <a:ext cx="3977640" cy="676656"/>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generate_slug() SQL function, unique constraints, -2/-3 check in the hooks</a:t>
            </a:r>
            <a:endParaRPr lang="en-US" sz="1250" dirty="0"/>
          </a:p>
        </p:txBody>
      </p:sp>
      <p:sp>
        <p:nvSpPr>
          <p:cNvPr id="15" name="Challenge 3"/>
          <p:cNvSpPr/>
          <p:nvPr/>
        </p:nvSpPr>
        <p:spPr>
          <a:xfrm>
            <a:off x="457200" y="3026664"/>
            <a:ext cx="3566160" cy="676656"/>
          </a:xfrm>
          <a:prstGeom prst="roundRect">
            <a:avLst>
              <a:gd name="adj" fmla="val 10811"/>
            </a:avLst>
          </a:prstGeom>
          <a:solidFill>
            <a:srgbClr val="F6E7E0"/>
          </a:solidFill>
          <a:ln w="12700">
            <a:solidFill>
              <a:srgbClr val="F6E7E0"/>
            </a:solidFill>
            <a:prstDash val="solid"/>
          </a:ln>
        </p:spPr>
      </p:sp>
      <p:sp>
        <p:nvSpPr>
          <p:cNvPr id="16" name="Text 14"/>
          <p:cNvSpPr txBox="1"/>
          <p:nvPr/>
        </p:nvSpPr>
        <p:spPr>
          <a:xfrm>
            <a:off x="594360" y="3026664"/>
            <a:ext cx="3337560" cy="676656"/>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Images reused by many modules</a:t>
            </a:r>
            <a:endParaRPr lang="en-US" sz="1400" dirty="0"/>
          </a:p>
        </p:txBody>
      </p:sp>
      <p:sp>
        <p:nvSpPr>
          <p:cNvPr id="17" name="Arrow 3"/>
          <p:cNvSpPr/>
          <p:nvPr/>
        </p:nvSpPr>
        <p:spPr>
          <a:xfrm>
            <a:off x="4114800" y="3182112"/>
            <a:ext cx="274320" cy="365760"/>
          </a:xfrm>
          <a:prstGeom prst="rightArrow">
            <a:avLst/>
          </a:prstGeom>
          <a:solidFill>
            <a:srgbClr val="287A5D"/>
          </a:solidFill>
          <a:ln w="12700">
            <a:solidFill>
              <a:srgbClr val="287A5D"/>
            </a:solidFill>
            <a:prstDash val="solid"/>
          </a:ln>
        </p:spPr>
      </p:sp>
      <p:sp>
        <p:nvSpPr>
          <p:cNvPr id="18" name="Solution 3"/>
          <p:cNvSpPr/>
          <p:nvPr/>
        </p:nvSpPr>
        <p:spPr>
          <a:xfrm>
            <a:off x="4480560" y="3026664"/>
            <a:ext cx="4206240" cy="676656"/>
          </a:xfrm>
          <a:prstGeom prst="roundRect">
            <a:avLst>
              <a:gd name="adj" fmla="val 10811"/>
            </a:avLst>
          </a:prstGeom>
          <a:solidFill>
            <a:srgbClr val="EEF5F1"/>
          </a:solidFill>
          <a:ln w="12700">
            <a:solidFill>
              <a:srgbClr val="EEF5F1"/>
            </a:solidFill>
            <a:prstDash val="solid"/>
          </a:ln>
        </p:spPr>
      </p:sp>
      <p:sp>
        <p:nvSpPr>
          <p:cNvPr id="19" name="Text 17"/>
          <p:cNvSpPr txBox="1"/>
          <p:nvPr/>
        </p:nvSpPr>
        <p:spPr>
          <a:xfrm>
            <a:off x="4617720" y="3026664"/>
            <a:ext cx="3977640" cy="676656"/>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One central media table and the AdminImageUpload component</a:t>
            </a:r>
            <a:endParaRPr lang="en-US" sz="1250" dirty="0"/>
          </a:p>
        </p:txBody>
      </p:sp>
      <p:sp>
        <p:nvSpPr>
          <p:cNvPr id="20" name="Challenge 4"/>
          <p:cNvSpPr/>
          <p:nvPr/>
        </p:nvSpPr>
        <p:spPr>
          <a:xfrm>
            <a:off x="457200" y="3831336"/>
            <a:ext cx="3566160" cy="676656"/>
          </a:xfrm>
          <a:prstGeom prst="roundRect">
            <a:avLst>
              <a:gd name="adj" fmla="val 10811"/>
            </a:avLst>
          </a:prstGeom>
          <a:solidFill>
            <a:srgbClr val="F6E7E0"/>
          </a:solidFill>
          <a:ln w="12700">
            <a:solidFill>
              <a:srgbClr val="F6E7E0"/>
            </a:solidFill>
            <a:prstDash val="solid"/>
          </a:ln>
        </p:spPr>
      </p:sp>
      <p:sp>
        <p:nvSpPr>
          <p:cNvPr id="21" name="Text 19"/>
          <p:cNvSpPr txBox="1"/>
          <p:nvPr/>
        </p:nvSpPr>
        <p:spPr>
          <a:xfrm>
            <a:off x="594360" y="3831336"/>
            <a:ext cx="3337560" cy="676656"/>
          </a:xfrm>
          <a:prstGeom prst="rect">
            <a:avLst/>
          </a:prstGeom>
          <a:noFill/>
          <a:ln/>
        </p:spPr>
        <p:txBody>
          <a:bodyPr wrap="square" lIns="0" tIns="0" rIns="0" bIns="0" rtlCol="0" anchor="ctr"/>
          <a:lstStyle/>
          <a:p>
            <a:pPr indent="0" marL="0">
              <a:buNone/>
            </a:pPr>
            <a:r>
              <a:rPr lang="en-US" sz="1400" b="1" dirty="0">
                <a:solidFill>
                  <a:srgbClr val="17251F"/>
                </a:solidFill>
                <a:latin typeface="Calibri" pitchFamily="34" charset="0"/>
                <a:ea typeface="Calibri" pitchFamily="34" charset="-122"/>
                <a:cs typeface="Calibri" pitchFamily="34" charset="-120"/>
              </a:rPr>
              <a:t>Types out of sync with the schema</a:t>
            </a:r>
            <a:endParaRPr lang="en-US" sz="1400" dirty="0"/>
          </a:p>
        </p:txBody>
      </p:sp>
      <p:sp>
        <p:nvSpPr>
          <p:cNvPr id="22" name="Arrow 4"/>
          <p:cNvSpPr/>
          <p:nvPr/>
        </p:nvSpPr>
        <p:spPr>
          <a:xfrm>
            <a:off x="4114800" y="3986784"/>
            <a:ext cx="274320" cy="365760"/>
          </a:xfrm>
          <a:prstGeom prst="rightArrow">
            <a:avLst/>
          </a:prstGeom>
          <a:solidFill>
            <a:srgbClr val="287A5D"/>
          </a:solidFill>
          <a:ln w="12700">
            <a:solidFill>
              <a:srgbClr val="287A5D"/>
            </a:solidFill>
            <a:prstDash val="solid"/>
          </a:ln>
        </p:spPr>
      </p:sp>
      <p:sp>
        <p:nvSpPr>
          <p:cNvPr id="23" name="Solution 4"/>
          <p:cNvSpPr/>
          <p:nvPr/>
        </p:nvSpPr>
        <p:spPr>
          <a:xfrm>
            <a:off x="4480560" y="3831336"/>
            <a:ext cx="4206240" cy="676656"/>
          </a:xfrm>
          <a:prstGeom prst="roundRect">
            <a:avLst>
              <a:gd name="adj" fmla="val 10811"/>
            </a:avLst>
          </a:prstGeom>
          <a:solidFill>
            <a:srgbClr val="EEF5F1"/>
          </a:solidFill>
          <a:ln w="12700">
            <a:solidFill>
              <a:srgbClr val="EEF5F1"/>
            </a:solidFill>
            <a:prstDash val="solid"/>
          </a:ln>
        </p:spPr>
      </p:sp>
      <p:sp>
        <p:nvSpPr>
          <p:cNvPr id="24" name="Text 22"/>
          <p:cNvSpPr txBox="1"/>
          <p:nvPr/>
        </p:nvSpPr>
        <p:spPr>
          <a:xfrm>
            <a:off x="4617720" y="3831336"/>
            <a:ext cx="3977640" cy="676656"/>
          </a:xfrm>
          <a:prstGeom prst="rect">
            <a:avLst/>
          </a:prstGeom>
          <a:noFill/>
          <a:ln/>
        </p:spPr>
        <p:txBody>
          <a:bodyPr wrap="square" lIns="0" tIns="0" rIns="0" bIns="0" rtlCol="0" anchor="ctr"/>
          <a:lstStyle/>
          <a:p>
            <a:pPr indent="0" marL="0">
              <a:buNone/>
            </a:pPr>
            <a:r>
              <a:rPr lang="en-US" sz="1250" dirty="0">
                <a:solidFill>
                  <a:srgbClr val="17251F"/>
                </a:solidFill>
                <a:latin typeface="Calibri" pitchFamily="34" charset="0"/>
                <a:ea typeface="Calibri" pitchFamily="34" charset="-122"/>
                <a:cs typeface="Calibri" pitchFamily="34" charset="-120"/>
              </a:rPr>
              <a:t>Extended database.types.ts updated after each migration</a:t>
            </a:r>
            <a:endParaRPr lang="en-US" sz="125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F4C3A"/>
                </a:solidFill>
                <a:latin typeface="Cambria" pitchFamily="34" charset="0"/>
                <a:ea typeface="Cambria" pitchFamily="34" charset="-122"/>
                <a:cs typeface="Cambria" pitchFamily="34" charset="-120"/>
              </a:rPr>
              <a:t>Impact for the University</a:t>
            </a:r>
            <a:endParaRPr lang="en-US" sz="3200" dirty="0"/>
          </a:p>
        </p:txBody>
      </p:sp>
      <p:sp>
        <p:nvSpPr>
          <p:cNvPr id="3" name="Text 1"/>
          <p:cNvSpPr txBox="1"/>
          <p:nvPr/>
        </p:nvSpPr>
        <p:spPr>
          <a:xfrm>
            <a:off x="457200" y="1097280"/>
            <a:ext cx="3840480" cy="365760"/>
          </a:xfrm>
          <a:prstGeom prst="rect">
            <a:avLst/>
          </a:prstGeom>
          <a:noFill/>
          <a:ln/>
        </p:spPr>
        <p:txBody>
          <a:bodyPr wrap="square" lIns="0" tIns="0" rIns="0" bIns="0" rtlCol="0" anchor="ctr"/>
          <a:lstStyle/>
          <a:p>
            <a:pPr indent="0" marL="0">
              <a:buNone/>
            </a:pPr>
            <a:r>
              <a:rPr lang="en-US" sz="2000" b="1" dirty="0">
                <a:solidFill>
                  <a:srgbClr val="B85C38"/>
                </a:solidFill>
                <a:latin typeface="Cambria" pitchFamily="34" charset="0"/>
                <a:ea typeface="Cambria" pitchFamily="34" charset="-122"/>
                <a:cs typeface="Cambria" pitchFamily="34" charset="-120"/>
              </a:rPr>
              <a:t>Before</a:t>
            </a:r>
            <a:endParaRPr lang="en-US" sz="2000" dirty="0"/>
          </a:p>
        </p:txBody>
      </p:sp>
      <p:sp>
        <p:nvSpPr>
          <p:cNvPr id="4" name="Text 2"/>
          <p:cNvSpPr txBox="1"/>
          <p:nvPr/>
        </p:nvSpPr>
        <p:spPr>
          <a:xfrm>
            <a:off x="4846320" y="1097280"/>
            <a:ext cx="3840480" cy="36576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After: OBU-CMS</a:t>
            </a:r>
            <a:endParaRPr lang="en-US" sz="2000" dirty="0"/>
          </a:p>
        </p:txBody>
      </p:sp>
      <p:sp>
        <p:nvSpPr>
          <p:cNvPr id="5" name="Before 1"/>
          <p:cNvSpPr/>
          <p:nvPr/>
        </p:nvSpPr>
        <p:spPr>
          <a:xfrm>
            <a:off x="457200" y="1554480"/>
            <a:ext cx="3840480" cy="502920"/>
          </a:xfrm>
          <a:prstGeom prst="roundRect">
            <a:avLst>
              <a:gd name="adj" fmla="val 14545"/>
            </a:avLst>
          </a:prstGeom>
          <a:solidFill>
            <a:srgbClr val="F6E7E0"/>
          </a:solidFill>
          <a:ln w="12700">
            <a:solidFill>
              <a:srgbClr val="F6E7E0"/>
            </a:solidFill>
            <a:prstDash val="solid"/>
          </a:ln>
        </p:spPr>
      </p:sp>
      <p:sp>
        <p:nvSpPr>
          <p:cNvPr id="6" name="Text 4"/>
          <p:cNvSpPr txBox="1"/>
          <p:nvPr/>
        </p:nvSpPr>
        <p:spPr>
          <a:xfrm>
            <a:off x="594360" y="1554480"/>
            <a:ext cx="3611880" cy="502920"/>
          </a:xfrm>
          <a:prstGeom prst="rect">
            <a:avLst/>
          </a:prstGeom>
          <a:noFill/>
          <a:ln/>
        </p:spPr>
        <p:txBody>
          <a:bodyPr wrap="square" lIns="0" tIns="0" rIns="0" bIns="0" rtlCol="0" anchor="ctr"/>
          <a:lstStyle/>
          <a:p>
            <a:pPr indent="0" marL="0">
              <a:buNone/>
            </a:pPr>
            <a:r>
              <a:rPr lang="en-US" sz="1300" dirty="0">
                <a:solidFill>
                  <a:srgbClr val="17251F"/>
                </a:solidFill>
                <a:latin typeface="Calibri" pitchFamily="34" charset="0"/>
                <a:ea typeface="Calibri" pitchFamily="34" charset="-122"/>
                <a:cs typeface="Calibri" pitchFamily="34" charset="-120"/>
              </a:rPr>
              <a:t>Technical staff update every page</a:t>
            </a:r>
            <a:endParaRPr lang="en-US" sz="1300" dirty="0"/>
          </a:p>
        </p:txBody>
      </p:sp>
      <p:sp>
        <p:nvSpPr>
          <p:cNvPr id="7" name="Impact arrow 1"/>
          <p:cNvSpPr/>
          <p:nvPr/>
        </p:nvSpPr>
        <p:spPr>
          <a:xfrm>
            <a:off x="4389120" y="1645920"/>
            <a:ext cx="365760" cy="320040"/>
          </a:xfrm>
          <a:prstGeom prst="rightArrow">
            <a:avLst/>
          </a:prstGeom>
          <a:solidFill>
            <a:srgbClr val="D4A017"/>
          </a:solidFill>
          <a:ln w="12700">
            <a:solidFill>
              <a:srgbClr val="D4A017"/>
            </a:solidFill>
            <a:prstDash val="solid"/>
          </a:ln>
        </p:spPr>
      </p:sp>
      <p:sp>
        <p:nvSpPr>
          <p:cNvPr id="8" name="After 1"/>
          <p:cNvSpPr/>
          <p:nvPr/>
        </p:nvSpPr>
        <p:spPr>
          <a:xfrm>
            <a:off x="4846320" y="1554480"/>
            <a:ext cx="3840480" cy="502920"/>
          </a:xfrm>
          <a:prstGeom prst="roundRect">
            <a:avLst>
              <a:gd name="adj" fmla="val 14545"/>
            </a:avLst>
          </a:prstGeom>
          <a:solidFill>
            <a:srgbClr val="EEF5F1"/>
          </a:solidFill>
          <a:ln w="12700">
            <a:solidFill>
              <a:srgbClr val="EEF5F1"/>
            </a:solidFill>
            <a:prstDash val="solid"/>
          </a:ln>
        </p:spPr>
      </p:sp>
      <p:sp>
        <p:nvSpPr>
          <p:cNvPr id="9" name="Text 7"/>
          <p:cNvSpPr txBox="1"/>
          <p:nvPr/>
        </p:nvSpPr>
        <p:spPr>
          <a:xfrm>
            <a:off x="4983480" y="1554480"/>
            <a:ext cx="3611880" cy="50292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Offices publish their own notices</a:t>
            </a:r>
            <a:endParaRPr lang="en-US" sz="1300" dirty="0"/>
          </a:p>
        </p:txBody>
      </p:sp>
      <p:sp>
        <p:nvSpPr>
          <p:cNvPr id="10" name="Before 2"/>
          <p:cNvSpPr/>
          <p:nvPr/>
        </p:nvSpPr>
        <p:spPr>
          <a:xfrm>
            <a:off x="457200" y="2157984"/>
            <a:ext cx="3840480" cy="502920"/>
          </a:xfrm>
          <a:prstGeom prst="roundRect">
            <a:avLst>
              <a:gd name="adj" fmla="val 14545"/>
            </a:avLst>
          </a:prstGeom>
          <a:solidFill>
            <a:srgbClr val="F6E7E0"/>
          </a:solidFill>
          <a:ln w="12700">
            <a:solidFill>
              <a:srgbClr val="F6E7E0"/>
            </a:solidFill>
            <a:prstDash val="solid"/>
          </a:ln>
        </p:spPr>
      </p:sp>
      <p:sp>
        <p:nvSpPr>
          <p:cNvPr id="11" name="Text 9"/>
          <p:cNvSpPr txBox="1"/>
          <p:nvPr/>
        </p:nvSpPr>
        <p:spPr>
          <a:xfrm>
            <a:off x="594360" y="2157984"/>
            <a:ext cx="3611880" cy="502920"/>
          </a:xfrm>
          <a:prstGeom prst="rect">
            <a:avLst/>
          </a:prstGeom>
          <a:noFill/>
          <a:ln/>
        </p:spPr>
        <p:txBody>
          <a:bodyPr wrap="square" lIns="0" tIns="0" rIns="0" bIns="0" rtlCol="0" anchor="ctr"/>
          <a:lstStyle/>
          <a:p>
            <a:pPr indent="0" marL="0">
              <a:buNone/>
            </a:pPr>
            <a:r>
              <a:rPr lang="en-US" sz="1300" dirty="0">
                <a:solidFill>
                  <a:srgbClr val="17251F"/>
                </a:solidFill>
                <a:latin typeface="Calibri" pitchFamily="34" charset="0"/>
                <a:ea typeface="Calibri" pitchFamily="34" charset="-122"/>
                <a:cs typeface="Calibri" pitchFamily="34" charset="-120"/>
              </a:rPr>
              <a:t>No control over who changes what</a:t>
            </a:r>
            <a:endParaRPr lang="en-US" sz="1300" dirty="0"/>
          </a:p>
        </p:txBody>
      </p:sp>
      <p:sp>
        <p:nvSpPr>
          <p:cNvPr id="12" name="Impact arrow 2"/>
          <p:cNvSpPr/>
          <p:nvPr/>
        </p:nvSpPr>
        <p:spPr>
          <a:xfrm>
            <a:off x="4389120" y="2249424"/>
            <a:ext cx="365760" cy="320040"/>
          </a:xfrm>
          <a:prstGeom prst="rightArrow">
            <a:avLst/>
          </a:prstGeom>
          <a:solidFill>
            <a:srgbClr val="D4A017"/>
          </a:solidFill>
          <a:ln w="12700">
            <a:solidFill>
              <a:srgbClr val="D4A017"/>
            </a:solidFill>
            <a:prstDash val="solid"/>
          </a:ln>
        </p:spPr>
      </p:sp>
      <p:sp>
        <p:nvSpPr>
          <p:cNvPr id="13" name="After 2"/>
          <p:cNvSpPr/>
          <p:nvPr/>
        </p:nvSpPr>
        <p:spPr>
          <a:xfrm>
            <a:off x="4846320" y="2157984"/>
            <a:ext cx="3840480" cy="502920"/>
          </a:xfrm>
          <a:prstGeom prst="roundRect">
            <a:avLst>
              <a:gd name="adj" fmla="val 14545"/>
            </a:avLst>
          </a:prstGeom>
          <a:solidFill>
            <a:srgbClr val="EEF5F1"/>
          </a:solidFill>
          <a:ln w="12700">
            <a:solidFill>
              <a:srgbClr val="EEF5F1"/>
            </a:solidFill>
            <a:prstDash val="solid"/>
          </a:ln>
        </p:spPr>
      </p:sp>
      <p:sp>
        <p:nvSpPr>
          <p:cNvPr id="14" name="Text 12"/>
          <p:cNvSpPr txBox="1"/>
          <p:nvPr/>
        </p:nvSpPr>
        <p:spPr>
          <a:xfrm>
            <a:off x="4983480" y="2157984"/>
            <a:ext cx="3611880" cy="50292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Login, roles, Row Level Security, activity log</a:t>
            </a:r>
            <a:endParaRPr lang="en-US" sz="1300" dirty="0"/>
          </a:p>
        </p:txBody>
      </p:sp>
      <p:sp>
        <p:nvSpPr>
          <p:cNvPr id="15" name="Before 3"/>
          <p:cNvSpPr/>
          <p:nvPr/>
        </p:nvSpPr>
        <p:spPr>
          <a:xfrm>
            <a:off x="457200" y="2761488"/>
            <a:ext cx="3840480" cy="502920"/>
          </a:xfrm>
          <a:prstGeom prst="roundRect">
            <a:avLst>
              <a:gd name="adj" fmla="val 14545"/>
            </a:avLst>
          </a:prstGeom>
          <a:solidFill>
            <a:srgbClr val="F6E7E0"/>
          </a:solidFill>
          <a:ln w="12700">
            <a:solidFill>
              <a:srgbClr val="F6E7E0"/>
            </a:solidFill>
            <a:prstDash val="solid"/>
          </a:ln>
        </p:spPr>
      </p:sp>
      <p:sp>
        <p:nvSpPr>
          <p:cNvPr id="16" name="Text 14"/>
          <p:cNvSpPr txBox="1"/>
          <p:nvPr/>
        </p:nvSpPr>
        <p:spPr>
          <a:xfrm>
            <a:off x="594360" y="2761488"/>
            <a:ext cx="3611880" cy="502920"/>
          </a:xfrm>
          <a:prstGeom prst="rect">
            <a:avLst/>
          </a:prstGeom>
          <a:noFill/>
          <a:ln/>
        </p:spPr>
        <p:txBody>
          <a:bodyPr wrap="square" lIns="0" tIns="0" rIns="0" bIns="0" rtlCol="0" anchor="ctr"/>
          <a:lstStyle/>
          <a:p>
            <a:pPr indent="0" marL="0">
              <a:buNone/>
            </a:pPr>
            <a:r>
              <a:rPr lang="en-US" sz="1300" dirty="0">
                <a:solidFill>
                  <a:srgbClr val="17251F"/>
                </a:solidFill>
                <a:latin typeface="Calibri" pitchFamily="34" charset="0"/>
                <a:ea typeface="Calibri" pitchFamily="34" charset="-122"/>
                <a:cs typeface="Calibri" pitchFamily="34" charset="-120"/>
              </a:rPr>
              <a:t>Scattered images and documents</a:t>
            </a:r>
            <a:endParaRPr lang="en-US" sz="1300" dirty="0"/>
          </a:p>
        </p:txBody>
      </p:sp>
      <p:sp>
        <p:nvSpPr>
          <p:cNvPr id="17" name="Impact arrow 3"/>
          <p:cNvSpPr/>
          <p:nvPr/>
        </p:nvSpPr>
        <p:spPr>
          <a:xfrm>
            <a:off x="4389120" y="2852928"/>
            <a:ext cx="365760" cy="320040"/>
          </a:xfrm>
          <a:prstGeom prst="rightArrow">
            <a:avLst/>
          </a:prstGeom>
          <a:solidFill>
            <a:srgbClr val="D4A017"/>
          </a:solidFill>
          <a:ln w="12700">
            <a:solidFill>
              <a:srgbClr val="D4A017"/>
            </a:solidFill>
            <a:prstDash val="solid"/>
          </a:ln>
        </p:spPr>
      </p:sp>
      <p:sp>
        <p:nvSpPr>
          <p:cNvPr id="18" name="After 3"/>
          <p:cNvSpPr/>
          <p:nvPr/>
        </p:nvSpPr>
        <p:spPr>
          <a:xfrm>
            <a:off x="4846320" y="2761488"/>
            <a:ext cx="3840480" cy="502920"/>
          </a:xfrm>
          <a:prstGeom prst="roundRect">
            <a:avLst>
              <a:gd name="adj" fmla="val 14545"/>
            </a:avLst>
          </a:prstGeom>
          <a:solidFill>
            <a:srgbClr val="EEF5F1"/>
          </a:solidFill>
          <a:ln w="12700">
            <a:solidFill>
              <a:srgbClr val="EEF5F1"/>
            </a:solidFill>
            <a:prstDash val="solid"/>
          </a:ln>
        </p:spPr>
      </p:sp>
      <p:sp>
        <p:nvSpPr>
          <p:cNvPr id="19" name="Text 17"/>
          <p:cNvSpPr txBox="1"/>
          <p:nvPr/>
        </p:nvSpPr>
        <p:spPr>
          <a:xfrm>
            <a:off x="4983480" y="2761488"/>
            <a:ext cx="3611880" cy="50292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Central media library, reuse everywhere</a:t>
            </a:r>
            <a:endParaRPr lang="en-US" sz="1300" dirty="0"/>
          </a:p>
        </p:txBody>
      </p:sp>
      <p:sp>
        <p:nvSpPr>
          <p:cNvPr id="20" name="Before 4"/>
          <p:cNvSpPr/>
          <p:nvPr/>
        </p:nvSpPr>
        <p:spPr>
          <a:xfrm>
            <a:off x="457200" y="3364992"/>
            <a:ext cx="3840480" cy="502920"/>
          </a:xfrm>
          <a:prstGeom prst="roundRect">
            <a:avLst>
              <a:gd name="adj" fmla="val 14545"/>
            </a:avLst>
          </a:prstGeom>
          <a:solidFill>
            <a:srgbClr val="F6E7E0"/>
          </a:solidFill>
          <a:ln w="12700">
            <a:solidFill>
              <a:srgbClr val="F6E7E0"/>
            </a:solidFill>
            <a:prstDash val="solid"/>
          </a:ln>
        </p:spPr>
      </p:sp>
      <p:sp>
        <p:nvSpPr>
          <p:cNvPr id="21" name="Text 19"/>
          <p:cNvSpPr txBox="1"/>
          <p:nvPr/>
        </p:nvSpPr>
        <p:spPr>
          <a:xfrm>
            <a:off x="594360" y="3364992"/>
            <a:ext cx="3611880" cy="502920"/>
          </a:xfrm>
          <a:prstGeom prst="rect">
            <a:avLst/>
          </a:prstGeom>
          <a:noFill/>
          <a:ln/>
        </p:spPr>
        <p:txBody>
          <a:bodyPr wrap="square" lIns="0" tIns="0" rIns="0" bIns="0" rtlCol="0" anchor="ctr"/>
          <a:lstStyle/>
          <a:p>
            <a:pPr indent="0" marL="0">
              <a:buNone/>
            </a:pPr>
            <a:r>
              <a:rPr lang="en-US" sz="1300" dirty="0">
                <a:solidFill>
                  <a:srgbClr val="17251F"/>
                </a:solidFill>
                <a:latin typeface="Calibri" pitchFamily="34" charset="0"/>
                <a:ea typeface="Calibri" pitchFamily="34" charset="-122"/>
                <a:cs typeface="Calibri" pitchFamily="34" charset="-120"/>
              </a:rPr>
              <a:t>Fixed texts and menus</a:t>
            </a:r>
            <a:endParaRPr lang="en-US" sz="1300" dirty="0"/>
          </a:p>
        </p:txBody>
      </p:sp>
      <p:sp>
        <p:nvSpPr>
          <p:cNvPr id="22" name="Impact arrow 4"/>
          <p:cNvSpPr/>
          <p:nvPr/>
        </p:nvSpPr>
        <p:spPr>
          <a:xfrm>
            <a:off x="4389120" y="3456432"/>
            <a:ext cx="365760" cy="320040"/>
          </a:xfrm>
          <a:prstGeom prst="rightArrow">
            <a:avLst/>
          </a:prstGeom>
          <a:solidFill>
            <a:srgbClr val="D4A017"/>
          </a:solidFill>
          <a:ln w="12700">
            <a:solidFill>
              <a:srgbClr val="D4A017"/>
            </a:solidFill>
            <a:prstDash val="solid"/>
          </a:ln>
        </p:spPr>
      </p:sp>
      <p:sp>
        <p:nvSpPr>
          <p:cNvPr id="23" name="After 4"/>
          <p:cNvSpPr/>
          <p:nvPr/>
        </p:nvSpPr>
        <p:spPr>
          <a:xfrm>
            <a:off x="4846320" y="3364992"/>
            <a:ext cx="3840480" cy="502920"/>
          </a:xfrm>
          <a:prstGeom prst="roundRect">
            <a:avLst>
              <a:gd name="adj" fmla="val 14545"/>
            </a:avLst>
          </a:prstGeom>
          <a:solidFill>
            <a:srgbClr val="EEF5F1"/>
          </a:solidFill>
          <a:ln w="12700">
            <a:solidFill>
              <a:srgbClr val="EEF5F1"/>
            </a:solidFill>
            <a:prstDash val="solid"/>
          </a:ln>
        </p:spPr>
      </p:sp>
      <p:sp>
        <p:nvSpPr>
          <p:cNvPr id="24" name="Text 22"/>
          <p:cNvSpPr txBox="1"/>
          <p:nvPr/>
        </p:nvSpPr>
        <p:spPr>
          <a:xfrm>
            <a:off x="4983480" y="3364992"/>
            <a:ext cx="3611880" cy="50292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Settings, navigation and homepage stored in the database</a:t>
            </a:r>
            <a:endParaRPr lang="en-US" sz="1300" dirty="0"/>
          </a:p>
        </p:txBody>
      </p:sp>
      <p:sp>
        <p:nvSpPr>
          <p:cNvPr id="25" name="Before 5"/>
          <p:cNvSpPr/>
          <p:nvPr/>
        </p:nvSpPr>
        <p:spPr>
          <a:xfrm>
            <a:off x="457200" y="3968496"/>
            <a:ext cx="3840480" cy="502920"/>
          </a:xfrm>
          <a:prstGeom prst="roundRect">
            <a:avLst>
              <a:gd name="adj" fmla="val 14545"/>
            </a:avLst>
          </a:prstGeom>
          <a:solidFill>
            <a:srgbClr val="F6E7E0"/>
          </a:solidFill>
          <a:ln w="12700">
            <a:solidFill>
              <a:srgbClr val="F6E7E0"/>
            </a:solidFill>
            <a:prstDash val="solid"/>
          </a:ln>
        </p:spPr>
      </p:sp>
      <p:sp>
        <p:nvSpPr>
          <p:cNvPr id="26" name="Text 24"/>
          <p:cNvSpPr txBox="1"/>
          <p:nvPr/>
        </p:nvSpPr>
        <p:spPr>
          <a:xfrm>
            <a:off x="594360" y="3968496"/>
            <a:ext cx="3611880" cy="502920"/>
          </a:xfrm>
          <a:prstGeom prst="rect">
            <a:avLst/>
          </a:prstGeom>
          <a:noFill/>
          <a:ln/>
        </p:spPr>
        <p:txBody>
          <a:bodyPr wrap="square" lIns="0" tIns="0" rIns="0" bIns="0" rtlCol="0" anchor="ctr"/>
          <a:lstStyle/>
          <a:p>
            <a:pPr indent="0" marL="0">
              <a:buNone/>
            </a:pPr>
            <a:r>
              <a:rPr lang="en-US" sz="1300" dirty="0">
                <a:solidFill>
                  <a:srgbClr val="17251F"/>
                </a:solidFill>
                <a:latin typeface="Calibri" pitchFamily="34" charset="0"/>
                <a:ea typeface="Calibri" pitchFamily="34" charset="-122"/>
                <a:cs typeface="Calibri" pitchFamily="34" charset="-120"/>
              </a:rPr>
              <a:t>Hard to use on phones</a:t>
            </a:r>
            <a:endParaRPr lang="en-US" sz="1300" dirty="0"/>
          </a:p>
        </p:txBody>
      </p:sp>
      <p:sp>
        <p:nvSpPr>
          <p:cNvPr id="27" name="Impact arrow 5"/>
          <p:cNvSpPr/>
          <p:nvPr/>
        </p:nvSpPr>
        <p:spPr>
          <a:xfrm>
            <a:off x="4389120" y="4059936"/>
            <a:ext cx="365760" cy="320040"/>
          </a:xfrm>
          <a:prstGeom prst="rightArrow">
            <a:avLst/>
          </a:prstGeom>
          <a:solidFill>
            <a:srgbClr val="D4A017"/>
          </a:solidFill>
          <a:ln w="12700">
            <a:solidFill>
              <a:srgbClr val="D4A017"/>
            </a:solidFill>
            <a:prstDash val="solid"/>
          </a:ln>
        </p:spPr>
      </p:sp>
      <p:sp>
        <p:nvSpPr>
          <p:cNvPr id="28" name="After 5"/>
          <p:cNvSpPr/>
          <p:nvPr/>
        </p:nvSpPr>
        <p:spPr>
          <a:xfrm>
            <a:off x="4846320" y="3968496"/>
            <a:ext cx="3840480" cy="502920"/>
          </a:xfrm>
          <a:prstGeom prst="roundRect">
            <a:avLst>
              <a:gd name="adj" fmla="val 14545"/>
            </a:avLst>
          </a:prstGeom>
          <a:solidFill>
            <a:srgbClr val="EEF5F1"/>
          </a:solidFill>
          <a:ln w="12700">
            <a:solidFill>
              <a:srgbClr val="EEF5F1"/>
            </a:solidFill>
            <a:prstDash val="solid"/>
          </a:ln>
        </p:spPr>
      </p:sp>
      <p:sp>
        <p:nvSpPr>
          <p:cNvPr id="29" name="Text 27"/>
          <p:cNvSpPr txBox="1"/>
          <p:nvPr/>
        </p:nvSpPr>
        <p:spPr>
          <a:xfrm>
            <a:off x="4983480" y="3968496"/>
            <a:ext cx="3611880" cy="502920"/>
          </a:xfrm>
          <a:prstGeom prst="rect">
            <a:avLst/>
          </a:prstGeom>
          <a:noFill/>
          <a:ln/>
        </p:spPr>
        <p:txBody>
          <a:bodyPr wrap="square" lIns="0" tIns="0" rIns="0" bIns="0" rtlCol="0" anchor="ctr"/>
          <a:lstStyle/>
          <a:p>
            <a:pPr indent="0" marL="0">
              <a:buNone/>
            </a:pPr>
            <a:r>
              <a:rPr lang="en-US" sz="1300" b="1" dirty="0">
                <a:solidFill>
                  <a:srgbClr val="0F4C3A"/>
                </a:solidFill>
                <a:latin typeface="Calibri" pitchFamily="34" charset="0"/>
                <a:ea typeface="Calibri" pitchFamily="34" charset="-122"/>
                <a:cs typeface="Calibri" pitchFamily="34" charset="-120"/>
              </a:rPr>
              <a:t>Responsive layout for students on mobile</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rgbClr val="0F4C3A"/>
                </a:solidFill>
                <a:latin typeface="Cambria" pitchFamily="34" charset="0"/>
                <a:ea typeface="Cambria" pitchFamily="34" charset="-122"/>
                <a:cs typeface="Cambria" pitchFamily="34" charset="-120"/>
              </a:rPr>
              <a:t>Lessons and Next Steps</a:t>
            </a:r>
            <a:endParaRPr lang="en-US" sz="3200" dirty="0"/>
          </a:p>
        </p:txBody>
      </p:sp>
      <p:sp>
        <p:nvSpPr>
          <p:cNvPr id="3" name="Text 1"/>
          <p:cNvSpPr txBox="1"/>
          <p:nvPr/>
        </p:nvSpPr>
        <p:spPr>
          <a:xfrm>
            <a:off x="457200" y="1097280"/>
            <a:ext cx="3931920" cy="36576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What I learned</a:t>
            </a:r>
            <a:endParaRPr lang="en-US" sz="2000" dirty="0"/>
          </a:p>
        </p:txBody>
      </p:sp>
      <p:sp>
        <p:nvSpPr>
          <p:cNvPr id="4" name="Text 2"/>
          <p:cNvSpPr txBox="1"/>
          <p:nvPr/>
        </p:nvSpPr>
        <p:spPr>
          <a:xfrm>
            <a:off x="457200" y="1554480"/>
            <a:ext cx="393192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7251F"/>
                </a:solidFill>
                <a:latin typeface="Calibri" pitchFamily="34" charset="0"/>
                <a:ea typeface="Calibri" pitchFamily="34" charset="-122"/>
                <a:cs typeface="Calibri" pitchFamily="34" charset="-120"/>
              </a:rPr>
              <a:t>Full-stack TypeScript with SSR</a:t>
            </a:r>
            <a:endParaRPr lang="en-US" sz="1500" dirty="0"/>
          </a:p>
          <a:p>
            <a:pPr marL="342900" indent="-342900">
              <a:spcAft>
                <a:spcPts val="800"/>
              </a:spcAft>
              <a:buSzPct val="100000"/>
              <a:buChar char="•"/>
            </a:pPr>
            <a:r>
              <a:rPr lang="en-US" sz="1500" dirty="0">
                <a:solidFill>
                  <a:srgbClr val="17251F"/>
                </a:solidFill>
                <a:latin typeface="Calibri" pitchFamily="34" charset="0"/>
                <a:ea typeface="Calibri" pitchFamily="34" charset="-122"/>
                <a:cs typeface="Calibri" pitchFamily="34" charset="-120"/>
              </a:rPr>
              <a:t>Relational design: 27 tables, migrations, RLS</a:t>
            </a:r>
            <a:endParaRPr lang="en-US" sz="1500" dirty="0"/>
          </a:p>
          <a:p>
            <a:pPr marL="342900" indent="-342900">
              <a:spcAft>
                <a:spcPts val="800"/>
              </a:spcAft>
              <a:buSzPct val="100000"/>
              <a:buChar char="•"/>
            </a:pPr>
            <a:r>
              <a:rPr lang="en-US" sz="1500" dirty="0">
                <a:solidFill>
                  <a:srgbClr val="17251F"/>
                </a:solidFill>
                <a:latin typeface="Calibri" pitchFamily="34" charset="0"/>
                <a:ea typeface="Calibri" pitchFamily="34" charset="-122"/>
                <a:cs typeface="Calibri" pitchFamily="34" charset="-120"/>
              </a:rPr>
              <a:t>Defense in depth, and reviewing my own code</a:t>
            </a:r>
            <a:endParaRPr lang="en-US" sz="1500" dirty="0"/>
          </a:p>
          <a:p>
            <a:pPr marL="342900" indent="-342900">
              <a:spcAft>
                <a:spcPts val="800"/>
              </a:spcAft>
              <a:buSzPct val="100000"/>
              <a:buChar char="•"/>
            </a:pPr>
            <a:r>
              <a:rPr lang="en-US" sz="1500" dirty="0">
                <a:solidFill>
                  <a:srgbClr val="17251F"/>
                </a:solidFill>
                <a:latin typeface="Calibri" pitchFamily="34" charset="0"/>
                <a:ea typeface="Calibri" pitchFamily="34" charset="-122"/>
                <a:cs typeface="Calibri" pitchFamily="34" charset="-120"/>
              </a:rPr>
              <a:t>Agile work with real stakeholders</a:t>
            </a:r>
            <a:endParaRPr lang="en-US" sz="1500" dirty="0"/>
          </a:p>
        </p:txBody>
      </p:sp>
      <p:sp>
        <p:nvSpPr>
          <p:cNvPr id="5" name="Next steps panel"/>
          <p:cNvSpPr/>
          <p:nvPr/>
        </p:nvSpPr>
        <p:spPr>
          <a:xfrm>
            <a:off x="4663440" y="1097280"/>
            <a:ext cx="4023360" cy="3017520"/>
          </a:xfrm>
          <a:prstGeom prst="roundRect">
            <a:avLst>
              <a:gd name="adj" fmla="val 2424"/>
            </a:avLst>
          </a:prstGeom>
          <a:solidFill>
            <a:srgbClr val="EEF5F1"/>
          </a:solidFill>
          <a:ln w="12700">
            <a:solidFill>
              <a:srgbClr val="EEF5F1"/>
            </a:solidFill>
            <a:prstDash val="solid"/>
          </a:ln>
        </p:spPr>
      </p:sp>
      <p:sp>
        <p:nvSpPr>
          <p:cNvPr id="6" name="Text 4"/>
          <p:cNvSpPr txBox="1"/>
          <p:nvPr/>
        </p:nvSpPr>
        <p:spPr>
          <a:xfrm>
            <a:off x="4846320" y="1188720"/>
            <a:ext cx="3657600" cy="365760"/>
          </a:xfrm>
          <a:prstGeom prst="rect">
            <a:avLst/>
          </a:prstGeom>
          <a:noFill/>
          <a:ln/>
        </p:spPr>
        <p:txBody>
          <a:bodyPr wrap="square" lIns="0" tIns="0" rIns="0" bIns="0" rtlCol="0" anchor="ctr"/>
          <a:lstStyle/>
          <a:p>
            <a:pPr indent="0" marL="0">
              <a:buNone/>
            </a:pPr>
            <a:r>
              <a:rPr lang="en-US" sz="1800" b="1" dirty="0">
                <a:solidFill>
                  <a:srgbClr val="0F4C3A"/>
                </a:solidFill>
                <a:latin typeface="Cambria" pitchFamily="34" charset="0"/>
                <a:ea typeface="Cambria" pitchFamily="34" charset="-122"/>
                <a:cs typeface="Cambria" pitchFamily="34" charset="-120"/>
              </a:rPr>
              <a:t>Before wider production use</a:t>
            </a:r>
            <a:endParaRPr lang="en-US" sz="1800" dirty="0"/>
          </a:p>
        </p:txBody>
      </p:sp>
      <p:sp>
        <p:nvSpPr>
          <p:cNvPr id="7" name="Text 5"/>
          <p:cNvSpPr txBox="1"/>
          <p:nvPr/>
        </p:nvSpPr>
        <p:spPr>
          <a:xfrm>
            <a:off x="4846320" y="1645920"/>
            <a:ext cx="3657600" cy="23774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7251F"/>
                </a:solidFill>
                <a:latin typeface="Calibri" pitchFamily="34" charset="0"/>
                <a:ea typeface="Calibri" pitchFamily="34" charset="-122"/>
                <a:cs typeface="Calibri" pitchFamily="34" charset="-120"/>
              </a:rPr>
              <a:t>Remove old server functions and dev credentials</a:t>
            </a:r>
            <a:endParaRPr lang="en-US" sz="1400" dirty="0"/>
          </a:p>
          <a:p>
            <a:pPr marL="342900" indent="-342900">
              <a:spcAft>
                <a:spcPts val="700"/>
              </a:spcAft>
              <a:buSzPct val="100000"/>
              <a:buChar char="•"/>
            </a:pPr>
            <a:r>
              <a:rPr lang="en-US" sz="1400" dirty="0">
                <a:solidFill>
                  <a:srgbClr val="17251F"/>
                </a:solidFill>
                <a:latin typeface="Calibri" pitchFamily="34" charset="0"/>
                <a:ea typeface="Calibri" pitchFamily="34" charset="-122"/>
                <a:cs typeface="Calibri" pitchFamily="34" charset="-120"/>
              </a:rPr>
              <a:t>Role-aware database policies, Zod validation</a:t>
            </a:r>
            <a:endParaRPr lang="en-US" sz="1400" dirty="0"/>
          </a:p>
          <a:p>
            <a:pPr marL="342900" indent="-342900">
              <a:spcAft>
                <a:spcPts val="700"/>
              </a:spcAft>
              <a:buSzPct val="100000"/>
              <a:buChar char="•"/>
            </a:pPr>
            <a:r>
              <a:rPr lang="en-US" sz="1400" dirty="0">
                <a:solidFill>
                  <a:srgbClr val="17251F"/>
                </a:solidFill>
                <a:latin typeface="Calibri" pitchFamily="34" charset="0"/>
                <a:ea typeface="Calibri" pitchFamily="34" charset="-122"/>
                <a:cs typeface="Calibri" pitchFamily="34" charset="-120"/>
              </a:rPr>
              <a:t>Build 3 missing Research admin pages</a:t>
            </a:r>
            <a:endParaRPr lang="en-US" sz="1400" dirty="0"/>
          </a:p>
          <a:p>
            <a:pPr marL="342900" indent="-342900">
              <a:spcAft>
                <a:spcPts val="700"/>
              </a:spcAft>
              <a:buSzPct val="100000"/>
              <a:buChar char="•"/>
            </a:pPr>
            <a:r>
              <a:rPr lang="en-US" sz="1400" dirty="0">
                <a:solidFill>
                  <a:srgbClr val="17251F"/>
                </a:solidFill>
                <a:latin typeface="Calibri" pitchFamily="34" charset="0"/>
                <a:ea typeface="Calibri" pitchFamily="34" charset="-122"/>
                <a:cs typeface="Calibri" pitchFamily="34" charset="-120"/>
              </a:rPr>
              <a:t>Editorial review step and regular backups</a:t>
            </a:r>
            <a:endParaRPr lang="en-US" sz="1400" dirty="0"/>
          </a:p>
          <a:p>
            <a:pPr marL="342900" indent="-342900">
              <a:spcAft>
                <a:spcPts val="700"/>
              </a:spcAft>
              <a:buSzPct val="100000"/>
              <a:buChar char="•"/>
            </a:pPr>
            <a:r>
              <a:rPr lang="en-US" sz="1400" dirty="0">
                <a:solidFill>
                  <a:srgbClr val="17251F"/>
                </a:solidFill>
                <a:latin typeface="Calibri" pitchFamily="34" charset="0"/>
                <a:ea typeface="Calibri" pitchFamily="34" charset="-122"/>
                <a:cs typeface="Calibri" pitchFamily="34" charset="-120"/>
              </a:rPr>
              <a:t>Student portal as Phase 2</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4"/>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1325880"/>
            <a:ext cx="82296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457200" y="2377440"/>
            <a:ext cx="8229600" cy="548640"/>
          </a:xfrm>
          <a:prstGeom prst="rect">
            <a:avLst/>
          </a:prstGeom>
          <a:noFill/>
          <a:ln/>
        </p:spPr>
        <p:txBody>
          <a:bodyPr wrap="square" lIns="0" tIns="0" rIns="0" bIns="0" rtlCol="0" anchor="ctr"/>
          <a:lstStyle/>
          <a:p>
            <a:pPr indent="0" marL="0">
              <a:buNone/>
            </a:pPr>
            <a:r>
              <a:rPr lang="en-US" sz="2600" dirty="0">
                <a:solidFill>
                  <a:srgbClr val="D4A017"/>
                </a:solidFill>
                <a:latin typeface="Cambria" pitchFamily="34" charset="0"/>
                <a:ea typeface="Cambria" pitchFamily="34" charset="-122"/>
                <a:cs typeface="Cambria" pitchFamily="34" charset="-120"/>
              </a:rPr>
              <a:t>Questions and discussion</a:t>
            </a:r>
            <a:endParaRPr lang="en-US" sz="2600" dirty="0"/>
          </a:p>
        </p:txBody>
      </p:sp>
      <p:sp>
        <p:nvSpPr>
          <p:cNvPr id="4" name="Text 2"/>
          <p:cNvSpPr txBox="1"/>
          <p:nvPr/>
        </p:nvSpPr>
        <p:spPr>
          <a:xfrm>
            <a:off x="457200" y="3474720"/>
            <a:ext cx="8229600" cy="731520"/>
          </a:xfrm>
          <a:prstGeom prst="rect">
            <a:avLst/>
          </a:prstGeom>
          <a:noFill/>
          <a:ln/>
        </p:spPr>
        <p:txBody>
          <a:bodyPr wrap="square" lIns="0" tIns="0" rIns="0" bIns="0" rtlCol="0" anchor="ctr"/>
          <a:lstStyle/>
          <a:p>
            <a:pPr indent="0" marL="0">
              <a:spcAft>
                <a:spcPts val="400"/>
              </a:spcAft>
              <a:buNone/>
            </a:pPr>
            <a:r>
              <a:rPr lang="en-US" sz="1600" b="1" dirty="0">
                <a:solidFill>
                  <a:srgbClr val="E6F0EA"/>
                </a:solidFill>
                <a:latin typeface="Calibri" pitchFamily="34" charset="0"/>
                <a:ea typeface="Calibri" pitchFamily="34" charset="-122"/>
                <a:cs typeface="Calibri" pitchFamily="34" charset="-120"/>
              </a:rPr>
              <a:t>Nedi Usman Hussen  |  2184/16</a:t>
            </a:r>
            <a:endParaRPr lang="en-US" sz="1600" dirty="0"/>
          </a:p>
          <a:p>
            <a:pPr indent="0" marL="0">
              <a:spcAft>
                <a:spcPts val="400"/>
              </a:spcAft>
              <a:buNone/>
            </a:pPr>
            <a:r>
              <a:rPr lang="en-US" sz="1600" dirty="0">
                <a:solidFill>
                  <a:srgbClr val="E6F0EA"/>
                </a:solidFill>
                <a:latin typeface="Calibri" pitchFamily="34" charset="0"/>
                <a:ea typeface="Calibri" pitchFamily="34" charset="-122"/>
                <a:cs typeface="Calibri" pitchFamily="34" charset="-120"/>
              </a:rPr>
              <a:t>Advisor: Mr. Kibru G.  |  ICT Directorate, Oda Bultum University</a:t>
            </a:r>
            <a:endParaRPr lang="en-US" sz="1600" dirty="0"/>
          </a:p>
        </p:txBody>
      </p:sp>
    </p:spTree>
  </p:cSld>
  <p:clrMapOvr>
    <a:masterClrMapping/>
  </p:clrMapOvr>
</p:sld>
</file>

<file path=ppt/theme/theme1.xml><?xml version="1.0" encoding="utf-8"?>
<a:theme xmlns:a="http://schemas.openxmlformats.org/drawingml/2006/main" name="OBU Green">
  <a:themeElements>
    <a:clrScheme name="OBU Green">
      <a:dk1>
        <a:srgbClr val="17251F"/>
      </a:dk1>
      <a:lt1>
        <a:srgbClr val="FFFFFF"/>
      </a:lt1>
      <a:dk2>
        <a:srgbClr val="0F4C3A"/>
      </a:dk2>
      <a:lt2>
        <a:srgbClr val="EEF5F1"/>
      </a:lt2>
      <a:accent1>
        <a:srgbClr val="0F4C3A"/>
      </a:accent1>
      <a:accent2>
        <a:srgbClr val="D4A017"/>
      </a:accent2>
      <a:accent3>
        <a:srgbClr val="287A5D"/>
      </a:accent3>
      <a:accent4>
        <a:srgbClr val="1B6B50"/>
      </a:accent4>
      <a:accent5>
        <a:srgbClr val="B85C38"/>
      </a:accent5>
      <a:accent6>
        <a:srgbClr val="5B7F95"/>
      </a:accent6>
      <a:hlink>
        <a:srgbClr val="1B6B50"/>
      </a:hlink>
      <a:folHlink>
        <a:srgbClr val="5B7F95"/>
      </a:folHlink>
    </a:clrScheme>
    <a:fontScheme name="OBU Gre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OBU-CMS - Industrial Practice Presentation</dc:title>
  <dc:subject>PptxGenJS Presentation</dc:subject>
  <dc:creator>Nedi Usman Hussen</dc:creator>
  <cp:lastModifiedBy>Nedi Usman Hussen</cp:lastModifiedBy>
  <cp:revision>1</cp:revision>
  <dcterms:created xsi:type="dcterms:W3CDTF">2026-10-21T18:01:10Z</dcterms:created>
  <dcterms:modified xsi:type="dcterms:W3CDTF">2026-10-21T18:01:10Z</dcterms:modified>
</cp:coreProperties>
</file>